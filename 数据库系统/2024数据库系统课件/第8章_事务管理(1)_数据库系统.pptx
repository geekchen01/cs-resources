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51"/>
  </p:handoutMasterIdLst>
  <p:sldIdLst>
    <p:sldId id="429" r:id="rId3"/>
    <p:sldId id="345" r:id="rId4"/>
    <p:sldId id="260" r:id="rId6"/>
    <p:sldId id="430" r:id="rId7"/>
    <p:sldId id="487" r:id="rId8"/>
    <p:sldId id="431" r:id="rId9"/>
    <p:sldId id="488" r:id="rId10"/>
    <p:sldId id="476" r:id="rId11"/>
    <p:sldId id="463" r:id="rId12"/>
    <p:sldId id="485" r:id="rId13"/>
    <p:sldId id="486" r:id="rId14"/>
    <p:sldId id="348" r:id="rId15"/>
    <p:sldId id="425" r:id="rId16"/>
    <p:sldId id="426" r:id="rId17"/>
    <p:sldId id="427" r:id="rId18"/>
    <p:sldId id="374" r:id="rId19"/>
    <p:sldId id="466" r:id="rId20"/>
    <p:sldId id="489" r:id="rId21"/>
    <p:sldId id="281" r:id="rId22"/>
    <p:sldId id="411" r:id="rId23"/>
    <p:sldId id="352" r:id="rId24"/>
    <p:sldId id="282" r:id="rId25"/>
    <p:sldId id="283" r:id="rId26"/>
    <p:sldId id="285" r:id="rId27"/>
    <p:sldId id="353" r:id="rId28"/>
    <p:sldId id="428" r:id="rId29"/>
    <p:sldId id="287" r:id="rId30"/>
    <p:sldId id="475" r:id="rId31"/>
    <p:sldId id="288" r:id="rId32"/>
    <p:sldId id="464" r:id="rId33"/>
    <p:sldId id="290" r:id="rId34"/>
    <p:sldId id="289" r:id="rId35"/>
    <p:sldId id="291" r:id="rId36"/>
    <p:sldId id="413" r:id="rId37"/>
    <p:sldId id="415" r:id="rId38"/>
    <p:sldId id="309" r:id="rId39"/>
    <p:sldId id="375" r:id="rId40"/>
    <p:sldId id="267" r:id="rId41"/>
    <p:sldId id="358" r:id="rId42"/>
    <p:sldId id="296" r:id="rId43"/>
    <p:sldId id="307" r:id="rId44"/>
    <p:sldId id="292" r:id="rId45"/>
    <p:sldId id="479" r:id="rId46"/>
    <p:sldId id="480" r:id="rId47"/>
    <p:sldId id="481" r:id="rId48"/>
    <p:sldId id="482" r:id="rId49"/>
    <p:sldId id="483" r:id="rId50"/>
  </p:sldIdLst>
  <p:sldSz cx="9144000" cy="6858000" type="screen4x3"/>
  <p:notesSz cx="6858000" cy="9144000"/>
  <p:custDataLst>
    <p:tags r:id="rId55"/>
  </p:custDataLst>
  <p:defaultTextStyle>
    <a:defPPr>
      <a:defRPr lang="zh-CN"/>
    </a:defPPr>
    <a:lvl1pPr marL="0" lvl="0"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5pPr>
    <a:lvl6pPr marL="2286000" lvl="5"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6pPr>
    <a:lvl7pPr marL="2743200" lvl="6"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7pPr>
    <a:lvl8pPr marL="3200400" lvl="7"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8pPr>
    <a:lvl9pPr marL="3657600" lvl="8"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DDDD"/>
    <a:srgbClr val="DDFFDD"/>
    <a:srgbClr val="0033CC"/>
    <a:srgbClr val="FF6600"/>
    <a:srgbClr val="CCFFFF"/>
    <a:srgbClr val="CCFFCC"/>
    <a:srgbClr val="FFF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5113"/>
    <p:restoredTop sz="68186"/>
  </p:normalViewPr>
  <p:slideViewPr>
    <p:cSldViewPr showGuides="1">
      <p:cViewPr varScale="1">
        <p:scale>
          <a:sx n="46" d="100"/>
          <a:sy n="46" d="100"/>
        </p:scale>
        <p:origin x="-1578" y="-63"/>
      </p:cViewPr>
      <p:guideLst>
        <p:guide orient="horz" pos="2160"/>
        <p:guide pos="2883"/>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1.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5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74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74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574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04"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2227" name="Rectangle 2"/>
          <p:cNvSpPr>
            <a:spLocks noRot="1" noTextEdit="1"/>
          </p:cNvSpPr>
          <p:nvPr>
            <p:ph type="sldImg"/>
          </p:nvPr>
        </p:nvSpPr>
        <p:spPr/>
      </p:sp>
      <p:sp>
        <p:nvSpPr>
          <p:cNvPr id="522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3251" name="Rectangle 2"/>
          <p:cNvSpPr>
            <a:spLocks noRot="1" noTextEdit="1"/>
          </p:cNvSpPr>
          <p:nvPr>
            <p:ph type="sldImg"/>
          </p:nvPr>
        </p:nvSpPr>
        <p:spPr/>
      </p:sp>
      <p:sp>
        <p:nvSpPr>
          <p:cNvPr id="53252" name="Rectangle 3"/>
          <p:cNvSpPr>
            <a:spLocks noGrp="1"/>
          </p:cNvSpPr>
          <p:nvPr>
            <p:ph type="body" idx="1"/>
          </p:nvPr>
        </p:nvSpPr>
        <p:spPr/>
        <p:txBody>
          <a:bodyPr wrap="square" lIns="91440" tIns="45720" rIns="91440" bIns="45720" anchor="t" anchorCtr="0"/>
          <a:p>
            <a:pPr lvl="0" eaLnBrk="1" hangingPunct="1"/>
            <a:r>
              <a:rPr lang="en-US" altLang="zh-CN" dirty="0">
                <a:solidFill>
                  <a:srgbClr val="000000"/>
                </a:solidFill>
              </a:rPr>
              <a:t>3</a:t>
            </a:r>
            <a:r>
              <a:rPr lang="zh-CN" altLang="en-US" dirty="0">
                <a:solidFill>
                  <a:srgbClr val="000000"/>
                </a:solidFill>
              </a:rPr>
              <a:t>）例子：</a:t>
            </a:r>
            <a:endParaRPr lang="zh-CN" altLang="en-US" dirty="0">
              <a:solidFill>
                <a:srgbClr val="000000"/>
              </a:solidFill>
            </a:endParaRPr>
          </a:p>
          <a:p>
            <a:pPr lvl="0" eaLnBrk="1" hangingPunct="1"/>
            <a:r>
              <a:rPr lang="zh-CN" altLang="en-US" dirty="0">
                <a:solidFill>
                  <a:srgbClr val="000000"/>
                </a:solidFill>
              </a:rPr>
              <a:t>           一段嵌入了数据操作语言的应用程序， 上述程序的若干独立、并发的执行体，单个的数据库操作等 。</a:t>
            </a:r>
            <a:endParaRPr lang="zh-CN" altLang="en-US" dirty="0">
              <a:solidFill>
                <a:srgbClr val="000000"/>
              </a:solidFill>
            </a:endParaRPr>
          </a:p>
          <a:p>
            <a:pPr lvl="0" eaLnBrk="1" hangingPunct="1"/>
            <a:r>
              <a:rPr lang="zh-CN" altLang="en-US" dirty="0">
                <a:solidFill>
                  <a:srgbClr val="000000"/>
                </a:solidFill>
              </a:rPr>
              <a:t>     典型事务，如银行转帐：</a:t>
            </a:r>
            <a:r>
              <a:rPr lang="zh-CN" altLang="en-US" dirty="0">
                <a:solidFill>
                  <a:srgbClr val="FF3300"/>
                </a:solidFill>
              </a:rPr>
              <a:t>帐户</a:t>
            </a:r>
            <a:r>
              <a:rPr lang="en-US" altLang="zh-CN" dirty="0">
                <a:solidFill>
                  <a:srgbClr val="FF3300"/>
                </a:solidFill>
              </a:rPr>
              <a:t>A </a:t>
            </a:r>
            <a:r>
              <a:rPr lang="en-US" altLang="zh-CN" dirty="0">
                <a:solidFill>
                  <a:srgbClr val="FF3300"/>
                </a:solidFill>
                <a:latin typeface="Tahoma" panose="020B0604030504040204" pitchFamily="34" charset="0"/>
              </a:rPr>
              <a:t>–</a:t>
            </a:r>
            <a:r>
              <a:rPr lang="en-US" altLang="zh-CN" dirty="0">
                <a:solidFill>
                  <a:srgbClr val="FF3300"/>
                </a:solidFill>
              </a:rPr>
              <a:t> 100</a:t>
            </a:r>
            <a:r>
              <a:rPr lang="zh-CN" altLang="en-US" dirty="0">
                <a:solidFill>
                  <a:srgbClr val="FF3300"/>
                </a:solidFill>
              </a:rPr>
              <a:t>元；帐户</a:t>
            </a:r>
            <a:r>
              <a:rPr lang="en-US" altLang="zh-CN" dirty="0">
                <a:solidFill>
                  <a:srgbClr val="FF3300"/>
                </a:solidFill>
              </a:rPr>
              <a:t>B + 100</a:t>
            </a:r>
            <a:r>
              <a:rPr lang="zh-CN" altLang="en-US" dirty="0">
                <a:solidFill>
                  <a:srgbClr val="FF3300"/>
                </a:solidFill>
              </a:rPr>
              <a:t>元</a:t>
            </a:r>
            <a:r>
              <a:rPr lang="zh-CN" altLang="en-US" dirty="0">
                <a:solidFill>
                  <a:srgbClr val="000000"/>
                </a:solidFill>
              </a:rPr>
              <a:t>。</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4275" name="Rectangle 2"/>
          <p:cNvSpPr>
            <a:spLocks noRot="1" noTextEdit="1"/>
          </p:cNvSpPr>
          <p:nvPr>
            <p:ph type="sldImg"/>
          </p:nvPr>
        </p:nvSpPr>
        <p:spPr/>
      </p:sp>
      <p:sp>
        <p:nvSpPr>
          <p:cNvPr id="54276" name="Rectangle 3"/>
          <p:cNvSpPr>
            <a:spLocks noGrp="1"/>
          </p:cNvSpPr>
          <p:nvPr>
            <p:ph type="body" idx="1"/>
          </p:nvPr>
        </p:nvSpPr>
        <p:spPr/>
        <p:txBody>
          <a:bodyPr wrap="square" lIns="91440" tIns="45720" rIns="91440" bIns="45720" anchor="t" anchorCtr="0"/>
          <a:p>
            <a:pPr lvl="0" eaLnBrk="1" hangingPunct="1"/>
            <a:r>
              <a:rPr lang="en-US" altLang="zh-CN" dirty="0">
                <a:solidFill>
                  <a:srgbClr val="000000"/>
                </a:solidFill>
              </a:rPr>
              <a:t>1</a:t>
            </a:r>
            <a:r>
              <a:rPr lang="zh-CN" altLang="en-US" dirty="0">
                <a:solidFill>
                  <a:srgbClr val="000000"/>
                </a:solidFill>
              </a:rPr>
              <a:t>）定义：包含数据库操作的程序的一次执行称为一个数据库事务。</a:t>
            </a:r>
            <a:endParaRPr lang="zh-CN" altLang="en-US" dirty="0">
              <a:solidFill>
                <a:srgbClr val="000000"/>
              </a:solidFill>
            </a:endParaRPr>
          </a:p>
          <a:p>
            <a:pPr lvl="0" eaLnBrk="1" hangingPunct="1"/>
            <a:r>
              <a:rPr lang="en-US" altLang="zh-CN" dirty="0">
                <a:solidFill>
                  <a:srgbClr val="000000"/>
                </a:solidFill>
              </a:rPr>
              <a:t>2</a:t>
            </a:r>
            <a:r>
              <a:rPr lang="zh-CN" altLang="en-US" dirty="0">
                <a:solidFill>
                  <a:srgbClr val="000000"/>
                </a:solidFill>
              </a:rPr>
              <a:t>）用户定义事务的粒度（程序的规模）。</a:t>
            </a:r>
            <a:endParaRPr lang="zh-CN" altLang="en-US" dirty="0">
              <a:solidFill>
                <a:srgbClr val="000000"/>
              </a:solidFill>
            </a:endParaRPr>
          </a:p>
          <a:p>
            <a:pPr lvl="0" eaLnBrk="1" hangingPunct="1"/>
            <a:r>
              <a:rPr lang="en-US" altLang="zh-CN" dirty="0">
                <a:solidFill>
                  <a:srgbClr val="000000"/>
                </a:solidFill>
              </a:rPr>
              <a:t>3</a:t>
            </a:r>
            <a:r>
              <a:rPr lang="zh-CN" altLang="en-US" dirty="0">
                <a:solidFill>
                  <a:srgbClr val="000000"/>
                </a:solidFill>
              </a:rPr>
              <a:t>）例子：</a:t>
            </a:r>
            <a:endParaRPr lang="zh-CN" altLang="en-US" dirty="0">
              <a:solidFill>
                <a:srgbClr val="000000"/>
              </a:solidFill>
            </a:endParaRPr>
          </a:p>
          <a:p>
            <a:pPr lvl="0" eaLnBrk="1" hangingPunct="1"/>
            <a:r>
              <a:rPr lang="zh-CN" altLang="en-US" dirty="0">
                <a:solidFill>
                  <a:srgbClr val="000000"/>
                </a:solidFill>
              </a:rPr>
              <a:t>           一段嵌入了数据操作语言的应用程序， 上述程序的若干独立、并发的执行体，单个的数据库操作等 。</a:t>
            </a:r>
            <a:endParaRPr lang="zh-CN" altLang="en-US" dirty="0">
              <a:solidFill>
                <a:srgbClr val="000000"/>
              </a:solidFill>
            </a:endParaRPr>
          </a:p>
          <a:p>
            <a:pPr lvl="0" eaLnBrk="1" hangingPunct="1"/>
            <a:r>
              <a:rPr lang="zh-CN" altLang="en-US" dirty="0">
                <a:solidFill>
                  <a:srgbClr val="000000"/>
                </a:solidFill>
              </a:rPr>
              <a:t>     典型事务，如银行转帐：</a:t>
            </a:r>
            <a:r>
              <a:rPr lang="zh-CN" altLang="en-US" dirty="0">
                <a:solidFill>
                  <a:srgbClr val="FF3300"/>
                </a:solidFill>
              </a:rPr>
              <a:t>帐户</a:t>
            </a:r>
            <a:r>
              <a:rPr lang="en-US" altLang="zh-CN" dirty="0">
                <a:solidFill>
                  <a:srgbClr val="FF3300"/>
                </a:solidFill>
              </a:rPr>
              <a:t>A </a:t>
            </a:r>
            <a:r>
              <a:rPr lang="en-US" altLang="zh-CN" dirty="0">
                <a:solidFill>
                  <a:srgbClr val="FF3300"/>
                </a:solidFill>
                <a:latin typeface="Tahoma" panose="020B0604030504040204" pitchFamily="34" charset="0"/>
              </a:rPr>
              <a:t>–</a:t>
            </a:r>
            <a:r>
              <a:rPr lang="en-US" altLang="zh-CN" dirty="0">
                <a:solidFill>
                  <a:srgbClr val="FF3300"/>
                </a:solidFill>
              </a:rPr>
              <a:t> 100</a:t>
            </a:r>
            <a:r>
              <a:rPr lang="zh-CN" altLang="en-US" dirty="0">
                <a:solidFill>
                  <a:srgbClr val="FF3300"/>
                </a:solidFill>
              </a:rPr>
              <a:t>元；帐户</a:t>
            </a:r>
            <a:r>
              <a:rPr lang="en-US" altLang="zh-CN" dirty="0">
                <a:solidFill>
                  <a:srgbClr val="FF3300"/>
                </a:solidFill>
              </a:rPr>
              <a:t>B + 100</a:t>
            </a:r>
            <a:r>
              <a:rPr lang="zh-CN" altLang="en-US" dirty="0">
                <a:solidFill>
                  <a:srgbClr val="FF3300"/>
                </a:solidFill>
              </a:rPr>
              <a:t>元</a:t>
            </a:r>
            <a:r>
              <a:rPr lang="zh-CN" altLang="en-US" dirty="0">
                <a:solidFill>
                  <a:srgbClr val="000000"/>
                </a:solidFill>
              </a:rPr>
              <a:t>。</a:t>
            </a:r>
            <a:endParaRPr lang="zh-CN" altLang="en-US" dirty="0">
              <a:solidFill>
                <a:srgbClr val="000000"/>
              </a:solidFill>
            </a:endParaRPr>
          </a:p>
          <a:p>
            <a:pPr lvl="0" eaLnBrk="1" hangingPunct="1"/>
            <a:r>
              <a:rPr lang="zh-CN" altLang="en-US" dirty="0"/>
              <a:t>事务是并发控制和故障恢复的基本单位</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5299" name="Rectangle 2"/>
          <p:cNvSpPr>
            <a:spLocks noRot="1" noTextEdit="1"/>
          </p:cNvSpPr>
          <p:nvPr>
            <p:ph type="sldImg"/>
          </p:nvPr>
        </p:nvSpPr>
        <p:spPr/>
      </p:sp>
      <p:sp>
        <p:nvSpPr>
          <p:cNvPr id="55300" name="Rectangle 3"/>
          <p:cNvSpPr>
            <a:spLocks noGrp="1"/>
          </p:cNvSpPr>
          <p:nvPr>
            <p:ph type="body" idx="1"/>
          </p:nvPr>
        </p:nvSpPr>
        <p:spPr/>
        <p:txBody>
          <a:bodyPr wrap="square" lIns="91440" tIns="45720" rIns="91440" bIns="45720" anchor="t" anchorCtr="0"/>
          <a:p>
            <a:pPr lvl="0" eaLnBrk="1" hangingPunct="1"/>
            <a:r>
              <a:rPr lang="zh-CN" altLang="en-US" dirty="0"/>
              <a:t>事务执行的基本操作：</a:t>
            </a:r>
            <a:endParaRPr lang="zh-CN" altLang="en-US" dirty="0"/>
          </a:p>
          <a:p>
            <a:pPr lvl="0" eaLnBrk="1" hangingPunct="1">
              <a:buChar char="•"/>
            </a:pPr>
            <a:r>
              <a:rPr lang="zh-CN" altLang="en-US" dirty="0">
                <a:latin typeface="黑体" panose="02010609060101010101" pitchFamily="2" charset="-122"/>
              </a:rPr>
              <a:t>事务开始：开始执行。</a:t>
            </a:r>
            <a:endParaRPr lang="zh-CN" altLang="en-US" dirty="0">
              <a:latin typeface="黑体" panose="02010609060101010101" pitchFamily="2" charset="-122"/>
            </a:endParaRPr>
          </a:p>
          <a:p>
            <a:pPr lvl="0" eaLnBrk="1" hangingPunct="1">
              <a:buChar char="•"/>
            </a:pPr>
            <a:r>
              <a:rPr lang="zh-CN" altLang="en-US" dirty="0">
                <a:latin typeface="黑体" panose="02010609060101010101" pitchFamily="2" charset="-122"/>
              </a:rPr>
              <a:t>事务读写：进行数据库操作。</a:t>
            </a:r>
            <a:endParaRPr lang="zh-CN" altLang="en-US" dirty="0">
              <a:latin typeface="黑体" panose="02010609060101010101" pitchFamily="2" charset="-122"/>
            </a:endParaRPr>
          </a:p>
          <a:p>
            <a:pPr lvl="0" eaLnBrk="1" hangingPunct="1">
              <a:buChar char="•"/>
            </a:pPr>
            <a:r>
              <a:rPr lang="zh-CN" altLang="en-US" dirty="0">
                <a:latin typeface="黑体" panose="02010609060101010101" pitchFamily="2" charset="-122"/>
              </a:rPr>
              <a:t>事务结束：完成所有操作。</a:t>
            </a:r>
            <a:endParaRPr lang="zh-CN" altLang="en-US" dirty="0">
              <a:latin typeface="黑体" panose="02010609060101010101" pitchFamily="2" charset="-122"/>
            </a:endParaRPr>
          </a:p>
          <a:p>
            <a:pPr lvl="0" eaLnBrk="1" hangingPunct="1">
              <a:buChar char="•"/>
            </a:pPr>
            <a:r>
              <a:rPr lang="zh-CN" altLang="en-US" dirty="0">
                <a:latin typeface="黑体" panose="02010609060101010101" pitchFamily="2" charset="-122"/>
              </a:rPr>
              <a:t>事务交付：完成所有操作，并保存所有结果。</a:t>
            </a:r>
            <a:endParaRPr lang="zh-CN" altLang="en-US" dirty="0">
              <a:latin typeface="黑体" panose="02010609060101010101" pitchFamily="2" charset="-122"/>
            </a:endParaRPr>
          </a:p>
          <a:p>
            <a:pPr lvl="0" eaLnBrk="1" hangingPunct="1">
              <a:buChar char="•"/>
            </a:pPr>
            <a:r>
              <a:rPr lang="zh-CN" altLang="en-US" dirty="0">
                <a:latin typeface="黑体" panose="02010609060101010101" pitchFamily="2" charset="-122"/>
              </a:rPr>
              <a:t>事务撤消：执行途中出现异常，系统或用户撤消事务。</a:t>
            </a:r>
            <a:endParaRPr lang="zh-CN" altLang="en-US" dirty="0">
              <a:latin typeface="黑体" panose="02010609060101010101" pitchFamily="2" charset="-122"/>
            </a:endParaRPr>
          </a:p>
          <a:p>
            <a:pPr lvl="0" eaLnBrk="1" hangingPunct="1"/>
            <a:endParaRPr lang="zh-CN" altLang="en-US" dirty="0">
              <a:latin typeface="黑体" panose="02010609060101010101" pitchFamily="2" charset="-122"/>
            </a:endParaRPr>
          </a:p>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6323" name="Rectangle 2"/>
          <p:cNvSpPr>
            <a:spLocks noRot="1" noTextEdit="1"/>
          </p:cNvSpPr>
          <p:nvPr>
            <p:ph type="sldImg"/>
          </p:nvPr>
        </p:nvSpPr>
        <p:spPr/>
      </p:sp>
      <p:sp>
        <p:nvSpPr>
          <p:cNvPr id="56324"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latin typeface="Times New Roman" panose="02020603050405020304" pitchFamily="18" charset="0"/>
              </a:rPr>
              <a:t>为了保证事务并发、有效、正确地执行，保证数据库的正确性，系统必须赋予事务一些特性，而对一般的程序的执行，系统不一定赋予这些 特性。</a:t>
            </a:r>
            <a:endParaRPr lang="zh-CN" altLang="en-US" dirty="0">
              <a:solidFill>
                <a:srgbClr val="000000"/>
              </a:solidFill>
              <a:latin typeface="Times New Roman" panose="02020603050405020304" pitchFamily="18" charset="0"/>
            </a:endParaRPr>
          </a:p>
          <a:p>
            <a:pPr lvl="1" eaLnBrk="1" hangingPunct="1">
              <a:spcBef>
                <a:spcPct val="0"/>
              </a:spcBef>
            </a:pPr>
            <a:r>
              <a:rPr lang="zh-CN" altLang="en-US" sz="1400" dirty="0">
                <a:solidFill>
                  <a:srgbClr val="0000CC"/>
                </a:solidFill>
              </a:rPr>
              <a:t>一致性状态</a:t>
            </a:r>
            <a:r>
              <a:rPr lang="zh-CN" altLang="en-US" sz="1400" dirty="0"/>
              <a:t>：数据库中只包含成功事务提交的结果。</a:t>
            </a:r>
            <a:endParaRPr lang="zh-CN" altLang="en-US" sz="1400" dirty="0"/>
          </a:p>
          <a:p>
            <a:pPr lvl="1" eaLnBrk="1" hangingPunct="1">
              <a:spcBef>
                <a:spcPct val="0"/>
              </a:spcBef>
            </a:pPr>
            <a:r>
              <a:rPr lang="zh-CN" altLang="en-US" sz="1400" dirty="0">
                <a:solidFill>
                  <a:srgbClr val="0000CC"/>
                </a:solidFill>
              </a:rPr>
              <a:t>不一致状态</a:t>
            </a:r>
            <a:r>
              <a:rPr lang="zh-CN" altLang="en-US" sz="1400" dirty="0"/>
              <a:t>：数据库中包含失败事务的结果。</a:t>
            </a:r>
            <a:endParaRPr lang="zh-CN" altLang="en-US" sz="1400" dirty="0"/>
          </a:p>
          <a:p>
            <a:pPr lvl="0" eaLnBrk="1" hangingPunct="1"/>
            <a:endParaRPr lang="zh-CN" altLang="en-US" sz="1400" dirty="0"/>
          </a:p>
          <a:p>
            <a:pPr lvl="0" eaLnBrk="1" hangingPunct="1"/>
            <a:r>
              <a:rPr lang="en-US" altLang="zh-CN" sz="1600" b="1" dirty="0">
                <a:solidFill>
                  <a:srgbClr val="000000"/>
                </a:solidFill>
                <a:latin typeface="Times New Roman" panose="02020603050405020304" pitchFamily="18" charset="0"/>
              </a:rPr>
              <a:t>DBMS</a:t>
            </a:r>
            <a:r>
              <a:rPr lang="zh-CN" altLang="en-US" sz="1600" b="1" dirty="0">
                <a:solidFill>
                  <a:srgbClr val="000000"/>
                </a:solidFill>
                <a:latin typeface="Times New Roman" panose="02020603050405020304" pitchFamily="18" charset="0"/>
              </a:rPr>
              <a:t>用并发控制机制维持可串性，用恢复机制维持原子性、持久性、隔离性。</a:t>
            </a:r>
            <a:endParaRPr lang="zh-CN" altLang="en-US" sz="1600" b="1" dirty="0">
              <a:solidFill>
                <a:srgbClr val="000000"/>
              </a:solidFill>
              <a:latin typeface="Times New Roman" panose="02020603050405020304" pitchFamily="18" charset="0"/>
            </a:endParaRPr>
          </a:p>
          <a:p>
            <a:pPr lvl="0" eaLnBrk="1" hangingPunct="1"/>
            <a:endParaRPr lang="zh-CN" altLang="en-US" dirty="0">
              <a:solidFill>
                <a:srgbClr val="000000"/>
              </a:solidFill>
              <a:latin typeface="Times New Roman" panose="02020603050405020304" pitchFamily="18" charset="0"/>
            </a:endParaRPr>
          </a:p>
          <a:p>
            <a:pPr lvl="0" eaLnBrk="1" hangingPunct="1"/>
            <a:endParaRPr lang="en-US" altLang="zh-CN" sz="14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7347" name="Rectangle 2"/>
          <p:cNvSpPr>
            <a:spLocks noRot="1" noTextEdit="1"/>
          </p:cNvSpPr>
          <p:nvPr>
            <p:ph type="sldImg"/>
          </p:nvPr>
        </p:nvSpPr>
        <p:spPr/>
      </p:sp>
      <p:sp>
        <p:nvSpPr>
          <p:cNvPr id="57348" name="Rectangle 3"/>
          <p:cNvSpPr>
            <a:spLocks noGrp="1"/>
          </p:cNvSpPr>
          <p:nvPr>
            <p:ph type="body" idx="1"/>
          </p:nvPr>
        </p:nvSpPr>
        <p:spPr/>
        <p:txBody>
          <a:bodyPr wrap="square" lIns="91440" tIns="45720" rIns="91440" bIns="45720" anchor="t" anchorCtr="0"/>
          <a:p>
            <a:pPr lvl="0" eaLnBrk="1" hangingPunct="1"/>
            <a:r>
              <a:rPr lang="zh-CN" altLang="en-US" b="1" dirty="0">
                <a:latin typeface="宋体" panose="02010600030101010101" pitchFamily="2" charset="-122"/>
              </a:rPr>
              <a:t>隔离性</a:t>
            </a:r>
            <a:endParaRPr lang="zh-CN" altLang="en-US" b="1" dirty="0">
              <a:latin typeface="宋体" panose="02010600030101010101" pitchFamily="2" charset="-122"/>
            </a:endParaRPr>
          </a:p>
          <a:p>
            <a:pPr lvl="0" eaLnBrk="1" hangingPunct="1"/>
            <a:r>
              <a:rPr lang="zh-CN" altLang="en-US" b="1" dirty="0">
                <a:latin typeface="宋体" panose="02010600030101010101" pitchFamily="2" charset="-122"/>
              </a:rPr>
              <a:t>    一个事务的执行不能被其他事务干扰。即一个事务内部的操作及使用的数据对其他并发事务是隔离的，并发执行的各个事务之间不能互相干扰。</a:t>
            </a:r>
            <a:endParaRPr lang="zh-CN" altLang="en-US" b="1" dirty="0">
              <a:latin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8371" name="Rectangle 2"/>
          <p:cNvSpPr>
            <a:spLocks noRot="1" noTextEdit="1"/>
          </p:cNvSpPr>
          <p:nvPr>
            <p:ph type="sldImg"/>
          </p:nvPr>
        </p:nvSpPr>
        <p:spPr/>
      </p:sp>
      <p:sp>
        <p:nvSpPr>
          <p:cNvPr id="58372" name="Rectangle 3"/>
          <p:cNvSpPr>
            <a:spLocks noGrp="1"/>
          </p:cNvSpPr>
          <p:nvPr>
            <p:ph type="body" idx="1"/>
          </p:nvPr>
        </p:nvSpPr>
        <p:spPr/>
        <p:txBody>
          <a:bodyPr wrap="square" lIns="91440" tIns="45720" rIns="91440" bIns="45720" anchor="t" anchorCtr="0"/>
          <a:p>
            <a:pPr lvl="0" eaLnBrk="1" hangingPunct="1"/>
            <a:r>
              <a:rPr lang="zh-CN" altLang="en-US" b="1" dirty="0">
                <a:latin typeface="宋体" panose="02010600030101010101" pitchFamily="2" charset="-122"/>
              </a:rPr>
              <a:t>持续性</a:t>
            </a:r>
            <a:endParaRPr lang="zh-CN" altLang="en-US" b="1" dirty="0">
              <a:latin typeface="宋体" panose="02010600030101010101" pitchFamily="2" charset="-122"/>
            </a:endParaRPr>
          </a:p>
          <a:p>
            <a:pPr lvl="0" eaLnBrk="1" hangingPunct="1"/>
            <a:r>
              <a:rPr lang="zh-CN" altLang="en-US" b="1" dirty="0">
                <a:latin typeface="宋体" panose="02010600030101010101" pitchFamily="2" charset="-122"/>
              </a:rPr>
              <a:t>    持续性也称永久性</a:t>
            </a:r>
            <a:r>
              <a:rPr lang="en-US" altLang="zh-CN" b="1" dirty="0">
                <a:latin typeface="宋体" panose="02010600030101010101" pitchFamily="2" charset="-122"/>
              </a:rPr>
              <a:t>(Permanence)</a:t>
            </a:r>
            <a:r>
              <a:rPr lang="zh-CN" altLang="en-US" b="1" dirty="0">
                <a:latin typeface="宋体" panose="02010600030101010101" pitchFamily="2" charset="-122"/>
              </a:rPr>
              <a:t>，指一个事务一旦提交，它对数据库中数据的改变就应该是永久性的。接下来的其他操作或故障不应该对其执行结果有任何影响。 </a:t>
            </a:r>
            <a:endParaRPr lang="zh-CN" altLang="en-US" b="1" dirty="0">
              <a:latin typeface="宋体" panose="02010600030101010101" pitchFamily="2" charset="-122"/>
            </a:endParaRPr>
          </a:p>
          <a:p>
            <a:pPr lvl="0" eaLnBrk="1" hangingPunct="1"/>
            <a:endParaRPr lang="en-US" altLang="zh-CN" sz="14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9395" name="Rectangle 2"/>
          <p:cNvSpPr>
            <a:spLocks noRot="1" noTextEdit="1"/>
          </p:cNvSpPr>
          <p:nvPr>
            <p:ph type="sldImg"/>
          </p:nvPr>
        </p:nvSpPr>
        <p:spPr/>
      </p:sp>
      <p:sp>
        <p:nvSpPr>
          <p:cNvPr id="59396" name="Rectangle 3"/>
          <p:cNvSpPr>
            <a:spLocks noGrp="1"/>
          </p:cNvSpPr>
          <p:nvPr>
            <p:ph type="body" idx="1"/>
          </p:nvPr>
        </p:nvSpPr>
        <p:spPr/>
        <p:txBody>
          <a:bodyPr wrap="square" lIns="91440" tIns="45720" rIns="91440" bIns="45720" anchor="t" anchorCtr="0"/>
          <a:p>
            <a:pPr lvl="0" eaLnBrk="1" hangingPunct="1"/>
            <a:endParaRPr lang="zh-CN" altLang="zh-CN" sz="14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0419" name="Rectangle 2"/>
          <p:cNvSpPr>
            <a:spLocks noRot="1" noTextEdit="1"/>
          </p:cNvSpPr>
          <p:nvPr>
            <p:ph type="sldImg"/>
          </p:nvPr>
        </p:nvSpPr>
        <p:spPr/>
      </p:sp>
      <p:sp>
        <p:nvSpPr>
          <p:cNvPr id="60420" name="Rectangle 3"/>
          <p:cNvSpPr>
            <a:spLocks noGrp="1"/>
          </p:cNvSpPr>
          <p:nvPr>
            <p:ph type="body" idx="1"/>
          </p:nvPr>
        </p:nvSpPr>
        <p:spPr/>
        <p:txBody>
          <a:bodyPr wrap="square" lIns="91440" tIns="45720" rIns="91440" bIns="45720" anchor="t" anchorCtr="0"/>
          <a:p>
            <a:pPr lvl="0" eaLnBrk="1" hangingPunct="1"/>
            <a:r>
              <a:rPr lang="zh-CN" altLang="en-US" dirty="0">
                <a:latin typeface="黑体" panose="02010609060101010101" pitchFamily="2" charset="-122"/>
              </a:rPr>
              <a:t>数据库系统允许多个事务并发执行，好处</a:t>
            </a:r>
            <a:endParaRPr lang="zh-CN" altLang="en-US" dirty="0">
              <a:latin typeface="黑体" panose="02010609060101010101" pitchFamily="2" charset="-122"/>
            </a:endParaRPr>
          </a:p>
          <a:p>
            <a:pPr lvl="1" eaLnBrk="1" hangingPunct="1">
              <a:spcBef>
                <a:spcPct val="0"/>
              </a:spcBef>
              <a:buChar char="•"/>
            </a:pPr>
            <a:r>
              <a:rPr lang="zh-CN" altLang="en-US" sz="1400" dirty="0">
                <a:latin typeface="黑体" panose="02010609060101010101" pitchFamily="2" charset="-122"/>
              </a:rPr>
              <a:t>提高吞吐量</a:t>
            </a:r>
            <a:endParaRPr lang="zh-CN" altLang="en-US" sz="1400" dirty="0">
              <a:latin typeface="黑体" panose="02010609060101010101" pitchFamily="2" charset="-122"/>
            </a:endParaRPr>
          </a:p>
          <a:p>
            <a:pPr lvl="1" eaLnBrk="1" hangingPunct="1">
              <a:spcBef>
                <a:spcPct val="0"/>
              </a:spcBef>
              <a:buChar char="•"/>
            </a:pPr>
            <a:r>
              <a:rPr lang="zh-CN" altLang="en-US" sz="1400" dirty="0">
                <a:latin typeface="黑体" panose="02010609060101010101" pitchFamily="2" charset="-122"/>
              </a:rPr>
              <a:t>减少平均响应时间</a:t>
            </a:r>
            <a:endParaRPr lang="zh-CN" altLang="en-US" sz="1400" dirty="0">
              <a:latin typeface="黑体" panose="0201060906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1443" name="Rectangle 2"/>
          <p:cNvSpPr>
            <a:spLocks noRot="1" noTextEdit="1"/>
          </p:cNvSpPr>
          <p:nvPr>
            <p:ph type="sldImg"/>
          </p:nvPr>
        </p:nvSpPr>
        <p:spPr/>
      </p:sp>
      <p:sp>
        <p:nvSpPr>
          <p:cNvPr id="61444" name="Rectangle 3"/>
          <p:cNvSpPr>
            <a:spLocks noGrp="1"/>
          </p:cNvSpPr>
          <p:nvPr>
            <p:ph type="body" idx="1"/>
          </p:nvPr>
        </p:nvSpPr>
        <p:spPr/>
        <p:txBody>
          <a:bodyPr wrap="square" lIns="91440" tIns="45720" rIns="91440" bIns="45720" anchor="t" anchorCtr="0"/>
          <a:p>
            <a:pPr lvl="0" eaLnBrk="1" hangingPunct="1"/>
            <a:r>
              <a:rPr lang="zh-CN" altLang="en-US" sz="800" dirty="0">
                <a:solidFill>
                  <a:srgbClr val="000000"/>
                </a:solidFill>
              </a:rPr>
              <a:t>例子：</a:t>
            </a:r>
            <a:endParaRPr lang="zh-CN" altLang="en-US" sz="800" dirty="0">
              <a:solidFill>
                <a:srgbClr val="000000"/>
              </a:solidFill>
            </a:endParaRPr>
          </a:p>
          <a:p>
            <a:pPr lvl="0" eaLnBrk="1" hangingPunct="1"/>
            <a:r>
              <a:rPr lang="en-US" altLang="zh-CN" sz="800" dirty="0">
                <a:solidFill>
                  <a:srgbClr val="000000"/>
                </a:solidFill>
              </a:rPr>
              <a:t>A</a:t>
            </a:r>
            <a:r>
              <a:rPr lang="zh-CN" altLang="en-US" sz="800" dirty="0">
                <a:solidFill>
                  <a:srgbClr val="000000"/>
                </a:solidFill>
              </a:rPr>
              <a:t>、</a:t>
            </a:r>
            <a:r>
              <a:rPr lang="en-US" altLang="zh-CN" sz="800" dirty="0">
                <a:solidFill>
                  <a:srgbClr val="000000"/>
                </a:solidFill>
              </a:rPr>
              <a:t>B</a:t>
            </a:r>
            <a:r>
              <a:rPr lang="zh-CN" altLang="en-US" sz="800" dirty="0">
                <a:solidFill>
                  <a:srgbClr val="000000"/>
                </a:solidFill>
              </a:rPr>
              <a:t>、</a:t>
            </a:r>
            <a:r>
              <a:rPr lang="en-US" altLang="zh-CN" sz="800" dirty="0">
                <a:solidFill>
                  <a:srgbClr val="000000"/>
                </a:solidFill>
              </a:rPr>
              <a:t>C</a:t>
            </a:r>
            <a:r>
              <a:rPr lang="zh-CN" altLang="en-US" sz="800" dirty="0">
                <a:solidFill>
                  <a:srgbClr val="000000"/>
                </a:solidFill>
              </a:rPr>
              <a:t>三个帐户，初始资金分别为：</a:t>
            </a:r>
            <a:r>
              <a:rPr lang="en-US" altLang="zh-CN" sz="800" dirty="0">
                <a:solidFill>
                  <a:srgbClr val="000000"/>
                </a:solidFill>
              </a:rPr>
              <a:t>200</a:t>
            </a:r>
            <a:r>
              <a:rPr lang="zh-CN" altLang="en-US" sz="800" dirty="0">
                <a:solidFill>
                  <a:srgbClr val="000000"/>
                </a:solidFill>
              </a:rPr>
              <a:t>， </a:t>
            </a:r>
            <a:r>
              <a:rPr lang="en-US" altLang="zh-CN" sz="800" dirty="0">
                <a:solidFill>
                  <a:srgbClr val="000000"/>
                </a:solidFill>
              </a:rPr>
              <a:t>300</a:t>
            </a:r>
            <a:r>
              <a:rPr lang="zh-CN" altLang="en-US" sz="800" dirty="0">
                <a:solidFill>
                  <a:srgbClr val="000000"/>
                </a:solidFill>
              </a:rPr>
              <a:t>，</a:t>
            </a:r>
            <a:r>
              <a:rPr lang="en-US" altLang="zh-CN" sz="800" dirty="0">
                <a:solidFill>
                  <a:srgbClr val="000000"/>
                </a:solidFill>
              </a:rPr>
              <a:t>150</a:t>
            </a:r>
            <a:endParaRPr lang="en-US" altLang="zh-CN" sz="800" dirty="0">
              <a:solidFill>
                <a:srgbClr val="000000"/>
              </a:solidFill>
            </a:endParaRPr>
          </a:p>
          <a:p>
            <a:pPr lvl="0" eaLnBrk="1" hangingPunct="1"/>
            <a:r>
              <a:rPr lang="zh-CN" altLang="en-US" dirty="0">
                <a:solidFill>
                  <a:srgbClr val="000000"/>
                </a:solidFill>
                <a:latin typeface="Times New Roman" panose="02020603050405020304" pitchFamily="18" charset="0"/>
              </a:rPr>
              <a:t>有两个转帐事务：</a:t>
            </a:r>
            <a:r>
              <a:rPr lang="en-US" altLang="zh-CN" dirty="0">
                <a:solidFill>
                  <a:srgbClr val="000000"/>
                </a:solidFill>
                <a:latin typeface="Times New Roman" panose="02020603050405020304" pitchFamily="18" charset="0"/>
              </a:rPr>
              <a:t>T1</a:t>
            </a:r>
            <a:r>
              <a:rPr lang="zh-CN" altLang="en-US" dirty="0">
                <a:solidFill>
                  <a:srgbClr val="000000"/>
                </a:solidFill>
                <a:latin typeface="Times New Roman" panose="02020603050405020304" pitchFamily="18" charset="0"/>
              </a:rPr>
              <a:t>：从</a:t>
            </a:r>
            <a:r>
              <a:rPr lang="en-US" altLang="zh-CN" dirty="0">
                <a:solidFill>
                  <a:srgbClr val="000000"/>
                </a:solidFill>
                <a:latin typeface="Times New Roman" panose="02020603050405020304" pitchFamily="18" charset="0"/>
              </a:rPr>
              <a:t>B</a:t>
            </a:r>
            <a:r>
              <a:rPr lang="zh-CN" altLang="en-US" dirty="0">
                <a:solidFill>
                  <a:srgbClr val="000000"/>
                </a:solidFill>
                <a:latin typeface="Times New Roman" panose="02020603050405020304" pitchFamily="18" charset="0"/>
              </a:rPr>
              <a:t>转帐</a:t>
            </a:r>
            <a:r>
              <a:rPr lang="en-US" altLang="zh-CN" dirty="0">
                <a:solidFill>
                  <a:srgbClr val="000000"/>
                </a:solidFill>
                <a:latin typeface="Times New Roman" panose="02020603050405020304" pitchFamily="18" charset="0"/>
              </a:rPr>
              <a:t>100</a:t>
            </a:r>
            <a:r>
              <a:rPr lang="zh-CN" altLang="en-US" dirty="0">
                <a:solidFill>
                  <a:srgbClr val="000000"/>
                </a:solidFill>
                <a:latin typeface="Times New Roman" panose="02020603050405020304" pitchFamily="18" charset="0"/>
              </a:rPr>
              <a:t>到</a:t>
            </a:r>
            <a:r>
              <a:rPr lang="en-US" altLang="zh-CN" dirty="0">
                <a:solidFill>
                  <a:srgbClr val="000000"/>
                </a:solidFill>
                <a:latin typeface="Times New Roman" panose="02020603050405020304" pitchFamily="18" charset="0"/>
              </a:rPr>
              <a:t>C,	T2</a:t>
            </a:r>
            <a:r>
              <a:rPr lang="zh-CN" altLang="en-US" dirty="0">
                <a:solidFill>
                  <a:srgbClr val="000000"/>
                </a:solidFill>
                <a:latin typeface="Times New Roman" panose="02020603050405020304" pitchFamily="18" charset="0"/>
              </a:rPr>
              <a:t>：从</a:t>
            </a:r>
            <a:r>
              <a:rPr lang="en-US" altLang="zh-CN" dirty="0">
                <a:solidFill>
                  <a:srgbClr val="000000"/>
                </a:solidFill>
                <a:latin typeface="Times New Roman" panose="02020603050405020304" pitchFamily="18" charset="0"/>
              </a:rPr>
              <a:t>B</a:t>
            </a:r>
            <a:r>
              <a:rPr lang="zh-CN" altLang="en-US" dirty="0">
                <a:solidFill>
                  <a:srgbClr val="000000"/>
                </a:solidFill>
                <a:latin typeface="Times New Roman" panose="02020603050405020304" pitchFamily="18" charset="0"/>
              </a:rPr>
              <a:t>转帐</a:t>
            </a:r>
            <a:r>
              <a:rPr lang="en-US" altLang="zh-CN" dirty="0">
                <a:solidFill>
                  <a:srgbClr val="000000"/>
                </a:solidFill>
                <a:latin typeface="Times New Roman" panose="02020603050405020304" pitchFamily="18" charset="0"/>
              </a:rPr>
              <a:t>50</a:t>
            </a:r>
            <a:r>
              <a:rPr lang="zh-CN" altLang="en-US" dirty="0">
                <a:solidFill>
                  <a:srgbClr val="000000"/>
                </a:solidFill>
                <a:latin typeface="Times New Roman" panose="02020603050405020304" pitchFamily="18" charset="0"/>
              </a:rPr>
              <a:t>到</a:t>
            </a:r>
            <a:r>
              <a:rPr lang="en-US" altLang="zh-CN" dirty="0">
                <a:solidFill>
                  <a:srgbClr val="000000"/>
                </a:solidFill>
                <a:latin typeface="Times New Roman" panose="02020603050405020304" pitchFamily="18" charset="0"/>
              </a:rPr>
              <a:t>A,</a:t>
            </a:r>
            <a:endParaRPr lang="en-US" altLang="zh-CN" dirty="0">
              <a:solidFill>
                <a:srgbClr val="000000"/>
              </a:solidFill>
              <a:latin typeface="Times New Roman" panose="02020603050405020304" pitchFamily="18" charset="0"/>
            </a:endParaRPr>
          </a:p>
          <a:p>
            <a:pPr lvl="0" eaLnBrk="1" hangingPunct="1"/>
            <a:endParaRPr lang="en-US" altLang="zh-CN" sz="800" dirty="0">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2467" name="Rectangle 2"/>
          <p:cNvSpPr>
            <a:spLocks noRot="1" noTextEdit="1"/>
          </p:cNvSpPr>
          <p:nvPr>
            <p:ph type="sldImg"/>
          </p:nvPr>
        </p:nvSpPr>
        <p:spPr/>
      </p:sp>
      <p:sp>
        <p:nvSpPr>
          <p:cNvPr id="62468" name="Rectangle 3"/>
          <p:cNvSpPr>
            <a:spLocks noGrp="1"/>
          </p:cNvSpPr>
          <p:nvPr>
            <p:ph type="body" idx="1"/>
          </p:nvPr>
        </p:nvSpPr>
        <p:spPr/>
        <p:txBody>
          <a:bodyPr wrap="square" lIns="91440" tIns="45720" rIns="91440" bIns="45720" anchor="t" anchorCtr="0"/>
          <a:p>
            <a:pPr lvl="0" eaLnBrk="1" hangingPunct="1"/>
            <a:r>
              <a:rPr lang="zh-CN" altLang="en-US" sz="800" dirty="0">
                <a:solidFill>
                  <a:srgbClr val="000000"/>
                </a:solidFill>
              </a:rPr>
              <a:t>例子：</a:t>
            </a:r>
            <a:endParaRPr lang="zh-CN" altLang="en-US" sz="800" dirty="0">
              <a:solidFill>
                <a:srgbClr val="000000"/>
              </a:solidFill>
            </a:endParaRPr>
          </a:p>
          <a:p>
            <a:pPr lvl="0" eaLnBrk="1" hangingPunct="1"/>
            <a:r>
              <a:rPr lang="en-US" altLang="zh-CN" sz="800" dirty="0">
                <a:solidFill>
                  <a:srgbClr val="000000"/>
                </a:solidFill>
              </a:rPr>
              <a:t>A</a:t>
            </a:r>
            <a:r>
              <a:rPr lang="zh-CN" altLang="en-US" sz="800" dirty="0">
                <a:solidFill>
                  <a:srgbClr val="000000"/>
                </a:solidFill>
              </a:rPr>
              <a:t>、</a:t>
            </a:r>
            <a:r>
              <a:rPr lang="en-US" altLang="zh-CN" sz="800" dirty="0">
                <a:solidFill>
                  <a:srgbClr val="000000"/>
                </a:solidFill>
              </a:rPr>
              <a:t>B</a:t>
            </a:r>
            <a:r>
              <a:rPr lang="zh-CN" altLang="en-US" sz="800" dirty="0">
                <a:solidFill>
                  <a:srgbClr val="000000"/>
                </a:solidFill>
              </a:rPr>
              <a:t>、</a:t>
            </a:r>
            <a:r>
              <a:rPr lang="en-US" altLang="zh-CN" sz="800" dirty="0">
                <a:solidFill>
                  <a:srgbClr val="000000"/>
                </a:solidFill>
              </a:rPr>
              <a:t>C</a:t>
            </a:r>
            <a:r>
              <a:rPr lang="zh-CN" altLang="en-US" sz="800" dirty="0">
                <a:solidFill>
                  <a:srgbClr val="000000"/>
                </a:solidFill>
              </a:rPr>
              <a:t>三个帐户，初始资金分别为：</a:t>
            </a:r>
            <a:r>
              <a:rPr lang="en-US" altLang="zh-CN" sz="800" dirty="0">
                <a:solidFill>
                  <a:srgbClr val="000000"/>
                </a:solidFill>
              </a:rPr>
              <a:t>200</a:t>
            </a:r>
            <a:r>
              <a:rPr lang="zh-CN" altLang="en-US" sz="800" dirty="0">
                <a:solidFill>
                  <a:srgbClr val="000000"/>
                </a:solidFill>
              </a:rPr>
              <a:t>， </a:t>
            </a:r>
            <a:r>
              <a:rPr lang="en-US" altLang="zh-CN" sz="800" dirty="0">
                <a:solidFill>
                  <a:srgbClr val="000000"/>
                </a:solidFill>
              </a:rPr>
              <a:t>300</a:t>
            </a:r>
            <a:r>
              <a:rPr lang="zh-CN" altLang="en-US" sz="800" dirty="0">
                <a:solidFill>
                  <a:srgbClr val="000000"/>
                </a:solidFill>
              </a:rPr>
              <a:t>，</a:t>
            </a:r>
            <a:r>
              <a:rPr lang="en-US" altLang="zh-CN" sz="800" dirty="0">
                <a:solidFill>
                  <a:srgbClr val="000000"/>
                </a:solidFill>
              </a:rPr>
              <a:t>150</a:t>
            </a:r>
            <a:endParaRPr lang="en-US" altLang="zh-CN" sz="800" dirty="0">
              <a:solidFill>
                <a:srgbClr val="000000"/>
              </a:solidFill>
            </a:endParaRPr>
          </a:p>
          <a:p>
            <a:pPr lvl="0" eaLnBrk="1" hangingPunct="1"/>
            <a:r>
              <a:rPr lang="zh-CN" altLang="en-US" dirty="0">
                <a:solidFill>
                  <a:srgbClr val="000000"/>
                </a:solidFill>
                <a:latin typeface="Times New Roman" panose="02020603050405020304" pitchFamily="18" charset="0"/>
              </a:rPr>
              <a:t>有两个转帐事务：</a:t>
            </a:r>
            <a:r>
              <a:rPr lang="en-US" altLang="zh-CN" dirty="0">
                <a:solidFill>
                  <a:srgbClr val="000000"/>
                </a:solidFill>
                <a:latin typeface="Times New Roman" panose="02020603050405020304" pitchFamily="18" charset="0"/>
              </a:rPr>
              <a:t>T1</a:t>
            </a:r>
            <a:r>
              <a:rPr lang="zh-CN" altLang="en-US" dirty="0">
                <a:solidFill>
                  <a:srgbClr val="000000"/>
                </a:solidFill>
                <a:latin typeface="Times New Roman" panose="02020603050405020304" pitchFamily="18" charset="0"/>
              </a:rPr>
              <a:t>：从</a:t>
            </a:r>
            <a:r>
              <a:rPr lang="en-US" altLang="zh-CN" dirty="0">
                <a:solidFill>
                  <a:srgbClr val="000000"/>
                </a:solidFill>
                <a:latin typeface="Times New Roman" panose="02020603050405020304" pitchFamily="18" charset="0"/>
              </a:rPr>
              <a:t>B</a:t>
            </a:r>
            <a:r>
              <a:rPr lang="zh-CN" altLang="en-US" dirty="0">
                <a:solidFill>
                  <a:srgbClr val="000000"/>
                </a:solidFill>
                <a:latin typeface="Times New Roman" panose="02020603050405020304" pitchFamily="18" charset="0"/>
              </a:rPr>
              <a:t>转帐</a:t>
            </a:r>
            <a:r>
              <a:rPr lang="en-US" altLang="zh-CN" dirty="0">
                <a:solidFill>
                  <a:srgbClr val="000000"/>
                </a:solidFill>
                <a:latin typeface="Times New Roman" panose="02020603050405020304" pitchFamily="18" charset="0"/>
              </a:rPr>
              <a:t>100</a:t>
            </a:r>
            <a:r>
              <a:rPr lang="zh-CN" altLang="en-US" dirty="0">
                <a:solidFill>
                  <a:srgbClr val="000000"/>
                </a:solidFill>
                <a:latin typeface="Times New Roman" panose="02020603050405020304" pitchFamily="18" charset="0"/>
              </a:rPr>
              <a:t>到</a:t>
            </a:r>
            <a:r>
              <a:rPr lang="en-US" altLang="zh-CN" dirty="0">
                <a:solidFill>
                  <a:srgbClr val="000000"/>
                </a:solidFill>
                <a:latin typeface="Times New Roman" panose="02020603050405020304" pitchFamily="18" charset="0"/>
              </a:rPr>
              <a:t>C,	T2</a:t>
            </a:r>
            <a:r>
              <a:rPr lang="zh-CN" altLang="en-US" dirty="0">
                <a:solidFill>
                  <a:srgbClr val="000000"/>
                </a:solidFill>
                <a:latin typeface="Times New Roman" panose="02020603050405020304" pitchFamily="18" charset="0"/>
              </a:rPr>
              <a:t>：从</a:t>
            </a:r>
            <a:r>
              <a:rPr lang="en-US" altLang="zh-CN" dirty="0">
                <a:solidFill>
                  <a:srgbClr val="000000"/>
                </a:solidFill>
                <a:latin typeface="Times New Roman" panose="02020603050405020304" pitchFamily="18" charset="0"/>
              </a:rPr>
              <a:t>B</a:t>
            </a:r>
            <a:r>
              <a:rPr lang="zh-CN" altLang="en-US" dirty="0">
                <a:solidFill>
                  <a:srgbClr val="000000"/>
                </a:solidFill>
                <a:latin typeface="Times New Roman" panose="02020603050405020304" pitchFamily="18" charset="0"/>
              </a:rPr>
              <a:t>转帐</a:t>
            </a:r>
            <a:r>
              <a:rPr lang="en-US" altLang="zh-CN" dirty="0">
                <a:solidFill>
                  <a:srgbClr val="000000"/>
                </a:solidFill>
                <a:latin typeface="Times New Roman" panose="02020603050405020304" pitchFamily="18" charset="0"/>
              </a:rPr>
              <a:t>50</a:t>
            </a:r>
            <a:r>
              <a:rPr lang="zh-CN" altLang="en-US" dirty="0">
                <a:solidFill>
                  <a:srgbClr val="000000"/>
                </a:solidFill>
                <a:latin typeface="Times New Roman" panose="02020603050405020304" pitchFamily="18" charset="0"/>
              </a:rPr>
              <a:t>到</a:t>
            </a:r>
            <a:r>
              <a:rPr lang="en-US" altLang="zh-CN" dirty="0">
                <a:solidFill>
                  <a:srgbClr val="000000"/>
                </a:solidFill>
                <a:latin typeface="Times New Roman" panose="02020603050405020304" pitchFamily="18" charset="0"/>
              </a:rPr>
              <a:t>A,</a:t>
            </a:r>
            <a:endParaRPr lang="en-US" altLang="zh-CN" dirty="0">
              <a:solidFill>
                <a:srgbClr val="000000"/>
              </a:solidFill>
              <a:latin typeface="Times New Roman" panose="02020603050405020304" pitchFamily="18" charset="0"/>
            </a:endParaRPr>
          </a:p>
          <a:p>
            <a:pPr lvl="0" eaLnBrk="1" hangingPunct="1"/>
            <a:endParaRPr lang="en-US" altLang="zh-CN" sz="800" dirty="0">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3491" name="Rectangle 2"/>
          <p:cNvSpPr>
            <a:spLocks noRot="1" noTextEdit="1"/>
          </p:cNvSpPr>
          <p:nvPr>
            <p:ph type="sldImg"/>
          </p:nvPr>
        </p:nvSpPr>
        <p:spPr/>
      </p:sp>
      <p:sp>
        <p:nvSpPr>
          <p:cNvPr id="63492" name="Rectangle 3"/>
          <p:cNvSpPr>
            <a:spLocks noGrp="1"/>
          </p:cNvSpPr>
          <p:nvPr>
            <p:ph type="body" idx="1"/>
          </p:nvPr>
        </p:nvSpPr>
        <p:spPr/>
        <p:txBody>
          <a:bodyPr wrap="square" lIns="91440" tIns="45720" rIns="91440" bIns="45720" anchor="t" anchorCtr="0"/>
          <a:p>
            <a:pPr lvl="0" eaLnBrk="1" hangingPunct="1">
              <a:lnSpc>
                <a:spcPct val="110000"/>
              </a:lnSpc>
            </a:pPr>
            <a:r>
              <a:rPr lang="en-US" altLang="zh-CN" dirty="0"/>
              <a:t>1</a:t>
            </a:r>
            <a:r>
              <a:rPr lang="zh-CN" altLang="en-US" dirty="0"/>
              <a:t>、不可重复读 </a:t>
            </a:r>
            <a:r>
              <a:rPr lang="en-US" altLang="zh-CN" dirty="0"/>
              <a:t>( Unrepeatable Read )</a:t>
            </a:r>
            <a:endParaRPr lang="en-US" altLang="zh-CN" dirty="0"/>
          </a:p>
          <a:p>
            <a:pPr lvl="0" eaLnBrk="1" hangingPunct="1">
              <a:lnSpc>
                <a:spcPct val="110000"/>
              </a:lnSpc>
            </a:pPr>
            <a:r>
              <a:rPr lang="en-US" altLang="zh-CN" dirty="0"/>
              <a:t>2</a:t>
            </a:r>
            <a:r>
              <a:rPr lang="zh-CN" altLang="en-US" dirty="0"/>
              <a:t>、读</a:t>
            </a:r>
            <a:r>
              <a:rPr lang="en-US" altLang="zh-CN" dirty="0"/>
              <a:t>"</a:t>
            </a:r>
            <a:r>
              <a:rPr lang="zh-CN" altLang="en-US" dirty="0"/>
              <a:t>脏</a:t>
            </a:r>
            <a:r>
              <a:rPr lang="en-US" altLang="zh-CN" dirty="0"/>
              <a:t>"</a:t>
            </a:r>
            <a:r>
              <a:rPr lang="zh-CN" altLang="en-US" dirty="0"/>
              <a:t>数据 </a:t>
            </a:r>
            <a:r>
              <a:rPr lang="en-US" altLang="zh-CN" dirty="0"/>
              <a:t>( Dirty  Read )</a:t>
            </a:r>
            <a:endParaRPr lang="en-US" altLang="zh-CN" dirty="0"/>
          </a:p>
          <a:p>
            <a:pPr lvl="0" eaLnBrk="1" hangingPunct="1">
              <a:lnSpc>
                <a:spcPct val="110000"/>
              </a:lnSpc>
            </a:pPr>
            <a:r>
              <a:rPr lang="en-US" altLang="zh-CN" dirty="0"/>
              <a:t>3</a:t>
            </a:r>
            <a:r>
              <a:rPr lang="zh-CN" altLang="en-US" dirty="0"/>
              <a:t>、更新丢失 </a:t>
            </a:r>
            <a:r>
              <a:rPr lang="en-US" altLang="zh-CN" dirty="0"/>
              <a:t>( Lost  Updates )</a:t>
            </a:r>
            <a:endParaRPr lang="en-US" altLang="zh-CN" dirty="0"/>
          </a:p>
          <a:p>
            <a:pPr lvl="0" eaLnBrk="1" hangingPunct="1">
              <a:lnSpc>
                <a:spcPct val="110000"/>
              </a:lnSpc>
            </a:pPr>
            <a:r>
              <a:rPr lang="en-US" altLang="zh-CN" dirty="0"/>
              <a:t>4</a:t>
            </a:r>
            <a:r>
              <a:rPr lang="zh-CN" altLang="en-US" dirty="0"/>
              <a:t>、非一致性读</a:t>
            </a:r>
            <a:endParaRPr lang="zh-CN" altLang="en-US" dirty="0"/>
          </a:p>
          <a:p>
            <a:pPr lvl="0" eaLnBrk="1" hangingPunct="1">
              <a:lnSpc>
                <a:spcPct val="110000"/>
              </a:lnSpc>
            </a:pPr>
            <a:endParaRPr lang="zh-CN" altLang="en-US" dirty="0"/>
          </a:p>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4515" name="Rectangle 2"/>
          <p:cNvSpPr>
            <a:spLocks noRot="1" noTextEdit="1"/>
          </p:cNvSpPr>
          <p:nvPr>
            <p:ph type="sldImg"/>
          </p:nvPr>
        </p:nvSpPr>
        <p:spPr/>
      </p:sp>
      <p:sp>
        <p:nvSpPr>
          <p:cNvPr id="64516" name="Rectangle 3"/>
          <p:cNvSpPr>
            <a:spLocks noGrp="1"/>
          </p:cNvSpPr>
          <p:nvPr>
            <p:ph type="body" idx="1"/>
          </p:nvPr>
        </p:nvSpPr>
        <p:spPr/>
        <p:txBody>
          <a:bodyPr wrap="square" lIns="91440" tIns="45720" rIns="91440" bIns="45720" anchor="t" anchorCtr="0"/>
          <a:p>
            <a:pPr lvl="0" eaLnBrk="1" hangingPunct="1"/>
            <a:r>
              <a:rPr lang="zh-CN" altLang="en-US" dirty="0"/>
              <a:t>事务</a:t>
            </a:r>
            <a:r>
              <a:rPr lang="en-US" altLang="zh-CN" dirty="0"/>
              <a:t>T</a:t>
            </a:r>
            <a:r>
              <a:rPr lang="en-US" altLang="zh-CN" baseline="-25000" dirty="0"/>
              <a:t>A</a:t>
            </a:r>
            <a:r>
              <a:rPr lang="zh-CN" altLang="en-US" dirty="0"/>
              <a:t>修改</a:t>
            </a:r>
            <a:r>
              <a:rPr lang="en-US" altLang="zh-CN" dirty="0"/>
              <a:t>X</a:t>
            </a:r>
            <a:r>
              <a:rPr lang="zh-CN" altLang="en-US" dirty="0"/>
              <a:t>为</a:t>
            </a:r>
            <a:r>
              <a:rPr lang="en-US" altLang="zh-CN" dirty="0"/>
              <a:t>X’</a:t>
            </a:r>
            <a:endParaRPr lang="en-US" altLang="zh-CN" dirty="0"/>
          </a:p>
          <a:p>
            <a:pPr lvl="0" eaLnBrk="1" hangingPunct="1"/>
            <a:r>
              <a:rPr lang="zh-CN" altLang="en-US" dirty="0"/>
              <a:t>事务</a:t>
            </a:r>
            <a:r>
              <a:rPr lang="en-US" altLang="zh-CN" dirty="0"/>
              <a:t>T</a:t>
            </a:r>
            <a:r>
              <a:rPr lang="en-US" altLang="zh-CN" baseline="-25000" dirty="0"/>
              <a:t>B</a:t>
            </a:r>
            <a:r>
              <a:rPr lang="zh-CN" altLang="en-US" dirty="0"/>
              <a:t>修改</a:t>
            </a:r>
            <a:r>
              <a:rPr lang="en-US" altLang="zh-CN" dirty="0"/>
              <a:t>X</a:t>
            </a:r>
            <a:r>
              <a:rPr lang="zh-CN" altLang="en-US" dirty="0"/>
              <a:t>为</a:t>
            </a:r>
            <a:r>
              <a:rPr lang="en-US" altLang="zh-CN" dirty="0"/>
              <a:t>X”</a:t>
            </a:r>
            <a:endParaRPr lang="en-US" altLang="zh-CN" dirty="0"/>
          </a:p>
          <a:p>
            <a:pPr lvl="0" eaLnBrk="1" hangingPunct="1"/>
            <a:r>
              <a:rPr lang="zh-CN" altLang="en-US" dirty="0"/>
              <a:t>事务</a:t>
            </a:r>
            <a:r>
              <a:rPr lang="en-US" altLang="zh-CN" dirty="0"/>
              <a:t>T</a:t>
            </a:r>
            <a:r>
              <a:rPr lang="en-US" altLang="zh-CN" baseline="-25000" dirty="0"/>
              <a:t>A</a:t>
            </a:r>
            <a:r>
              <a:rPr lang="en-US" altLang="zh-CN" dirty="0"/>
              <a:t>(T</a:t>
            </a:r>
            <a:r>
              <a:rPr lang="en-US" altLang="zh-CN" baseline="-25000" dirty="0"/>
              <a:t>B</a:t>
            </a:r>
            <a:r>
              <a:rPr lang="en-US" altLang="zh-CN" dirty="0"/>
              <a:t>)</a:t>
            </a:r>
            <a:r>
              <a:rPr lang="zh-CN" altLang="en-US" dirty="0"/>
              <a:t>被撤消，造成事务</a:t>
            </a:r>
            <a:r>
              <a:rPr lang="en-US" altLang="zh-CN" dirty="0"/>
              <a:t>T</a:t>
            </a:r>
            <a:r>
              <a:rPr lang="en-US" altLang="zh-CN" baseline="-25000" dirty="0"/>
              <a:t>B</a:t>
            </a:r>
            <a:r>
              <a:rPr lang="en-US" altLang="zh-CN" dirty="0"/>
              <a:t>(T</a:t>
            </a:r>
            <a:r>
              <a:rPr lang="en-US" altLang="zh-CN" baseline="-25000" dirty="0"/>
              <a:t>A</a:t>
            </a:r>
            <a:r>
              <a:rPr lang="en-US" altLang="zh-CN" dirty="0"/>
              <a:t>)</a:t>
            </a:r>
            <a:r>
              <a:rPr lang="zh-CN" altLang="en-US" dirty="0"/>
              <a:t>的修改丢失</a:t>
            </a:r>
            <a:endParaRPr lang="zh-CN" altLang="en-US" dirty="0"/>
          </a:p>
          <a:p>
            <a:pPr lvl="0" eaLnBrk="1" hangingPunct="1"/>
            <a:endParaRPr lang="zh-CN" altLang="en-US" dirty="0"/>
          </a:p>
          <a:p>
            <a:pPr lvl="0" eaLnBrk="1" hangingPunct="1"/>
            <a:r>
              <a:rPr lang="zh-CN" altLang="en-US" dirty="0">
                <a:solidFill>
                  <a:srgbClr val="000000"/>
                </a:solidFill>
              </a:rPr>
              <a:t>例子：航空订票事务。</a:t>
            </a:r>
            <a:endParaRPr lang="zh-CN" altLang="en-US" dirty="0">
              <a:solidFill>
                <a:srgbClr val="000000"/>
              </a:solidFill>
            </a:endParaRPr>
          </a:p>
          <a:p>
            <a:pPr lvl="0" eaLnBrk="1" hangingPunct="1"/>
            <a:r>
              <a:rPr lang="zh-CN" altLang="en-US" dirty="0">
                <a:solidFill>
                  <a:srgbClr val="000000"/>
                </a:solidFill>
              </a:rPr>
              <a:t>	 动作</a:t>
            </a:r>
            <a:r>
              <a:rPr lang="en-US" altLang="zh-CN" dirty="0">
                <a:solidFill>
                  <a:srgbClr val="000000"/>
                </a:solidFill>
              </a:rPr>
              <a:t>1</a:t>
            </a:r>
            <a:r>
              <a:rPr lang="zh-CN" altLang="en-US" dirty="0">
                <a:solidFill>
                  <a:srgbClr val="000000"/>
                </a:solidFill>
              </a:rPr>
              <a:t>：找出一张未出售的座位票；</a:t>
            </a:r>
            <a:endParaRPr lang="zh-CN" altLang="en-US" dirty="0">
              <a:solidFill>
                <a:srgbClr val="000000"/>
              </a:solidFill>
            </a:endParaRPr>
          </a:p>
          <a:p>
            <a:pPr lvl="0" eaLnBrk="1" hangingPunct="1"/>
            <a:r>
              <a:rPr lang="zh-CN" altLang="en-US" dirty="0">
                <a:solidFill>
                  <a:srgbClr val="000000"/>
                </a:solidFill>
              </a:rPr>
              <a:t>	动作</a:t>
            </a:r>
            <a:r>
              <a:rPr lang="en-US" altLang="zh-CN" dirty="0">
                <a:solidFill>
                  <a:srgbClr val="000000"/>
                </a:solidFill>
              </a:rPr>
              <a:t>2</a:t>
            </a:r>
            <a:r>
              <a:rPr lang="zh-CN" altLang="en-US" dirty="0">
                <a:solidFill>
                  <a:srgbClr val="000000"/>
                </a:solidFill>
              </a:rPr>
              <a:t>：在其上登记已售标记、订票人；</a:t>
            </a:r>
            <a:endParaRPr lang="zh-CN" altLang="en-US" dirty="0">
              <a:solidFill>
                <a:srgbClr val="000000"/>
              </a:solidFill>
            </a:endParaRPr>
          </a:p>
          <a:p>
            <a:pPr lvl="0" eaLnBrk="1" hangingPunct="1"/>
            <a:r>
              <a:rPr lang="zh-CN" altLang="en-US" dirty="0">
                <a:solidFill>
                  <a:srgbClr val="000000"/>
                </a:solidFill>
              </a:rPr>
              <a:t>两个订票事务</a:t>
            </a:r>
            <a:r>
              <a:rPr lang="en-US" altLang="zh-CN" dirty="0">
                <a:solidFill>
                  <a:srgbClr val="000000"/>
                </a:solidFill>
              </a:rPr>
              <a:t>TA</a:t>
            </a:r>
            <a:r>
              <a:rPr lang="zh-CN" altLang="en-US" dirty="0">
                <a:solidFill>
                  <a:srgbClr val="000000"/>
                </a:solidFill>
              </a:rPr>
              <a:t>、</a:t>
            </a:r>
            <a:r>
              <a:rPr lang="en-US" altLang="zh-CN" dirty="0">
                <a:solidFill>
                  <a:srgbClr val="000000"/>
                </a:solidFill>
              </a:rPr>
              <a:t>TB</a:t>
            </a:r>
            <a:r>
              <a:rPr lang="zh-CN" altLang="en-US" dirty="0">
                <a:solidFill>
                  <a:srgbClr val="000000"/>
                </a:solidFill>
              </a:rPr>
              <a:t>并发订票：</a:t>
            </a:r>
            <a:endParaRPr lang="zh-CN" altLang="en-US" dirty="0">
              <a:solidFill>
                <a:srgbClr val="000000"/>
              </a:solidFill>
            </a:endParaRPr>
          </a:p>
          <a:p>
            <a:pPr lvl="0" eaLnBrk="1" hangingPunct="1"/>
            <a:r>
              <a:rPr lang="zh-CN" altLang="en-US" dirty="0">
                <a:solidFill>
                  <a:srgbClr val="000000"/>
                </a:solidFill>
              </a:rPr>
              <a:t>         </a:t>
            </a:r>
            <a:r>
              <a:rPr lang="en-US" altLang="zh-CN" dirty="0">
                <a:solidFill>
                  <a:srgbClr val="000000"/>
                </a:solidFill>
              </a:rPr>
              <a:t>TA</a:t>
            </a:r>
            <a:r>
              <a:rPr lang="zh-CN" altLang="en-US" dirty="0">
                <a:solidFill>
                  <a:srgbClr val="000000"/>
                </a:solidFill>
              </a:rPr>
              <a:t>动作</a:t>
            </a:r>
            <a:r>
              <a:rPr lang="en-US" altLang="zh-CN" dirty="0">
                <a:solidFill>
                  <a:srgbClr val="000000"/>
                </a:solidFill>
              </a:rPr>
              <a:t>1</a:t>
            </a:r>
            <a:r>
              <a:rPr lang="zh-CN" altLang="en-US" dirty="0">
                <a:solidFill>
                  <a:srgbClr val="000000"/>
                </a:solidFill>
              </a:rPr>
              <a:t>，找出一张未出售的座位票：</a:t>
            </a:r>
            <a:r>
              <a:rPr lang="en-US" altLang="zh-CN" dirty="0">
                <a:solidFill>
                  <a:srgbClr val="000000"/>
                </a:solidFill>
              </a:rPr>
              <a:t>S00120516F</a:t>
            </a:r>
            <a:r>
              <a:rPr lang="zh-CN" altLang="en-US" dirty="0">
                <a:solidFill>
                  <a:srgbClr val="000000"/>
                </a:solidFill>
              </a:rPr>
              <a:t>；</a:t>
            </a:r>
            <a:endParaRPr lang="zh-CN" altLang="en-US" dirty="0">
              <a:solidFill>
                <a:srgbClr val="000000"/>
              </a:solidFill>
            </a:endParaRPr>
          </a:p>
          <a:p>
            <a:pPr lvl="0" eaLnBrk="1" hangingPunct="1"/>
            <a:r>
              <a:rPr lang="zh-CN" altLang="en-US" dirty="0">
                <a:solidFill>
                  <a:srgbClr val="000000"/>
                </a:solidFill>
              </a:rPr>
              <a:t>         </a:t>
            </a:r>
            <a:r>
              <a:rPr lang="en-US" altLang="zh-CN" dirty="0">
                <a:solidFill>
                  <a:srgbClr val="000000"/>
                </a:solidFill>
              </a:rPr>
              <a:t>TB</a:t>
            </a:r>
            <a:r>
              <a:rPr lang="zh-CN" altLang="en-US" dirty="0">
                <a:solidFill>
                  <a:srgbClr val="000000"/>
                </a:solidFill>
              </a:rPr>
              <a:t>动作</a:t>
            </a:r>
            <a:r>
              <a:rPr lang="en-US" altLang="zh-CN" dirty="0">
                <a:solidFill>
                  <a:srgbClr val="000000"/>
                </a:solidFill>
              </a:rPr>
              <a:t>1</a:t>
            </a:r>
            <a:r>
              <a:rPr lang="zh-CN" altLang="en-US" dirty="0">
                <a:solidFill>
                  <a:srgbClr val="000000"/>
                </a:solidFill>
              </a:rPr>
              <a:t>，找出一张未出售的座位票：</a:t>
            </a:r>
            <a:r>
              <a:rPr lang="en-US" altLang="zh-CN" dirty="0">
                <a:solidFill>
                  <a:srgbClr val="000000"/>
                </a:solidFill>
              </a:rPr>
              <a:t>S00120516F</a:t>
            </a:r>
            <a:r>
              <a:rPr lang="zh-CN" altLang="en-US" dirty="0">
                <a:solidFill>
                  <a:srgbClr val="000000"/>
                </a:solidFill>
              </a:rPr>
              <a:t>；</a:t>
            </a:r>
            <a:endParaRPr lang="zh-CN" altLang="en-US" dirty="0">
              <a:solidFill>
                <a:srgbClr val="000000"/>
              </a:solidFill>
            </a:endParaRPr>
          </a:p>
          <a:p>
            <a:pPr lvl="0" eaLnBrk="1" hangingPunct="1"/>
            <a:r>
              <a:rPr lang="zh-CN" altLang="en-US" dirty="0">
                <a:solidFill>
                  <a:srgbClr val="000000"/>
                </a:solidFill>
              </a:rPr>
              <a:t>         </a:t>
            </a:r>
            <a:r>
              <a:rPr lang="en-US" altLang="zh-CN" dirty="0">
                <a:solidFill>
                  <a:srgbClr val="000000"/>
                </a:solidFill>
              </a:rPr>
              <a:t>TA</a:t>
            </a:r>
            <a:r>
              <a:rPr lang="zh-CN" altLang="en-US" dirty="0">
                <a:solidFill>
                  <a:srgbClr val="000000"/>
                </a:solidFill>
              </a:rPr>
              <a:t>动作</a:t>
            </a:r>
            <a:r>
              <a:rPr lang="en-US" altLang="zh-CN" dirty="0">
                <a:solidFill>
                  <a:srgbClr val="000000"/>
                </a:solidFill>
              </a:rPr>
              <a:t>2</a:t>
            </a:r>
            <a:r>
              <a:rPr lang="zh-CN" altLang="en-US" dirty="0">
                <a:solidFill>
                  <a:srgbClr val="000000"/>
                </a:solidFill>
              </a:rPr>
              <a:t>，在</a:t>
            </a:r>
            <a:r>
              <a:rPr lang="en-US" altLang="zh-CN" dirty="0">
                <a:solidFill>
                  <a:srgbClr val="000000"/>
                </a:solidFill>
              </a:rPr>
              <a:t>S00120516F</a:t>
            </a:r>
            <a:r>
              <a:rPr lang="zh-CN" altLang="en-US" dirty="0">
                <a:solidFill>
                  <a:srgbClr val="000000"/>
                </a:solidFill>
              </a:rPr>
              <a:t>票上登记已售标记、订票人张三；</a:t>
            </a:r>
            <a:endParaRPr lang="zh-CN" altLang="en-US" dirty="0">
              <a:solidFill>
                <a:srgbClr val="000000"/>
              </a:solidFill>
            </a:endParaRPr>
          </a:p>
          <a:p>
            <a:pPr lvl="0" eaLnBrk="1" hangingPunct="1"/>
            <a:r>
              <a:rPr lang="zh-CN" altLang="en-US" dirty="0">
                <a:solidFill>
                  <a:srgbClr val="000000"/>
                </a:solidFill>
              </a:rPr>
              <a:t>         </a:t>
            </a:r>
            <a:r>
              <a:rPr lang="en-US" altLang="zh-CN" dirty="0">
                <a:solidFill>
                  <a:srgbClr val="000000"/>
                </a:solidFill>
              </a:rPr>
              <a:t>TB</a:t>
            </a:r>
            <a:r>
              <a:rPr lang="zh-CN" altLang="en-US" dirty="0">
                <a:solidFill>
                  <a:srgbClr val="000000"/>
                </a:solidFill>
              </a:rPr>
              <a:t>动作</a:t>
            </a:r>
            <a:r>
              <a:rPr lang="en-US" altLang="zh-CN" dirty="0">
                <a:solidFill>
                  <a:srgbClr val="000000"/>
                </a:solidFill>
              </a:rPr>
              <a:t>2</a:t>
            </a:r>
            <a:r>
              <a:rPr lang="zh-CN" altLang="en-US" dirty="0">
                <a:solidFill>
                  <a:srgbClr val="000000"/>
                </a:solidFill>
              </a:rPr>
              <a:t>，在</a:t>
            </a:r>
            <a:r>
              <a:rPr lang="en-US" altLang="zh-CN" dirty="0">
                <a:solidFill>
                  <a:srgbClr val="000000"/>
                </a:solidFill>
              </a:rPr>
              <a:t>S00120516F</a:t>
            </a:r>
            <a:r>
              <a:rPr lang="zh-CN" altLang="en-US" dirty="0">
                <a:solidFill>
                  <a:srgbClr val="000000"/>
                </a:solidFill>
              </a:rPr>
              <a:t>票上登记已售标记、订票人李四；</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5539" name="Rectangle 2"/>
          <p:cNvSpPr>
            <a:spLocks noRot="1" noTextEdit="1"/>
          </p:cNvSpPr>
          <p:nvPr>
            <p:ph type="sldImg"/>
          </p:nvPr>
        </p:nvSpPr>
        <p:spPr/>
      </p:sp>
      <p:sp>
        <p:nvSpPr>
          <p:cNvPr id="65540" name="Rectangle 3"/>
          <p:cNvSpPr>
            <a:spLocks noGrp="1"/>
          </p:cNvSpPr>
          <p:nvPr>
            <p:ph type="body" idx="1"/>
          </p:nvPr>
        </p:nvSpPr>
        <p:spPr/>
        <p:txBody>
          <a:bodyPr wrap="square" lIns="91440" tIns="45720" rIns="91440" bIns="45720" anchor="t" anchorCtr="0"/>
          <a:p>
            <a:pPr lvl="0" eaLnBrk="1" hangingPunct="1"/>
            <a:r>
              <a:rPr lang="zh-CN" altLang="en-US" dirty="0"/>
              <a:t>数据库中将这种读取了未提交且被撤销的数据为脏数据</a:t>
            </a:r>
            <a:endParaRPr lang="zh-CN" altLang="en-US" dirty="0"/>
          </a:p>
          <a:p>
            <a:pPr lvl="0" eaLnBrk="1" hangingPunct="1"/>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6563" name="Rectangle 2"/>
          <p:cNvSpPr>
            <a:spLocks noRot="1" noTextEdit="1"/>
          </p:cNvSpPr>
          <p:nvPr>
            <p:ph type="sldImg"/>
          </p:nvPr>
        </p:nvSpPr>
        <p:spPr/>
      </p:sp>
      <p:sp>
        <p:nvSpPr>
          <p:cNvPr id="66564" name="Rectangle 3"/>
          <p:cNvSpPr>
            <a:spLocks noGrp="1"/>
          </p:cNvSpPr>
          <p:nvPr>
            <p:ph type="body" idx="1"/>
          </p:nvPr>
        </p:nvSpPr>
        <p:spPr/>
        <p:txBody>
          <a:bodyPr wrap="square" lIns="91440" tIns="45720" rIns="91440" bIns="45720" anchor="t" anchorCtr="0"/>
          <a:p>
            <a:pPr lvl="0" eaLnBrk="1" hangingPunct="1"/>
            <a:r>
              <a:rPr lang="zh-CN" altLang="en-US" dirty="0"/>
              <a:t>是指两次从数据库中读取的结果不同。</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7587" name="Rectangle 2"/>
          <p:cNvSpPr>
            <a:spLocks noRot="1"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endParaRPr lang="en-US" altLang="zh-CN" dirty="0"/>
          </a:p>
          <a:p>
            <a:pPr lvl="0" eaLnBrk="1" hangingPunct="1"/>
            <a:r>
              <a:rPr lang="zh-CN" altLang="en-US" dirty="0"/>
              <a:t>三类</a:t>
            </a:r>
            <a:r>
              <a:rPr lang="zh-CN" altLang="en-US" dirty="0">
                <a:ea typeface="黑体" panose="02010609060101010101" pitchFamily="2" charset="-122"/>
              </a:rPr>
              <a:t>不可重复读</a:t>
            </a:r>
            <a:r>
              <a:rPr lang="en-US" altLang="zh-CN" dirty="0">
                <a:ea typeface="黑体" panose="02010609060101010101" pitchFamily="2" charset="-122"/>
              </a:rPr>
              <a:t>(</a:t>
            </a:r>
            <a:r>
              <a:rPr lang="zh-CN" altLang="en-US" dirty="0"/>
              <a:t>事务</a:t>
            </a:r>
            <a:r>
              <a:rPr lang="en-US" altLang="zh-CN" dirty="0"/>
              <a:t>1</a:t>
            </a:r>
            <a:r>
              <a:rPr lang="zh-CN" altLang="en-US" dirty="0"/>
              <a:t>读取某一数据后</a:t>
            </a:r>
            <a:r>
              <a:rPr lang="en-US" altLang="zh-CN" dirty="0"/>
              <a:t>)</a:t>
            </a:r>
            <a:r>
              <a:rPr lang="zh-CN" altLang="en-US" dirty="0"/>
              <a:t>：</a:t>
            </a:r>
            <a:endParaRPr lang="zh-CN" altLang="en-US" dirty="0"/>
          </a:p>
          <a:p>
            <a:pPr lvl="0" eaLnBrk="1" hangingPunct="1"/>
            <a:r>
              <a:rPr lang="en-US" altLang="zh-CN" dirty="0"/>
              <a:t>1. </a:t>
            </a:r>
            <a:r>
              <a:rPr lang="zh-CN" altLang="en-US" dirty="0">
                <a:solidFill>
                  <a:schemeClr val="accent2"/>
                </a:solidFill>
              </a:rPr>
              <a:t>事务</a:t>
            </a:r>
            <a:r>
              <a:rPr lang="en-US" altLang="zh-CN" dirty="0">
                <a:solidFill>
                  <a:schemeClr val="accent2"/>
                </a:solidFill>
              </a:rPr>
              <a:t>2</a:t>
            </a:r>
            <a:r>
              <a:rPr lang="zh-CN" altLang="en-US" dirty="0">
                <a:solidFill>
                  <a:schemeClr val="accent2"/>
                </a:solidFill>
              </a:rPr>
              <a:t>对其做了修改，</a:t>
            </a:r>
            <a:r>
              <a:rPr lang="zh-CN" altLang="en-US" dirty="0"/>
              <a:t>当事务</a:t>
            </a:r>
            <a:r>
              <a:rPr lang="en-US" altLang="zh-CN" dirty="0"/>
              <a:t>1</a:t>
            </a:r>
            <a:r>
              <a:rPr lang="zh-CN" altLang="en-US" dirty="0"/>
              <a:t>再次读该数据时，得到与前一次不同的值。</a:t>
            </a:r>
            <a:endParaRPr lang="zh-CN" altLang="en-US" dirty="0"/>
          </a:p>
          <a:p>
            <a:pPr lvl="0" eaLnBrk="1" hangingPunct="1">
              <a:spcBef>
                <a:spcPct val="60000"/>
              </a:spcBef>
            </a:pPr>
            <a:r>
              <a:rPr lang="en-US" altLang="zh-CN" dirty="0"/>
              <a:t>2. </a:t>
            </a:r>
            <a:r>
              <a:rPr lang="zh-CN" altLang="en-US" dirty="0">
                <a:solidFill>
                  <a:schemeClr val="accent2"/>
                </a:solidFill>
              </a:rPr>
              <a:t>事务</a:t>
            </a:r>
            <a:r>
              <a:rPr lang="en-US" altLang="zh-CN" dirty="0">
                <a:solidFill>
                  <a:schemeClr val="accent2"/>
                </a:solidFill>
              </a:rPr>
              <a:t>2</a:t>
            </a:r>
            <a:r>
              <a:rPr lang="zh-CN" altLang="en-US" dirty="0">
                <a:solidFill>
                  <a:schemeClr val="accent2"/>
                </a:solidFill>
              </a:rPr>
              <a:t>删除了其中部分记录</a:t>
            </a:r>
            <a:r>
              <a:rPr lang="zh-CN" altLang="en-US" dirty="0"/>
              <a:t>，当事务</a:t>
            </a:r>
            <a:r>
              <a:rPr lang="en-US" altLang="zh-CN" dirty="0"/>
              <a:t>1</a:t>
            </a:r>
            <a:r>
              <a:rPr lang="zh-CN" altLang="en-US" dirty="0"/>
              <a:t>再次读取数据时，发现某些记录神密地消失了。</a:t>
            </a:r>
            <a:endParaRPr lang="zh-CN" altLang="en-US" dirty="0"/>
          </a:p>
          <a:p>
            <a:pPr lvl="0" eaLnBrk="1" hangingPunct="1"/>
            <a:r>
              <a:rPr lang="en-US" altLang="zh-CN" dirty="0"/>
              <a:t>3. </a:t>
            </a:r>
            <a:r>
              <a:rPr lang="zh-CN" altLang="en-US" dirty="0">
                <a:solidFill>
                  <a:schemeClr val="accent2"/>
                </a:solidFill>
              </a:rPr>
              <a:t>事务</a:t>
            </a:r>
            <a:r>
              <a:rPr lang="en-US" altLang="zh-CN" dirty="0">
                <a:solidFill>
                  <a:schemeClr val="accent2"/>
                </a:solidFill>
              </a:rPr>
              <a:t>2</a:t>
            </a:r>
            <a:r>
              <a:rPr lang="zh-CN" altLang="en-US" dirty="0">
                <a:solidFill>
                  <a:schemeClr val="accent2"/>
                </a:solidFill>
              </a:rPr>
              <a:t>插入了一些记录</a:t>
            </a:r>
            <a:r>
              <a:rPr lang="zh-CN" altLang="en-US" dirty="0"/>
              <a:t>，当事务</a:t>
            </a:r>
            <a:r>
              <a:rPr lang="en-US" altLang="zh-CN" dirty="0"/>
              <a:t>1</a:t>
            </a:r>
            <a:r>
              <a:rPr lang="zh-CN" altLang="en-US" dirty="0"/>
              <a:t>再次按相同条件读取数据时，发现多了一些记录。</a:t>
            </a:r>
            <a:endParaRPr lang="zh-CN" altLang="en-US" dirty="0"/>
          </a:p>
          <a:p>
            <a:pPr lvl="0" eaLnBrk="1" hangingPunct="1"/>
            <a:r>
              <a:rPr lang="zh-CN" altLang="en-US" sz="1000" dirty="0"/>
              <a:t>后两种不可重复读有时也称为</a:t>
            </a:r>
            <a:r>
              <a:rPr lang="zh-CN" altLang="en-US" sz="1000" dirty="0">
                <a:solidFill>
                  <a:schemeClr val="accent2"/>
                </a:solidFill>
              </a:rPr>
              <a:t>幻影</a:t>
            </a:r>
            <a:r>
              <a:rPr lang="zh-CN" altLang="en-US" sz="1000" dirty="0"/>
              <a:t>现象（</a:t>
            </a:r>
            <a:r>
              <a:rPr lang="en-US" altLang="zh-CN" sz="1000" dirty="0"/>
              <a:t>phantom row</a:t>
            </a:r>
            <a:r>
              <a:rPr lang="zh-CN" altLang="en-US" sz="1000" dirty="0"/>
              <a:t>）</a:t>
            </a:r>
            <a:endParaRPr lang="zh-CN" altLang="en-US" sz="1000" dirty="0"/>
          </a:p>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8611" name="Rectangle 2"/>
          <p:cNvSpPr>
            <a:spLocks noRot="1" noTextEdit="1"/>
          </p:cNvSpPr>
          <p:nvPr>
            <p:ph type="sldImg"/>
          </p:nvPr>
        </p:nvSpPr>
        <p:spPr/>
      </p:sp>
      <p:sp>
        <p:nvSpPr>
          <p:cNvPr id="68612" name="Rectangle 3"/>
          <p:cNvSpPr>
            <a:spLocks noGrp="1"/>
          </p:cNvSpPr>
          <p:nvPr>
            <p:ph type="body" idx="1"/>
          </p:nvPr>
        </p:nvSpPr>
        <p:spPr/>
        <p:txBody>
          <a:bodyPr wrap="square" lIns="91440" tIns="45720" rIns="91440" bIns="45720" anchor="t" anchorCtr="0"/>
          <a:p>
            <a:pPr lvl="0" algn="just" eaLnBrk="1" hangingPunct="1">
              <a:spcBef>
                <a:spcPct val="60000"/>
              </a:spcBef>
            </a:pPr>
            <a:r>
              <a:rPr lang="zh-CN" altLang="en-US" dirty="0"/>
              <a:t>并发控制机制是衡量一个</a:t>
            </a:r>
            <a:r>
              <a:rPr lang="en-US" altLang="zh-CN" dirty="0"/>
              <a:t>DBMS</a:t>
            </a:r>
            <a:r>
              <a:rPr lang="zh-CN" altLang="en-US" dirty="0"/>
              <a:t>性能的重要标志之一。</a:t>
            </a:r>
            <a:endParaRPr lang="zh-CN" altLang="en-US" dirty="0"/>
          </a:p>
          <a:p>
            <a:pPr lvl="0"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9635" name="Rectangle 2"/>
          <p:cNvSpPr>
            <a:spLocks noRot="1" noTextEdit="1"/>
          </p:cNvSpPr>
          <p:nvPr>
            <p:ph type="sldImg"/>
          </p:nvPr>
        </p:nvSpPr>
        <p:spPr/>
      </p:sp>
      <p:sp>
        <p:nvSpPr>
          <p:cNvPr id="69636"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t>计算机系统对并行事务中并行操作的调度是的随机的，而不同的调度可能会产生不同的结果。</a:t>
            </a:r>
            <a:endParaRPr lang="zh-CN" altLang="en-US" sz="800" dirty="0"/>
          </a:p>
          <a:p>
            <a:pPr lvl="0" eaLnBrk="1" hangingPunct="1"/>
            <a:r>
              <a:rPr lang="zh-CN" altLang="en-US" dirty="0"/>
              <a:t>调度是对多个事务操作的执行次序的一种安排。同一事务的操作应保持在原事务中的执行顺序 </a:t>
            </a:r>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0659" name="Rectangle 2"/>
          <p:cNvSpPr>
            <a:spLocks noRot="1"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t>计算机系统对并行事务中并行操作的调度是的随机的，而不同的调度可能会产生不同的结果。</a:t>
            </a:r>
            <a:endParaRPr lang="zh-CN" altLang="en-US" sz="800" dirty="0"/>
          </a:p>
          <a:p>
            <a:pPr lvl="0" eaLnBrk="1" hangingPunct="1"/>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1683" name="Rectangle 2"/>
          <p:cNvSpPr>
            <a:spLocks noRot="1"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t>将所有事务串行起来的调度策略一定是正确的调度策略。</a:t>
            </a:r>
            <a:r>
              <a:rPr lang="zh-CN" altLang="en-US" sz="1400" dirty="0"/>
              <a:t>如果一个事务运行过程中没有其他事务在同时运行，也就是说它没有受到其他事务的干扰，那么就可以认为该事务的运行结果是正常的或者预想的。</a:t>
            </a:r>
            <a:endParaRPr lang="zh-CN" altLang="en-US" sz="1400" dirty="0"/>
          </a:p>
          <a:p>
            <a:pPr lvl="0" eaLnBrk="1" hangingPunct="1">
              <a:lnSpc>
                <a:spcPct val="110000"/>
              </a:lnSpc>
            </a:pPr>
            <a:r>
              <a:rPr lang="zh-CN" altLang="en-US" dirty="0"/>
              <a:t>以不同的顺序串行执行事务也有可能会产生不同的结果，但由于不会将数据库置于不一致状态，所以都可以认为是正确的。</a:t>
            </a:r>
            <a:endParaRPr lang="zh-CN" altLang="en-US" dirty="0"/>
          </a:p>
          <a:p>
            <a:pPr lvl="0" eaLnBrk="1" hangingPunct="1">
              <a:lnSpc>
                <a:spcPct val="110000"/>
              </a:lnSpc>
            </a:pPr>
            <a:endParaRPr lang="zh-CN" altLang="en-US" sz="1400" dirty="0"/>
          </a:p>
          <a:p>
            <a:pPr lvl="0" eaLnBrk="1" hangingPunct="1">
              <a:spcBef>
                <a:spcPct val="40000"/>
              </a:spcBef>
            </a:pPr>
            <a:r>
              <a:rPr lang="zh-CN" altLang="en-US" dirty="0"/>
              <a:t>并发控制机构旨在尽可能提高事务并发度的同时，使得它们的并发执行保持数据库的一致性。</a:t>
            </a:r>
            <a:endParaRPr lang="zh-CN" altLang="en-US" dirty="0"/>
          </a:p>
          <a:p>
            <a:pPr lvl="0" eaLnBrk="1" hangingPunct="1">
              <a:lnSpc>
                <a:spcPct val="110000"/>
              </a:lnSpc>
            </a:pPr>
            <a:endParaRPr lang="zh-CN" altLang="en-US" dirty="0"/>
          </a:p>
          <a:p>
            <a:pPr lvl="0" eaLnBrk="1" hangingPunct="1"/>
            <a:r>
              <a:rPr lang="zh-CN" altLang="en-US" dirty="0"/>
              <a:t>并发控制机构一般通过强制某些事务在执行它们的特定操作之前处于等待状态，或通过异常结束和重启事务来限制事务执行的可能操作序列，使该过程等价于串行调度。</a:t>
            </a:r>
            <a:endParaRPr lang="zh-CN" altLang="en-US" dirty="0"/>
          </a:p>
          <a:p>
            <a:pPr lvl="0" eaLnBrk="1" hangingPunct="1"/>
            <a:r>
              <a:rPr lang="zh-CN" altLang="en-US" dirty="0"/>
              <a:t>为此，需要一些方法来判定并发执行的事务调度是否等价于一个串行调度。</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2707" name="Rectangle 2"/>
          <p:cNvSpPr>
            <a:spLocks noRot="1" noTextEdit="1"/>
          </p:cNvSpPr>
          <p:nvPr>
            <p:ph type="sldImg"/>
          </p:nvPr>
        </p:nvSpPr>
        <p:spPr/>
      </p:sp>
      <p:sp>
        <p:nvSpPr>
          <p:cNvPr id="72708" name="Rectangle 3"/>
          <p:cNvSpPr>
            <a:spLocks noGrp="1"/>
          </p:cNvSpPr>
          <p:nvPr>
            <p:ph type="body" idx="1"/>
          </p:nvPr>
        </p:nvSpPr>
        <p:spPr/>
        <p:txBody>
          <a:bodyPr wrap="square" lIns="91440" tIns="45720" rIns="91440" bIns="45720" anchor="t" anchorCtr="0"/>
          <a:p>
            <a:pPr lvl="0" eaLnBrk="1" hangingPunct="1"/>
            <a:r>
              <a:rPr lang="zh-CN" altLang="en-US" dirty="0">
                <a:solidFill>
                  <a:srgbClr val="010103"/>
                </a:solidFill>
              </a:rPr>
              <a:t>引起各种不一致的根本原因就是操作冲突。</a:t>
            </a:r>
            <a:endParaRPr lang="zh-CN" altLang="en-US" dirty="0">
              <a:solidFill>
                <a:srgbClr val="010103"/>
              </a:solidFill>
            </a:endParaRPr>
          </a:p>
          <a:p>
            <a:pPr lvl="0" eaLnBrk="1" hangingPunct="1"/>
            <a:r>
              <a:rPr lang="zh-CN" altLang="en-US" dirty="0">
                <a:solidFill>
                  <a:srgbClr val="010103"/>
                </a:solidFill>
              </a:rPr>
              <a:t>在两个调度</a:t>
            </a:r>
            <a:r>
              <a:rPr lang="en-US" altLang="zh-CN" dirty="0">
                <a:solidFill>
                  <a:srgbClr val="010103"/>
                </a:solidFill>
              </a:rPr>
              <a:t>Sa</a:t>
            </a:r>
            <a:r>
              <a:rPr lang="zh-CN" altLang="en-US" dirty="0">
                <a:solidFill>
                  <a:srgbClr val="010103"/>
                </a:solidFill>
              </a:rPr>
              <a:t>，</a:t>
            </a:r>
            <a:r>
              <a:rPr lang="en-US" altLang="zh-CN" dirty="0">
                <a:solidFill>
                  <a:srgbClr val="010103"/>
                </a:solidFill>
              </a:rPr>
              <a:t>Sb</a:t>
            </a:r>
            <a:r>
              <a:rPr lang="zh-CN" altLang="en-US" dirty="0">
                <a:solidFill>
                  <a:srgbClr val="010103"/>
                </a:solidFill>
              </a:rPr>
              <a:t>中，如果对于每对冲突的操作</a:t>
            </a:r>
            <a:r>
              <a:rPr lang="en-US" altLang="zh-CN" dirty="0">
                <a:solidFill>
                  <a:srgbClr val="010103"/>
                </a:solidFill>
              </a:rPr>
              <a:t>&lt;Oi</a:t>
            </a:r>
            <a:r>
              <a:rPr lang="zh-CN" altLang="en-US" dirty="0">
                <a:solidFill>
                  <a:srgbClr val="010103"/>
                </a:solidFill>
              </a:rPr>
              <a:t>，</a:t>
            </a:r>
            <a:r>
              <a:rPr lang="en-US" altLang="zh-CN" dirty="0">
                <a:solidFill>
                  <a:srgbClr val="010103"/>
                </a:solidFill>
              </a:rPr>
              <a:t>Oj&gt;</a:t>
            </a:r>
            <a:r>
              <a:rPr lang="zh-CN" altLang="en-US" dirty="0">
                <a:solidFill>
                  <a:srgbClr val="010103"/>
                </a:solidFill>
              </a:rPr>
              <a:t>，都满足若在</a:t>
            </a:r>
            <a:r>
              <a:rPr lang="en-US" altLang="zh-CN" dirty="0">
                <a:solidFill>
                  <a:srgbClr val="010103"/>
                </a:solidFill>
              </a:rPr>
              <a:t>Sa</a:t>
            </a:r>
            <a:r>
              <a:rPr lang="zh-CN" altLang="en-US" dirty="0">
                <a:solidFill>
                  <a:srgbClr val="010103"/>
                </a:solidFill>
              </a:rPr>
              <a:t>中</a:t>
            </a:r>
            <a:r>
              <a:rPr lang="en-US" altLang="zh-CN" dirty="0">
                <a:solidFill>
                  <a:srgbClr val="010103"/>
                </a:solidFill>
              </a:rPr>
              <a:t>Oi&lt;Oj(</a:t>
            </a:r>
            <a:r>
              <a:rPr lang="zh-CN" altLang="en-US" dirty="0">
                <a:solidFill>
                  <a:srgbClr val="010103"/>
                </a:solidFill>
              </a:rPr>
              <a:t>如果</a:t>
            </a:r>
            <a:r>
              <a:rPr lang="en-US" altLang="zh-CN" dirty="0">
                <a:solidFill>
                  <a:srgbClr val="010103"/>
                </a:solidFill>
              </a:rPr>
              <a:t>Oi</a:t>
            </a:r>
            <a:r>
              <a:rPr lang="zh-CN" altLang="en-US" dirty="0">
                <a:solidFill>
                  <a:srgbClr val="010103"/>
                </a:solidFill>
              </a:rPr>
              <a:t>在调度</a:t>
            </a:r>
            <a:r>
              <a:rPr lang="en-US" altLang="zh-CN" dirty="0">
                <a:solidFill>
                  <a:srgbClr val="010103"/>
                </a:solidFill>
              </a:rPr>
              <a:t>Sa</a:t>
            </a:r>
            <a:r>
              <a:rPr lang="zh-CN" altLang="en-US" dirty="0">
                <a:solidFill>
                  <a:srgbClr val="010103"/>
                </a:solidFill>
              </a:rPr>
              <a:t>中先于</a:t>
            </a:r>
            <a:r>
              <a:rPr lang="en-US" altLang="zh-CN" dirty="0">
                <a:solidFill>
                  <a:srgbClr val="010103"/>
                </a:solidFill>
              </a:rPr>
              <a:t>Oj</a:t>
            </a:r>
            <a:r>
              <a:rPr lang="zh-CN" altLang="en-US" dirty="0">
                <a:solidFill>
                  <a:srgbClr val="010103"/>
                </a:solidFill>
              </a:rPr>
              <a:t>执行，则记为</a:t>
            </a:r>
            <a:r>
              <a:rPr lang="en-US" altLang="zh-CN" dirty="0">
                <a:solidFill>
                  <a:srgbClr val="010103"/>
                </a:solidFill>
              </a:rPr>
              <a:t>Oi&lt;Oj)</a:t>
            </a:r>
            <a:r>
              <a:rPr lang="zh-CN" altLang="en-US" dirty="0">
                <a:solidFill>
                  <a:srgbClr val="010103"/>
                </a:solidFill>
              </a:rPr>
              <a:t>，则在</a:t>
            </a:r>
            <a:r>
              <a:rPr lang="en-US" altLang="zh-CN" dirty="0">
                <a:solidFill>
                  <a:srgbClr val="010103"/>
                </a:solidFill>
              </a:rPr>
              <a:t>Sb</a:t>
            </a:r>
            <a:r>
              <a:rPr lang="zh-CN" altLang="en-US" dirty="0">
                <a:solidFill>
                  <a:srgbClr val="010103"/>
                </a:solidFill>
              </a:rPr>
              <a:t>中也满足</a:t>
            </a:r>
            <a:r>
              <a:rPr lang="en-US" altLang="zh-CN" dirty="0">
                <a:solidFill>
                  <a:srgbClr val="010103"/>
                </a:solidFill>
              </a:rPr>
              <a:t>Oi&lt;Oj</a:t>
            </a:r>
            <a:r>
              <a:rPr lang="zh-CN" altLang="en-US" dirty="0">
                <a:solidFill>
                  <a:srgbClr val="010103"/>
                </a:solidFill>
              </a:rPr>
              <a:t>，即称</a:t>
            </a:r>
            <a:r>
              <a:rPr lang="en-US" altLang="zh-CN" dirty="0">
                <a:solidFill>
                  <a:srgbClr val="010103"/>
                </a:solidFill>
              </a:rPr>
              <a:t>Sa</a:t>
            </a:r>
            <a:r>
              <a:rPr lang="zh-CN" altLang="en-US" dirty="0">
                <a:solidFill>
                  <a:srgbClr val="010103"/>
                </a:solidFill>
              </a:rPr>
              <a:t>冲突等价于</a:t>
            </a:r>
            <a:r>
              <a:rPr lang="en-US" altLang="zh-CN" dirty="0">
                <a:solidFill>
                  <a:srgbClr val="010103"/>
                </a:solidFill>
              </a:rPr>
              <a:t>Sb</a:t>
            </a:r>
            <a:r>
              <a:rPr lang="zh-CN" altLang="en-US" dirty="0">
                <a:solidFill>
                  <a:srgbClr val="010103"/>
                </a:solidFill>
              </a:rPr>
              <a:t>。</a:t>
            </a:r>
            <a:endParaRPr lang="zh-CN" altLang="en-US" dirty="0">
              <a:solidFill>
                <a:srgbClr val="010103"/>
              </a:solidFill>
            </a:endParaRPr>
          </a:p>
          <a:p>
            <a:pPr lvl="0" eaLnBrk="1" hangingPunct="1"/>
            <a:endParaRPr lang="en-US" altLang="zh-CN" dirty="0">
              <a:solidFill>
                <a:srgbClr val="010103"/>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3731" name="Rectangle 2"/>
          <p:cNvSpPr>
            <a:spLocks noRot="1"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r>
              <a:rPr lang="zh-CN" altLang="en-US" dirty="0">
                <a:solidFill>
                  <a:srgbClr val="010103"/>
                </a:solidFill>
              </a:rPr>
              <a:t>在可串行化问题中，读写操作的次序非常重要。</a:t>
            </a:r>
            <a:endParaRPr lang="zh-CN" altLang="en-US" dirty="0">
              <a:solidFill>
                <a:srgbClr val="010103"/>
              </a:solidFill>
            </a:endParaRPr>
          </a:p>
          <a:p>
            <a:pPr lvl="0" eaLnBrk="1" hangingPunct="1"/>
            <a:r>
              <a:rPr lang="zh-CN" altLang="en-US" dirty="0">
                <a:solidFill>
                  <a:srgbClr val="010103"/>
                </a:solidFill>
              </a:rPr>
              <a:t>分别属于不同两个事务的两个操作</a:t>
            </a:r>
            <a:r>
              <a:rPr lang="en-US" altLang="zh-CN" dirty="0">
                <a:solidFill>
                  <a:srgbClr val="010103"/>
                </a:solidFill>
              </a:rPr>
              <a:t>Oi</a:t>
            </a:r>
            <a:r>
              <a:rPr lang="zh-CN" altLang="en-US" dirty="0">
                <a:solidFill>
                  <a:srgbClr val="010103"/>
                </a:solidFill>
              </a:rPr>
              <a:t>和</a:t>
            </a:r>
            <a:r>
              <a:rPr lang="en-US" altLang="zh-CN" dirty="0">
                <a:solidFill>
                  <a:srgbClr val="010103"/>
                </a:solidFill>
              </a:rPr>
              <a:t>Oj</a:t>
            </a:r>
            <a:r>
              <a:rPr lang="zh-CN" altLang="en-US" dirty="0">
                <a:solidFill>
                  <a:srgbClr val="010103"/>
                </a:solidFill>
              </a:rPr>
              <a:t>，如果它们访问相同的数据项而且其中至少有一个是写操作，则称</a:t>
            </a:r>
            <a:r>
              <a:rPr lang="en-US" altLang="zh-CN" dirty="0">
                <a:solidFill>
                  <a:srgbClr val="010103"/>
                </a:solidFill>
              </a:rPr>
              <a:t>Oi</a:t>
            </a:r>
            <a:r>
              <a:rPr lang="zh-CN" altLang="en-US" dirty="0">
                <a:solidFill>
                  <a:srgbClr val="010103"/>
                </a:solidFill>
              </a:rPr>
              <a:t>和</a:t>
            </a:r>
            <a:r>
              <a:rPr lang="en-US" altLang="zh-CN" dirty="0">
                <a:solidFill>
                  <a:srgbClr val="010103"/>
                </a:solidFill>
              </a:rPr>
              <a:t>Oj</a:t>
            </a:r>
            <a:r>
              <a:rPr lang="zh-CN" altLang="en-US" dirty="0">
                <a:solidFill>
                  <a:srgbClr val="010103"/>
                </a:solidFill>
              </a:rPr>
              <a:t>是冲突的。否则称为不操作冲突的。</a:t>
            </a:r>
            <a:endParaRPr lang="zh-CN" altLang="en-US" dirty="0">
              <a:solidFill>
                <a:srgbClr val="010103"/>
              </a:solidFill>
            </a:endParaRPr>
          </a:p>
          <a:p>
            <a:pPr lvl="0" eaLnBrk="1" hangingPunct="1"/>
            <a:endParaRPr lang="en-US" altLang="zh-CN" dirty="0">
              <a:solidFill>
                <a:srgbClr val="010103"/>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4755" name="Rectangle 2"/>
          <p:cNvSpPr>
            <a:spLocks noRot="1"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endParaRPr lang="en-US" altLang="zh-CN" b="1" dirty="0"/>
          </a:p>
          <a:p>
            <a:pPr lvl="0" eaLnBrk="1" hangingPunct="1"/>
            <a:r>
              <a:rPr lang="zh-CN" altLang="en-US" b="1" dirty="0"/>
              <a:t>凡能够产生与某个串行调度相同结果的调度被称之为可串行调度。</a:t>
            </a:r>
            <a:endParaRPr lang="zh-CN" altLang="en-US" b="1" dirty="0"/>
          </a:p>
          <a:p>
            <a:pPr lvl="0" eaLnBrk="1" hangingPunct="1"/>
            <a:r>
              <a:rPr lang="zh-CN" altLang="en-US" b="1" dirty="0"/>
              <a:t>我们认为事务的串行执行方式是正确的，因而与它等价的并发执行方式（可串行化调度）也是正确的。并发控制机制的任务是维持数据库的一致性，或者说维持事务调度的可串行性。</a:t>
            </a:r>
            <a:endParaRPr lang="zh-CN" altLang="en-US" b="1" dirty="0"/>
          </a:p>
          <a:p>
            <a:pPr lvl="0" eaLnBrk="1" hangingPunct="1"/>
            <a:r>
              <a:rPr lang="zh-CN" altLang="en-US" dirty="0">
                <a:solidFill>
                  <a:srgbClr val="0000CC"/>
                </a:solidFill>
              </a:rPr>
              <a:t>冲突可串行化是正确调度的充分条件，但不是必要条件，即冲突可串行化调度执行结果一定是正确的，但正确的调度不一定都是冲突可串行化的。</a:t>
            </a:r>
            <a:endParaRPr lang="zh-CN" altLang="en-US" dirty="0">
              <a:solidFill>
                <a:srgbClr val="0000CC"/>
              </a:solidFill>
            </a:endParaRPr>
          </a:p>
          <a:p>
            <a:pPr lvl="0" eaLnBrk="1" hangingPunct="1"/>
            <a:r>
              <a:rPr lang="zh-CN" altLang="en-US" dirty="0">
                <a:solidFill>
                  <a:srgbClr val="0000CC"/>
                </a:solidFill>
              </a:rPr>
              <a:t>还有视图可串行化</a:t>
            </a:r>
            <a:endParaRPr lang="zh-CN" altLang="en-US" dirty="0">
              <a:solidFill>
                <a:srgbClr val="0000CC"/>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5779" name="Rectangle 2"/>
          <p:cNvSpPr>
            <a:spLocks noRot="1"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r>
              <a:rPr lang="en-US" altLang="zh-CN" dirty="0">
                <a:solidFill>
                  <a:srgbClr val="010103"/>
                </a:solidFill>
              </a:rPr>
              <a:t>S1</a:t>
            </a:r>
            <a:r>
              <a:rPr lang="zh-CN" altLang="en-US" dirty="0">
                <a:solidFill>
                  <a:srgbClr val="010103"/>
                </a:solidFill>
              </a:rPr>
              <a:t>：不是冲突可串行化</a:t>
            </a:r>
            <a:endParaRPr lang="zh-CN" altLang="en-US" dirty="0">
              <a:solidFill>
                <a:srgbClr val="010103"/>
              </a:solidFill>
            </a:endParaRPr>
          </a:p>
          <a:p>
            <a:pPr lvl="0" eaLnBrk="1" hangingPunct="1"/>
            <a:r>
              <a:rPr lang="en-US" altLang="zh-CN" dirty="0">
                <a:solidFill>
                  <a:srgbClr val="010103"/>
                </a:solidFill>
              </a:rPr>
              <a:t>S2</a:t>
            </a:r>
            <a:r>
              <a:rPr lang="zh-CN" altLang="en-US" dirty="0">
                <a:solidFill>
                  <a:srgbClr val="010103"/>
                </a:solidFill>
              </a:rPr>
              <a:t>：已是串行调度</a:t>
            </a:r>
            <a:endParaRPr lang="zh-CN" altLang="en-US" dirty="0">
              <a:solidFill>
                <a:srgbClr val="010103"/>
              </a:solidFill>
            </a:endParaRPr>
          </a:p>
          <a:p>
            <a:pPr lvl="0" eaLnBrk="1" hangingPunct="1"/>
            <a:r>
              <a:rPr lang="en-US" altLang="zh-CN" dirty="0">
                <a:solidFill>
                  <a:srgbClr val="010103"/>
                </a:solidFill>
              </a:rPr>
              <a:t>S3</a:t>
            </a:r>
            <a:r>
              <a:rPr lang="zh-CN" altLang="en-US" dirty="0">
                <a:solidFill>
                  <a:srgbClr val="010103"/>
                </a:solidFill>
              </a:rPr>
              <a:t>：是冲突可串行化</a:t>
            </a:r>
            <a:endParaRPr lang="zh-CN" altLang="en-US" dirty="0">
              <a:solidFill>
                <a:srgbClr val="010103"/>
              </a:solidFill>
            </a:endParaRPr>
          </a:p>
          <a:p>
            <a:pPr lvl="0" eaLnBrk="1" hangingPunct="1"/>
            <a:endParaRPr lang="en-US" altLang="zh-CN" dirty="0">
              <a:solidFill>
                <a:srgbClr val="010103"/>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6803" name="Rectangle 2"/>
          <p:cNvSpPr>
            <a:spLocks noRot="1" noTextEdit="1"/>
          </p:cNvSpPr>
          <p:nvPr>
            <p:ph type="sldImg"/>
          </p:nvPr>
        </p:nvSpPr>
        <p:spPr/>
      </p:sp>
      <p:sp>
        <p:nvSpPr>
          <p:cNvPr id="76804" name="Rectangle 3"/>
          <p:cNvSpPr>
            <a:spLocks noGrp="1"/>
          </p:cNvSpPr>
          <p:nvPr>
            <p:ph type="body" idx="1"/>
          </p:nvPr>
        </p:nvSpPr>
        <p:spPr/>
        <p:txBody>
          <a:bodyPr wrap="square" lIns="91440" tIns="45720" rIns="91440" bIns="45720" anchor="t" anchorCtr="0"/>
          <a:p>
            <a:pPr lvl="0" eaLnBrk="1" hangingPunct="1"/>
            <a:r>
              <a:rPr lang="en-US" altLang="zh-CN" dirty="0">
                <a:solidFill>
                  <a:srgbClr val="010103"/>
                </a:solidFill>
              </a:rPr>
              <a:t>S3</a:t>
            </a:r>
            <a:r>
              <a:rPr lang="zh-CN" altLang="en-US" dirty="0">
                <a:solidFill>
                  <a:srgbClr val="010103"/>
                </a:solidFill>
              </a:rPr>
              <a:t>：是冲突可串行化</a:t>
            </a:r>
            <a:endParaRPr lang="zh-CN" altLang="en-US" dirty="0">
              <a:solidFill>
                <a:srgbClr val="010103"/>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7827" name="Rectangle 2"/>
          <p:cNvSpPr>
            <a:spLocks noRot="1" noTextEdit="1"/>
          </p:cNvSpPr>
          <p:nvPr>
            <p:ph type="sldImg"/>
          </p:nvPr>
        </p:nvSpPr>
        <p:spPr/>
      </p:sp>
      <p:sp>
        <p:nvSpPr>
          <p:cNvPr id="77828" name="Rectangle 3"/>
          <p:cNvSpPr>
            <a:spLocks noGrp="1"/>
          </p:cNvSpPr>
          <p:nvPr>
            <p:ph type="body" idx="1"/>
          </p:nvPr>
        </p:nvSpPr>
        <p:spPr/>
        <p:txBody>
          <a:bodyPr wrap="square" lIns="91440" tIns="45720" rIns="91440" bIns="45720" anchor="t" anchorCtr="0"/>
          <a:p>
            <a:pPr lvl="0" eaLnBrk="1" hangingPunct="1"/>
            <a:endParaRPr lang="zh-CN" altLang="zh-CN" dirty="0">
              <a:solidFill>
                <a:srgbClr val="010103"/>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8851" name="Rectangle 2"/>
          <p:cNvSpPr>
            <a:spLocks noRot="1" noTextEdit="1"/>
          </p:cNvSpPr>
          <p:nvPr>
            <p:ph type="sldImg"/>
          </p:nvPr>
        </p:nvSpPr>
        <p:spPr/>
      </p:sp>
      <p:sp>
        <p:nvSpPr>
          <p:cNvPr id="78852" name="Rectangle 3"/>
          <p:cNvSpPr>
            <a:spLocks noGrp="1"/>
          </p:cNvSpPr>
          <p:nvPr>
            <p:ph type="body" idx="1"/>
          </p:nvPr>
        </p:nvSpPr>
        <p:spPr/>
        <p:txBody>
          <a:bodyPr wrap="square" lIns="91440" tIns="45720" rIns="91440" bIns="45720" anchor="t" anchorCtr="0"/>
          <a:p>
            <a:pPr lvl="0" eaLnBrk="1" hangingPunct="1">
              <a:buChar char="•"/>
            </a:pPr>
            <a:r>
              <a:rPr lang="zh-CN" altLang="en-US" dirty="0"/>
              <a:t>为了保证并行操作的正确性，</a:t>
            </a:r>
            <a:r>
              <a:rPr lang="en-US" altLang="zh-CN" dirty="0"/>
              <a:t>DBMS </a:t>
            </a:r>
            <a:r>
              <a:rPr lang="zh-CN" altLang="en-US" dirty="0"/>
              <a:t>的并行控制机制必须提供一定的手段来保证调度是可串行化的。</a:t>
            </a:r>
            <a:endParaRPr lang="zh-CN" altLang="en-US" dirty="0"/>
          </a:p>
          <a:p>
            <a:pPr lvl="0" eaLnBrk="1" hangingPunct="1">
              <a:buChar char="•"/>
            </a:pPr>
            <a:r>
              <a:rPr lang="zh-CN" altLang="en-US" dirty="0"/>
              <a:t>从理论上讲，在某一事务执行时禁止其他事务执行的调度策略一定是可串行化的调度，这也是最简单的调度策略，但这种方法实际上是不可行的，因为它使用户不能充分共享数据库资源。</a:t>
            </a:r>
            <a:endParaRPr lang="zh-CN" altLang="en-US" dirty="0"/>
          </a:p>
          <a:p>
            <a:pPr lvl="0" eaLnBrk="1" hangingPunct="1">
              <a:lnSpc>
                <a:spcPct val="110000"/>
              </a:lnSpc>
            </a:pPr>
            <a:r>
              <a:rPr lang="zh-CN" altLang="en-US" b="1" dirty="0"/>
              <a:t>保证并发操作调度正确性的方法：</a:t>
            </a:r>
            <a:r>
              <a:rPr lang="zh-CN" altLang="en-US" sz="1400" b="1" dirty="0"/>
              <a:t>封锁方法</a:t>
            </a:r>
            <a:endParaRPr lang="zh-CN" altLang="en-US" sz="1400" b="1"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9875" name="Rectangle 2"/>
          <p:cNvSpPr>
            <a:spLocks noRot="1"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r>
              <a:rPr lang="zh-CN" altLang="en-US" sz="900" dirty="0">
                <a:solidFill>
                  <a:srgbClr val="000000"/>
                </a:solidFill>
              </a:rPr>
              <a:t>并发控制机制：</a:t>
            </a:r>
            <a:endParaRPr lang="zh-CN" altLang="en-US" b="1" dirty="0">
              <a:solidFill>
                <a:srgbClr val="000000"/>
              </a:solidFill>
              <a:latin typeface="Times New Roman" panose="02020603050405020304" pitchFamily="18" charset="0"/>
            </a:endParaRPr>
          </a:p>
          <a:p>
            <a:pPr lvl="0" eaLnBrk="1" hangingPunct="1"/>
            <a:r>
              <a:rPr lang="zh-CN" altLang="en-US" dirty="0">
                <a:solidFill>
                  <a:srgbClr val="000000"/>
                </a:solidFill>
                <a:latin typeface="Times New Roman" panose="02020603050405020304" pitchFamily="18" charset="0"/>
              </a:rPr>
              <a:t>用户请求执行事务的时刻是随机的，系统如何在一种动态的环境下保证调度的可串性呢</a:t>
            </a:r>
            <a:r>
              <a:rPr lang="en-US" altLang="zh-CN" dirty="0">
                <a:solidFill>
                  <a:srgbClr val="000000"/>
                </a:solidFill>
                <a:latin typeface="Times New Roman" panose="02020603050405020304" pitchFamily="18" charset="0"/>
              </a:rPr>
              <a:t>?</a:t>
            </a:r>
            <a:endParaRPr lang="en-US" altLang="zh-CN" dirty="0">
              <a:solidFill>
                <a:srgbClr val="000000"/>
              </a:solidFill>
              <a:latin typeface="Times New Roman" panose="02020603050405020304" pitchFamily="18" charset="0"/>
            </a:endParaRPr>
          </a:p>
          <a:p>
            <a:pPr lvl="0" eaLnBrk="1" hangingPunct="1"/>
            <a:r>
              <a:rPr lang="zh-CN" altLang="en-US" dirty="0">
                <a:solidFill>
                  <a:srgbClr val="000000"/>
                </a:solidFill>
              </a:rPr>
              <a:t>并发控制机构的任务就是调度事务的并发执行，使得这个调度等价于一个串行调度，在数据库中将这种方法称为串行化调度。</a:t>
            </a:r>
            <a:endParaRPr lang="zh-CN" altLang="en-US" dirty="0">
              <a:solidFill>
                <a:srgbClr val="000000"/>
              </a:solidFill>
            </a:endParaRPr>
          </a:p>
          <a:p>
            <a:pPr lvl="0" eaLnBrk="1" hangingPunct="1"/>
            <a:r>
              <a:rPr lang="zh-CN" altLang="en-US" dirty="0">
                <a:solidFill>
                  <a:srgbClr val="000000"/>
                </a:solidFill>
              </a:rPr>
              <a:t>对事务实施可串行化调度的并发控制机制主要有加锁技术、时间戳、多版本和乐观的并发控制技术。它们处理操作冲突的方法各不相同</a:t>
            </a:r>
            <a:r>
              <a:rPr lang="zh-CN" altLang="en-US" sz="1000" dirty="0">
                <a:solidFill>
                  <a:srgbClr val="000000"/>
                </a:solidFill>
              </a:rPr>
              <a:t>。</a:t>
            </a:r>
            <a:endParaRPr lang="zh-CN" altLang="en-US" sz="1000" dirty="0">
              <a:solidFill>
                <a:srgbClr val="000000"/>
              </a:solidFill>
            </a:endParaRPr>
          </a:p>
          <a:p>
            <a:pPr lvl="0" eaLnBrk="1" hangingPunct="1">
              <a:buFont typeface="Wingdings" panose="05000000000000000000" pitchFamily="2" charset="2"/>
              <a:buChar char="ü"/>
            </a:pPr>
            <a:r>
              <a:rPr lang="zh-CN" altLang="en-US" dirty="0">
                <a:latin typeface="宋体" panose="02010600030101010101" pitchFamily="2" charset="-122"/>
              </a:rPr>
              <a:t>基于锁机制的并发控制技术：将出现冲突的事务延迟到未来的某一时刻执行</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0" eaLnBrk="1" hangingPunct="1">
              <a:buFont typeface="Wingdings" panose="05000000000000000000" pitchFamily="2" charset="2"/>
              <a:buChar char="ü"/>
            </a:pPr>
            <a:r>
              <a:rPr lang="zh-CN" altLang="en-US" dirty="0">
                <a:latin typeface="宋体" panose="02010600030101010101" pitchFamily="2" charset="-122"/>
              </a:rPr>
              <a:t>时间戳技术：将出现冲突的事务重启</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0" eaLnBrk="1" hangingPunct="1">
              <a:buFont typeface="Wingdings" panose="05000000000000000000" pitchFamily="2" charset="2"/>
              <a:buChar char="ü"/>
            </a:pPr>
            <a:r>
              <a:rPr lang="zh-CN" altLang="en-US" dirty="0">
                <a:latin typeface="宋体" panose="02010600030101010101" pitchFamily="2" charset="-122"/>
              </a:rPr>
              <a:t>多版本机制：与时间戳技术相同，事务间的冲突通过重启来解决，但读操作从不失败并且无需等待</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0" eaLnBrk="1" hangingPunct="1">
              <a:buFont typeface="Wingdings" panose="05000000000000000000" pitchFamily="2" charset="2"/>
              <a:buChar char="ü"/>
            </a:pPr>
            <a:r>
              <a:rPr lang="zh-CN" altLang="en-US" dirty="0">
                <a:latin typeface="宋体" panose="02010600030101010101" pitchFamily="2" charset="-122"/>
              </a:rPr>
              <a:t>乐观的并发控制技术：这种技术是基于事务间极少发生冲突的假设而提出来的。在事务结束的时候进行有效性检查，若破坏串行性，则重启</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0" eaLnBrk="1" hangingPunct="1"/>
            <a:endParaRPr lang="zh-CN" altLang="en-US" sz="1000" dirty="0">
              <a:solidFill>
                <a:srgbClr val="000000"/>
              </a:solidFill>
            </a:endParaRPr>
          </a:p>
          <a:p>
            <a:pPr lvl="0" eaLnBrk="1" hangingPunct="1">
              <a:spcBef>
                <a:spcPct val="20000"/>
              </a:spcBef>
            </a:pPr>
            <a:r>
              <a:rPr lang="zh-CN" altLang="en-US" dirty="0"/>
              <a:t>所谓</a:t>
            </a:r>
            <a:r>
              <a:rPr lang="zh-CN" altLang="en-US" dirty="0">
                <a:solidFill>
                  <a:srgbClr val="0000CC"/>
                </a:solidFill>
              </a:rPr>
              <a:t>封锁</a:t>
            </a:r>
            <a:r>
              <a:rPr lang="zh-CN" altLang="en-US" dirty="0"/>
              <a:t>，就是事物 </a:t>
            </a:r>
            <a:r>
              <a:rPr lang="en-US" altLang="zh-CN" dirty="0"/>
              <a:t>T </a:t>
            </a:r>
            <a:r>
              <a:rPr lang="zh-CN" altLang="en-US" dirty="0"/>
              <a:t>在对某个数据对象例如表、记录等操作之前，先向系统发出请求，对其加锁。加锁后事务 </a:t>
            </a:r>
            <a:r>
              <a:rPr lang="en-US" altLang="zh-CN" dirty="0"/>
              <a:t>T </a:t>
            </a:r>
            <a:r>
              <a:rPr lang="zh-CN" altLang="en-US" dirty="0"/>
              <a:t>就对该数据对象有了一定的控制，在事务 </a:t>
            </a:r>
            <a:r>
              <a:rPr lang="en-US" altLang="zh-CN" dirty="0"/>
              <a:t>T </a:t>
            </a:r>
            <a:r>
              <a:rPr lang="zh-CN" altLang="en-US" dirty="0"/>
              <a:t>释放它的锁之前，其它的事务不能更新此数据对象。</a:t>
            </a:r>
            <a:endParaRPr lang="zh-CN" altLang="en-US" dirty="0"/>
          </a:p>
          <a:p>
            <a:pPr lvl="0" eaLnBrk="1" hangingPunct="1"/>
            <a:endParaRPr lang="en-US" altLang="zh-CN" sz="900" dirty="0">
              <a:solidFill>
                <a:srgbClr val="000000"/>
              </a:solidFill>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r>
              <a:rPr lang="en-US" altLang="zh-CN" dirty="0"/>
              <a:t>DBMS</a:t>
            </a:r>
            <a:r>
              <a:rPr lang="zh-CN" altLang="en-US" dirty="0"/>
              <a:t>通常提供了多种类型的封锁。一个事务对某个数据对象加锁后究竟拥有什么样的控制是由封锁的类型决定的。</a:t>
            </a:r>
            <a:endParaRPr lang="zh-CN" altLang="en-US" dirty="0"/>
          </a:p>
          <a:p>
            <a:pPr lvl="0" eaLnBrk="1" hangingPunct="1"/>
            <a:endParaRPr lang="zh-CN" altLang="en-US" dirty="0"/>
          </a:p>
          <a:p>
            <a:pPr lvl="0" eaLnBrk="1" hangingPunct="1"/>
            <a:r>
              <a:rPr lang="zh-CN" altLang="en-US" dirty="0"/>
              <a:t>考虑到事务执行的并发性，加锁应尽可能地减少因加锁对事务并发度的影响。</a:t>
            </a:r>
            <a:endParaRPr lang="zh-CN" altLang="en-US" dirty="0"/>
          </a:p>
          <a:p>
            <a:pPr lvl="0" eaLnBrk="1" fontAlgn="b" hangingPunct="1"/>
            <a:r>
              <a:rPr lang="zh-CN" altLang="en-US" dirty="0">
                <a:solidFill>
                  <a:srgbClr val="000000"/>
                </a:solidFill>
              </a:rPr>
              <a:t>锁的操作：</a:t>
            </a:r>
            <a:r>
              <a:rPr lang="en-US" altLang="zh-CN" dirty="0">
                <a:cs typeface="Times New Roman" panose="02020603050405020304" pitchFamily="18" charset="0"/>
              </a:rPr>
              <a:t>read_lock(x)/write_lock(x)/unlock(x)</a:t>
            </a:r>
            <a:endParaRPr lang="en-US" altLang="zh-CN" dirty="0">
              <a:cs typeface="Times New Roman" panose="02020603050405020304" pitchFamily="18" charset="0"/>
            </a:endParaRPr>
          </a:p>
          <a:p>
            <a:pPr lvl="0" eaLnBrk="1" hangingPunct="1"/>
            <a:r>
              <a:rPr lang="en-US" altLang="zh-CN" b="1" dirty="0">
                <a:latin typeface="Times New Roman" panose="02020603050405020304" pitchFamily="18" charset="0"/>
              </a:rPr>
              <a:t>read_lock(x)</a:t>
            </a:r>
            <a:endParaRPr lang="en-US" altLang="zh-CN" b="1" dirty="0">
              <a:latin typeface="Times New Roman" panose="02020603050405020304" pitchFamily="18" charset="0"/>
            </a:endParaRPr>
          </a:p>
          <a:p>
            <a:pPr lvl="0" eaLnBrk="1" fontAlgn="b" hangingPunct="1"/>
            <a:r>
              <a:rPr lang="en-US" altLang="zh-CN" dirty="0">
                <a:latin typeface="Times New Roman" panose="02020603050405020304" pitchFamily="18" charset="0"/>
              </a:rPr>
              <a:t>B:   if            LOCK(x) = </a:t>
            </a:r>
            <a:r>
              <a:rPr lang="zh-CN" altLang="en-US" dirty="0"/>
              <a:t>解锁</a:t>
            </a:r>
            <a:endParaRPr lang="zh-CN" altLang="en-US" dirty="0"/>
          </a:p>
          <a:p>
            <a:pPr lvl="0" eaLnBrk="1" fontAlgn="b" hangingPunct="1"/>
            <a:r>
              <a:rPr lang="zh-CN" altLang="en-US" dirty="0"/>
              <a:t>       </a:t>
            </a:r>
            <a:r>
              <a:rPr lang="en-US" altLang="zh-CN" dirty="0">
                <a:latin typeface="Times New Roman" panose="02020603050405020304" pitchFamily="18" charset="0"/>
              </a:rPr>
              <a:t>then       LOCK(x) </a:t>
            </a:r>
            <a:r>
              <a:rPr lang="en-US" altLang="zh-CN" dirty="0"/>
              <a:t>∶</a:t>
            </a:r>
            <a:r>
              <a:rPr lang="en-US" altLang="zh-CN" dirty="0">
                <a:latin typeface="Times New Roman" panose="02020603050405020304" pitchFamily="18" charset="0"/>
              </a:rPr>
              <a:t>= </a:t>
            </a:r>
            <a:r>
              <a:rPr lang="zh-CN" altLang="en-US" dirty="0"/>
              <a:t>读锁</a:t>
            </a:r>
            <a:r>
              <a:rPr lang="en-US" altLang="zh-CN" dirty="0">
                <a:latin typeface="Times New Roman" panose="02020603050405020304" pitchFamily="18" charset="0"/>
              </a:rPr>
              <a:t>;</a:t>
            </a:r>
            <a:endParaRPr lang="en-US" altLang="zh-CN" dirty="0"/>
          </a:p>
          <a:p>
            <a:pPr lvl="0" eaLnBrk="1" fontAlgn="b" hangingPunct="1"/>
            <a:r>
              <a:rPr lang="en-US" altLang="zh-CN" dirty="0">
                <a:latin typeface="Times New Roman" panose="02020603050405020304" pitchFamily="18" charset="0"/>
              </a:rPr>
              <a:t>   		            no_of_reads(x)</a:t>
            </a:r>
            <a:r>
              <a:rPr lang="en-US" altLang="zh-CN" dirty="0"/>
              <a:t> ∶</a:t>
            </a:r>
            <a:r>
              <a:rPr lang="en-US" altLang="zh-CN" dirty="0">
                <a:latin typeface="Times New Roman" panose="02020603050405020304" pitchFamily="18" charset="0"/>
              </a:rPr>
              <a:t> = 1;</a:t>
            </a:r>
            <a:endParaRPr lang="en-US" altLang="zh-CN" dirty="0"/>
          </a:p>
          <a:p>
            <a:pPr lvl="0" eaLnBrk="1" fontAlgn="b" hangingPunct="1"/>
            <a:r>
              <a:rPr lang="en-US" altLang="zh-CN" dirty="0">
                <a:latin typeface="Times New Roman" panose="02020603050405020304" pitchFamily="18" charset="0"/>
              </a:rPr>
              <a:t>        else if         LOCK(x) = </a:t>
            </a:r>
            <a:r>
              <a:rPr lang="zh-CN" altLang="en-US" dirty="0"/>
              <a:t>读锁</a:t>
            </a:r>
            <a:endParaRPr lang="zh-CN" altLang="en-US" dirty="0"/>
          </a:p>
          <a:p>
            <a:pPr lvl="0" eaLnBrk="1" fontAlgn="b" hangingPunct="1"/>
            <a:r>
              <a:rPr lang="zh-CN" altLang="en-US" dirty="0"/>
              <a:t>	          </a:t>
            </a:r>
            <a:r>
              <a:rPr lang="en-US" altLang="zh-CN" dirty="0">
                <a:latin typeface="Times New Roman" panose="02020603050405020304" pitchFamily="18" charset="0"/>
              </a:rPr>
              <a:t>then    no_of_reads(x)</a:t>
            </a:r>
            <a:r>
              <a:rPr lang="en-US" altLang="zh-CN" dirty="0"/>
              <a:t> ∶</a:t>
            </a:r>
            <a:r>
              <a:rPr lang="en-US" altLang="zh-CN" dirty="0">
                <a:latin typeface="Times New Roman" panose="02020603050405020304" pitchFamily="18" charset="0"/>
              </a:rPr>
              <a:t> =no_of_reads(x) + 1;</a:t>
            </a:r>
            <a:endParaRPr lang="en-US" altLang="zh-CN" dirty="0"/>
          </a:p>
          <a:p>
            <a:pPr lvl="0" eaLnBrk="1" fontAlgn="b" hangingPunct="1"/>
            <a:r>
              <a:rPr lang="en-US" altLang="zh-CN" dirty="0">
                <a:latin typeface="Times New Roman" panose="02020603050405020304" pitchFamily="18" charset="0"/>
              </a:rPr>
              <a:t>               else     </a:t>
            </a:r>
            <a:r>
              <a:rPr lang="zh-CN" altLang="en-US" dirty="0"/>
              <a:t>等待直到</a:t>
            </a:r>
            <a:r>
              <a:rPr lang="en-US" altLang="zh-CN" dirty="0">
                <a:latin typeface="Times New Roman" panose="02020603050405020304" pitchFamily="18" charset="0"/>
              </a:rPr>
              <a:t>LOCK(x) = </a:t>
            </a:r>
            <a:r>
              <a:rPr lang="zh-CN" altLang="en-US" dirty="0"/>
              <a:t>解锁被唤醒执行</a:t>
            </a:r>
            <a:r>
              <a:rPr lang="en-US" altLang="zh-CN" dirty="0"/>
              <a:t>;</a:t>
            </a:r>
            <a:endParaRPr lang="en-US" altLang="zh-CN" dirty="0"/>
          </a:p>
          <a:p>
            <a:pPr lvl="0" eaLnBrk="1" fontAlgn="b" hangingPunct="1"/>
            <a:r>
              <a:rPr lang="en-US" altLang="zh-CN" dirty="0"/>
              <a:t>	          </a:t>
            </a:r>
            <a:r>
              <a:rPr lang="en-US" altLang="zh-CN" dirty="0">
                <a:latin typeface="Times New Roman" panose="02020603050405020304" pitchFamily="18" charset="0"/>
              </a:rPr>
              <a:t>goto B;</a:t>
            </a:r>
            <a:endParaRPr lang="en-US" altLang="zh-CN" dirty="0"/>
          </a:p>
          <a:p>
            <a:pPr lvl="0" eaLnBrk="1" fontAlgn="b" hangingPunct="1"/>
            <a:r>
              <a:rPr lang="en-US" altLang="zh-CN" dirty="0">
                <a:latin typeface="Times New Roman" panose="02020603050405020304" pitchFamily="18" charset="0"/>
              </a:rPr>
              <a:t>               endif;</a:t>
            </a:r>
            <a:endParaRPr lang="en-US" altLang="zh-CN" dirty="0"/>
          </a:p>
          <a:p>
            <a:pPr lvl="0" eaLnBrk="1" fontAlgn="b" hangingPunct="1"/>
            <a:r>
              <a:rPr lang="en-US" altLang="zh-CN" dirty="0">
                <a:latin typeface="Times New Roman" panose="02020603050405020304" pitchFamily="18" charset="0"/>
              </a:rPr>
              <a:t>        endif</a:t>
            </a:r>
            <a:endParaRPr lang="en-US" altLang="zh-CN" dirty="0">
              <a:latin typeface="Times New Roman" panose="02020603050405020304" pitchFamily="18" charset="0"/>
            </a:endParaRPr>
          </a:p>
          <a:p>
            <a:pPr lvl="0" eaLnBrk="1" fontAlgn="b" hangingPunct="1"/>
            <a:endParaRPr lang="en-US" altLang="zh-CN" dirty="0">
              <a:latin typeface="Times New Roman" panose="02020603050405020304" pitchFamily="18" charset="0"/>
            </a:endParaRPr>
          </a:p>
          <a:p>
            <a:pPr lvl="0" eaLnBrk="1" fontAlgn="b" hangingPunct="1"/>
            <a:r>
              <a:rPr lang="en-US" altLang="zh-CN" sz="900" b="1" dirty="0">
                <a:latin typeface="Times New Roman" panose="02020603050405020304" pitchFamily="18" charset="0"/>
                <a:cs typeface="Times New Roman" panose="02020603050405020304" pitchFamily="18" charset="0"/>
              </a:rPr>
              <a:t>write_lock(x)</a:t>
            </a:r>
            <a:endParaRPr lang="en-US" altLang="zh-CN" sz="900" b="1" dirty="0">
              <a:latin typeface="Times New Roman" panose="02020603050405020304" pitchFamily="18" charset="0"/>
              <a:cs typeface="Times New Roman" panose="02020603050405020304" pitchFamily="18" charset="0"/>
            </a:endParaRPr>
          </a:p>
          <a:p>
            <a:pPr lvl="0" eaLnBrk="1" fontAlgn="b" hangingPunct="1"/>
            <a:r>
              <a:rPr lang="en-US" altLang="zh-CN" dirty="0">
                <a:latin typeface="Times New Roman" panose="02020603050405020304" pitchFamily="18" charset="0"/>
                <a:cs typeface="Times New Roman" panose="02020603050405020304" pitchFamily="18" charset="0"/>
              </a:rPr>
              <a:t>B:   if        LOCK(x) = </a:t>
            </a:r>
            <a:r>
              <a:rPr lang="zh-CN" altLang="en-US" dirty="0"/>
              <a:t>解锁</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then   LOCK(x)</a:t>
            </a:r>
            <a:r>
              <a:rPr lang="en-US" altLang="zh-CN" dirty="0"/>
              <a:t> ∶</a:t>
            </a:r>
            <a:r>
              <a:rPr lang="en-US" altLang="zh-CN" dirty="0">
                <a:latin typeface="Times New Roman" panose="02020603050405020304" pitchFamily="18" charset="0"/>
                <a:cs typeface="Times New Roman" panose="02020603050405020304" pitchFamily="18" charset="0"/>
              </a:rPr>
              <a:t>= </a:t>
            </a:r>
            <a:r>
              <a:rPr lang="zh-CN" altLang="en-US" dirty="0"/>
              <a:t>写锁</a:t>
            </a:r>
            <a:r>
              <a:rPr lang="en-US" altLang="zh-CN" dirty="0">
                <a:latin typeface="Times New Roman" panose="02020603050405020304" pitchFamily="18" charset="0"/>
                <a:cs typeface="Times New Roman" panose="02020603050405020304" pitchFamily="18" charset="0"/>
              </a:rPr>
              <a:t>;</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else    </a:t>
            </a:r>
            <a:r>
              <a:rPr lang="zh-CN" altLang="en-US" dirty="0"/>
              <a:t>等待直到</a:t>
            </a:r>
            <a:r>
              <a:rPr lang="en-US" altLang="zh-CN" dirty="0">
                <a:latin typeface="Times New Roman" panose="02020603050405020304" pitchFamily="18" charset="0"/>
                <a:cs typeface="Times New Roman" panose="02020603050405020304" pitchFamily="18" charset="0"/>
              </a:rPr>
              <a:t>LOCK(x) = </a:t>
            </a:r>
            <a:r>
              <a:rPr lang="zh-CN" altLang="en-US" dirty="0"/>
              <a:t>解锁被唤醒执行；</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goto B;</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endif</a:t>
            </a:r>
            <a:endParaRPr lang="en-US" altLang="zh-CN" dirty="0">
              <a:latin typeface="Times New Roman" panose="02020603050405020304" pitchFamily="18" charset="0"/>
              <a:cs typeface="Times New Roman" panose="02020603050405020304" pitchFamily="18" charset="0"/>
            </a:endParaRPr>
          </a:p>
          <a:p>
            <a:pPr lvl="0" eaLnBrk="1" fontAlgn="b" hangingPunct="1"/>
            <a:endParaRPr lang="en-US" altLang="zh-CN" dirty="0">
              <a:latin typeface="Times New Roman" panose="02020603050405020304" pitchFamily="18" charset="0"/>
              <a:cs typeface="Times New Roman" panose="02020603050405020304" pitchFamily="18" charset="0"/>
            </a:endParaRPr>
          </a:p>
          <a:p>
            <a:pPr lvl="0" eaLnBrk="1" fontAlgn="b" hangingPunct="1"/>
            <a:r>
              <a:rPr lang="en-US" altLang="zh-CN" sz="900" b="1" dirty="0">
                <a:latin typeface="Times New Roman" panose="02020603050405020304" pitchFamily="18" charset="0"/>
                <a:cs typeface="Times New Roman" panose="02020603050405020304" pitchFamily="18" charset="0"/>
              </a:rPr>
              <a:t>unlock(x)</a:t>
            </a:r>
            <a:endParaRPr lang="en-US" altLang="zh-CN" sz="900" b="1" dirty="0">
              <a:latin typeface="Times New Roman" panose="02020603050405020304" pitchFamily="18" charset="0"/>
              <a:cs typeface="Times New Roman" panose="02020603050405020304" pitchFamily="18" charset="0"/>
            </a:endParaRPr>
          </a:p>
          <a:p>
            <a:pPr lvl="0" eaLnBrk="1" fontAlgn="b" hangingPunct="1"/>
            <a:r>
              <a:rPr lang="en-US" altLang="zh-CN" dirty="0">
                <a:latin typeface="Times New Roman" panose="02020603050405020304" pitchFamily="18" charset="0"/>
                <a:cs typeface="Times New Roman" panose="02020603050405020304" pitchFamily="18" charset="0"/>
              </a:rPr>
              <a:t>if 	  LOCK(x) = </a:t>
            </a:r>
            <a:r>
              <a:rPr lang="zh-CN" altLang="en-US" dirty="0"/>
              <a:t>写锁</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then   LOCK(x)</a:t>
            </a:r>
            <a:r>
              <a:rPr lang="en-US" altLang="zh-CN" dirty="0"/>
              <a:t> ∶</a:t>
            </a:r>
            <a:r>
              <a:rPr lang="en-US" altLang="zh-CN" dirty="0">
                <a:latin typeface="Times New Roman" panose="02020603050405020304" pitchFamily="18" charset="0"/>
                <a:cs typeface="Times New Roman" panose="02020603050405020304" pitchFamily="18" charset="0"/>
              </a:rPr>
              <a:t> =  </a:t>
            </a:r>
            <a:r>
              <a:rPr lang="zh-CN" altLang="en-US" dirty="0"/>
              <a:t>解锁</a:t>
            </a:r>
            <a:r>
              <a:rPr lang="en-US" altLang="zh-CN" dirty="0">
                <a:latin typeface="Times New Roman" panose="02020603050405020304" pitchFamily="18" charset="0"/>
                <a:cs typeface="Times New Roman" panose="02020603050405020304" pitchFamily="18" charset="0"/>
              </a:rPr>
              <a:t>;</a:t>
            </a:r>
            <a:endParaRPr lang="en-US" altLang="zh-CN" dirty="0"/>
          </a:p>
          <a:p>
            <a:pPr lvl="0" eaLnBrk="1" fontAlgn="b" hangingPunct="1"/>
            <a:r>
              <a:rPr lang="en-US" altLang="zh-CN" dirty="0"/>
              <a:t>           </a:t>
            </a:r>
            <a:r>
              <a:rPr lang="zh-CN" altLang="en-US" dirty="0"/>
              <a:t>唤醒等待解锁的事务执行；</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if  LOCK(x) = </a:t>
            </a:r>
            <a:r>
              <a:rPr lang="zh-CN" altLang="en-US" dirty="0"/>
              <a:t>读锁</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then   no_of_reads(x)</a:t>
            </a:r>
            <a:r>
              <a:rPr lang="en-US" altLang="zh-CN" dirty="0"/>
              <a:t> </a:t>
            </a:r>
            <a:r>
              <a:rPr lang="zh-CN" altLang="en-US" dirty="0"/>
              <a:t>：</a:t>
            </a:r>
            <a:r>
              <a:rPr lang="en-US" altLang="zh-CN" dirty="0">
                <a:latin typeface="Times New Roman" panose="02020603050405020304" pitchFamily="18" charset="0"/>
                <a:cs typeface="Times New Roman" panose="02020603050405020304" pitchFamily="18" charset="0"/>
              </a:rPr>
              <a:t>= no_of_reads(x) </a:t>
            </a:r>
            <a:r>
              <a:rPr lang="zh-CN" altLang="en-US" dirty="0">
                <a:latin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rPr>
              <a:t>；</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no_of_reads(x) = 0</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then	LOCK(X)</a:t>
            </a:r>
            <a:r>
              <a:rPr lang="en-US" altLang="zh-CN" dirty="0"/>
              <a:t> </a:t>
            </a:r>
            <a:r>
              <a:rPr lang="zh-CN" altLang="en-US" dirty="0"/>
              <a:t>：</a:t>
            </a:r>
            <a:r>
              <a:rPr lang="en-US" altLang="zh-CN" dirty="0">
                <a:latin typeface="Times New Roman" panose="02020603050405020304" pitchFamily="18" charset="0"/>
                <a:cs typeface="Times New Roman" panose="02020603050405020304" pitchFamily="18" charset="0"/>
              </a:rPr>
              <a:t>= </a:t>
            </a:r>
            <a:r>
              <a:rPr lang="zh-CN" altLang="en-US" dirty="0"/>
              <a:t>解锁</a:t>
            </a:r>
            <a:r>
              <a:rPr lang="en-US" altLang="zh-CN" dirty="0">
                <a:latin typeface="Times New Roman" panose="02020603050405020304" pitchFamily="18" charset="0"/>
                <a:cs typeface="Times New Roman" panose="02020603050405020304" pitchFamily="18" charset="0"/>
              </a:rPr>
              <a:t>;</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a:t>
            </a:r>
            <a:r>
              <a:rPr lang="zh-CN" altLang="en-US" dirty="0"/>
              <a:t>唤醒等待解锁的事务执行；</a:t>
            </a:r>
            <a:endParaRPr lang="zh-CN" altLang="en-US" dirty="0"/>
          </a:p>
          <a:p>
            <a:pPr lvl="0" eaLnBrk="1" fontAlgn="b" hangingPunct="1"/>
            <a:r>
              <a:rPr lang="zh-CN" altLang="en-US" dirty="0"/>
              <a:t>	             </a:t>
            </a:r>
            <a:r>
              <a:rPr lang="en-US" altLang="zh-CN" dirty="0">
                <a:latin typeface="Times New Roman" panose="02020603050405020304" pitchFamily="18" charset="0"/>
                <a:cs typeface="Times New Roman" panose="02020603050405020304" pitchFamily="18" charset="0"/>
              </a:rPr>
              <a:t>endif;</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endif;</a:t>
            </a:r>
            <a:endParaRPr lang="en-US" altLang="zh-CN" dirty="0">
              <a:latin typeface="Times New Roman" panose="02020603050405020304" pitchFamily="18" charset="0"/>
              <a:cs typeface="Times New Roman" panose="02020603050405020304" pitchFamily="18" charset="0"/>
            </a:endParaRPr>
          </a:p>
          <a:p>
            <a:pPr lvl="0" eaLnBrk="1" fontAlgn="b" hangingPunct="1"/>
            <a:r>
              <a:rPr lang="en-US" altLang="zh-CN" dirty="0">
                <a:latin typeface="Times New Roman" panose="02020603050405020304" pitchFamily="18" charset="0"/>
                <a:cs typeface="Times New Roman" panose="02020603050405020304" pitchFamily="18" charset="0"/>
              </a:rPr>
              <a:t>  endif</a:t>
            </a:r>
            <a:endParaRPr lang="en-US" altLang="zh-CN" dirty="0"/>
          </a:p>
          <a:p>
            <a:pPr lvl="0" eaLnBrk="1" fontAlgn="b" hangingPunct="1"/>
            <a:endParaRPr lang="en-US" altLang="zh-CN" dirty="0"/>
          </a:p>
          <a:p>
            <a:pPr lvl="0" eaLnBrk="1" fontAlgn="b" hangingPunct="1"/>
            <a:endParaRPr lang="en-US" altLang="zh-CN" dirty="0"/>
          </a:p>
          <a:p>
            <a:pPr lvl="0" eaLnBrk="1" hangingPunct="1"/>
            <a:endParaRPr lang="en-US" altLang="zh-CN"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1923" name="Rectangle 2"/>
          <p:cNvSpPr>
            <a:spLocks noRot="1"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r>
              <a:rPr lang="zh-CN" altLang="en-US" dirty="0"/>
              <a:t>相容矩阵（</a:t>
            </a:r>
            <a:r>
              <a:rPr lang="en-US" altLang="zh-CN" dirty="0"/>
              <a:t>compatibility maxtrix</a:t>
            </a:r>
            <a:r>
              <a:rPr lang="zh-CN" altLang="en-US" dirty="0"/>
              <a:t>）</a:t>
            </a:r>
            <a:endParaRPr lang="zh-CN" altLang="en-US" dirty="0"/>
          </a:p>
          <a:p>
            <a:pPr lvl="0" eaLnBrk="1" hangingPunct="1"/>
            <a:r>
              <a:rPr lang="zh-CN" altLang="en-US" dirty="0"/>
              <a:t>事务</a:t>
            </a:r>
            <a:r>
              <a:rPr lang="en-US" altLang="zh-CN" dirty="0"/>
              <a:t>T1</a:t>
            </a:r>
            <a:r>
              <a:rPr lang="zh-CN" altLang="en-US" dirty="0"/>
              <a:t>：已获得的锁的类型</a:t>
            </a:r>
            <a:endParaRPr lang="zh-CN" altLang="en-US" dirty="0"/>
          </a:p>
          <a:p>
            <a:pPr lvl="0" eaLnBrk="1" hangingPunct="1"/>
            <a:r>
              <a:rPr lang="zh-CN" altLang="en-US" dirty="0"/>
              <a:t>事务</a:t>
            </a:r>
            <a:r>
              <a:rPr lang="en-US" altLang="zh-CN" dirty="0"/>
              <a:t>T2</a:t>
            </a:r>
            <a:r>
              <a:rPr lang="zh-CN" altLang="en-US" dirty="0"/>
              <a:t>：发出封锁请求</a:t>
            </a:r>
            <a:endParaRPr lang="zh-CN" altLang="en-US" dirty="0"/>
          </a:p>
          <a:p>
            <a:pPr lvl="0" eaLnBrk="1" hangingPunct="1"/>
            <a:r>
              <a:rPr lang="en-US" altLang="zh-CN" dirty="0"/>
              <a:t>True</a:t>
            </a:r>
            <a:r>
              <a:rPr lang="zh-CN" altLang="en-US" dirty="0"/>
              <a:t>：申请的锁与原有锁相容，可以满足</a:t>
            </a:r>
            <a:endParaRPr lang="zh-CN" altLang="en-US" dirty="0"/>
          </a:p>
          <a:p>
            <a:pPr lvl="0" eaLnBrk="1" hangingPunct="1"/>
            <a:r>
              <a:rPr lang="en-US" altLang="zh-CN" dirty="0"/>
              <a:t>False</a:t>
            </a:r>
            <a:r>
              <a:rPr lang="zh-CN" altLang="en-US" dirty="0"/>
              <a:t>：申请的锁与原有锁不相容，不能满足</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r>
              <a:rPr lang="en-US" altLang="zh-CN" dirty="0"/>
              <a:t>DBMS</a:t>
            </a:r>
            <a:r>
              <a:rPr lang="zh-CN" altLang="en-US" dirty="0"/>
              <a:t>通常提供了多种类型的封锁。一个事务对某个数据对象加锁后究竟拥有什么样的控制是由封锁的类型决定的。</a:t>
            </a:r>
            <a:endParaRPr lang="zh-CN" altLang="en-US" dirty="0"/>
          </a:p>
          <a:p>
            <a:pPr lvl="0" eaLnBrk="1" hangingPunct="1"/>
            <a:endParaRPr lang="zh-CN" altLang="en-US" dirty="0"/>
          </a:p>
          <a:p>
            <a:pPr lvl="0" eaLnBrk="1" hangingPunct="1"/>
            <a:r>
              <a:rPr lang="zh-CN" altLang="en-US" dirty="0"/>
              <a:t>考虑到事务执行的并发性，加锁应尽可能地减少因加锁对事务并发度的影响。</a:t>
            </a:r>
            <a:endParaRPr lang="zh-CN" altLang="en-US" dirty="0"/>
          </a:p>
          <a:p>
            <a:pPr lvl="0" eaLnBrk="1" fontAlgn="b" hangingPunct="1"/>
            <a:r>
              <a:rPr lang="zh-CN" altLang="en-US" dirty="0">
                <a:solidFill>
                  <a:srgbClr val="000000"/>
                </a:solidFill>
              </a:rPr>
              <a:t>锁的操作：</a:t>
            </a:r>
            <a:r>
              <a:rPr lang="en-US" altLang="zh-CN" dirty="0">
                <a:cs typeface="Times New Roman" panose="02020603050405020304" pitchFamily="18" charset="0"/>
              </a:rPr>
              <a:t>read_lock(x)/write_lock(x)/unlock(x)</a:t>
            </a:r>
            <a:endParaRPr lang="en-US" altLang="zh-CN" dirty="0">
              <a:cs typeface="Times New Roman" panose="02020603050405020304" pitchFamily="18" charset="0"/>
            </a:endParaRPr>
          </a:p>
          <a:p>
            <a:pPr lvl="0" eaLnBrk="1" hangingPunct="1"/>
            <a:r>
              <a:rPr lang="en-US" altLang="zh-CN" b="1" dirty="0">
                <a:latin typeface="Times New Roman" panose="02020603050405020304" pitchFamily="18" charset="0"/>
              </a:rPr>
              <a:t>read_lock(x)</a:t>
            </a:r>
            <a:endParaRPr lang="en-US" altLang="zh-CN" b="1" dirty="0">
              <a:latin typeface="Times New Roman" panose="02020603050405020304" pitchFamily="18" charset="0"/>
            </a:endParaRPr>
          </a:p>
          <a:p>
            <a:pPr lvl="0" eaLnBrk="1" fontAlgn="b" hangingPunct="1"/>
            <a:r>
              <a:rPr lang="en-US" altLang="zh-CN" dirty="0">
                <a:latin typeface="Times New Roman" panose="02020603050405020304" pitchFamily="18" charset="0"/>
              </a:rPr>
              <a:t>B:   if            LOCK(x) = </a:t>
            </a:r>
            <a:r>
              <a:rPr lang="zh-CN" altLang="en-US" dirty="0"/>
              <a:t>解锁</a:t>
            </a:r>
            <a:endParaRPr lang="zh-CN" altLang="en-US" dirty="0"/>
          </a:p>
          <a:p>
            <a:pPr lvl="0" eaLnBrk="1" fontAlgn="b" hangingPunct="1"/>
            <a:r>
              <a:rPr lang="zh-CN" altLang="en-US" dirty="0"/>
              <a:t>       </a:t>
            </a:r>
            <a:r>
              <a:rPr lang="en-US" altLang="zh-CN" dirty="0">
                <a:latin typeface="Times New Roman" panose="02020603050405020304" pitchFamily="18" charset="0"/>
              </a:rPr>
              <a:t>then       LOCK(x) </a:t>
            </a:r>
            <a:r>
              <a:rPr lang="en-US" altLang="zh-CN" dirty="0"/>
              <a:t>∶</a:t>
            </a:r>
            <a:r>
              <a:rPr lang="en-US" altLang="zh-CN" dirty="0">
                <a:latin typeface="Times New Roman" panose="02020603050405020304" pitchFamily="18" charset="0"/>
              </a:rPr>
              <a:t>= </a:t>
            </a:r>
            <a:r>
              <a:rPr lang="zh-CN" altLang="en-US" dirty="0"/>
              <a:t>读锁</a:t>
            </a:r>
            <a:r>
              <a:rPr lang="en-US" altLang="zh-CN" dirty="0">
                <a:latin typeface="Times New Roman" panose="02020603050405020304" pitchFamily="18" charset="0"/>
              </a:rPr>
              <a:t>;</a:t>
            </a:r>
            <a:endParaRPr lang="en-US" altLang="zh-CN" dirty="0"/>
          </a:p>
          <a:p>
            <a:pPr lvl="0" eaLnBrk="1" fontAlgn="b" hangingPunct="1"/>
            <a:r>
              <a:rPr lang="en-US" altLang="zh-CN" dirty="0">
                <a:latin typeface="Times New Roman" panose="02020603050405020304" pitchFamily="18" charset="0"/>
              </a:rPr>
              <a:t>   		            no_of_reads(x)</a:t>
            </a:r>
            <a:r>
              <a:rPr lang="en-US" altLang="zh-CN" dirty="0"/>
              <a:t> ∶</a:t>
            </a:r>
            <a:r>
              <a:rPr lang="en-US" altLang="zh-CN" dirty="0">
                <a:latin typeface="Times New Roman" panose="02020603050405020304" pitchFamily="18" charset="0"/>
              </a:rPr>
              <a:t> = 1;</a:t>
            </a:r>
            <a:endParaRPr lang="en-US" altLang="zh-CN" dirty="0"/>
          </a:p>
          <a:p>
            <a:pPr lvl="0" eaLnBrk="1" fontAlgn="b" hangingPunct="1"/>
            <a:r>
              <a:rPr lang="en-US" altLang="zh-CN" dirty="0">
                <a:latin typeface="Times New Roman" panose="02020603050405020304" pitchFamily="18" charset="0"/>
              </a:rPr>
              <a:t>        else if         LOCK(x) = </a:t>
            </a:r>
            <a:r>
              <a:rPr lang="zh-CN" altLang="en-US" dirty="0"/>
              <a:t>读锁</a:t>
            </a:r>
            <a:endParaRPr lang="zh-CN" altLang="en-US" dirty="0"/>
          </a:p>
          <a:p>
            <a:pPr lvl="0" eaLnBrk="1" fontAlgn="b" hangingPunct="1"/>
            <a:r>
              <a:rPr lang="zh-CN" altLang="en-US" dirty="0"/>
              <a:t>	          </a:t>
            </a:r>
            <a:r>
              <a:rPr lang="en-US" altLang="zh-CN" dirty="0">
                <a:latin typeface="Times New Roman" panose="02020603050405020304" pitchFamily="18" charset="0"/>
              </a:rPr>
              <a:t>then    no_of_reads(x)</a:t>
            </a:r>
            <a:r>
              <a:rPr lang="en-US" altLang="zh-CN" dirty="0"/>
              <a:t> ∶</a:t>
            </a:r>
            <a:r>
              <a:rPr lang="en-US" altLang="zh-CN" dirty="0">
                <a:latin typeface="Times New Roman" panose="02020603050405020304" pitchFamily="18" charset="0"/>
              </a:rPr>
              <a:t> =no_of_reads(x) + 1;</a:t>
            </a:r>
            <a:endParaRPr lang="en-US" altLang="zh-CN" dirty="0"/>
          </a:p>
          <a:p>
            <a:pPr lvl="0" eaLnBrk="1" fontAlgn="b" hangingPunct="1"/>
            <a:r>
              <a:rPr lang="en-US" altLang="zh-CN" dirty="0">
                <a:latin typeface="Times New Roman" panose="02020603050405020304" pitchFamily="18" charset="0"/>
              </a:rPr>
              <a:t>               else     </a:t>
            </a:r>
            <a:r>
              <a:rPr lang="zh-CN" altLang="en-US" dirty="0"/>
              <a:t>等待直到</a:t>
            </a:r>
            <a:r>
              <a:rPr lang="en-US" altLang="zh-CN" dirty="0">
                <a:latin typeface="Times New Roman" panose="02020603050405020304" pitchFamily="18" charset="0"/>
              </a:rPr>
              <a:t>LOCK(x) = </a:t>
            </a:r>
            <a:r>
              <a:rPr lang="zh-CN" altLang="en-US" dirty="0"/>
              <a:t>解锁被唤醒执行</a:t>
            </a:r>
            <a:r>
              <a:rPr lang="en-US" altLang="zh-CN" dirty="0"/>
              <a:t>;</a:t>
            </a:r>
            <a:endParaRPr lang="en-US" altLang="zh-CN" dirty="0"/>
          </a:p>
          <a:p>
            <a:pPr lvl="0" eaLnBrk="1" fontAlgn="b" hangingPunct="1"/>
            <a:r>
              <a:rPr lang="en-US" altLang="zh-CN" dirty="0"/>
              <a:t>	          </a:t>
            </a:r>
            <a:r>
              <a:rPr lang="en-US" altLang="zh-CN" dirty="0">
                <a:latin typeface="Times New Roman" panose="02020603050405020304" pitchFamily="18" charset="0"/>
              </a:rPr>
              <a:t>goto B;</a:t>
            </a:r>
            <a:endParaRPr lang="en-US" altLang="zh-CN" dirty="0"/>
          </a:p>
          <a:p>
            <a:pPr lvl="0" eaLnBrk="1" fontAlgn="b" hangingPunct="1"/>
            <a:r>
              <a:rPr lang="en-US" altLang="zh-CN" dirty="0">
                <a:latin typeface="Times New Roman" panose="02020603050405020304" pitchFamily="18" charset="0"/>
              </a:rPr>
              <a:t>               endif;</a:t>
            </a:r>
            <a:endParaRPr lang="en-US" altLang="zh-CN" dirty="0"/>
          </a:p>
          <a:p>
            <a:pPr lvl="0" eaLnBrk="1" fontAlgn="b" hangingPunct="1"/>
            <a:r>
              <a:rPr lang="en-US" altLang="zh-CN" dirty="0">
                <a:latin typeface="Times New Roman" panose="02020603050405020304" pitchFamily="18" charset="0"/>
              </a:rPr>
              <a:t>        endif</a:t>
            </a:r>
            <a:endParaRPr lang="en-US" altLang="zh-CN" dirty="0">
              <a:latin typeface="Times New Roman" panose="02020603050405020304" pitchFamily="18" charset="0"/>
            </a:endParaRPr>
          </a:p>
          <a:p>
            <a:pPr lvl="0" eaLnBrk="1" fontAlgn="b" hangingPunct="1"/>
            <a:endParaRPr lang="en-US" altLang="zh-CN" dirty="0">
              <a:latin typeface="Times New Roman" panose="02020603050405020304" pitchFamily="18" charset="0"/>
            </a:endParaRPr>
          </a:p>
          <a:p>
            <a:pPr lvl="0" eaLnBrk="1" fontAlgn="b" hangingPunct="1"/>
            <a:r>
              <a:rPr lang="en-US" altLang="zh-CN" sz="900" b="1" dirty="0">
                <a:latin typeface="Times New Roman" panose="02020603050405020304" pitchFamily="18" charset="0"/>
                <a:cs typeface="Times New Roman" panose="02020603050405020304" pitchFamily="18" charset="0"/>
              </a:rPr>
              <a:t>write_lock(x)</a:t>
            </a:r>
            <a:endParaRPr lang="en-US" altLang="zh-CN" sz="900" b="1" dirty="0">
              <a:latin typeface="Times New Roman" panose="02020603050405020304" pitchFamily="18" charset="0"/>
              <a:cs typeface="Times New Roman" panose="02020603050405020304" pitchFamily="18" charset="0"/>
            </a:endParaRPr>
          </a:p>
          <a:p>
            <a:pPr lvl="0" eaLnBrk="1" fontAlgn="b" hangingPunct="1"/>
            <a:r>
              <a:rPr lang="en-US" altLang="zh-CN" dirty="0">
                <a:latin typeface="Times New Roman" panose="02020603050405020304" pitchFamily="18" charset="0"/>
                <a:cs typeface="Times New Roman" panose="02020603050405020304" pitchFamily="18" charset="0"/>
              </a:rPr>
              <a:t>B:   if        LOCK(x) = </a:t>
            </a:r>
            <a:r>
              <a:rPr lang="zh-CN" altLang="en-US" dirty="0"/>
              <a:t>解锁</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then   LOCK(x)</a:t>
            </a:r>
            <a:r>
              <a:rPr lang="en-US" altLang="zh-CN" dirty="0"/>
              <a:t> ∶</a:t>
            </a:r>
            <a:r>
              <a:rPr lang="en-US" altLang="zh-CN" dirty="0">
                <a:latin typeface="Times New Roman" panose="02020603050405020304" pitchFamily="18" charset="0"/>
                <a:cs typeface="Times New Roman" panose="02020603050405020304" pitchFamily="18" charset="0"/>
              </a:rPr>
              <a:t>= </a:t>
            </a:r>
            <a:r>
              <a:rPr lang="zh-CN" altLang="en-US" dirty="0"/>
              <a:t>写锁</a:t>
            </a:r>
            <a:r>
              <a:rPr lang="en-US" altLang="zh-CN" dirty="0">
                <a:latin typeface="Times New Roman" panose="02020603050405020304" pitchFamily="18" charset="0"/>
                <a:cs typeface="Times New Roman" panose="02020603050405020304" pitchFamily="18" charset="0"/>
              </a:rPr>
              <a:t>;</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else    </a:t>
            </a:r>
            <a:r>
              <a:rPr lang="zh-CN" altLang="en-US" dirty="0"/>
              <a:t>等待直到</a:t>
            </a:r>
            <a:r>
              <a:rPr lang="en-US" altLang="zh-CN" dirty="0">
                <a:latin typeface="Times New Roman" panose="02020603050405020304" pitchFamily="18" charset="0"/>
                <a:cs typeface="Times New Roman" panose="02020603050405020304" pitchFamily="18" charset="0"/>
              </a:rPr>
              <a:t>LOCK(x) = </a:t>
            </a:r>
            <a:r>
              <a:rPr lang="zh-CN" altLang="en-US" dirty="0"/>
              <a:t>解锁被唤醒执行；</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goto B;</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endif</a:t>
            </a:r>
            <a:endParaRPr lang="en-US" altLang="zh-CN" dirty="0">
              <a:latin typeface="Times New Roman" panose="02020603050405020304" pitchFamily="18" charset="0"/>
              <a:cs typeface="Times New Roman" panose="02020603050405020304" pitchFamily="18" charset="0"/>
            </a:endParaRPr>
          </a:p>
          <a:p>
            <a:pPr lvl="0" eaLnBrk="1" fontAlgn="b" hangingPunct="1"/>
            <a:endParaRPr lang="en-US" altLang="zh-CN" dirty="0">
              <a:latin typeface="Times New Roman" panose="02020603050405020304" pitchFamily="18" charset="0"/>
              <a:cs typeface="Times New Roman" panose="02020603050405020304" pitchFamily="18" charset="0"/>
            </a:endParaRPr>
          </a:p>
          <a:p>
            <a:pPr lvl="0" eaLnBrk="1" fontAlgn="b" hangingPunct="1"/>
            <a:r>
              <a:rPr lang="en-US" altLang="zh-CN" sz="900" b="1" dirty="0">
                <a:latin typeface="Times New Roman" panose="02020603050405020304" pitchFamily="18" charset="0"/>
                <a:cs typeface="Times New Roman" panose="02020603050405020304" pitchFamily="18" charset="0"/>
              </a:rPr>
              <a:t>unlock(x)</a:t>
            </a:r>
            <a:endParaRPr lang="en-US" altLang="zh-CN" sz="900" b="1" dirty="0">
              <a:latin typeface="Times New Roman" panose="02020603050405020304" pitchFamily="18" charset="0"/>
              <a:cs typeface="Times New Roman" panose="02020603050405020304" pitchFamily="18" charset="0"/>
            </a:endParaRPr>
          </a:p>
          <a:p>
            <a:pPr lvl="0" eaLnBrk="1" fontAlgn="b" hangingPunct="1"/>
            <a:r>
              <a:rPr lang="en-US" altLang="zh-CN" dirty="0">
                <a:latin typeface="Times New Roman" panose="02020603050405020304" pitchFamily="18" charset="0"/>
                <a:cs typeface="Times New Roman" panose="02020603050405020304" pitchFamily="18" charset="0"/>
              </a:rPr>
              <a:t>if 	  LOCK(x) = </a:t>
            </a:r>
            <a:r>
              <a:rPr lang="zh-CN" altLang="en-US" dirty="0"/>
              <a:t>写锁</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then   LOCK(x)</a:t>
            </a:r>
            <a:r>
              <a:rPr lang="en-US" altLang="zh-CN" dirty="0"/>
              <a:t> ∶</a:t>
            </a:r>
            <a:r>
              <a:rPr lang="en-US" altLang="zh-CN" dirty="0">
                <a:latin typeface="Times New Roman" panose="02020603050405020304" pitchFamily="18" charset="0"/>
                <a:cs typeface="Times New Roman" panose="02020603050405020304" pitchFamily="18" charset="0"/>
              </a:rPr>
              <a:t> =  </a:t>
            </a:r>
            <a:r>
              <a:rPr lang="zh-CN" altLang="en-US" dirty="0"/>
              <a:t>解锁</a:t>
            </a:r>
            <a:r>
              <a:rPr lang="en-US" altLang="zh-CN" dirty="0">
                <a:latin typeface="Times New Roman" panose="02020603050405020304" pitchFamily="18" charset="0"/>
                <a:cs typeface="Times New Roman" panose="02020603050405020304" pitchFamily="18" charset="0"/>
              </a:rPr>
              <a:t>;</a:t>
            </a:r>
            <a:endParaRPr lang="en-US" altLang="zh-CN" dirty="0"/>
          </a:p>
          <a:p>
            <a:pPr lvl="0" eaLnBrk="1" fontAlgn="b" hangingPunct="1"/>
            <a:r>
              <a:rPr lang="en-US" altLang="zh-CN" dirty="0"/>
              <a:t>           </a:t>
            </a:r>
            <a:r>
              <a:rPr lang="zh-CN" altLang="en-US" dirty="0"/>
              <a:t>唤醒等待解锁的事务执行；</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else  if  LOCK(x) = </a:t>
            </a:r>
            <a:r>
              <a:rPr lang="zh-CN" altLang="en-US" dirty="0"/>
              <a:t>读锁</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then   no_of_reads(x)</a:t>
            </a:r>
            <a:r>
              <a:rPr lang="en-US" altLang="zh-CN" dirty="0"/>
              <a:t> </a:t>
            </a:r>
            <a:r>
              <a:rPr lang="zh-CN" altLang="en-US" dirty="0"/>
              <a:t>：</a:t>
            </a:r>
            <a:r>
              <a:rPr lang="en-US" altLang="zh-CN" dirty="0">
                <a:latin typeface="Times New Roman" panose="02020603050405020304" pitchFamily="18" charset="0"/>
                <a:cs typeface="Times New Roman" panose="02020603050405020304" pitchFamily="18" charset="0"/>
              </a:rPr>
              <a:t>= no_of_reads(x) </a:t>
            </a:r>
            <a:r>
              <a:rPr lang="zh-CN" altLang="en-US" dirty="0">
                <a:latin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rPr>
              <a:t>；</a:t>
            </a:r>
            <a:endParaRPr lang="zh-CN" altLang="en-US" dirty="0"/>
          </a:p>
          <a:p>
            <a:pPr lvl="0" eaLnBrk="1" fontAlgn="b" hangingPunct="1"/>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if  	no_of_reads(x) = 0</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then	LOCK(X)</a:t>
            </a:r>
            <a:r>
              <a:rPr lang="en-US" altLang="zh-CN" dirty="0"/>
              <a:t> </a:t>
            </a:r>
            <a:r>
              <a:rPr lang="zh-CN" altLang="en-US" dirty="0"/>
              <a:t>：</a:t>
            </a:r>
            <a:r>
              <a:rPr lang="en-US" altLang="zh-CN" dirty="0">
                <a:latin typeface="Times New Roman" panose="02020603050405020304" pitchFamily="18" charset="0"/>
                <a:cs typeface="Times New Roman" panose="02020603050405020304" pitchFamily="18" charset="0"/>
              </a:rPr>
              <a:t>= </a:t>
            </a:r>
            <a:r>
              <a:rPr lang="zh-CN" altLang="en-US" dirty="0"/>
              <a:t>解锁</a:t>
            </a:r>
            <a:r>
              <a:rPr lang="en-US" altLang="zh-CN" dirty="0">
                <a:latin typeface="Times New Roman" panose="02020603050405020304" pitchFamily="18" charset="0"/>
                <a:cs typeface="Times New Roman" panose="02020603050405020304" pitchFamily="18" charset="0"/>
              </a:rPr>
              <a:t>;</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a:t>
            </a:r>
            <a:r>
              <a:rPr lang="zh-CN" altLang="en-US" dirty="0"/>
              <a:t>唤醒等待解锁的事务执行；</a:t>
            </a:r>
            <a:endParaRPr lang="zh-CN" altLang="en-US" dirty="0"/>
          </a:p>
          <a:p>
            <a:pPr lvl="0" eaLnBrk="1" fontAlgn="b" hangingPunct="1"/>
            <a:r>
              <a:rPr lang="zh-CN" altLang="en-US" dirty="0"/>
              <a:t>	             </a:t>
            </a:r>
            <a:r>
              <a:rPr lang="en-US" altLang="zh-CN" dirty="0">
                <a:latin typeface="Times New Roman" panose="02020603050405020304" pitchFamily="18" charset="0"/>
                <a:cs typeface="Times New Roman" panose="02020603050405020304" pitchFamily="18" charset="0"/>
              </a:rPr>
              <a:t>endif;</a:t>
            </a:r>
            <a:endParaRPr lang="en-US" altLang="zh-CN" dirty="0"/>
          </a:p>
          <a:p>
            <a:pPr lvl="0" eaLnBrk="1" fontAlgn="b" hangingPunct="1"/>
            <a:r>
              <a:rPr lang="en-US" altLang="zh-CN" dirty="0">
                <a:latin typeface="Times New Roman" panose="02020603050405020304" pitchFamily="18" charset="0"/>
                <a:cs typeface="Times New Roman" panose="02020603050405020304" pitchFamily="18" charset="0"/>
              </a:rPr>
              <a:t>          endif;</a:t>
            </a:r>
            <a:endParaRPr lang="en-US" altLang="zh-CN" dirty="0">
              <a:latin typeface="Times New Roman" panose="02020603050405020304" pitchFamily="18" charset="0"/>
              <a:cs typeface="Times New Roman" panose="02020603050405020304" pitchFamily="18" charset="0"/>
            </a:endParaRPr>
          </a:p>
          <a:p>
            <a:pPr lvl="0" eaLnBrk="1" fontAlgn="b" hangingPunct="1"/>
            <a:r>
              <a:rPr lang="en-US" altLang="zh-CN" dirty="0">
                <a:latin typeface="Times New Roman" panose="02020603050405020304" pitchFamily="18" charset="0"/>
                <a:cs typeface="Times New Roman" panose="02020603050405020304" pitchFamily="18" charset="0"/>
              </a:rPr>
              <a:t>  endif</a:t>
            </a:r>
            <a:endParaRPr lang="en-US" altLang="zh-CN" dirty="0"/>
          </a:p>
          <a:p>
            <a:pPr lvl="0" eaLnBrk="1" fontAlgn="b" hangingPunct="1"/>
            <a:endParaRPr lang="en-US" altLang="zh-CN" dirty="0"/>
          </a:p>
          <a:p>
            <a:pPr lvl="0" eaLnBrk="1" fontAlgn="b" hangingPunct="1"/>
            <a:endParaRPr lang="en-US" altLang="zh-CN" dirty="0"/>
          </a:p>
          <a:p>
            <a:pPr lvl="0" eaLnBrk="1" hangingPunct="1"/>
            <a:endParaRPr lang="en-US" altLang="zh-CN"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3971" name="Rectangle 2"/>
          <p:cNvSpPr>
            <a:spLocks noRot="1" noTextEdit="1"/>
          </p:cNvSpPr>
          <p:nvPr>
            <p:ph type="sldImg"/>
          </p:nvPr>
        </p:nvSpPr>
        <p:spPr/>
      </p:sp>
      <p:sp>
        <p:nvSpPr>
          <p:cNvPr id="839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4995" name="Rectangle 2"/>
          <p:cNvSpPr>
            <a:spLocks noRot="1" noTextEdit="1"/>
          </p:cNvSpPr>
          <p:nvPr>
            <p:ph type="sldImg"/>
          </p:nvPr>
        </p:nvSpPr>
        <p:spPr/>
      </p:sp>
      <p:sp>
        <p:nvSpPr>
          <p:cNvPr id="849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6019" name="Rectangle 2"/>
          <p:cNvSpPr>
            <a:spLocks noRot="1" noTextEdit="1"/>
          </p:cNvSpPr>
          <p:nvPr>
            <p:ph type="sldImg"/>
          </p:nvPr>
        </p:nvSpPr>
        <p:spPr/>
      </p:sp>
      <p:sp>
        <p:nvSpPr>
          <p:cNvPr id="860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7043" name="Rectangle 2"/>
          <p:cNvSpPr>
            <a:spLocks noRot="1" noTextEdit="1"/>
          </p:cNvSpPr>
          <p:nvPr>
            <p:ph type="sldImg"/>
          </p:nvPr>
        </p:nvSpPr>
        <p:spPr/>
      </p:sp>
      <p:sp>
        <p:nvSpPr>
          <p:cNvPr id="870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8067" name="Rectangle 2"/>
          <p:cNvSpPr>
            <a:spLocks noRot="1" noTextEdit="1"/>
          </p:cNvSpPr>
          <p:nvPr>
            <p:ph type="sldImg"/>
          </p:nvPr>
        </p:nvSpPr>
        <p:spPr/>
      </p:sp>
      <p:sp>
        <p:nvSpPr>
          <p:cNvPr id="880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9091" name="Rectangle 2"/>
          <p:cNvSpPr>
            <a:spLocks noRot="1" noTextEdit="1"/>
          </p:cNvSpPr>
          <p:nvPr>
            <p:ph type="sldImg"/>
          </p:nvPr>
        </p:nvSpPr>
        <p:spPr/>
      </p:sp>
      <p:sp>
        <p:nvSpPr>
          <p:cNvPr id="890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351247" name="Rectangle 15"/>
          <p:cNvSpPr>
            <a:spLocks noGrp="1" noChangeArrowheads="1"/>
          </p:cNvSpPr>
          <p:nvPr>
            <p:ph type="ctrTitle" sz="quarter"/>
          </p:nvPr>
        </p:nvSpPr>
        <p:spPr>
          <a:xfrm>
            <a:off x="900113" y="1219200"/>
            <a:ext cx="7772400" cy="1143000"/>
          </a:xfrm>
        </p:spPr>
        <p:txBody>
          <a:bodyPr/>
          <a:lstStyle>
            <a:lvl1pPr>
              <a:defRPr/>
            </a:lvl1pPr>
          </a:lstStyle>
          <a:p>
            <a:r>
              <a:rPr lang="en-US" altLang="zh-CN"/>
              <a:t>Click to edit Master title style</a:t>
            </a:r>
            <a:endParaRPr lang="en-US" altLang="zh-CN"/>
          </a:p>
        </p:txBody>
      </p:sp>
      <p:sp>
        <p:nvSpPr>
          <p:cNvPr id="351248" name="Rectangle 16"/>
          <p:cNvSpPr>
            <a:spLocks noGrp="1" noChangeArrowheads="1"/>
          </p:cNvSpPr>
          <p:nvPr>
            <p:ph type="subTitle" sz="quarter" idx="1"/>
          </p:nvPr>
        </p:nvSpPr>
        <p:spPr>
          <a:xfrm>
            <a:off x="468313" y="2819400"/>
            <a:ext cx="8307387" cy="3200400"/>
          </a:xfrm>
        </p:spPr>
        <p:txBody>
          <a:bodyPr lIns="92075" tIns="46038" rIns="92075" bIns="46038"/>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10" name="Rectangle 17"/>
          <p:cNvSpPr>
            <a:spLocks noGrp="1" noChangeArrowheads="1"/>
          </p:cNvSpPr>
          <p:nvPr>
            <p:ph type="dt" sz="quarter" idx="2"/>
          </p:nvPr>
        </p:nvSpPr>
        <p:spPr bwMode="auto">
          <a:xfrm>
            <a:off x="152400" y="6248400"/>
            <a:ext cx="19050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1" name="Rectangle 18"/>
          <p:cNvSpPr>
            <a:spLocks noGrp="1" noChangeArrowheads="1"/>
          </p:cNvSpPr>
          <p:nvPr>
            <p:ph type="ftr" sz="quarter" idx="3"/>
          </p:nvPr>
        </p:nvSpPr>
        <p:spPr bwMode="auto">
          <a:xfrm>
            <a:off x="3124200" y="6248400"/>
            <a:ext cx="28956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2" name="Rectangle 19"/>
          <p:cNvSpPr>
            <a:spLocks noGrp="1" noChangeArrowheads="1"/>
          </p:cNvSpPr>
          <p:nvPr>
            <p:ph type="sldNum" sz="quarter" idx="4"/>
          </p:nvPr>
        </p:nvSpPr>
        <p:spPr bwMode="auto">
          <a:xfrm>
            <a:off x="7162800" y="6248400"/>
            <a:ext cx="1905000" cy="457200"/>
          </a:xfrm>
          <a:prstGeom prst="rect">
            <a:avLst/>
          </a:prstGeom>
          <a:ln>
            <a:miter lim="800000"/>
          </a:ln>
        </p:spPr>
        <p:txBody>
          <a:bodyPr vert="horz" wrap="none" lIns="92075" tIns="46038" rIns="92075" bIns="46038" numCol="1" anchor="ctr" anchorCtr="0" compatLnSpc="1"/>
          <a:p>
            <a:pPr algn="r">
              <a:spcBef>
                <a:spcPct val="0"/>
              </a:spcBef>
              <a:buNone/>
            </a:pPr>
            <a:fld id="{9A0DB2DC-4C9A-4742-B13C-FB6460FD3503}" type="slidenum">
              <a:rPr lang="en-US" altLang="zh-CN" i="1" dirty="0">
                <a:ea typeface="宋体" panose="02010600030101010101" pitchFamily="2" charset="-122"/>
              </a:rPr>
            </a:fld>
            <a:endParaRPr lang="en-US" altLang="zh-CN" i="1" dirty="0">
              <a:ea typeface="宋体" panose="02010600030101010101" pitchFamily="2" charset="-122"/>
            </a:endParaRPr>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981075"/>
            <a:ext cx="4348163" cy="5543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981075"/>
            <a:ext cx="4348162" cy="5543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endParaRPr kumimoji="0"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73025"/>
            <a:ext cx="2211387" cy="645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52400" y="73025"/>
            <a:ext cx="6484938" cy="6451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73025"/>
            <a:ext cx="8685212" cy="6921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981075"/>
            <a:ext cx="4348163" cy="55435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981075"/>
            <a:ext cx="4348162" cy="55435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1.vml"/><Relationship Id="rId16" Type="http://schemas.openxmlformats.org/officeDocument/2006/relationships/audio" Target="../media/audio1.wav"/><Relationship Id="rId15" Type="http://schemas.openxmlformats.org/officeDocument/2006/relationships/image" Target="../media/image2.wmf"/><Relationship Id="rId14" Type="http://schemas.openxmlformats.org/officeDocument/2006/relationships/control" Target="../activeX/activeX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p:sp>
        <p:nvSpPr>
          <p:cNvPr id="350210" name="Rectangle 2"/>
          <p:cNvSpPr>
            <a:spLocks noGrp="1" noChangeArrowheads="1"/>
          </p:cNvSpPr>
          <p:nvPr>
            <p:ph type="title"/>
          </p:nvPr>
        </p:nvSpPr>
        <p:spPr bwMode="auto">
          <a:xfrm>
            <a:off x="179388" y="73025"/>
            <a:ext cx="8685213" cy="692150"/>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smtClean="0"/>
              <a:t>Click to edit Master title style</a:t>
            </a:r>
            <a:endParaRPr lang="en-US" altLang="zh-CN" dirty="0" smtClean="0"/>
          </a:p>
        </p:txBody>
      </p:sp>
      <p:sp>
        <p:nvSpPr>
          <p:cNvPr id="350211" name="Rectangle 3"/>
          <p:cNvSpPr>
            <a:spLocks noGrp="1" noChangeArrowheads="1"/>
          </p:cNvSpPr>
          <p:nvPr>
            <p:ph type="dt" sz="half" idx="2"/>
          </p:nvPr>
        </p:nvSpPr>
        <p:spPr bwMode="auto">
          <a:xfrm>
            <a:off x="12954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l" eaLnBrk="0" hangingPunct="0">
              <a:spcBef>
                <a:spcPct val="0"/>
              </a:spcBef>
              <a:defRPr sz="1400" b="0">
                <a:solidFill>
                  <a:schemeClr val="tx1"/>
                </a:solidFill>
                <a:latin typeface="+mn-lt"/>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50212" name="Rectangle 4"/>
          <p:cNvSpPr>
            <a:spLocks noGrp="1" noChangeArrowheads="1"/>
          </p:cNvSpPr>
          <p:nvPr>
            <p:ph type="ftr" sz="quarter" idx="3"/>
          </p:nvPr>
        </p:nvSpPr>
        <p:spPr bwMode="auto">
          <a:xfrm>
            <a:off x="3733800" y="6248400"/>
            <a:ext cx="2895600" cy="457200"/>
          </a:xfrm>
          <a:prstGeom prst="rect">
            <a:avLst/>
          </a:prstGeom>
          <a:noFill/>
          <a:ln w="9525">
            <a:noFill/>
            <a:miter lim="800000"/>
          </a:ln>
          <a:effectLst/>
        </p:spPr>
        <p:txBody>
          <a:bodyPr vert="horz" wrap="none" lIns="92075" tIns="46038" rIns="92075" bIns="46038" numCol="1" anchor="ctr" anchorCtr="0" compatLnSpc="1"/>
          <a:lstStyle>
            <a:lvl1pPr eaLnBrk="0" hangingPunct="0">
              <a:spcBef>
                <a:spcPct val="0"/>
              </a:spcBef>
              <a:defRPr sz="1400" b="0">
                <a:solidFill>
                  <a:schemeClr val="tx1"/>
                </a:solidFill>
                <a:latin typeface="+mn-lt"/>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50213" name="Rectangle 5"/>
          <p:cNvSpPr>
            <a:spLocks noGrp="1" noChangeArrowheads="1"/>
          </p:cNvSpPr>
          <p:nvPr>
            <p:ph type="sldNum" sz="quarter" idx="4"/>
          </p:nvPr>
        </p:nvSpPr>
        <p:spPr bwMode="auto">
          <a:xfrm>
            <a:off x="71628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a:solidFill>
                  <a:schemeClr val="tx1"/>
                </a:solidFill>
                <a:latin typeface="Times New Roman" panose="02020603050405020304" pitchFamily="18" charset="0"/>
                <a:ea typeface="宋体" panose="02010600030101010101" pitchFamily="2" charset="-122"/>
              </a:defRPr>
            </a:lvl1pPr>
          </a:lstStyle>
          <a:p>
            <a:pPr lvl="0" eaLnBrk="0" hangingPunct="0">
              <a:spcBef>
                <a:spcPct val="0"/>
              </a:spcBef>
              <a:buNone/>
            </a:pPr>
            <a:fld id="{9A0DB2DC-4C9A-4742-B13C-FB6460FD3503}" type="slidenum">
              <a:rPr lang="en-US" altLang="zh-CN" dirty="0"/>
            </a:fld>
            <a:endParaRPr lang="en-US" altLang="zh-CN" dirty="0"/>
          </a:p>
        </p:txBody>
      </p:sp>
      <p:sp>
        <p:nvSpPr>
          <p:cNvPr id="1032" name="Rectangle 6"/>
          <p:cNvSpPr>
            <a:spLocks noGrp="1"/>
          </p:cNvSpPr>
          <p:nvPr>
            <p:ph type="body" idx="1"/>
          </p:nvPr>
        </p:nvSpPr>
        <p:spPr>
          <a:xfrm>
            <a:off x="152400" y="981075"/>
            <a:ext cx="8848725" cy="55435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3" name="Rectangle 8"/>
          <p:cNvSpPr/>
          <p:nvPr/>
        </p:nvSpPr>
        <p:spPr>
          <a:xfrm>
            <a:off x="1828800" y="6461125"/>
            <a:ext cx="2667000" cy="396875"/>
          </a:xfrm>
          <a:prstGeom prst="rect">
            <a:avLst/>
          </a:prstGeom>
          <a:noFill/>
          <a:ln w="12700">
            <a:noFill/>
          </a:ln>
        </p:spPr>
        <p:txBody>
          <a:bodyPr>
            <a:spAutoFit/>
          </a:bodyPr>
          <a:p>
            <a:pPr lvl="0" algn="l" eaLnBrk="0" hangingPunct="0">
              <a:spcBef>
                <a:spcPct val="0"/>
              </a:spcBef>
              <a:buNone/>
            </a:pPr>
            <a:endParaRPr lang="en-US" altLang="zh-CN" sz="2000" b="0" dirty="0">
              <a:solidFill>
                <a:srgbClr val="808000"/>
              </a:solidFill>
              <a:latin typeface="Arial" panose="020B0604020202020204" pitchFamily="34" charset="0"/>
              <a:ea typeface="楷体_GB2312" pitchFamily="49" charset="-122"/>
            </a:endParaRPr>
          </a:p>
        </p:txBody>
      </p:sp>
      <p:pic>
        <p:nvPicPr>
          <p:cNvPr id="350218" name="Picture 10" descr="paint"/>
          <p:cNvPicPr>
            <a:picLocks noChangeAspect="1"/>
          </p:cNvPicPr>
          <p:nvPr userDrawn="1"/>
        </p:nvPicPr>
        <p:blipFill>
          <a:blip r:embed="rId13">
            <a:clrChange>
              <a:clrFrom>
                <a:srgbClr val="C0C0C0"/>
              </a:clrFrom>
              <a:clrTo>
                <a:srgbClr val="C0C0C0">
                  <a:alpha val="0"/>
                </a:srgbClr>
              </a:clrTo>
            </a:clrChange>
          </a:blip>
          <a:stretch>
            <a:fillRect/>
          </a:stretch>
        </p:blipFill>
        <p:spPr>
          <a:xfrm>
            <a:off x="0" y="838200"/>
            <a:ext cx="4716463" cy="142875"/>
          </a:xfrm>
          <a:prstGeom prst="rect">
            <a:avLst/>
          </a:prstGeom>
          <a:noFill/>
          <a:ln w="9525">
            <a:noFill/>
          </a:ln>
        </p:spPr>
      </p:pic>
      <p:sp>
        <p:nvSpPr>
          <p:cNvPr id="350220" name="Text Box 12"/>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eaLnBrk="0" hangingPunct="0">
              <a:spcBef>
                <a:spcPct val="0"/>
              </a:spcBef>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Tree>
    <p:controls>
      <mc:AlternateContent xmlns:mc="http://schemas.openxmlformats.org/markup-compatibility/2006">
        <mc:Choice xmlns:v="urn:schemas-microsoft-com:vml" Requires="v">
          <p:control spid="1026" name="" r:id="rId14" imgW="684213" imgH="569913"/>
        </mc:Choice>
        <mc:Fallback>
          <p:control name="" r:id="rId14" imgW="684213" imgH="569913">
            <p:pic>
              <p:nvPicPr>
                <p:cNvPr id="0" name="Host Control  1025"/>
                <p:cNvPicPr/>
                <p:nvPr userDrawn="1"/>
              </p:nvPicPr>
              <p:blipFill>
                <a:blip r:embed="rId15"/>
                <a:stretch>
                  <a:fillRect/>
                </a:stretch>
              </p:blipFill>
              <p:spPr>
                <a:xfrm>
                  <a:off x="0" y="6245225"/>
                  <a:ext cx="684213" cy="569913"/>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sndAc>
      <p:stSnd>
        <p:snd r:embed="rId16"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0218"/>
                                        </p:tgtEl>
                                        <p:attrNameLst>
                                          <p:attrName>style.visibility</p:attrName>
                                        </p:attrNameLst>
                                      </p:cBhvr>
                                      <p:to>
                                        <p:strVal val="visible"/>
                                      </p:to>
                                    </p:set>
                                    <p:animEffect transition="in" filter="wipe(left)">
                                      <p:cBhvr>
                                        <p:cTn id="7" dur="500"/>
                                        <p:tgtEl>
                                          <p:spTgt spid="350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2pPr>
      <a:lvl3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4pPr>
      <a:lvl5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5pPr>
      <a:lvl6pPr marL="4572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6pPr>
      <a:lvl7pPr marL="9144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7pPr>
      <a:lvl8pPr marL="13716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8pPr>
      <a:lvl9pPr marL="18288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9pPr>
    </p:titleStyle>
    <p:body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b="1">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vl6pPr marL="27876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6pPr>
      <a:lvl7pPr marL="32448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7pPr>
      <a:lvl8pPr marL="37020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8pPr>
      <a:lvl9pPr marL="4159250" indent="-269875" algn="l" rtl="0" fontAlgn="base">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audio" Target="../media/audio2.wav"/><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audio" Target="../media/audio2.wav"/><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074"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3075" name="Rectangle 3"/>
          <p:cNvSpPr/>
          <p:nvPr/>
        </p:nvSpPr>
        <p:spPr>
          <a:xfrm>
            <a:off x="827088" y="2708275"/>
            <a:ext cx="7772400" cy="1008063"/>
          </a:xfrm>
          <a:prstGeom prst="rect">
            <a:avLst/>
          </a:prstGeom>
          <a:noFill/>
          <a:ln w="9525">
            <a:noFill/>
          </a:ln>
        </p:spPr>
        <p:txBody>
          <a:bodyPr anchor="b"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sz="6000" dirty="0">
                <a:solidFill>
                  <a:srgbClr val="0000CC"/>
                </a:solidFill>
                <a:latin typeface="华文新魏" panose="02010800040101010101" pitchFamily="2" charset="-122"/>
                <a:ea typeface="华文新魏" panose="02010800040101010101" pitchFamily="2" charset="-122"/>
              </a:rPr>
              <a:t>第</a:t>
            </a:r>
            <a:r>
              <a:rPr lang="en-US" altLang="zh-CN" sz="6000" dirty="0">
                <a:solidFill>
                  <a:srgbClr val="0000CC"/>
                </a:solidFill>
                <a:latin typeface="Arial" panose="020B0604020202020204" pitchFamily="34" charset="0"/>
                <a:ea typeface="华文新魏" panose="02010800040101010101" pitchFamily="2" charset="-122"/>
              </a:rPr>
              <a:t>8</a:t>
            </a:r>
            <a:r>
              <a:rPr lang="zh-CN" altLang="en-US" sz="6000" dirty="0">
                <a:solidFill>
                  <a:srgbClr val="0000CC"/>
                </a:solidFill>
                <a:latin typeface="华文新魏" panose="02010800040101010101" pitchFamily="2" charset="-122"/>
                <a:ea typeface="华文新魏" panose="02010800040101010101" pitchFamily="2" charset="-122"/>
              </a:rPr>
              <a:t>章   事务管理 </a:t>
            </a:r>
            <a:endParaRPr lang="zh-CN" altLang="en-US" sz="6000" dirty="0">
              <a:solidFill>
                <a:srgbClr val="0000CC"/>
              </a:solidFill>
              <a:latin typeface="华文新魏" panose="02010800040101010101" pitchFamily="2" charset="-122"/>
              <a:ea typeface="华文新魏" panose="02010800040101010101" pitchFamily="2" charset="-122"/>
            </a:endParaRPr>
          </a:p>
        </p:txBody>
      </p:sp>
      <p:sp>
        <p:nvSpPr>
          <p:cNvPr id="3076" name="Rectangle 4"/>
          <p:cNvSpPr/>
          <p:nvPr/>
        </p:nvSpPr>
        <p:spPr>
          <a:xfrm>
            <a:off x="468313" y="1052513"/>
            <a:ext cx="8497887" cy="1143000"/>
          </a:xfrm>
          <a:prstGeom prst="rect">
            <a:avLst/>
          </a:prstGeom>
          <a:noFill/>
          <a:ln w="12700">
            <a:noFill/>
          </a:ln>
          <a:effectLst>
            <a:outerShdw dist="35921" dir="2699999" algn="ctr" rotWithShape="0">
              <a:schemeClr val="bg2">
                <a:alpha val="50000"/>
              </a:schemeClr>
            </a:outerShdw>
          </a:effectLst>
        </p:spPr>
        <p:txBody>
          <a:bodyPr lIns="90488" tIns="44450" rIns="90488" bIns="44450" anchor="ctr" anchorCtr="0"/>
          <a:p>
            <a:pPr algn="ctr" eaLnBrk="0" hangingPunct="0">
              <a:buNone/>
            </a:pPr>
            <a:r>
              <a:rPr lang="zh-CN" altLang="en-US" sz="5400" dirty="0">
                <a:solidFill>
                  <a:srgbClr val="FF3300"/>
                </a:solidFill>
                <a:latin typeface="Arial" panose="020B0604020202020204" pitchFamily="34" charset="0"/>
                <a:ea typeface="华文新魏" panose="02010800040101010101" pitchFamily="2" charset="-122"/>
              </a:rPr>
              <a:t>数据库</a:t>
            </a:r>
            <a:r>
              <a:rPr lang="zh-CN" altLang="en-US" sz="5400" dirty="0">
                <a:solidFill>
                  <a:srgbClr val="FF3300"/>
                </a:solidFill>
                <a:latin typeface="Arial" panose="020B0604020202020204" pitchFamily="34" charset="0"/>
                <a:ea typeface="华文新魏" panose="02010800040101010101" pitchFamily="2" charset="-122"/>
              </a:rPr>
              <a:t>系统</a:t>
            </a:r>
            <a:endParaRPr lang="zh-CN" altLang="en-US" sz="5400" dirty="0">
              <a:solidFill>
                <a:srgbClr val="FF3300"/>
              </a:solidFill>
              <a:latin typeface="Arial" panose="020B0604020202020204" pitchFamily="34" charset="0"/>
              <a:ea typeface="华文新魏" panose="02010800040101010101" pitchFamily="2" charset="-122"/>
            </a:endParaRPr>
          </a:p>
        </p:txBody>
      </p:sp>
      <p:sp>
        <p:nvSpPr>
          <p:cNvPr id="3077" name="Text Box 5"/>
          <p:cNvSpPr txBox="1"/>
          <p:nvPr/>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nSpc>
                <a:spcPct val="90000"/>
              </a:lnSpc>
              <a:spcBef>
                <a:spcPct val="50000"/>
              </a:spcBef>
              <a:buClrTx/>
              <a:buSzTx/>
              <a:buFontTx/>
              <a:buNone/>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3078" name="Text Box 6"/>
          <p:cNvSpPr txBox="1"/>
          <p:nvPr/>
        </p:nvSpPr>
        <p:spPr>
          <a:xfrm>
            <a:off x="0" y="-99695"/>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nSpc>
                <a:spcPct val="90000"/>
              </a:lnSpc>
              <a:spcBef>
                <a:spcPct val="50000"/>
              </a:spcBef>
              <a:buClrTx/>
              <a:buSzTx/>
              <a:buFontTx/>
              <a:buNone/>
            </a:pPr>
            <a:endParaRPr lang="zh-CN" altLang="zh-CN" sz="2400" dirty="0">
              <a:solidFill>
                <a:schemeClr val="tx1"/>
              </a:solidFill>
              <a:latin typeface="华文中宋" panose="02010600040101010101" pitchFamily="2" charset="-122"/>
              <a:ea typeface="华文中宋" panose="02010600040101010101" pitchFamily="2" charset="-122"/>
            </a:endParaRPr>
          </a:p>
        </p:txBody>
      </p:sp>
    </p:spTree>
  </p:cSld>
  <p:clrMapOvr>
    <a:masterClrMapping/>
  </p:clrMapOvr>
  <p:transition>
    <p:rand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099" name="Rectangle 3"/>
          <p:cNvSpPr>
            <a:spLocks noGrp="1"/>
          </p:cNvSpPr>
          <p:nvPr>
            <p:ph idx="1"/>
          </p:nvPr>
        </p:nvSpPr>
        <p:spPr>
          <a:xfrm>
            <a:off x="1231900" y="981075"/>
            <a:ext cx="7372350" cy="5434013"/>
          </a:xfrm>
        </p:spPr>
        <p:txBody>
          <a:bodyPr vert="horz" wrap="square" lIns="91440" tIns="45720" rIns="91440" bIns="45720" anchor="t" anchorCtr="0"/>
          <a:p>
            <a:pPr eaLnBrk="1" hangingPunct="1">
              <a:lnSpc>
                <a:spcPct val="140000"/>
              </a:lnSpc>
              <a:buNone/>
            </a:pPr>
            <a:r>
              <a:rPr lang="en-US" altLang="zh-CN" dirty="0">
                <a:solidFill>
                  <a:srgbClr val="0000CC"/>
                </a:solidFill>
                <a:latin typeface="Arial" panose="020B0604020202020204" pitchFamily="34" charset="0"/>
              </a:rPr>
              <a:t>8.1  </a:t>
            </a:r>
            <a:r>
              <a:rPr lang="zh-CN" altLang="en-US" dirty="0">
                <a:solidFill>
                  <a:srgbClr val="0000CC"/>
                </a:solidFill>
                <a:latin typeface="Arial" panose="020B0604020202020204" pitchFamily="34" charset="0"/>
              </a:rPr>
              <a:t>事务的基本概念</a:t>
            </a:r>
            <a:endParaRPr lang="zh-CN" altLang="en-US" dirty="0">
              <a:solidFill>
                <a:srgbClr val="0000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8.2  </a:t>
            </a:r>
            <a:r>
              <a:rPr lang="zh-CN" altLang="en-US" dirty="0">
                <a:latin typeface="Arial" panose="020B0604020202020204" pitchFamily="34" charset="0"/>
              </a:rPr>
              <a:t>事务的并发执行与调度</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8.3  </a:t>
            </a:r>
            <a:r>
              <a:rPr lang="zh-CN" altLang="en-US" dirty="0">
                <a:latin typeface="Arial" panose="020B0604020202020204" pitchFamily="34" charset="0"/>
              </a:rPr>
              <a:t>基于锁的并发控制</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8.4  </a:t>
            </a:r>
            <a:r>
              <a:rPr lang="zh-CN" altLang="en-US" dirty="0"/>
              <a:t>数据库恢复</a:t>
            </a:r>
            <a:endParaRPr lang="zh-CN" altLang="en-US" dirty="0"/>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noChangeArrowheads="1"/>
          </p:cNvSpPr>
          <p:nvPr>
            <p:ph idx="1"/>
          </p:nvPr>
        </p:nvSpPr>
        <p:spPr>
          <a:xfrm>
            <a:off x="60325" y="1052513"/>
            <a:ext cx="8991600" cy="5273675"/>
          </a:xfrm>
        </p:spPr>
        <p:txBody>
          <a:bodyPr vert="horz" wrap="square" lIns="91440" tIns="45720" rIns="91440" bIns="45720" numCol="1" anchor="t" anchorCtr="0" compatLnSpc="1"/>
          <a:lstStyle/>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引例</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60680" marR="0" lvl="0" indent="-360680" algn="l" defTabSz="914400" rtl="0" eaLnBrk="1" fontAlgn="base" latinLnBrk="0" hangingPunct="1">
              <a:lnSpc>
                <a:spcPct val="100000"/>
              </a:lnSpc>
              <a:spcBef>
                <a:spcPct val="35000"/>
              </a:spcBef>
              <a:spcAft>
                <a:spcPct val="0"/>
              </a:spcAft>
              <a:buClr>
                <a:srgbClr val="FF0000"/>
              </a:buClr>
              <a:buSzPct val="65000"/>
              <a:buFont typeface="Wingdings" panose="05000000000000000000" pitchFamily="2" charset="2"/>
              <a:buNone/>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银行转帐业务“由</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帐户</a:t>
            </a:r>
            <a:r>
              <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A</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转移</a:t>
            </a:r>
            <a:r>
              <a:rPr kumimoji="0" lang="zh-CN" altLang="en-US" sz="3600" b="1" i="0" u="none" strike="noStrike" kern="0" cap="none" spc="0" normalizeH="0" baseline="0" noProof="0" dirty="0" smtClean="0">
                <a:ln>
                  <a:noFill/>
                </a:ln>
                <a:solidFill>
                  <a:srgbClr val="CC3300"/>
                </a:solidFill>
                <a:effectLst/>
                <a:uLnTx/>
                <a:uFillTx/>
                <a:latin typeface="Arial" panose="020B0604020202020204" pitchFamily="34" charset="0"/>
                <a:ea typeface="+mn-ea"/>
                <a:cs typeface="+mn-cs"/>
              </a:rPr>
              <a:t>资金</a:t>
            </a:r>
            <a:r>
              <a:rPr kumimoji="0" lang="en-US" altLang="zh-CN" sz="3600" b="1" i="0" u="none" strike="noStrike" kern="0" cap="none" spc="0" normalizeH="0" baseline="0" noProof="0" dirty="0" smtClean="0">
                <a:ln>
                  <a:noFill/>
                </a:ln>
                <a:solidFill>
                  <a:srgbClr val="CC3300"/>
                </a:solidFill>
                <a:effectLst/>
                <a:uLnTx/>
                <a:uFillTx/>
                <a:latin typeface="Arial" panose="020B0604020202020204" pitchFamily="34" charset="0"/>
                <a:ea typeface="+mn-ea"/>
                <a:cs typeface="+mn-cs"/>
              </a:rPr>
              <a:t>X</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到</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帐户</a:t>
            </a:r>
            <a:r>
              <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B</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endPar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endPar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分解为两个动作：</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从帐户</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A</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中</a:t>
            </a:r>
            <a:r>
              <a:rPr kumimoji="0" lang="zh-CN" altLang="en-US" sz="3600" b="1" i="0" u="none" strike="noStrike" kern="0" cap="none" spc="0" normalizeH="0" baseline="0" noProof="0" dirty="0" smtClean="0">
                <a:ln>
                  <a:noFill/>
                </a:ln>
                <a:solidFill>
                  <a:srgbClr val="CC3300"/>
                </a:solidFill>
                <a:effectLst/>
                <a:uLnTx/>
                <a:uFillTx/>
                <a:latin typeface="Arial" panose="020B0604020202020204" pitchFamily="34" charset="0"/>
                <a:ea typeface="+mn-ea"/>
                <a:cs typeface="+mn-cs"/>
              </a:rPr>
              <a:t>减掉</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金额</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X</a:t>
            </a:r>
            <a:endPar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在帐户</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B</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中</a:t>
            </a:r>
            <a:r>
              <a:rPr kumimoji="0" lang="zh-CN" altLang="en-US" sz="3600" b="1" i="0" u="none" strike="noStrike" kern="0" cap="none" spc="0" normalizeH="0" baseline="0" noProof="0" dirty="0" smtClean="0">
                <a:ln>
                  <a:noFill/>
                </a:ln>
                <a:solidFill>
                  <a:srgbClr val="CC3300"/>
                </a:solidFill>
                <a:effectLst/>
                <a:uLnTx/>
                <a:uFillTx/>
                <a:latin typeface="Arial" panose="020B0604020202020204" pitchFamily="34" charset="0"/>
                <a:ea typeface="+mn-ea"/>
                <a:cs typeface="+mn-cs"/>
              </a:rPr>
              <a:t>加上</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金额</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rPr>
              <a:t>X</a:t>
            </a:r>
            <a:endPar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None/>
              <a:defRPr/>
            </a:pPr>
            <a:endParaRPr kumimoji="0" lang="en-US" altLang="zh-CN" sz="2400" b="1" i="0" u="none" strike="noStrike" kern="0" cap="none" spc="0" normalizeH="0" baseline="0" noProof="0" dirty="0" smtClean="0">
              <a:ln>
                <a:noFill/>
              </a:ln>
              <a:solidFill>
                <a:srgbClr val="000000"/>
              </a:solidFill>
              <a:effectLst/>
              <a:uLnTx/>
              <a:uFillTx/>
              <a:latin typeface="Arial" panose="020B0604020202020204" pitchFamily="34" charset="0"/>
              <a:ea typeface="+mn-ea"/>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这两个动作构成一个不可分割的整体。</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
        <p:nvSpPr>
          <p:cNvPr id="102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什么是事务</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(Transaction)</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idx="1"/>
          </p:nvPr>
        </p:nvSpPr>
        <p:spPr>
          <a:xfrm>
            <a:off x="179388" y="1052513"/>
            <a:ext cx="8812212" cy="5400675"/>
          </a:xfrm>
        </p:spPr>
        <p:txBody>
          <a:bodyPr vert="horz" wrap="square" lIns="91440" tIns="45720" rIns="91440" bIns="45720" anchor="t" anchorCtr="0"/>
          <a:p>
            <a:pPr eaLnBrk="1" hangingPunct="1"/>
            <a:r>
              <a:rPr lang="zh-CN" altLang="en-US" dirty="0">
                <a:solidFill>
                  <a:srgbClr val="FF0000"/>
                </a:solidFill>
                <a:latin typeface="Arial" panose="020B0604020202020204" pitchFamily="34" charset="0"/>
              </a:rPr>
              <a:t>事务</a:t>
            </a:r>
            <a:r>
              <a:rPr lang="zh-CN" altLang="en-US" dirty="0">
                <a:latin typeface="Arial" panose="020B0604020202020204" pitchFamily="34" charset="0"/>
              </a:rPr>
              <a:t>是用户定义的一个数据库操作序列，这些操作要么全做，要么全不做，是一个不可分割的操作单位</a:t>
            </a:r>
            <a:r>
              <a:rPr lang="zh-CN" altLang="en-US" dirty="0">
                <a:solidFill>
                  <a:srgbClr val="010103"/>
                </a:solidFill>
                <a:latin typeface="Arial" panose="020B0604020202020204" pitchFamily="34" charset="0"/>
              </a:rPr>
              <a:t>。</a:t>
            </a:r>
            <a:endParaRPr lang="zh-CN" altLang="en-US" dirty="0">
              <a:solidFill>
                <a:srgbClr val="010103"/>
              </a:solidFill>
              <a:latin typeface="Arial" panose="020B0604020202020204" pitchFamily="34" charset="0"/>
            </a:endParaRPr>
          </a:p>
          <a:p>
            <a:pPr eaLnBrk="1" hangingPunct="1">
              <a:spcBef>
                <a:spcPct val="35000"/>
              </a:spcBef>
            </a:pPr>
            <a:r>
              <a:rPr lang="en-US" altLang="zh-CN" dirty="0">
                <a:solidFill>
                  <a:srgbClr val="010103"/>
                </a:solidFill>
                <a:latin typeface="Arial" panose="020B0604020202020204" pitchFamily="34" charset="0"/>
              </a:rPr>
              <a:t>DBMS</a:t>
            </a:r>
            <a:r>
              <a:rPr lang="zh-CN" altLang="en-US" dirty="0">
                <a:solidFill>
                  <a:srgbClr val="010103"/>
                </a:solidFill>
                <a:latin typeface="Arial" panose="020B0604020202020204" pitchFamily="34" charset="0"/>
              </a:rPr>
              <a:t>的事务管理子系统负责事务的处理</a:t>
            </a:r>
            <a:endParaRPr lang="zh-CN" altLang="en-US" dirty="0">
              <a:solidFill>
                <a:srgbClr val="010103"/>
              </a:solidFill>
              <a:latin typeface="Arial" panose="020B0604020202020204" pitchFamily="34" charset="0"/>
            </a:endParaRPr>
          </a:p>
          <a:p>
            <a:pPr eaLnBrk="1" hangingPunct="1">
              <a:buNone/>
            </a:pPr>
            <a:endParaRPr lang="zh-CN" altLang="en-US" sz="2000" dirty="0">
              <a:solidFill>
                <a:srgbClr val="010103"/>
              </a:solidFill>
              <a:latin typeface="Arial" panose="020B0604020202020204" pitchFamily="34" charset="0"/>
            </a:endParaRPr>
          </a:p>
          <a:p>
            <a:pPr eaLnBrk="1" hangingPunct="1"/>
            <a:r>
              <a:rPr lang="zh-CN" altLang="en-US" dirty="0">
                <a:solidFill>
                  <a:srgbClr val="FF0000"/>
                </a:solidFill>
                <a:latin typeface="Arial" panose="020B0604020202020204" pitchFamily="34" charset="0"/>
              </a:rPr>
              <a:t>事务</a:t>
            </a:r>
            <a:r>
              <a:rPr lang="zh-CN" altLang="en-US" dirty="0">
                <a:latin typeface="Arial" panose="020B0604020202020204" pitchFamily="34" charset="0"/>
              </a:rPr>
              <a:t>和</a:t>
            </a:r>
            <a:r>
              <a:rPr lang="zh-CN" altLang="en-US" dirty="0">
                <a:solidFill>
                  <a:srgbClr val="FF0000"/>
                </a:solidFill>
                <a:latin typeface="Arial" panose="020B0604020202020204" pitchFamily="34" charset="0"/>
              </a:rPr>
              <a:t>程序</a:t>
            </a:r>
            <a:r>
              <a:rPr lang="zh-CN" altLang="en-US" dirty="0">
                <a:latin typeface="Arial" panose="020B0604020202020204" pitchFamily="34" charset="0"/>
              </a:rPr>
              <a:t>是两个概念</a:t>
            </a:r>
            <a:endParaRPr lang="zh-CN" altLang="en-US" dirty="0">
              <a:latin typeface="Arial" panose="020B0604020202020204" pitchFamily="34" charset="0"/>
            </a:endParaRPr>
          </a:p>
          <a:p>
            <a:pPr lvl="1" eaLnBrk="1" hangingPunct="1">
              <a:spcBef>
                <a:spcPct val="15000"/>
              </a:spcBef>
            </a:pPr>
            <a:r>
              <a:rPr lang="zh-CN" altLang="en-US" sz="3600" dirty="0">
                <a:latin typeface="Arial" panose="020B0604020202020204" pitchFamily="34" charset="0"/>
              </a:rPr>
              <a:t>一个事务可以是一条</a:t>
            </a:r>
            <a:r>
              <a:rPr lang="en-US" altLang="zh-CN" sz="3600" dirty="0">
                <a:latin typeface="Arial" panose="020B0604020202020204" pitchFamily="34" charset="0"/>
              </a:rPr>
              <a:t>SQL</a:t>
            </a:r>
            <a:r>
              <a:rPr lang="zh-CN" altLang="en-US" sz="3600" dirty="0">
                <a:latin typeface="Arial" panose="020B0604020202020204" pitchFamily="34" charset="0"/>
              </a:rPr>
              <a:t>语句、一组</a:t>
            </a:r>
            <a:r>
              <a:rPr lang="en-US" altLang="zh-CN" sz="3600" dirty="0">
                <a:latin typeface="Arial" panose="020B0604020202020204" pitchFamily="34" charset="0"/>
              </a:rPr>
              <a:t>SQL</a:t>
            </a:r>
            <a:r>
              <a:rPr lang="zh-CN" altLang="en-US" sz="3600" dirty="0">
                <a:latin typeface="Arial" panose="020B0604020202020204" pitchFamily="34" charset="0"/>
              </a:rPr>
              <a:t>语句或整个程序</a:t>
            </a:r>
            <a:endParaRPr lang="zh-CN" altLang="en-US" sz="3600" dirty="0">
              <a:latin typeface="Arial" panose="020B0604020202020204" pitchFamily="34" charset="0"/>
            </a:endParaRPr>
          </a:p>
          <a:p>
            <a:pPr lvl="1" eaLnBrk="1" hangingPunct="1">
              <a:spcBef>
                <a:spcPct val="0"/>
              </a:spcBef>
            </a:pPr>
            <a:r>
              <a:rPr lang="zh-CN" altLang="en-US" sz="3600" dirty="0">
                <a:latin typeface="Arial" panose="020B0604020202020204" pitchFamily="34" charset="0"/>
              </a:rPr>
              <a:t>一个应用程序通常包含多个事务</a:t>
            </a:r>
            <a:endParaRPr lang="zh-CN" altLang="en-US" dirty="0">
              <a:latin typeface="Arial" panose="020B0604020202020204" pitchFamily="34" charset="0"/>
            </a:endParaRPr>
          </a:p>
        </p:txBody>
      </p:sp>
      <p:sp>
        <p:nvSpPr>
          <p:cNvPr id="3532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什么是事务</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(Transaction)</a:t>
            </a:r>
            <a:endPar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8.1.2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事务执行的状态</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171" name="Oval 7"/>
          <p:cNvSpPr/>
          <p:nvPr/>
        </p:nvSpPr>
        <p:spPr>
          <a:xfrm>
            <a:off x="428625" y="2000250"/>
            <a:ext cx="2144713" cy="585788"/>
          </a:xfrm>
          <a:prstGeom prst="ellipse">
            <a:avLst/>
          </a:prstGeom>
          <a:solidFill>
            <a:srgbClr val="FFCCFF"/>
          </a:solidFill>
          <a:ln w="28575" cap="sq" cmpd="sng">
            <a:solidFill>
              <a:srgbClr val="0000CC"/>
            </a:solidFill>
            <a:prstDash val="solid"/>
            <a:headEnd type="none" w="sm" len="sm"/>
            <a:tailEnd type="none" w="sm" len="sm"/>
          </a:ln>
        </p:spPr>
        <p:txBody>
          <a:bodyPr wrap="none"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sz="3200" dirty="0">
                <a:solidFill>
                  <a:schemeClr val="bg2"/>
                </a:solidFill>
                <a:latin typeface="Tahoma" panose="020B0604030504040204" pitchFamily="34" charset="0"/>
              </a:rPr>
              <a:t>事务开始</a:t>
            </a:r>
            <a:endParaRPr lang="zh-CN" altLang="en-US" sz="3200" dirty="0">
              <a:solidFill>
                <a:schemeClr val="bg2"/>
              </a:solidFill>
              <a:latin typeface="Tahoma" panose="020B0604030504040204" pitchFamily="34" charset="0"/>
            </a:endParaRPr>
          </a:p>
        </p:txBody>
      </p:sp>
      <p:grpSp>
        <p:nvGrpSpPr>
          <p:cNvPr id="7172" name="组合 47"/>
          <p:cNvGrpSpPr/>
          <p:nvPr/>
        </p:nvGrpSpPr>
        <p:grpSpPr>
          <a:xfrm>
            <a:off x="71438" y="5233988"/>
            <a:ext cx="8847137" cy="695325"/>
            <a:chOff x="117475" y="4821241"/>
            <a:chExt cx="8847138" cy="695325"/>
          </a:xfrm>
        </p:grpSpPr>
        <p:sp>
          <p:nvSpPr>
            <p:cNvPr id="7189" name="Line 23"/>
            <p:cNvSpPr/>
            <p:nvPr/>
          </p:nvSpPr>
          <p:spPr>
            <a:xfrm>
              <a:off x="336260" y="4821241"/>
              <a:ext cx="8433877" cy="1588"/>
            </a:xfrm>
            <a:prstGeom prst="line">
              <a:avLst/>
            </a:prstGeom>
            <a:ln w="38100" cap="sq" cmpd="sng">
              <a:solidFill>
                <a:srgbClr val="FF3300"/>
              </a:solidFill>
              <a:prstDash val="solid"/>
              <a:headEnd type="none" w="sm" len="sm"/>
              <a:tailEnd type="arrow" w="med" len="med"/>
            </a:ln>
          </p:spPr>
        </p:sp>
        <p:sp>
          <p:nvSpPr>
            <p:cNvPr id="7190" name="Text Box 26"/>
            <p:cNvSpPr txBox="1"/>
            <p:nvPr/>
          </p:nvSpPr>
          <p:spPr>
            <a:xfrm>
              <a:off x="117475" y="4937128"/>
              <a:ext cx="2224319" cy="579438"/>
            </a:xfrm>
            <a:prstGeom prst="rect">
              <a:avLst/>
            </a:prstGeom>
            <a:noFill/>
            <a:ln w="12700">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zh-CN" altLang="en-US" sz="3200" dirty="0">
                  <a:solidFill>
                    <a:srgbClr val="FF3300"/>
                  </a:solidFill>
                  <a:latin typeface="Tahoma" panose="020B0604030504040204" pitchFamily="34" charset="0"/>
                </a:rPr>
                <a:t>事务的起点</a:t>
              </a:r>
              <a:endParaRPr lang="zh-CN" altLang="en-US" sz="3200" dirty="0">
                <a:solidFill>
                  <a:srgbClr val="FF3300"/>
                </a:solidFill>
                <a:latin typeface="Tahoma" panose="020B0604030504040204" pitchFamily="34" charset="0"/>
              </a:endParaRPr>
            </a:p>
          </p:txBody>
        </p:sp>
        <p:sp>
          <p:nvSpPr>
            <p:cNvPr id="7191" name="Text Box 27"/>
            <p:cNvSpPr txBox="1"/>
            <p:nvPr/>
          </p:nvSpPr>
          <p:spPr>
            <a:xfrm>
              <a:off x="6740294" y="4937128"/>
              <a:ext cx="2224319" cy="579438"/>
            </a:xfrm>
            <a:prstGeom prst="rect">
              <a:avLst/>
            </a:prstGeom>
            <a:noFill/>
            <a:ln w="12700">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zh-CN" altLang="en-US" sz="3200" dirty="0">
                  <a:solidFill>
                    <a:srgbClr val="FF3300"/>
                  </a:solidFill>
                  <a:latin typeface="Tahoma" panose="020B0604030504040204" pitchFamily="34" charset="0"/>
                </a:rPr>
                <a:t>事务的终点</a:t>
              </a:r>
              <a:endParaRPr lang="zh-CN" altLang="en-US" sz="3200" dirty="0">
                <a:solidFill>
                  <a:srgbClr val="FF3300"/>
                </a:solidFill>
                <a:latin typeface="Tahoma" panose="020B0604030504040204" pitchFamily="34" charset="0"/>
              </a:endParaRPr>
            </a:p>
          </p:txBody>
        </p:sp>
      </p:grpSp>
      <p:grpSp>
        <p:nvGrpSpPr>
          <p:cNvPr id="7173" name="组合 43"/>
          <p:cNvGrpSpPr/>
          <p:nvPr/>
        </p:nvGrpSpPr>
        <p:grpSpPr>
          <a:xfrm>
            <a:off x="2643188" y="2000250"/>
            <a:ext cx="2946400" cy="1785938"/>
            <a:chOff x="2642624" y="2000252"/>
            <a:chExt cx="2947527" cy="1785938"/>
          </a:xfrm>
        </p:grpSpPr>
        <p:sp>
          <p:nvSpPr>
            <p:cNvPr id="7185" name="Oval 5"/>
            <p:cNvSpPr/>
            <p:nvPr/>
          </p:nvSpPr>
          <p:spPr>
            <a:xfrm>
              <a:off x="3429644" y="2000252"/>
              <a:ext cx="2160507" cy="585788"/>
            </a:xfrm>
            <a:prstGeom prst="ellipse">
              <a:avLst/>
            </a:prstGeom>
            <a:solidFill>
              <a:srgbClr val="FFCCFF"/>
            </a:solidFill>
            <a:ln w="28575" cap="sq" cmpd="sng">
              <a:solidFill>
                <a:srgbClr val="0000CC"/>
              </a:solidFill>
              <a:prstDash val="solid"/>
              <a:headEnd type="none" w="sm" len="sm"/>
              <a:tailEnd type="none" w="sm" len="sm"/>
            </a:ln>
          </p:spPr>
          <p:txBody>
            <a:bodyPr wrap="none"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sz="3200" dirty="0">
                  <a:solidFill>
                    <a:schemeClr val="bg2"/>
                  </a:solidFill>
                  <a:latin typeface="Tahoma" panose="020B0604030504040204" pitchFamily="34" charset="0"/>
                </a:rPr>
                <a:t>事务执行</a:t>
              </a:r>
              <a:endParaRPr lang="zh-CN" altLang="en-US" sz="3200" dirty="0">
                <a:solidFill>
                  <a:schemeClr val="bg2"/>
                </a:solidFill>
                <a:latin typeface="Tahoma" panose="020B0604030504040204" pitchFamily="34" charset="0"/>
              </a:endParaRPr>
            </a:p>
          </p:txBody>
        </p:sp>
        <p:sp>
          <p:nvSpPr>
            <p:cNvPr id="7186" name="Line 14"/>
            <p:cNvSpPr/>
            <p:nvPr/>
          </p:nvSpPr>
          <p:spPr>
            <a:xfrm>
              <a:off x="2642624" y="2286002"/>
              <a:ext cx="787020" cy="22225"/>
            </a:xfrm>
            <a:prstGeom prst="line">
              <a:avLst/>
            </a:prstGeom>
            <a:ln w="28575" cap="sq" cmpd="sng">
              <a:solidFill>
                <a:srgbClr val="0000CC"/>
              </a:solidFill>
              <a:prstDash val="solid"/>
              <a:headEnd type="none" w="sm" len="sm"/>
              <a:tailEnd type="arrow" w="med" len="med"/>
            </a:ln>
          </p:spPr>
        </p:sp>
        <p:sp>
          <p:nvSpPr>
            <p:cNvPr id="7187" name="Text Box 22"/>
            <p:cNvSpPr txBox="1"/>
            <p:nvPr/>
          </p:nvSpPr>
          <p:spPr>
            <a:xfrm>
              <a:off x="3388622" y="2950064"/>
              <a:ext cx="906017" cy="836126"/>
            </a:xfrm>
            <a:prstGeom prst="rect">
              <a:avLst/>
            </a:prstGeom>
            <a:noFill/>
            <a:ln w="12700">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lnSpc>
                  <a:spcPts val="2900"/>
                </a:lnSpc>
                <a:buClrTx/>
                <a:buSzTx/>
                <a:buFontTx/>
                <a:buNone/>
              </a:pPr>
              <a:r>
                <a:rPr lang="zh-CN" altLang="en-US" sz="2800" dirty="0">
                  <a:solidFill>
                    <a:schemeClr val="bg2"/>
                  </a:solidFill>
                  <a:latin typeface="Tahoma" panose="020B0604030504040204" pitchFamily="34" charset="0"/>
                </a:rPr>
                <a:t>读写</a:t>
              </a:r>
              <a:endParaRPr lang="zh-CN" altLang="en-US" sz="2800" dirty="0">
                <a:solidFill>
                  <a:schemeClr val="bg2"/>
                </a:solidFill>
                <a:latin typeface="Tahoma" panose="020B0604030504040204" pitchFamily="34" charset="0"/>
              </a:endParaRPr>
            </a:p>
            <a:p>
              <a:pPr marL="0" lvl="0" indent="0" eaLnBrk="1" hangingPunct="1">
                <a:lnSpc>
                  <a:spcPts val="2900"/>
                </a:lnSpc>
                <a:buClrTx/>
                <a:buSzTx/>
                <a:buFontTx/>
                <a:buNone/>
              </a:pPr>
              <a:r>
                <a:rPr lang="zh-CN" altLang="en-US" sz="2800" dirty="0">
                  <a:solidFill>
                    <a:schemeClr val="bg2"/>
                  </a:solidFill>
                  <a:latin typeface="Tahoma" panose="020B0604030504040204" pitchFamily="34" charset="0"/>
                </a:rPr>
                <a:t>操作</a:t>
              </a:r>
              <a:endParaRPr lang="zh-CN" altLang="en-US" sz="2800" dirty="0">
                <a:solidFill>
                  <a:schemeClr val="bg2"/>
                </a:solidFill>
                <a:latin typeface="Tahoma" panose="020B0604030504040204" pitchFamily="34" charset="0"/>
              </a:endParaRPr>
            </a:p>
          </p:txBody>
        </p:sp>
        <p:cxnSp>
          <p:nvCxnSpPr>
            <p:cNvPr id="7188" name="AutoShape 29"/>
            <p:cNvCxnSpPr/>
            <p:nvPr/>
          </p:nvCxnSpPr>
          <p:spPr>
            <a:xfrm rot="-5400000" flipH="1">
              <a:off x="4117995" y="2354126"/>
              <a:ext cx="66675" cy="489229"/>
            </a:xfrm>
            <a:prstGeom prst="curvedConnector3">
              <a:avLst>
                <a:gd name="adj1" fmla="val 623333"/>
              </a:avLst>
            </a:prstGeom>
            <a:ln w="28575" cap="sq" cmpd="sng">
              <a:solidFill>
                <a:srgbClr val="0000CC"/>
              </a:solidFill>
              <a:prstDash val="solid"/>
              <a:headEnd type="none" w="sm" len="sm"/>
              <a:tailEnd type="arrow" w="med" len="med"/>
            </a:ln>
          </p:spPr>
        </p:cxnSp>
      </p:grpSp>
      <p:grpSp>
        <p:nvGrpSpPr>
          <p:cNvPr id="7174" name="组合 45"/>
          <p:cNvGrpSpPr/>
          <p:nvPr/>
        </p:nvGrpSpPr>
        <p:grpSpPr>
          <a:xfrm>
            <a:off x="4857750" y="2571750"/>
            <a:ext cx="3751263" cy="2357438"/>
            <a:chOff x="4857752" y="2090724"/>
            <a:chExt cx="3751335" cy="2357454"/>
          </a:xfrm>
        </p:grpSpPr>
        <p:sp>
          <p:nvSpPr>
            <p:cNvPr id="7182" name="Line 17"/>
            <p:cNvSpPr/>
            <p:nvPr/>
          </p:nvSpPr>
          <p:spPr>
            <a:xfrm>
              <a:off x="4857752" y="2090724"/>
              <a:ext cx="2286687" cy="1766903"/>
            </a:xfrm>
            <a:prstGeom prst="line">
              <a:avLst/>
            </a:prstGeom>
            <a:ln w="28575" cap="sq" cmpd="sng">
              <a:solidFill>
                <a:srgbClr val="0000CC"/>
              </a:solidFill>
              <a:prstDash val="solid"/>
              <a:headEnd type="none" w="sm" len="sm"/>
              <a:tailEnd type="arrow" w="med" len="med"/>
            </a:ln>
          </p:spPr>
        </p:sp>
        <p:sp>
          <p:nvSpPr>
            <p:cNvPr id="7183" name="Text Box 28"/>
            <p:cNvSpPr txBox="1"/>
            <p:nvPr/>
          </p:nvSpPr>
          <p:spPr>
            <a:xfrm>
              <a:off x="6500826" y="2643182"/>
              <a:ext cx="1266693" cy="836126"/>
            </a:xfrm>
            <a:prstGeom prst="rect">
              <a:avLst/>
            </a:prstGeom>
            <a:noFill/>
            <a:ln w="12700">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lnSpc>
                  <a:spcPts val="2900"/>
                </a:lnSpc>
                <a:buClrTx/>
                <a:buSzTx/>
                <a:buFontTx/>
                <a:buNone/>
              </a:pPr>
              <a:r>
                <a:rPr lang="zh-CN" altLang="en-US" sz="2800" dirty="0">
                  <a:solidFill>
                    <a:schemeClr val="bg2"/>
                  </a:solidFill>
                  <a:latin typeface="Tahoma" panose="020B0604030504040204" pitchFamily="34" charset="0"/>
                </a:rPr>
                <a:t>非正常</a:t>
              </a:r>
              <a:endParaRPr lang="en-US" altLang="zh-CN" sz="2800" dirty="0">
                <a:solidFill>
                  <a:schemeClr val="bg2"/>
                </a:solidFill>
                <a:latin typeface="Tahoma" panose="020B0604030504040204" pitchFamily="34" charset="0"/>
              </a:endParaRPr>
            </a:p>
            <a:p>
              <a:pPr marL="0" lvl="0" indent="0" eaLnBrk="1" hangingPunct="1">
                <a:lnSpc>
                  <a:spcPts val="2900"/>
                </a:lnSpc>
                <a:buClrTx/>
                <a:buSzTx/>
                <a:buFontTx/>
                <a:buNone/>
              </a:pPr>
              <a:r>
                <a:rPr lang="zh-CN" altLang="en-US" sz="2800" dirty="0">
                  <a:solidFill>
                    <a:schemeClr val="bg2"/>
                  </a:solidFill>
                  <a:latin typeface="Tahoma" panose="020B0604030504040204" pitchFamily="34" charset="0"/>
                </a:rPr>
                <a:t>结束</a:t>
              </a:r>
              <a:endParaRPr lang="zh-CN" altLang="en-US" sz="2800" dirty="0">
                <a:solidFill>
                  <a:schemeClr val="bg2"/>
                </a:solidFill>
                <a:latin typeface="Tahoma" panose="020B0604030504040204" pitchFamily="34" charset="0"/>
              </a:endParaRPr>
            </a:p>
          </p:txBody>
        </p:sp>
        <p:sp>
          <p:nvSpPr>
            <p:cNvPr id="7184" name="Oval 5"/>
            <p:cNvSpPr/>
            <p:nvPr/>
          </p:nvSpPr>
          <p:spPr>
            <a:xfrm>
              <a:off x="6448580" y="3862390"/>
              <a:ext cx="2160507" cy="585788"/>
            </a:xfrm>
            <a:prstGeom prst="ellipse">
              <a:avLst/>
            </a:prstGeom>
            <a:solidFill>
              <a:srgbClr val="FFCCFF"/>
            </a:solidFill>
            <a:ln w="28575" cap="sq" cmpd="sng">
              <a:solidFill>
                <a:srgbClr val="0000CC"/>
              </a:solidFill>
              <a:prstDash val="solid"/>
              <a:headEnd type="none" w="sm" len="sm"/>
              <a:tailEnd type="none" w="sm" len="sm"/>
            </a:ln>
          </p:spPr>
          <p:txBody>
            <a:bodyPr wrap="none"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sz="3200" dirty="0">
                  <a:solidFill>
                    <a:schemeClr val="bg2"/>
                  </a:solidFill>
                  <a:latin typeface="Tahoma" panose="020B0604030504040204" pitchFamily="34" charset="0"/>
                </a:rPr>
                <a:t>事务回滚</a:t>
              </a:r>
              <a:endParaRPr lang="zh-CN" altLang="en-US" sz="3200" dirty="0">
                <a:solidFill>
                  <a:schemeClr val="bg2"/>
                </a:solidFill>
                <a:latin typeface="Tahoma" panose="020B0604030504040204" pitchFamily="34" charset="0"/>
              </a:endParaRPr>
            </a:p>
          </p:txBody>
        </p:sp>
      </p:grpSp>
      <p:grpSp>
        <p:nvGrpSpPr>
          <p:cNvPr id="7175" name="组合 44"/>
          <p:cNvGrpSpPr/>
          <p:nvPr/>
        </p:nvGrpSpPr>
        <p:grpSpPr>
          <a:xfrm>
            <a:off x="5572125" y="1306513"/>
            <a:ext cx="3071813" cy="1279525"/>
            <a:chOff x="5571919" y="1306990"/>
            <a:chExt cx="3072113" cy="1279050"/>
          </a:xfrm>
        </p:grpSpPr>
        <p:sp>
          <p:nvSpPr>
            <p:cNvPr id="7179" name="Text Box 15"/>
            <p:cNvSpPr txBox="1"/>
            <p:nvPr/>
          </p:nvSpPr>
          <p:spPr>
            <a:xfrm>
              <a:off x="5571919" y="1306990"/>
              <a:ext cx="906017" cy="836126"/>
            </a:xfrm>
            <a:prstGeom prst="rect">
              <a:avLst/>
            </a:prstGeom>
            <a:noFill/>
            <a:ln w="12700">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lnSpc>
                  <a:spcPts val="2900"/>
                </a:lnSpc>
                <a:buClrTx/>
                <a:buSzTx/>
                <a:buFontTx/>
                <a:buNone/>
              </a:pPr>
              <a:r>
                <a:rPr lang="zh-CN" altLang="en-US" sz="2800" dirty="0">
                  <a:solidFill>
                    <a:schemeClr val="bg2"/>
                  </a:solidFill>
                  <a:latin typeface="Tahoma" panose="020B0604030504040204" pitchFamily="34" charset="0"/>
                </a:rPr>
                <a:t>正常</a:t>
              </a:r>
              <a:endParaRPr lang="en-US" altLang="zh-CN" sz="2800" dirty="0">
                <a:solidFill>
                  <a:schemeClr val="bg2"/>
                </a:solidFill>
                <a:latin typeface="Tahoma" panose="020B0604030504040204" pitchFamily="34" charset="0"/>
              </a:endParaRPr>
            </a:p>
            <a:p>
              <a:pPr marL="0" lvl="0" indent="0" eaLnBrk="1" hangingPunct="1">
                <a:lnSpc>
                  <a:spcPts val="2900"/>
                </a:lnSpc>
                <a:buClrTx/>
                <a:buSzTx/>
                <a:buFontTx/>
                <a:buNone/>
              </a:pPr>
              <a:r>
                <a:rPr lang="zh-CN" altLang="en-US" sz="2800" dirty="0">
                  <a:solidFill>
                    <a:schemeClr val="bg2"/>
                  </a:solidFill>
                  <a:latin typeface="Tahoma" panose="020B0604030504040204" pitchFamily="34" charset="0"/>
                </a:rPr>
                <a:t>结束</a:t>
              </a:r>
              <a:endParaRPr lang="zh-CN" altLang="en-US" sz="2800" dirty="0">
                <a:solidFill>
                  <a:schemeClr val="bg2"/>
                </a:solidFill>
                <a:latin typeface="Tahoma" panose="020B0604030504040204" pitchFamily="34" charset="0"/>
              </a:endParaRPr>
            </a:p>
          </p:txBody>
        </p:sp>
        <p:sp>
          <p:nvSpPr>
            <p:cNvPr id="7180" name="Oval 5"/>
            <p:cNvSpPr/>
            <p:nvPr/>
          </p:nvSpPr>
          <p:spPr>
            <a:xfrm>
              <a:off x="6483525" y="2000252"/>
              <a:ext cx="2160507" cy="585788"/>
            </a:xfrm>
            <a:prstGeom prst="ellipse">
              <a:avLst/>
            </a:prstGeom>
            <a:solidFill>
              <a:srgbClr val="FFCCFF"/>
            </a:solidFill>
            <a:ln w="28575" cap="sq" cmpd="sng">
              <a:solidFill>
                <a:srgbClr val="0000CC"/>
              </a:solidFill>
              <a:prstDash val="solid"/>
              <a:headEnd type="none" w="sm" len="sm"/>
              <a:tailEnd type="none" w="sm" len="sm"/>
            </a:ln>
          </p:spPr>
          <p:txBody>
            <a:bodyPr wrap="none"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sz="3200" dirty="0">
                  <a:solidFill>
                    <a:schemeClr val="bg2"/>
                  </a:solidFill>
                  <a:latin typeface="Tahoma" panose="020B0604030504040204" pitchFamily="34" charset="0"/>
                </a:rPr>
                <a:t>事务提交</a:t>
              </a:r>
              <a:endParaRPr lang="zh-CN" altLang="en-US" sz="3200" dirty="0">
                <a:solidFill>
                  <a:schemeClr val="bg2"/>
                </a:solidFill>
                <a:latin typeface="Tahoma" panose="020B0604030504040204" pitchFamily="34" charset="0"/>
              </a:endParaRPr>
            </a:p>
          </p:txBody>
        </p:sp>
        <p:sp>
          <p:nvSpPr>
            <p:cNvPr id="7181" name="Line 14"/>
            <p:cNvSpPr/>
            <p:nvPr/>
          </p:nvSpPr>
          <p:spPr>
            <a:xfrm>
              <a:off x="5643020" y="2286002"/>
              <a:ext cx="787020" cy="22225"/>
            </a:xfrm>
            <a:prstGeom prst="line">
              <a:avLst/>
            </a:prstGeom>
            <a:ln w="28575" cap="sq" cmpd="sng">
              <a:solidFill>
                <a:srgbClr val="0000CC"/>
              </a:solidFill>
              <a:prstDash val="solid"/>
              <a:headEnd type="none" w="sm" len="sm"/>
              <a:tailEnd type="arrow" w="med" len="med"/>
            </a:ln>
          </p:spPr>
        </p:sp>
      </p:grpSp>
      <p:grpSp>
        <p:nvGrpSpPr>
          <p:cNvPr id="7176" name="组合 46"/>
          <p:cNvGrpSpPr/>
          <p:nvPr/>
        </p:nvGrpSpPr>
        <p:grpSpPr>
          <a:xfrm>
            <a:off x="1417638" y="2617788"/>
            <a:ext cx="5030787" cy="2019300"/>
            <a:chOff x="1418090" y="2618258"/>
            <a:chExt cx="5030490" cy="2018046"/>
          </a:xfrm>
        </p:grpSpPr>
        <p:cxnSp>
          <p:nvCxnSpPr>
            <p:cNvPr id="7177" name="直接连接符 39"/>
            <p:cNvCxnSpPr>
              <a:stCxn id="7184" idx="2"/>
            </p:cNvCxnSpPr>
            <p:nvPr/>
          </p:nvCxnSpPr>
          <p:spPr>
            <a:xfrm rot="10800000">
              <a:off x="1428728" y="4624400"/>
              <a:ext cx="5019852" cy="11904"/>
            </a:xfrm>
            <a:prstGeom prst="line">
              <a:avLst/>
            </a:prstGeom>
            <a:ln w="28575" cap="flat" cmpd="sng">
              <a:solidFill>
                <a:srgbClr val="0033CC"/>
              </a:solidFill>
              <a:prstDash val="solid"/>
              <a:headEnd type="none" w="med" len="med"/>
              <a:tailEnd type="none" w="med" len="med"/>
            </a:ln>
          </p:spPr>
        </p:cxnSp>
        <p:cxnSp>
          <p:nvCxnSpPr>
            <p:cNvPr id="7178" name="直接箭头连接符 41"/>
            <p:cNvCxnSpPr/>
            <p:nvPr/>
          </p:nvCxnSpPr>
          <p:spPr>
            <a:xfrm rot="-5400000" flipV="1">
              <a:off x="423674" y="3612674"/>
              <a:ext cx="1999470" cy="10638"/>
            </a:xfrm>
            <a:prstGeom prst="straightConnector1">
              <a:avLst/>
            </a:prstGeom>
            <a:ln w="28575" cap="flat" cmpd="sng">
              <a:solidFill>
                <a:srgbClr val="0033CC"/>
              </a:solidFill>
              <a:prstDash val="solid"/>
              <a:headEnd type="none" w="med" len="med"/>
              <a:tailEnd type="arrow" w="med" len="med"/>
            </a:ln>
          </p:spPr>
        </p:cxnSp>
      </p:grpSp>
    </p:spTree>
  </p:cSld>
  <p:clrMapOvr>
    <a:masterClrMapping/>
  </p:clrMapOvr>
  <p:transition>
    <p:random/>
    <p:sndAc>
      <p:stSnd>
        <p:snd r:embed="rId1"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2" name="Rectangle 4"/>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8.1.3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事务控制语句</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195" name="Rectangle 10"/>
          <p:cNvSpPr/>
          <p:nvPr/>
        </p:nvSpPr>
        <p:spPr>
          <a:xfrm>
            <a:off x="152400" y="992188"/>
            <a:ext cx="8848725" cy="5222875"/>
          </a:xfrm>
          <a:prstGeom prst="rect">
            <a:avLst/>
          </a:prstGeom>
          <a:noFill/>
          <a:ln w="952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360680" lvl="0" indent="-360680" eaLnBrk="1" hangingPunct="1">
              <a:buNone/>
            </a:pPr>
            <a:r>
              <a:rPr lang="en-US" altLang="zh-CN" dirty="0">
                <a:latin typeface="Arial" panose="020B0604020202020204" pitchFamily="34" charset="0"/>
              </a:rPr>
              <a:t>SQL</a:t>
            </a:r>
            <a:r>
              <a:rPr lang="zh-CN" altLang="en-US" dirty="0">
                <a:latin typeface="Arial" panose="020B0604020202020204" pitchFamily="34" charset="0"/>
              </a:rPr>
              <a:t>的三条事务控制语句：</a:t>
            </a:r>
            <a:endParaRPr lang="en-US" altLang="zh-CN" dirty="0">
              <a:latin typeface="Arial" panose="020B0604020202020204" pitchFamily="34" charset="0"/>
            </a:endParaRPr>
          </a:p>
          <a:p>
            <a:pPr marL="360680" lvl="0" indent="-360680" eaLnBrk="1" hangingPunct="1">
              <a:spcBef>
                <a:spcPts val="1800"/>
              </a:spcBef>
              <a:buFont typeface="Wingdings" panose="05000000000000000000" pitchFamily="2" charset="2"/>
              <a:buChar char="n"/>
            </a:pPr>
            <a:r>
              <a:rPr lang="zh-CN" altLang="en-US" dirty="0"/>
              <a:t>事务开始：</a:t>
            </a:r>
            <a:endParaRPr lang="en-US" altLang="zh-CN" dirty="0"/>
          </a:p>
          <a:p>
            <a:pPr marL="360680" lvl="0" indent="-360680" eaLnBrk="1" hangingPunct="1">
              <a:buFontTx/>
              <a:buNone/>
            </a:pPr>
            <a:r>
              <a:rPr lang="en-US" altLang="zh-CN" dirty="0"/>
              <a:t>             </a:t>
            </a:r>
            <a:r>
              <a:rPr lang="en-US" altLang="zh-CN" dirty="0">
                <a:latin typeface="Arial" panose="020B0604020202020204" pitchFamily="34" charset="0"/>
              </a:rPr>
              <a:t>BEGIN  TRANSACTION</a:t>
            </a:r>
            <a:endParaRPr lang="en-US" altLang="zh-CN" dirty="0">
              <a:latin typeface="Arial" panose="020B0604020202020204" pitchFamily="34" charset="0"/>
            </a:endParaRPr>
          </a:p>
          <a:p>
            <a:pPr marL="360680" lvl="0" indent="-360680" eaLnBrk="1" hangingPunct="1">
              <a:buFont typeface="Wingdings" panose="05000000000000000000" pitchFamily="2" charset="2"/>
              <a:buChar char="n"/>
            </a:pPr>
            <a:r>
              <a:rPr lang="zh-CN" altLang="en-US" dirty="0"/>
              <a:t>事务提交：</a:t>
            </a:r>
            <a:endParaRPr lang="en-US" altLang="zh-CN" dirty="0"/>
          </a:p>
          <a:p>
            <a:pPr marL="360680" lvl="0" indent="-360680" eaLnBrk="1" hangingPunct="1">
              <a:buFontTx/>
              <a:buNone/>
            </a:pPr>
            <a:r>
              <a:rPr lang="en-US" altLang="zh-CN" dirty="0">
                <a:latin typeface="Arial" panose="020B0604020202020204" pitchFamily="34" charset="0"/>
              </a:rPr>
              <a:t>            COMMIT  TRANSACTION</a:t>
            </a:r>
            <a:endParaRPr lang="en-US" altLang="zh-CN" dirty="0">
              <a:latin typeface="Arial" panose="020B0604020202020204" pitchFamily="34" charset="0"/>
            </a:endParaRPr>
          </a:p>
          <a:p>
            <a:pPr marL="360680" lvl="0" indent="-360680" eaLnBrk="1" hangingPunct="1">
              <a:buFont typeface="Wingdings" panose="05000000000000000000" pitchFamily="2" charset="2"/>
              <a:buChar char="n"/>
            </a:pPr>
            <a:r>
              <a:rPr lang="zh-CN" altLang="en-US" dirty="0"/>
              <a:t>事务回滚：</a:t>
            </a:r>
            <a:endParaRPr lang="en-US" altLang="zh-CN" dirty="0"/>
          </a:p>
          <a:p>
            <a:pPr marL="360680" lvl="0" indent="-360680" eaLnBrk="1" hangingPunct="1">
              <a:buFontTx/>
              <a:buNone/>
            </a:pPr>
            <a:r>
              <a:rPr lang="en-US" altLang="zh-CN" dirty="0">
                <a:latin typeface="Arial" panose="020B0604020202020204" pitchFamily="34" charset="0"/>
              </a:rPr>
              <a:t>            ROLLBACK  TRANSACTION </a:t>
            </a:r>
            <a:endParaRPr lang="en-US" altLang="zh-CN" dirty="0"/>
          </a:p>
          <a:p>
            <a:pPr marL="360680" lvl="0" indent="-360680" eaLnBrk="1" hangingPunct="1">
              <a:buFontTx/>
              <a:buNone/>
            </a:pPr>
            <a:endParaRPr lang="en-US" altLang="zh-CN" dirty="0">
              <a:solidFill>
                <a:srgbClr val="0033CC"/>
              </a:solidFill>
            </a:endParaRPr>
          </a:p>
          <a:p>
            <a:pPr marL="360680" lvl="0" indent="-360680" eaLnBrk="1" hangingPunct="1">
              <a:buNone/>
            </a:pPr>
            <a:r>
              <a:rPr lang="en-US" altLang="zh-CN" dirty="0"/>
              <a:t>     </a:t>
            </a:r>
            <a:endParaRPr lang="zh-CN" altLang="en-US" dirty="0"/>
          </a:p>
        </p:txBody>
      </p:sp>
    </p:spTree>
  </p:cSld>
  <p:clrMapOvr>
    <a:masterClrMapping/>
  </p:clrMapOvr>
  <p:transition>
    <p:random/>
    <p:sndAc>
      <p:stSnd>
        <p:snd r:embed="rId1"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2" name="Rectangle 4"/>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8.1.3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事务控制语句</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55336" name="Rectangle 8"/>
          <p:cNvSpPr>
            <a:spLocks noGrp="1" noChangeArrowheads="1"/>
          </p:cNvSpPr>
          <p:nvPr>
            <p:ph sz="half" idx="1"/>
          </p:nvPr>
        </p:nvSpPr>
        <p:spPr>
          <a:xfrm>
            <a:off x="684213" y="2419350"/>
            <a:ext cx="6459538" cy="1866900"/>
          </a:xfrm>
          <a:ln>
            <a:solidFill>
              <a:srgbClr val="FF0000"/>
            </a:solidFill>
          </a:ln>
        </p:spPr>
        <p:txBody>
          <a:bodyPr vert="horz" wrap="square" lIns="91440" tIns="45720" rIns="91440" bIns="45720" numCol="1" anchor="t" anchorCtr="0" compatLnSpc="1"/>
          <a:lstStyle/>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33CC"/>
                </a:solidFill>
                <a:effectLst/>
                <a:uLnTx/>
                <a:uFillTx/>
                <a:latin typeface="+mn-lt"/>
                <a:ea typeface="+mn-ea"/>
                <a:cs typeface="+mn-cs"/>
              </a:rPr>
              <a:t>  </a:t>
            </a:r>
            <a:r>
              <a:rPr kumimoji="0" lang="en-US" altLang="zh-CN" sz="3200" b="1" i="0" u="none" strike="noStrike" kern="0" cap="none" spc="0" normalizeH="0" baseline="0" noProof="0" dirty="0" smtClean="0">
                <a:ln>
                  <a:noFill/>
                </a:ln>
                <a:solidFill>
                  <a:srgbClr val="0033CC"/>
                </a:solidFill>
                <a:effectLst/>
                <a:uLnTx/>
                <a:uFillTx/>
                <a:latin typeface="+mj-lt"/>
                <a:ea typeface="+mn-ea"/>
                <a:cs typeface="+mn-cs"/>
              </a:rPr>
              <a:t>BEGIN  TRANSACTION</a:t>
            </a:r>
            <a:endParaRPr kumimoji="0" lang="en-US" altLang="zh-CN" sz="3200" b="1" i="0" u="none" strike="noStrike" kern="0" cap="none" spc="0" normalizeH="0" baseline="0" noProof="0" dirty="0" smtClean="0">
              <a:ln>
                <a:noFill/>
              </a:ln>
              <a:solidFill>
                <a:srgbClr val="0033CC"/>
              </a:solidFill>
              <a:effectLst/>
              <a:uLnTx/>
              <a:uFillTx/>
              <a:latin typeface="+mj-lt"/>
              <a:ea typeface="+mn-ea"/>
              <a:cs typeface="+mn-cs"/>
            </a:endParaRPr>
          </a:p>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mj-lt"/>
                <a:ea typeface="+mn-ea"/>
                <a:cs typeface="+mn-cs"/>
              </a:rPr>
              <a:t>  SQL</a:t>
            </a:r>
            <a:r>
              <a:rPr kumimoji="0" lang="zh-CN" altLang="en-US" sz="3200" b="1" i="0" u="none" strike="noStrike" kern="0" cap="none" spc="0" normalizeH="0" baseline="0" noProof="0" dirty="0" smtClean="0">
                <a:ln>
                  <a:noFill/>
                </a:ln>
                <a:solidFill>
                  <a:srgbClr val="000000"/>
                </a:solidFill>
                <a:effectLst/>
                <a:uLnTx/>
                <a:uFillTx/>
                <a:latin typeface="+mj-lt"/>
                <a:ea typeface="+mn-ea"/>
                <a:cs typeface="+mn-cs"/>
              </a:rPr>
              <a:t>语句</a:t>
            </a:r>
            <a:endParaRPr kumimoji="0" lang="zh-CN" altLang="en-US" sz="32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3200" b="1" i="0" u="none" strike="noStrike" kern="0" cap="none" spc="0" normalizeH="0" baseline="0" noProof="0" dirty="0" smtClean="0">
                <a:ln>
                  <a:noFill/>
                </a:ln>
                <a:solidFill>
                  <a:srgbClr val="000000"/>
                </a:solidFill>
                <a:effectLst/>
                <a:uLnTx/>
                <a:uFillTx/>
                <a:latin typeface="+mj-lt"/>
                <a:ea typeface="+mn-ea"/>
                <a:cs typeface="+mn-cs"/>
              </a:rPr>
              <a:t>……</a:t>
            </a:r>
            <a:endParaRPr kumimoji="0" lang="en-US" altLang="zh-CN" sz="32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33CC"/>
                </a:solidFill>
                <a:effectLst/>
                <a:uLnTx/>
                <a:uFillTx/>
                <a:latin typeface="+mj-lt"/>
                <a:ea typeface="+mn-ea"/>
                <a:cs typeface="+mn-cs"/>
              </a:rPr>
              <a:t>  COMMIT  TRANSACTION</a:t>
            </a:r>
            <a:endParaRPr kumimoji="0" lang="en-US" altLang="zh-CN" sz="3200" b="1" i="0" u="none" strike="noStrike" kern="0" cap="none" spc="0" normalizeH="0" baseline="0" noProof="0" dirty="0" smtClean="0">
              <a:ln>
                <a:noFill/>
              </a:ln>
              <a:solidFill>
                <a:srgbClr val="0033CC"/>
              </a:solidFill>
              <a:effectLst/>
              <a:uLnTx/>
              <a:uFillTx/>
              <a:latin typeface="+mj-lt"/>
              <a:ea typeface="+mn-ea"/>
              <a:cs typeface="+mn-cs"/>
            </a:endParaRPr>
          </a:p>
        </p:txBody>
      </p:sp>
      <p:sp>
        <p:nvSpPr>
          <p:cNvPr id="355337" name="Rectangle 9"/>
          <p:cNvSpPr>
            <a:spLocks noGrp="1" noChangeArrowheads="1"/>
          </p:cNvSpPr>
          <p:nvPr>
            <p:ph sz="half" idx="2"/>
          </p:nvPr>
        </p:nvSpPr>
        <p:spPr>
          <a:xfrm>
            <a:off x="715963" y="4508500"/>
            <a:ext cx="6427788" cy="1849438"/>
          </a:xfrm>
          <a:ln>
            <a:solidFill>
              <a:srgbClr val="FF6600"/>
            </a:solidFill>
          </a:ln>
        </p:spPr>
        <p:txBody>
          <a:bodyPr vert="horz" wrap="square" lIns="91440" tIns="45720" rIns="91440" bIns="45720" numCol="1" anchor="t" anchorCtr="0" compatLnSpc="1"/>
          <a:lstStyle/>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33CC"/>
                </a:solidFill>
                <a:effectLst/>
                <a:uLnTx/>
                <a:uFillTx/>
                <a:latin typeface="+mj-lt"/>
                <a:ea typeface="+mn-ea"/>
                <a:cs typeface="+mn-cs"/>
              </a:rPr>
              <a:t>  BEGIN  TRANSACTION</a:t>
            </a:r>
            <a:endParaRPr kumimoji="0" lang="en-US" altLang="zh-CN" sz="3200" b="1" i="0" u="none" strike="noStrike" kern="0" cap="none" spc="0" normalizeH="0" baseline="0" noProof="0" dirty="0" smtClean="0">
              <a:ln>
                <a:noFill/>
              </a:ln>
              <a:solidFill>
                <a:srgbClr val="0033CC"/>
              </a:solidFill>
              <a:effectLst/>
              <a:uLnTx/>
              <a:uFillTx/>
              <a:latin typeface="+mj-lt"/>
              <a:ea typeface="+mn-ea"/>
              <a:cs typeface="+mn-cs"/>
            </a:endParaRPr>
          </a:p>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0000"/>
                </a:solidFill>
                <a:effectLst/>
                <a:uLnTx/>
                <a:uFillTx/>
                <a:latin typeface="+mj-lt"/>
                <a:ea typeface="+mn-ea"/>
                <a:cs typeface="+mn-cs"/>
              </a:rPr>
              <a:t>  SQL</a:t>
            </a:r>
            <a:r>
              <a:rPr kumimoji="0" lang="zh-CN" altLang="en-US" sz="3200" b="1" i="0" u="none" strike="noStrike" kern="0" cap="none" spc="0" normalizeH="0" baseline="0" noProof="0" dirty="0" smtClean="0">
                <a:ln>
                  <a:noFill/>
                </a:ln>
                <a:solidFill>
                  <a:srgbClr val="000000"/>
                </a:solidFill>
                <a:effectLst/>
                <a:uLnTx/>
                <a:uFillTx/>
                <a:latin typeface="+mj-lt"/>
                <a:ea typeface="+mn-ea"/>
                <a:cs typeface="+mn-cs"/>
              </a:rPr>
              <a:t>语句</a:t>
            </a:r>
            <a:endParaRPr kumimoji="0" lang="zh-CN" altLang="en-US" sz="32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3200" b="1" i="0" u="none" strike="noStrike" kern="0" cap="none" spc="0" normalizeH="0" baseline="0" noProof="0" dirty="0" smtClean="0">
                <a:ln>
                  <a:noFill/>
                </a:ln>
                <a:solidFill>
                  <a:srgbClr val="000000"/>
                </a:solidFill>
                <a:effectLst/>
                <a:uLnTx/>
                <a:uFillTx/>
                <a:latin typeface="+mj-lt"/>
                <a:ea typeface="+mn-ea"/>
                <a:cs typeface="+mn-cs"/>
              </a:rPr>
              <a:t>……</a:t>
            </a:r>
            <a:endParaRPr kumimoji="0" lang="en-US" altLang="zh-CN" sz="32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defRPr/>
            </a:pPr>
            <a:r>
              <a:rPr kumimoji="0" lang="en-US" altLang="zh-CN" sz="3200" b="1" i="0" u="none" strike="noStrike" kern="0" cap="none" spc="0" normalizeH="0" baseline="0" noProof="0" dirty="0" smtClean="0">
                <a:ln>
                  <a:noFill/>
                </a:ln>
                <a:solidFill>
                  <a:srgbClr val="0033CC"/>
                </a:solidFill>
                <a:effectLst/>
                <a:uLnTx/>
                <a:uFillTx/>
                <a:latin typeface="+mj-lt"/>
                <a:ea typeface="+mn-ea"/>
                <a:cs typeface="+mn-cs"/>
              </a:rPr>
              <a:t> ROLLBACK  TRANSACTION</a:t>
            </a:r>
            <a:endParaRPr kumimoji="0" lang="en-US" altLang="zh-CN" sz="3200" b="1" i="0" u="none" strike="noStrike" kern="0" cap="none" spc="0" normalizeH="0" baseline="0" noProof="0" dirty="0" smtClean="0">
              <a:ln>
                <a:noFill/>
              </a:ln>
              <a:solidFill>
                <a:srgbClr val="0033CC"/>
              </a:solidFill>
              <a:effectLst/>
              <a:uLnTx/>
              <a:uFillTx/>
              <a:latin typeface="+mj-lt"/>
              <a:ea typeface="+mn-ea"/>
              <a:cs typeface="+mn-cs"/>
            </a:endParaRPr>
          </a:p>
        </p:txBody>
      </p:sp>
      <p:sp>
        <p:nvSpPr>
          <p:cNvPr id="9221" name="Rectangle 10"/>
          <p:cNvSpPr/>
          <p:nvPr/>
        </p:nvSpPr>
        <p:spPr>
          <a:xfrm>
            <a:off x="152400" y="992188"/>
            <a:ext cx="8134350" cy="1222375"/>
          </a:xfrm>
          <a:prstGeom prst="rect">
            <a:avLst/>
          </a:prstGeom>
          <a:noFill/>
          <a:ln w="952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360680" lvl="0" indent="-360680" eaLnBrk="1" hangingPunct="1">
              <a:buNone/>
            </a:pPr>
            <a:r>
              <a:rPr lang="en-US" altLang="zh-CN" dirty="0">
                <a:solidFill>
                  <a:srgbClr val="0033CC"/>
                </a:solidFill>
                <a:latin typeface="Arial" panose="020B0604020202020204" pitchFamily="34" charset="0"/>
              </a:rPr>
              <a:t>(1) BEGIN  TRANSACTION</a:t>
            </a:r>
            <a:endParaRPr lang="en-US" altLang="zh-CN" dirty="0">
              <a:solidFill>
                <a:srgbClr val="0033CC"/>
              </a:solidFill>
              <a:latin typeface="Arial" panose="020B0604020202020204" pitchFamily="34" charset="0"/>
            </a:endParaRPr>
          </a:p>
          <a:p>
            <a:pPr marL="360680" lvl="0" indent="-360680" eaLnBrk="1" hangingPunct="1">
              <a:spcBef>
                <a:spcPts val="600"/>
              </a:spcBef>
              <a:buNone/>
            </a:pPr>
            <a:r>
              <a:rPr lang="en-US" altLang="zh-CN" dirty="0"/>
              <a:t>     </a:t>
            </a:r>
            <a:r>
              <a:rPr lang="zh-CN" altLang="en-US" dirty="0"/>
              <a:t>显式定义方式</a:t>
            </a:r>
            <a:endParaRPr lang="zh-CN" altLang="en-US" dirty="0"/>
          </a:p>
        </p:txBody>
      </p:sp>
    </p:spTree>
  </p:cSld>
  <p:clrMapOvr>
    <a:masterClrMapping/>
  </p:clrMapOvr>
  <p:transition>
    <p:random/>
    <p:sndAc>
      <p:stSnd>
        <p:snd r:embed="rId1"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363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事务控制语句</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0243" name="Rectangle 9"/>
          <p:cNvSpPr>
            <a:spLocks noGrp="1"/>
          </p:cNvSpPr>
          <p:nvPr>
            <p:ph idx="1"/>
          </p:nvPr>
        </p:nvSpPr>
        <p:spPr/>
        <p:txBody>
          <a:bodyPr vert="horz" wrap="square" lIns="91440" tIns="45720" rIns="91440" bIns="45720" anchor="t" anchorCtr="0"/>
          <a:p>
            <a:pPr eaLnBrk="1" hangingPunct="1">
              <a:buNone/>
            </a:pPr>
            <a:r>
              <a:rPr lang="zh-CN" altLang="en-US" sz="4000" dirty="0"/>
              <a:t>  隐式定义方式</a:t>
            </a:r>
            <a:endParaRPr lang="zh-CN" altLang="en-US" sz="4000" dirty="0"/>
          </a:p>
          <a:p>
            <a:pPr eaLnBrk="1" hangingPunct="1">
              <a:buNone/>
            </a:pPr>
            <a:r>
              <a:rPr lang="zh-CN" altLang="en-US" dirty="0"/>
              <a:t>           当用户没有显式定义事务，则有</a:t>
            </a:r>
            <a:r>
              <a:rPr lang="en-US" altLang="zh-CN" dirty="0"/>
              <a:t>DBMS</a:t>
            </a:r>
            <a:r>
              <a:rPr lang="zh-CN" altLang="en-US" dirty="0"/>
              <a:t>按缺省自动划分事务。例如：</a:t>
            </a:r>
            <a:endParaRPr lang="zh-CN" altLang="en-US" dirty="0"/>
          </a:p>
          <a:p>
            <a:pPr lvl="1" eaLnBrk="1" hangingPunct="1">
              <a:spcBef>
                <a:spcPct val="10000"/>
              </a:spcBef>
            </a:pPr>
            <a:r>
              <a:rPr lang="en-US" altLang="zh-CN" dirty="0"/>
              <a:t>CREATE</a:t>
            </a:r>
            <a:r>
              <a:rPr lang="zh-CN" altLang="en-US" dirty="0"/>
              <a:t>语句</a:t>
            </a:r>
            <a:endParaRPr lang="zh-CN" altLang="en-US" dirty="0"/>
          </a:p>
          <a:p>
            <a:pPr lvl="1" eaLnBrk="1" hangingPunct="1">
              <a:spcBef>
                <a:spcPct val="10000"/>
              </a:spcBef>
            </a:pPr>
            <a:r>
              <a:rPr lang="en-US" altLang="zh-CN" dirty="0"/>
              <a:t>DROP</a:t>
            </a:r>
            <a:r>
              <a:rPr lang="zh-CN" altLang="en-US" dirty="0"/>
              <a:t>语句</a:t>
            </a:r>
            <a:endParaRPr lang="zh-CN" altLang="en-US" dirty="0"/>
          </a:p>
          <a:p>
            <a:pPr lvl="1" eaLnBrk="1" hangingPunct="1">
              <a:spcBef>
                <a:spcPct val="10000"/>
              </a:spcBef>
            </a:pPr>
            <a:r>
              <a:rPr lang="en-US" altLang="zh-CN" dirty="0"/>
              <a:t>GRANT</a:t>
            </a:r>
            <a:r>
              <a:rPr lang="zh-CN" altLang="en-US" dirty="0"/>
              <a:t>语句</a:t>
            </a:r>
            <a:endParaRPr lang="zh-CN" altLang="en-US" dirty="0"/>
          </a:p>
          <a:p>
            <a:pPr lvl="1" eaLnBrk="1" hangingPunct="1">
              <a:spcBef>
                <a:spcPct val="10000"/>
              </a:spcBef>
            </a:pPr>
            <a:r>
              <a:rPr lang="en-US" altLang="zh-CN" dirty="0"/>
              <a:t>REVOKE</a:t>
            </a:r>
            <a:r>
              <a:rPr lang="zh-CN" altLang="en-US" dirty="0"/>
              <a:t>语句</a:t>
            </a:r>
            <a:endParaRPr lang="zh-CN" altLang="en-US" dirty="0"/>
          </a:p>
          <a:p>
            <a:pPr lvl="1" eaLnBrk="1" hangingPunct="1">
              <a:spcBef>
                <a:spcPct val="10000"/>
              </a:spcBef>
            </a:pPr>
            <a:r>
              <a:rPr lang="en-US" altLang="zh-CN" dirty="0"/>
              <a:t>INSERT</a:t>
            </a:r>
            <a:r>
              <a:rPr lang="zh-CN" altLang="en-US" dirty="0"/>
              <a:t>语句</a:t>
            </a:r>
            <a:endParaRPr lang="zh-CN" altLang="en-US" dirty="0"/>
          </a:p>
          <a:p>
            <a:pPr lvl="1" eaLnBrk="1" hangingPunct="1">
              <a:spcBef>
                <a:spcPct val="10000"/>
              </a:spcBef>
            </a:pPr>
            <a:r>
              <a:rPr lang="en-US" altLang="zh-CN" dirty="0"/>
              <a:t>UPDATE</a:t>
            </a:r>
            <a:r>
              <a:rPr lang="zh-CN" altLang="en-US" dirty="0"/>
              <a:t>语句等</a:t>
            </a:r>
            <a:endParaRPr lang="zh-CN" altLang="en-US" dirty="0"/>
          </a:p>
        </p:txBody>
      </p:sp>
    </p:spTree>
  </p:cSld>
  <p:clrMapOvr>
    <a:masterClrMapping/>
  </p:clrMapOvr>
  <p:transition>
    <p:random/>
    <p:sndAc>
      <p:stSnd>
        <p:snd r:embed="rId1"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89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事务控制语句</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21891" name="Rectangle 3"/>
          <p:cNvSpPr>
            <a:spLocks noGrp="1" noChangeArrowheads="1"/>
          </p:cNvSpPr>
          <p:nvPr>
            <p:ph idx="1"/>
          </p:nvPr>
        </p:nvSpPr>
        <p:spPr>
          <a:xfrm>
            <a:off x="152400" y="1052513"/>
            <a:ext cx="8848725" cy="5327650"/>
          </a:xfrm>
        </p:spPr>
        <p:txBody>
          <a:bodyPr vert="horz" wrap="square" lIns="91440" tIns="45720" rIns="91440" bIns="45720" numCol="1" anchor="t" anchorCtr="0" compatLnSpc="1"/>
          <a:lstStyle/>
          <a:p>
            <a:pPr marL="360680" marR="0" lvl="0" indent="-360680" algn="l" defTabSz="914400" rtl="0" eaLnBrk="1" fontAlgn="base" latinLnBrk="0" hangingPunct="1">
              <a:lnSpc>
                <a:spcPct val="100000"/>
              </a:lnSpc>
              <a:spcBef>
                <a:spcPct val="4000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(2) </a:t>
            </a:r>
            <a:r>
              <a:rPr kumimoji="0" lang="en-US" altLang="zh-CN" sz="3600" b="1" i="0" u="none" strike="noStrike" kern="0" cap="none" spc="0" normalizeH="0" baseline="0" noProof="0" dirty="0" smtClean="0">
                <a:ln>
                  <a:noFill/>
                </a:ln>
                <a:solidFill>
                  <a:srgbClr val="0000CC"/>
                </a:solidFill>
                <a:effectLst/>
                <a:uLnTx/>
                <a:uFillTx/>
                <a:latin typeface="+mj-lt"/>
                <a:ea typeface="+mn-ea"/>
                <a:cs typeface="+mn-cs"/>
              </a:rPr>
              <a:t>COMMIT  </a:t>
            </a:r>
            <a:r>
              <a:rPr kumimoji="0" lang="en-US" altLang="zh-CN" sz="3600" b="1" i="0" u="none" strike="noStrike" kern="0" cap="none" spc="0" normalizeH="0" baseline="0" noProof="0" dirty="0" smtClean="0">
                <a:ln>
                  <a:noFill/>
                </a:ln>
                <a:solidFill>
                  <a:srgbClr val="0033CC"/>
                </a:solidFill>
                <a:effectLst/>
                <a:uLnTx/>
                <a:uFillTx/>
                <a:latin typeface="+mj-lt"/>
                <a:ea typeface="+mn-ea"/>
                <a:cs typeface="+mn-cs"/>
              </a:rPr>
              <a:t>TRANSACTION</a:t>
            </a:r>
            <a:endParaRPr kumimoji="0" lang="en-US" altLang="zh-CN" sz="3600" b="1" i="0" u="none" strike="noStrike" kern="0" cap="none" spc="0" normalizeH="0" baseline="0" noProof="0" dirty="0" smtClean="0">
              <a:ln>
                <a:noFill/>
              </a:ln>
              <a:solidFill>
                <a:srgbClr val="000000"/>
              </a:solidFill>
              <a:effectLst/>
              <a:uLnTx/>
              <a:uFillTx/>
              <a:latin typeface="+mj-lt"/>
              <a:ea typeface="+mn-ea"/>
              <a:cs typeface="+mn-cs"/>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mn-lt"/>
                <a:ea typeface="+mn-ea"/>
              </a:rPr>
              <a:t>事务正常结束，提交事务的所有操作</a:t>
            </a:r>
            <a:endParaRPr kumimoji="0" lang="zh-CN" altLang="en-US" sz="3200" b="1" i="0" u="none" strike="noStrike" kern="0" cap="none" spc="0" normalizeH="0" baseline="0" noProof="0" dirty="0" smtClean="0">
              <a:ln>
                <a:noFill/>
              </a:ln>
              <a:solidFill>
                <a:srgbClr val="000000"/>
              </a:solidFill>
              <a:effectLst/>
              <a:uLnTx/>
              <a:uFillTx/>
              <a:latin typeface="+mn-lt"/>
              <a:ea typeface="+mn-ea"/>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mn-lt"/>
                <a:ea typeface="+mn-ea"/>
              </a:rPr>
              <a:t>事务中对数据的更新永久生效</a:t>
            </a:r>
            <a:endParaRPr kumimoji="0" lang="zh-CN" altLang="en-US" sz="3200" b="1" i="0" u="none" strike="noStrike" kern="0" cap="none" spc="0" normalizeH="0" baseline="0" noProof="0" dirty="0" smtClean="0">
              <a:ln>
                <a:noFill/>
              </a:ln>
              <a:solidFill>
                <a:srgbClr val="000000"/>
              </a:solidFill>
              <a:effectLst/>
              <a:uLnTx/>
              <a:uFillTx/>
              <a:latin typeface="+mn-lt"/>
              <a:ea typeface="+mn-ea"/>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None/>
              <a:defRPr/>
            </a:pPr>
            <a:endParaRPr kumimoji="0" lang="zh-CN" altLang="en-US" sz="3200" b="1" i="0" u="none" strike="noStrike" kern="0" cap="none" spc="0" normalizeH="0" baseline="0" noProof="0" dirty="0" smtClean="0">
              <a:ln>
                <a:noFill/>
              </a:ln>
              <a:solidFill>
                <a:srgbClr val="000000"/>
              </a:solidFill>
              <a:effectLst/>
              <a:uLnTx/>
              <a:uFillTx/>
              <a:latin typeface="+mn-lt"/>
              <a:ea typeface="+mn-ea"/>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(3) </a:t>
            </a:r>
            <a:r>
              <a:rPr kumimoji="0" lang="en-US" altLang="zh-CN" sz="3600" b="1" i="0" u="none" strike="noStrike" kern="0" cap="none" spc="0" normalizeH="0" baseline="0" noProof="0" dirty="0" smtClean="0">
                <a:ln>
                  <a:noFill/>
                </a:ln>
                <a:solidFill>
                  <a:srgbClr val="0000CC"/>
                </a:solidFill>
                <a:effectLst/>
                <a:uLnTx/>
                <a:uFillTx/>
                <a:latin typeface="+mj-lt"/>
                <a:ea typeface="+mn-ea"/>
                <a:cs typeface="+mn-cs"/>
              </a:rPr>
              <a:t>ROLLBACK  TRANSACTION</a:t>
            </a:r>
            <a:endParaRPr kumimoji="0" lang="en-US" altLang="zh-CN" sz="3600" b="1" i="0" u="none" strike="noStrike" kern="0" cap="none" spc="0" normalizeH="0" baseline="0" noProof="0" dirty="0" smtClean="0">
              <a:ln>
                <a:noFill/>
              </a:ln>
              <a:solidFill>
                <a:srgbClr val="0000CC"/>
              </a:solidFill>
              <a:effectLst/>
              <a:uLnTx/>
              <a:uFillTx/>
              <a:latin typeface="+mj-lt"/>
              <a:ea typeface="+mn-ea"/>
              <a:cs typeface="+mn-cs"/>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mn-lt"/>
                <a:ea typeface="+mn-ea"/>
              </a:rPr>
              <a:t>事务异常中止，事务运行过程中出现故障</a:t>
            </a:r>
            <a:endParaRPr kumimoji="0" lang="zh-CN" altLang="en-US" sz="3200" b="1" i="0" u="none" strike="noStrike" kern="0" cap="none" spc="0" normalizeH="0" baseline="0" noProof="0" dirty="0" smtClean="0">
              <a:ln>
                <a:noFill/>
              </a:ln>
              <a:solidFill>
                <a:srgbClr val="000000"/>
              </a:solidFill>
              <a:effectLst/>
              <a:uLnTx/>
              <a:uFillTx/>
              <a:latin typeface="+mn-lt"/>
              <a:ea typeface="+mn-ea"/>
            </a:endParaRPr>
          </a:p>
          <a:p>
            <a:pPr marL="811530" marR="0" lvl="1" indent="-269875" algn="l" defTabSz="914400" rtl="0" eaLnBrk="1" fontAlgn="base" latinLnBrk="0" hangingPunct="1">
              <a:lnSpc>
                <a:spcPct val="100000"/>
              </a:lnSpc>
              <a:spcBef>
                <a:spcPct val="20000"/>
              </a:spcBef>
              <a:spcAft>
                <a:spcPct val="0"/>
              </a:spcAft>
              <a:buClr>
                <a:srgbClr val="0000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mn-lt"/>
                <a:ea typeface="+mn-ea"/>
              </a:rPr>
              <a:t>撤销事务的所有操作，数据库恢复到事务执行前的状态</a:t>
            </a:r>
            <a:endParaRPr kumimoji="0" lang="zh-CN" altLang="en-US" sz="3200" b="1" i="0" u="none" strike="noStrike" kern="0" cap="none" spc="0" normalizeH="0" baseline="0" noProof="0" dirty="0" smtClean="0">
              <a:ln>
                <a:noFill/>
              </a:ln>
              <a:solidFill>
                <a:srgbClr val="000000"/>
              </a:solidFill>
              <a:effectLst/>
              <a:uLnTx/>
              <a:uFillTx/>
              <a:latin typeface="+mn-lt"/>
              <a:ea typeface="+mn-ea"/>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Char char="n"/>
              <a:defRPr/>
            </a:pPr>
            <a:endParaRPr kumimoji="0" lang="en-US" altLang="zh-CN" sz="3600" b="1" i="0" u="none" strike="noStrike" kern="0" cap="none" spc="0" normalizeH="0" baseline="0" noProof="0" dirty="0" smtClean="0">
              <a:ln>
                <a:noFill/>
              </a:ln>
              <a:solidFill>
                <a:srgbClr val="000000"/>
              </a:solidFill>
              <a:effectLst/>
              <a:uLnTx/>
              <a:uFillTx/>
              <a:latin typeface="+mn-lt"/>
              <a:ea typeface="+mn-ea"/>
              <a:cs typeface="+mn-cs"/>
            </a:endParaRPr>
          </a:p>
        </p:txBody>
      </p:sp>
    </p:spTree>
  </p:cSld>
  <p:clrMapOvr>
    <a:masterClrMapping/>
  </p:clrMapOvr>
  <p:transition>
    <p:random/>
    <p:sndAc>
      <p:stSnd>
        <p:snd r:embed="rId1"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616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8.1.3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事务控制语句</a:t>
            </a:r>
            <a:r>
              <a:rPr kumimoji="0"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11267" name="Rectangle 3"/>
          <p:cNvSpPr>
            <a:spLocks noGrp="1"/>
          </p:cNvSpPr>
          <p:nvPr>
            <p:ph idx="1"/>
          </p:nvPr>
        </p:nvSpPr>
        <p:spPr/>
        <p:txBody>
          <a:bodyPr vert="horz" wrap="square" lIns="91440" tIns="45720" rIns="91440" bIns="45720" anchor="t" anchorCtr="0"/>
          <a:p>
            <a:pPr eaLnBrk="1" hangingPunct="1"/>
            <a:r>
              <a:rPr lang="zh-CN" altLang="en-US" dirty="0"/>
              <a:t>例：</a:t>
            </a:r>
            <a:endParaRPr lang="zh-CN" altLang="en-US" dirty="0"/>
          </a:p>
          <a:p>
            <a:pPr eaLnBrk="1" hangingPunct="1">
              <a:buNone/>
            </a:pPr>
            <a:r>
              <a:rPr lang="zh-CN" altLang="en-US" dirty="0"/>
              <a:t>    关系模式</a:t>
            </a:r>
            <a:endParaRPr lang="zh-CN" altLang="en-US" dirty="0"/>
          </a:p>
          <a:p>
            <a:pPr eaLnBrk="1" hangingPunct="1">
              <a:buNone/>
            </a:pPr>
            <a:r>
              <a:rPr lang="zh-CN" altLang="en-US" dirty="0"/>
              <a:t>    </a:t>
            </a:r>
            <a:r>
              <a:rPr lang="en-US" altLang="zh-CN" dirty="0"/>
              <a:t>C ( Cno, Cname, Hour, </a:t>
            </a:r>
            <a:r>
              <a:rPr lang="en-US" altLang="zh-CN" dirty="0">
                <a:solidFill>
                  <a:srgbClr val="C00000"/>
                </a:solidFill>
              </a:rPr>
              <a:t>Limit</a:t>
            </a:r>
            <a:r>
              <a:rPr lang="en-US" altLang="zh-CN" dirty="0"/>
              <a:t>)</a:t>
            </a:r>
            <a:endParaRPr lang="en-US" altLang="zh-CN" dirty="0"/>
          </a:p>
          <a:p>
            <a:pPr eaLnBrk="1" hangingPunct="1">
              <a:spcBef>
                <a:spcPts val="600"/>
              </a:spcBef>
              <a:buNone/>
            </a:pPr>
            <a:r>
              <a:rPr lang="en-US" altLang="zh-CN" dirty="0"/>
              <a:t>   Limit</a:t>
            </a:r>
            <a:r>
              <a:rPr lang="zh-CN" altLang="en-US" dirty="0"/>
              <a:t>：</a:t>
            </a:r>
            <a:r>
              <a:rPr lang="zh-CN" altLang="en-US" sz="3200" dirty="0"/>
              <a:t>存储允许选修该课程的最多人数</a:t>
            </a:r>
            <a:endParaRPr lang="zh-CN" altLang="en-US" dirty="0"/>
          </a:p>
          <a:p>
            <a:pPr eaLnBrk="1" hangingPunct="1">
              <a:spcBef>
                <a:spcPts val="1800"/>
              </a:spcBef>
              <a:buNone/>
            </a:pPr>
            <a:r>
              <a:rPr lang="zh-CN" altLang="en-US" dirty="0"/>
              <a:t>步骤：</a:t>
            </a:r>
            <a:endParaRPr lang="zh-CN" altLang="en-US" dirty="0"/>
          </a:p>
          <a:p>
            <a:pPr eaLnBrk="1" hangingPunct="1"/>
            <a:r>
              <a:rPr lang="zh-CN" altLang="en-US" sz="3200" dirty="0"/>
              <a:t>当</a:t>
            </a:r>
            <a:r>
              <a:rPr lang="en-US" altLang="zh-CN" sz="3200" dirty="0"/>
              <a:t>SC</a:t>
            </a:r>
            <a:r>
              <a:rPr lang="zh-CN" altLang="en-US" sz="3200" dirty="0"/>
              <a:t>表插入一个元组，则判断该课程的</a:t>
            </a:r>
            <a:r>
              <a:rPr lang="en-US" altLang="zh-CN" sz="3200" dirty="0"/>
              <a:t>Limit</a:t>
            </a:r>
            <a:r>
              <a:rPr lang="zh-CN" altLang="en-US" sz="3200" dirty="0"/>
              <a:t>的值；</a:t>
            </a:r>
            <a:endParaRPr lang="zh-CN" altLang="en-US" sz="3200" dirty="0"/>
          </a:p>
          <a:p>
            <a:pPr eaLnBrk="1" hangingPunct="1"/>
            <a:r>
              <a:rPr lang="zh-CN" altLang="en-US" sz="3200" dirty="0"/>
              <a:t>如果</a:t>
            </a:r>
            <a:r>
              <a:rPr lang="en-US" altLang="zh-CN" sz="3200" dirty="0"/>
              <a:t>Limit=0</a:t>
            </a:r>
            <a:r>
              <a:rPr lang="zh-CN" altLang="en-US" sz="3200" dirty="0"/>
              <a:t>，则事务回滚，删除</a:t>
            </a:r>
            <a:r>
              <a:rPr lang="en-US" altLang="zh-CN" sz="3200" dirty="0"/>
              <a:t>SC</a:t>
            </a:r>
            <a:r>
              <a:rPr lang="zh-CN" altLang="en-US" sz="3200" dirty="0"/>
              <a:t>中插入的元组；否则</a:t>
            </a:r>
            <a:r>
              <a:rPr lang="en-US" altLang="zh-CN" sz="3200" dirty="0"/>
              <a:t>Limit-1</a:t>
            </a:r>
            <a:r>
              <a:rPr lang="zh-CN" altLang="en-US" sz="3200" dirty="0"/>
              <a:t>，提交事务。</a:t>
            </a:r>
            <a:endParaRPr lang="zh-CN" altLang="en-US" sz="3200" dirty="0"/>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charRg st="69" end="7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267">
                                            <p:txEl>
                                              <p:charRg st="73" end="100"/>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267">
                                            <p:txEl>
                                              <p:charRg st="100" end="14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7718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事务控制语句</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77187" name="Rectangle 3"/>
          <p:cNvSpPr>
            <a:spLocks noGrp="1" noChangeArrowheads="1"/>
          </p:cNvSpPr>
          <p:nvPr>
            <p:ph idx="1"/>
          </p:nvPr>
        </p:nvSpPr>
        <p:spPr>
          <a:xfrm>
            <a:off x="285750" y="928688"/>
            <a:ext cx="8750300" cy="5876925"/>
          </a:xfrm>
          <a:solidFill>
            <a:schemeClr val="tx1"/>
          </a:solidFill>
          <a:ln>
            <a:solidFill>
              <a:srgbClr val="FF6600"/>
            </a:solidFill>
          </a:ln>
        </p:spPr>
        <p:txBody>
          <a:bodyPr vert="horz" wrap="square" lIns="91440" tIns="45720" rIns="91440" bIns="45720" numCol="1" anchor="t" anchorCtr="0" compatLnSpc="1"/>
          <a:lstStyle/>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DECLEAR  </a:t>
            </a:r>
            <a:r>
              <a:rPr kumimoji="0" lang="en-US" altLang="zh-CN" sz="2800" b="1" i="0" u="none" strike="noStrike" kern="0" cap="none" spc="0" normalizeH="0" baseline="0" noProof="0" dirty="0" smtClean="0">
                <a:ln>
                  <a:noFill/>
                </a:ln>
                <a:solidFill>
                  <a:srgbClr val="C00000"/>
                </a:solidFill>
                <a:effectLst/>
                <a:uLnTx/>
                <a:uFillTx/>
                <a:latin typeface="+mj-lt"/>
                <a:ea typeface="+mn-ea"/>
                <a:cs typeface="+mn-cs"/>
              </a:rPr>
              <a:t>@num  </a:t>
            </a:r>
            <a:r>
              <a:rPr kumimoji="0" lang="en-US" altLang="zh-CN" sz="2800" b="1" i="0" u="none" strike="noStrike" kern="0" cap="none" spc="0" normalizeH="0" baseline="0" noProof="0" dirty="0" err="1" smtClean="0">
                <a:ln>
                  <a:noFill/>
                </a:ln>
                <a:solidFill>
                  <a:srgbClr val="000000"/>
                </a:solidFill>
                <a:effectLst/>
                <a:uLnTx/>
                <a:uFillTx/>
                <a:latin typeface="+mj-lt"/>
                <a:ea typeface="+mn-ea"/>
                <a:cs typeface="+mn-cs"/>
              </a:rPr>
              <a:t>smallint</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a:t>
            </a: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声明变量</a:t>
            </a:r>
            <a:endParaRPr kumimoji="0" lang="zh-CN" altLang="en-US"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0033CC"/>
                </a:solidFill>
                <a:effectLst/>
                <a:uLnTx/>
                <a:uFillTx/>
                <a:latin typeface="+mj-lt"/>
                <a:ea typeface="+mn-ea"/>
                <a:cs typeface="+mn-cs"/>
              </a:rPr>
              <a:t>BEGIN  TRANSACTION</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a:t>
            </a: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定义事务</a:t>
            </a:r>
            <a:endParaRPr kumimoji="0" lang="zh-CN" altLang="en-US"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FF0000"/>
                </a:solidFill>
                <a:effectLst/>
                <a:uLnTx/>
                <a:uFillTx/>
                <a:latin typeface="+mj-lt"/>
                <a:ea typeface="+mn-ea"/>
                <a:cs typeface="+mn-cs"/>
              </a:rPr>
              <a:t>INSERT</a:t>
            </a:r>
            <a:r>
              <a:rPr kumimoji="0" lang="en-US" altLang="zh-CN" sz="2800" b="1" i="0" u="none" strike="noStrike" kern="0" cap="none" spc="0" normalizeH="0" baseline="0" noProof="0" dirty="0" smtClean="0">
                <a:ln>
                  <a:noFill/>
                </a:ln>
                <a:solidFill>
                  <a:srgbClr val="FF66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INTO  SC  VALUES(‘090901’, ‘123’, NULL);</a:t>
            </a:r>
            <a:endParaRPr kumimoji="0" lang="en-US" altLang="zh-CN" sz="1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3000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FF0000"/>
                </a:solidFill>
                <a:effectLst/>
                <a:uLnTx/>
                <a:uFillTx/>
                <a:latin typeface="+mj-lt"/>
                <a:ea typeface="+mn-ea"/>
                <a:cs typeface="+mn-cs"/>
              </a:rPr>
              <a:t>SELECT</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C00000"/>
                </a:solidFill>
                <a:effectLst/>
                <a:uLnTx/>
                <a:uFillTx/>
                <a:latin typeface="+mj-lt"/>
                <a:ea typeface="+mn-ea"/>
                <a:cs typeface="+mn-cs"/>
              </a:rPr>
              <a:t>@num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Limit    FROM  C</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WHERE  </a:t>
            </a:r>
            <a:r>
              <a:rPr kumimoji="0" lang="en-US" altLang="zh-CN" sz="2800" b="1" i="0" u="none" strike="noStrike" kern="0" cap="none" spc="0" normalizeH="0" baseline="0" noProof="0" dirty="0" err="1" smtClean="0">
                <a:ln>
                  <a:noFill/>
                </a:ln>
                <a:solidFill>
                  <a:srgbClr val="000000"/>
                </a:solidFill>
                <a:effectLst/>
                <a:uLnTx/>
                <a:uFillTx/>
                <a:latin typeface="+mj-lt"/>
                <a:ea typeface="+mn-ea"/>
                <a:cs typeface="+mn-cs"/>
              </a:rPr>
              <a:t>Cno</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 ‘123’; </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2000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IF </a:t>
            </a:r>
            <a:r>
              <a:rPr kumimoji="0" lang="en-US" altLang="zh-CN" sz="2800" b="1" i="0" u="none" strike="noStrike" kern="0" cap="none" spc="0" normalizeH="0" baseline="0" noProof="0" dirty="0" smtClean="0">
                <a:ln>
                  <a:noFill/>
                </a:ln>
                <a:solidFill>
                  <a:srgbClr val="C00000"/>
                </a:solidFill>
                <a:effectLst/>
                <a:uLnTx/>
                <a:uFillTx/>
                <a:latin typeface="+mj-lt"/>
                <a:ea typeface="+mn-ea"/>
                <a:cs typeface="+mn-cs"/>
              </a:rPr>
              <a:t>@num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=0                         --</a:t>
            </a: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选课人数已满</a:t>
            </a:r>
            <a:endParaRPr kumimoji="0" lang="zh-CN" altLang="en-US"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0033CC"/>
                </a:solidFill>
                <a:effectLst/>
                <a:uLnTx/>
                <a:uFillTx/>
                <a:latin typeface="+mj-lt"/>
                <a:ea typeface="+mn-ea"/>
                <a:cs typeface="+mn-cs"/>
              </a:rPr>
              <a:t>ROLLBACK TRANSACTION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a:t>
            </a: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回滚事务</a:t>
            </a:r>
            <a:endParaRPr kumimoji="0" lang="zh-CN" altLang="en-US" sz="2800" b="1" i="0" u="none" strike="noStrike" kern="0" cap="none" spc="0" normalizeH="0" baseline="0" noProof="0" dirty="0" smtClean="0">
              <a:ln>
                <a:noFill/>
              </a:ln>
              <a:solidFill>
                <a:srgbClr val="0033CC"/>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ELSE   BEGIN</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FF0000"/>
                </a:solidFill>
                <a:effectLst/>
                <a:uLnTx/>
                <a:uFillTx/>
                <a:latin typeface="+mj-lt"/>
                <a:ea typeface="+mn-ea"/>
                <a:cs typeface="+mn-cs"/>
              </a:rPr>
              <a:t>UPDATE</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C  </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SET    Limit= </a:t>
            </a:r>
            <a:r>
              <a:rPr kumimoji="0" lang="en-US" altLang="zh-CN" sz="2800" b="1" i="0" u="none" strike="noStrike" kern="0" cap="none" spc="0" normalizeH="0" baseline="0" noProof="0" dirty="0" smtClean="0">
                <a:ln>
                  <a:noFill/>
                </a:ln>
                <a:solidFill>
                  <a:srgbClr val="C00000"/>
                </a:solidFill>
                <a:effectLst/>
                <a:uLnTx/>
                <a:uFillTx/>
                <a:latin typeface="+mj-lt"/>
                <a:ea typeface="+mn-ea"/>
                <a:cs typeface="+mn-cs"/>
              </a:rPr>
              <a:t>@num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-1</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WHERE  </a:t>
            </a:r>
            <a:r>
              <a:rPr kumimoji="0" lang="en-US" altLang="zh-CN" sz="2800" b="1" i="0" u="none" strike="noStrike" kern="0" cap="none" spc="0" normalizeH="0" baseline="0" noProof="0" dirty="0" err="1" smtClean="0">
                <a:ln>
                  <a:noFill/>
                </a:ln>
                <a:solidFill>
                  <a:srgbClr val="000000"/>
                </a:solidFill>
                <a:effectLst/>
                <a:uLnTx/>
                <a:uFillTx/>
                <a:latin typeface="+mj-lt"/>
                <a:ea typeface="+mn-ea"/>
                <a:cs typeface="+mn-cs"/>
              </a:rPr>
              <a:t>Cno</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 ‘123’; </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0033CC"/>
                </a:solidFill>
                <a:effectLst/>
                <a:uLnTx/>
                <a:uFillTx/>
                <a:latin typeface="+mj-lt"/>
                <a:ea typeface="+mn-ea"/>
                <a:cs typeface="+mn-cs"/>
              </a:rPr>
              <a:t>COMMIT  TRANSACTION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a:t>
            </a: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提交事务</a:t>
            </a:r>
            <a:endParaRPr kumimoji="0" lang="zh-CN" altLang="en-US" sz="2800" b="1" i="0" u="none" strike="noStrike" kern="0" cap="none" spc="0" normalizeH="0" baseline="0" noProof="0" dirty="0" smtClean="0">
              <a:ln>
                <a:noFill/>
              </a:ln>
              <a:solidFill>
                <a:srgbClr val="0033CC"/>
              </a:solidFill>
              <a:effectLst/>
              <a:uLnTx/>
              <a:uFillTx/>
              <a:latin typeface="+mj-lt"/>
              <a:ea typeface="+mn-ea"/>
              <a:cs typeface="+mn-cs"/>
            </a:endParaRPr>
          </a:p>
          <a:p>
            <a:pPr marL="360680" marR="0" lvl="0" indent="-36068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mj-lt"/>
                <a:ea typeface="+mn-ea"/>
                <a:cs typeface="+mn-cs"/>
              </a:rPr>
              <a:t>      </a:t>
            </a:r>
            <a:r>
              <a:rPr kumimoji="0" lang="en-US" altLang="zh-CN" sz="2800" b="1" i="0" u="none" strike="noStrike" kern="0" cap="none" spc="0" normalizeH="0" baseline="0" noProof="0" dirty="0" smtClean="0">
                <a:ln>
                  <a:noFill/>
                </a:ln>
                <a:solidFill>
                  <a:srgbClr val="000000"/>
                </a:solidFill>
                <a:effectLst/>
                <a:uLnTx/>
                <a:uFillTx/>
                <a:latin typeface="+mj-lt"/>
                <a:ea typeface="+mn-ea"/>
                <a:cs typeface="+mn-cs"/>
              </a:rPr>
              <a:t>END</a:t>
            </a:r>
            <a:endParaRPr kumimoji="0" lang="en-US" altLang="zh-CN" sz="2800" b="1" i="0" u="none" strike="noStrike" kern="0" cap="none" spc="0" normalizeH="0" baseline="0" noProof="0" dirty="0" smtClean="0">
              <a:ln>
                <a:noFill/>
              </a:ln>
              <a:solidFill>
                <a:srgbClr val="000000"/>
              </a:solidFill>
              <a:effectLst/>
              <a:uLnTx/>
              <a:uFillTx/>
              <a:latin typeface="+mj-lt"/>
              <a:ea typeface="+mn-ea"/>
              <a:cs typeface="+mn-cs"/>
            </a:endParaRPr>
          </a:p>
        </p:txBody>
      </p:sp>
    </p:spTree>
  </p:cSld>
  <p:clrMapOvr>
    <a:masterClrMapping/>
  </p:clrMapOvr>
  <p:transition>
    <p:random/>
    <p:sndAc>
      <p:stSnd>
        <p:snd r:embed="rId1"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idx="1"/>
          </p:nvPr>
        </p:nvSpPr>
        <p:spPr>
          <a:xfrm>
            <a:off x="152400" y="981075"/>
            <a:ext cx="8812213" cy="5688013"/>
          </a:xfrm>
        </p:spPr>
        <p:txBody>
          <a:bodyPr vert="horz" wrap="square" lIns="91440" tIns="45720" rIns="91440" bIns="45720" anchor="t" anchorCtr="0"/>
          <a:p>
            <a:pPr marL="0" indent="0" eaLnBrk="1" hangingPunct="1">
              <a:buNone/>
            </a:pPr>
            <a:r>
              <a:rPr lang="en-US" altLang="zh-CN" sz="3200" dirty="0">
                <a:solidFill>
                  <a:srgbClr val="0000CC"/>
                </a:solidFill>
                <a:latin typeface="Arial" panose="020B0604020202020204" pitchFamily="34" charset="0"/>
              </a:rPr>
              <a:t>(1) </a:t>
            </a:r>
            <a:r>
              <a:rPr lang="zh-CN" altLang="en-US" dirty="0">
                <a:solidFill>
                  <a:srgbClr val="0000CC"/>
                </a:solidFill>
                <a:latin typeface="Arial" panose="020B0604020202020204" pitchFamily="34" charset="0"/>
              </a:rPr>
              <a:t>原子性</a:t>
            </a:r>
            <a:r>
              <a:rPr lang="en-US" altLang="zh-CN" dirty="0">
                <a:solidFill>
                  <a:srgbClr val="010103"/>
                </a:solidFill>
                <a:latin typeface="Arial" panose="020B0604020202020204" pitchFamily="34" charset="0"/>
              </a:rPr>
              <a:t>( </a:t>
            </a:r>
            <a:r>
              <a:rPr lang="en-US" altLang="zh-CN" dirty="0">
                <a:solidFill>
                  <a:srgbClr val="FF0000"/>
                </a:solidFill>
                <a:latin typeface="Arial" panose="020B0604020202020204" pitchFamily="34" charset="0"/>
              </a:rPr>
              <a:t>A</a:t>
            </a:r>
            <a:r>
              <a:rPr lang="en-US" altLang="zh-CN" dirty="0">
                <a:solidFill>
                  <a:srgbClr val="010103"/>
                </a:solidFill>
                <a:latin typeface="Arial" panose="020B0604020202020204" pitchFamily="34" charset="0"/>
              </a:rPr>
              <a:t>tomicity)</a:t>
            </a:r>
            <a:r>
              <a:rPr lang="zh-CN" altLang="en-US" dirty="0">
                <a:solidFill>
                  <a:srgbClr val="010103"/>
                </a:solidFill>
                <a:latin typeface="Arial" panose="020B0604020202020204" pitchFamily="34" charset="0"/>
              </a:rPr>
              <a:t>：</a:t>
            </a:r>
            <a:endParaRPr lang="zh-CN" altLang="en-US" dirty="0">
              <a:solidFill>
                <a:srgbClr val="010103"/>
              </a:solidFill>
              <a:latin typeface="Arial" panose="020B0604020202020204" pitchFamily="34" charset="0"/>
            </a:endParaRPr>
          </a:p>
          <a:p>
            <a:pPr marL="0" indent="0" eaLnBrk="1" hangingPunct="1">
              <a:buNone/>
            </a:pPr>
            <a:r>
              <a:rPr lang="zh-CN" altLang="en-US" dirty="0">
                <a:solidFill>
                  <a:srgbClr val="010103"/>
                </a:solidFill>
                <a:latin typeface="Arial" panose="020B0604020202020204" pitchFamily="34" charset="0"/>
              </a:rPr>
              <a:t>       事务的所有操作或全部完成，或全部不做。是事务最基本要求。 </a:t>
            </a:r>
            <a:endParaRPr lang="zh-CN" altLang="en-US" dirty="0">
              <a:solidFill>
                <a:srgbClr val="010103"/>
              </a:solidFill>
              <a:latin typeface="Arial" panose="020B0604020202020204" pitchFamily="34" charset="0"/>
            </a:endParaRPr>
          </a:p>
          <a:p>
            <a:pPr marL="0" indent="0" eaLnBrk="1" hangingPunct="1">
              <a:spcBef>
                <a:spcPct val="45000"/>
              </a:spcBef>
              <a:buNone/>
            </a:pPr>
            <a:r>
              <a:rPr lang="en-US" altLang="zh-CN" sz="3200" dirty="0">
                <a:solidFill>
                  <a:srgbClr val="0000CC"/>
                </a:solidFill>
                <a:latin typeface="Arial" panose="020B0604020202020204" pitchFamily="34" charset="0"/>
              </a:rPr>
              <a:t>(2) </a:t>
            </a:r>
            <a:r>
              <a:rPr lang="zh-CN" altLang="en-US" dirty="0">
                <a:solidFill>
                  <a:srgbClr val="0000CC"/>
                </a:solidFill>
                <a:latin typeface="Arial" panose="020B0604020202020204" pitchFamily="34" charset="0"/>
              </a:rPr>
              <a:t>一致性</a:t>
            </a:r>
            <a:r>
              <a:rPr lang="en-US" altLang="zh-CN" dirty="0">
                <a:solidFill>
                  <a:srgbClr val="010103"/>
                </a:solidFill>
                <a:latin typeface="Arial" panose="020B0604020202020204" pitchFamily="34" charset="0"/>
              </a:rPr>
              <a:t>( </a:t>
            </a:r>
            <a:r>
              <a:rPr lang="en-US" altLang="zh-CN" dirty="0">
                <a:solidFill>
                  <a:srgbClr val="FF0000"/>
                </a:solidFill>
                <a:latin typeface="Arial" panose="020B0604020202020204" pitchFamily="34" charset="0"/>
              </a:rPr>
              <a:t>C</a:t>
            </a:r>
            <a:r>
              <a:rPr lang="en-US" altLang="zh-CN" dirty="0">
                <a:solidFill>
                  <a:srgbClr val="010103"/>
                </a:solidFill>
                <a:latin typeface="Arial" panose="020B0604020202020204" pitchFamily="34" charset="0"/>
              </a:rPr>
              <a:t>onsistency)</a:t>
            </a:r>
            <a:r>
              <a:rPr lang="zh-CN" altLang="en-US" dirty="0">
                <a:solidFill>
                  <a:srgbClr val="010103"/>
                </a:solidFill>
                <a:latin typeface="Arial" panose="020B0604020202020204" pitchFamily="34" charset="0"/>
              </a:rPr>
              <a:t>：</a:t>
            </a:r>
            <a:endParaRPr lang="zh-CN" altLang="en-US" dirty="0">
              <a:solidFill>
                <a:srgbClr val="010103"/>
              </a:solidFill>
              <a:latin typeface="Arial" panose="020B0604020202020204" pitchFamily="34" charset="0"/>
            </a:endParaRPr>
          </a:p>
          <a:p>
            <a:pPr marL="0" indent="0" eaLnBrk="1" hangingPunct="1">
              <a:spcBef>
                <a:spcPct val="10000"/>
              </a:spcBef>
              <a:buNone/>
            </a:pPr>
            <a:r>
              <a:rPr lang="zh-CN" altLang="en-US" dirty="0">
                <a:solidFill>
                  <a:srgbClr val="010103"/>
                </a:solidFill>
                <a:latin typeface="Arial" panose="020B0604020202020204" pitchFamily="34" charset="0"/>
              </a:rPr>
              <a:t>       </a:t>
            </a:r>
            <a:r>
              <a:rPr lang="zh-CN" altLang="en-US" dirty="0">
                <a:latin typeface="Arial" panose="020B0604020202020204" pitchFamily="34" charset="0"/>
              </a:rPr>
              <a:t>事务执行的结果必须是使数据库从一个一致性状态变到另一个一致性状态</a:t>
            </a:r>
            <a:r>
              <a:rPr lang="zh-CN" altLang="en-US" dirty="0">
                <a:solidFill>
                  <a:srgbClr val="010103"/>
                </a:solidFill>
                <a:latin typeface="Arial" panose="020B0604020202020204" pitchFamily="34" charset="0"/>
              </a:rPr>
              <a:t>。</a:t>
            </a:r>
            <a:endParaRPr lang="zh-CN" altLang="en-US" dirty="0">
              <a:solidFill>
                <a:srgbClr val="010103"/>
              </a:solidFill>
              <a:latin typeface="Arial" panose="020B0604020202020204" pitchFamily="34" charset="0"/>
            </a:endParaRPr>
          </a:p>
          <a:p>
            <a:pPr marL="541655" lvl="1" indent="-3175" eaLnBrk="1" hangingPunct="1">
              <a:spcBef>
                <a:spcPct val="35000"/>
              </a:spcBef>
            </a:pPr>
            <a:r>
              <a:rPr lang="zh-CN" altLang="en-US" dirty="0">
                <a:solidFill>
                  <a:srgbClr val="0000CC"/>
                </a:solidFill>
              </a:rPr>
              <a:t> </a:t>
            </a:r>
            <a:r>
              <a:rPr lang="zh-CN" altLang="en-US" dirty="0"/>
              <a:t>一致性状态：数据库中的数据满足各种完整性约束。</a:t>
            </a:r>
            <a:endParaRPr lang="zh-CN" altLang="en-US" dirty="0"/>
          </a:p>
        </p:txBody>
      </p:sp>
      <p:sp>
        <p:nvSpPr>
          <p:cNvPr id="18739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事务的</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ACID</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特性</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idx="1"/>
          </p:nvPr>
        </p:nvSpPr>
        <p:spPr>
          <a:xfrm>
            <a:off x="152400" y="1052513"/>
            <a:ext cx="8812213" cy="2016125"/>
          </a:xfrm>
        </p:spPr>
        <p:txBody>
          <a:bodyPr vert="horz" wrap="square" lIns="91440" tIns="45720" rIns="91440" bIns="45720" anchor="t" anchorCtr="0"/>
          <a:p>
            <a:pPr marL="0" indent="0" eaLnBrk="1" hangingPunct="1">
              <a:buNone/>
            </a:pPr>
            <a:r>
              <a:rPr lang="en-US" altLang="zh-CN" sz="3200" dirty="0">
                <a:solidFill>
                  <a:srgbClr val="0000CC"/>
                </a:solidFill>
                <a:latin typeface="Arial" panose="020B0604020202020204" pitchFamily="34" charset="0"/>
              </a:rPr>
              <a:t>(3) </a:t>
            </a:r>
            <a:r>
              <a:rPr lang="zh-CN" altLang="en-US" dirty="0">
                <a:solidFill>
                  <a:srgbClr val="0000CC"/>
                </a:solidFill>
                <a:latin typeface="Arial" panose="020B0604020202020204" pitchFamily="34" charset="0"/>
              </a:rPr>
              <a:t>隔离性</a:t>
            </a:r>
            <a:r>
              <a:rPr lang="en-US" altLang="zh-CN" dirty="0">
                <a:solidFill>
                  <a:srgbClr val="010103"/>
                </a:solidFill>
                <a:latin typeface="Arial" panose="020B0604020202020204" pitchFamily="34" charset="0"/>
              </a:rPr>
              <a:t>( </a:t>
            </a:r>
            <a:r>
              <a:rPr lang="en-US" altLang="zh-CN" dirty="0">
                <a:solidFill>
                  <a:srgbClr val="FF0000"/>
                </a:solidFill>
                <a:latin typeface="Arial" panose="020B0604020202020204" pitchFamily="34" charset="0"/>
              </a:rPr>
              <a:t>I</a:t>
            </a:r>
            <a:r>
              <a:rPr lang="en-US" altLang="zh-CN" dirty="0">
                <a:solidFill>
                  <a:srgbClr val="010103"/>
                </a:solidFill>
                <a:latin typeface="Arial" panose="020B0604020202020204" pitchFamily="34" charset="0"/>
              </a:rPr>
              <a:t>solation)</a:t>
            </a:r>
            <a:r>
              <a:rPr lang="zh-CN" altLang="en-US" dirty="0">
                <a:solidFill>
                  <a:srgbClr val="010103"/>
                </a:solidFill>
                <a:latin typeface="Arial" panose="020B0604020202020204" pitchFamily="34" charset="0"/>
              </a:rPr>
              <a:t>：当多个事务并发执行时，一个事务的执行不能影响另个事务，即并发执行的各事务不能相互干扰。</a:t>
            </a:r>
            <a:endParaRPr lang="zh-CN" altLang="en-US" dirty="0">
              <a:solidFill>
                <a:srgbClr val="FF0000"/>
              </a:solidFill>
              <a:latin typeface="Arial" panose="020B0604020202020204" pitchFamily="34" charset="0"/>
            </a:endParaRPr>
          </a:p>
        </p:txBody>
      </p:sp>
      <p:sp>
        <p:nvSpPr>
          <p:cNvPr id="34201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事务的</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ACID</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特性</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4"/>
          <p:cNvGrpSpPr/>
          <p:nvPr/>
        </p:nvGrpSpPr>
        <p:grpSpPr>
          <a:xfrm>
            <a:off x="971550" y="2857500"/>
            <a:ext cx="7740650" cy="3019425"/>
            <a:chOff x="612" y="1573"/>
            <a:chExt cx="4876" cy="1902"/>
          </a:xfrm>
        </p:grpSpPr>
        <p:sp>
          <p:nvSpPr>
            <p:cNvPr id="15366" name="Rectangle 5"/>
            <p:cNvSpPr/>
            <p:nvPr/>
          </p:nvSpPr>
          <p:spPr>
            <a:xfrm>
              <a:off x="3153" y="1573"/>
              <a:ext cx="2335" cy="1902"/>
            </a:xfrm>
            <a:prstGeom prst="rect">
              <a:avLst/>
            </a:prstGeom>
            <a:solidFill>
              <a:srgbClr val="CCFFCC"/>
            </a:solidFill>
            <a:ln w="28575" cap="flat" cmpd="sng">
              <a:solidFill>
                <a:srgbClr val="0000CC"/>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3200" dirty="0">
                  <a:solidFill>
                    <a:srgbClr val="FF0000"/>
                  </a:solidFill>
                  <a:latin typeface="Arial" panose="020B0604020202020204" pitchFamily="34" charset="0"/>
                </a:rPr>
                <a:t>T2</a:t>
              </a:r>
              <a:endParaRPr lang="en-US" altLang="zh-CN" sz="3200" dirty="0">
                <a:solidFill>
                  <a:srgbClr val="FF0000"/>
                </a:solidFill>
                <a:latin typeface="Arial" panose="020B0604020202020204" pitchFamily="34" charset="0"/>
              </a:endParaRPr>
            </a:p>
            <a:p>
              <a:pPr marL="0" lvl="0" indent="0" eaLnBrk="1" hangingPunct="1">
                <a:buNone/>
              </a:pPr>
              <a:endParaRPr lang="en-US" altLang="zh-CN" sz="3200" dirty="0">
                <a:solidFill>
                  <a:srgbClr val="0000CC"/>
                </a:solidFill>
                <a:latin typeface="Arial" panose="020B0604020202020204" pitchFamily="34" charset="0"/>
              </a:endParaRPr>
            </a:p>
            <a:p>
              <a:pPr marL="0" lvl="0" indent="0" eaLnBrk="1" hangingPunct="1">
                <a:buNone/>
              </a:pPr>
              <a:r>
                <a:rPr lang="zh-CN" altLang="en-US" sz="3200" dirty="0">
                  <a:latin typeface="Arial" panose="020B0604020202020204" pitchFamily="34" charset="0"/>
                </a:rPr>
                <a:t>读</a:t>
              </a:r>
              <a:r>
                <a:rPr lang="en-US" altLang="zh-CN" sz="3200" dirty="0">
                  <a:latin typeface="Arial" panose="020B0604020202020204" pitchFamily="34" charset="0"/>
                </a:rPr>
                <a:t>A=16</a:t>
              </a: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  </a:t>
              </a: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 </a:t>
              </a: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A←A-3  </a:t>
              </a:r>
              <a:r>
                <a:rPr lang="zh-CN" altLang="en-US" sz="3200" dirty="0">
                  <a:latin typeface="Arial" panose="020B0604020202020204" pitchFamily="34" charset="0"/>
                </a:rPr>
                <a:t>写回</a:t>
              </a:r>
              <a:r>
                <a:rPr lang="en-US" altLang="zh-CN" sz="3200" dirty="0">
                  <a:latin typeface="Arial" panose="020B0604020202020204" pitchFamily="34" charset="0"/>
                </a:rPr>
                <a:t>A=13</a:t>
              </a:r>
              <a:endParaRPr lang="en-US" altLang="zh-CN" sz="3200" dirty="0">
                <a:latin typeface="Arial" panose="020B0604020202020204" pitchFamily="34" charset="0"/>
              </a:endParaRPr>
            </a:p>
          </p:txBody>
        </p:sp>
        <p:sp>
          <p:nvSpPr>
            <p:cNvPr id="15367" name="Rectangle 6"/>
            <p:cNvSpPr/>
            <p:nvPr/>
          </p:nvSpPr>
          <p:spPr>
            <a:xfrm>
              <a:off x="612" y="1573"/>
              <a:ext cx="2541" cy="1902"/>
            </a:xfrm>
            <a:prstGeom prst="rect">
              <a:avLst/>
            </a:prstGeom>
            <a:solidFill>
              <a:srgbClr val="FFDDDD"/>
            </a:solidFill>
            <a:ln w="28575" cap="flat" cmpd="sng">
              <a:solidFill>
                <a:srgbClr val="0000CC"/>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3200" dirty="0">
                  <a:solidFill>
                    <a:srgbClr val="FF0000"/>
                  </a:solidFill>
                  <a:latin typeface="Arial" panose="020B0604020202020204" pitchFamily="34" charset="0"/>
                </a:rPr>
                <a:t>T1</a:t>
              </a:r>
              <a:endParaRPr lang="en-US" altLang="zh-CN" sz="3200" dirty="0">
                <a:solidFill>
                  <a:srgbClr val="FF0000"/>
                </a:solidFill>
                <a:latin typeface="Arial" panose="020B0604020202020204" pitchFamily="34" charset="0"/>
              </a:endParaRPr>
            </a:p>
            <a:p>
              <a:pPr marL="0" lvl="0" indent="0" eaLnBrk="1" hangingPunct="1">
                <a:buNone/>
              </a:pPr>
              <a:r>
                <a:rPr lang="en-US" altLang="zh-CN" sz="3200" dirty="0">
                  <a:solidFill>
                    <a:srgbClr val="0000CC"/>
                  </a:solidFill>
                  <a:latin typeface="Arial" panose="020B0604020202020204" pitchFamily="34" charset="0"/>
                </a:rPr>
                <a:t> </a:t>
              </a:r>
              <a:r>
                <a:rPr lang="zh-CN" altLang="en-US" sz="3200" dirty="0">
                  <a:latin typeface="Arial" panose="020B0604020202020204" pitchFamily="34" charset="0"/>
                </a:rPr>
                <a:t>读</a:t>
              </a:r>
              <a:r>
                <a:rPr lang="en-US" altLang="zh-CN" sz="3200" dirty="0">
                  <a:latin typeface="Arial" panose="020B0604020202020204" pitchFamily="34" charset="0"/>
                </a:rPr>
                <a:t>A=16</a:t>
              </a:r>
              <a:endParaRPr lang="en-US" altLang="zh-CN" sz="3200" dirty="0">
                <a:latin typeface="Arial" panose="020B0604020202020204" pitchFamily="34" charset="0"/>
              </a:endParaRPr>
            </a:p>
            <a:p>
              <a:pPr marL="0" lvl="0" indent="0" eaLnBrk="1" hangingPunct="1">
                <a:buNone/>
              </a:pP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 A←A-1 </a:t>
              </a:r>
              <a:r>
                <a:rPr lang="zh-CN" altLang="en-US" sz="3200" dirty="0">
                  <a:latin typeface="Arial" panose="020B0604020202020204" pitchFamily="34" charset="0"/>
                </a:rPr>
                <a:t>写回</a:t>
              </a:r>
              <a:r>
                <a:rPr lang="en-US" altLang="zh-CN" sz="3200" dirty="0">
                  <a:latin typeface="Arial" panose="020B0604020202020204" pitchFamily="34" charset="0"/>
                </a:rPr>
                <a:t>A=15</a:t>
              </a:r>
              <a:endParaRPr lang="en-US" altLang="zh-CN" sz="3200" dirty="0">
                <a:latin typeface="Arial" panose="020B0604020202020204" pitchFamily="34" charset="0"/>
              </a:endParaRPr>
            </a:p>
            <a:p>
              <a:pPr marL="0" lvl="0" indent="0" eaLnBrk="1" hangingPunct="1">
                <a:buNone/>
              </a:pPr>
              <a:endParaRPr lang="en-US" altLang="zh-CN" sz="3200" dirty="0">
                <a:latin typeface="Arial" panose="020B0604020202020204" pitchFamily="34" charset="0"/>
              </a:endParaRPr>
            </a:p>
            <a:p>
              <a:pPr marL="0" lvl="0" indent="0" eaLnBrk="1" hangingPunct="1">
                <a:buNone/>
              </a:pPr>
              <a:endParaRPr lang="en-US" altLang="zh-CN" sz="3200" dirty="0">
                <a:solidFill>
                  <a:srgbClr val="0000CC"/>
                </a:solidFill>
                <a:latin typeface="Arial" panose="020B0604020202020204" pitchFamily="34" charset="0"/>
              </a:endParaRPr>
            </a:p>
          </p:txBody>
        </p:sp>
        <p:sp>
          <p:nvSpPr>
            <p:cNvPr id="15368" name="Line 7"/>
            <p:cNvSpPr/>
            <p:nvPr/>
          </p:nvSpPr>
          <p:spPr>
            <a:xfrm>
              <a:off x="612" y="1887"/>
              <a:ext cx="4853" cy="0"/>
            </a:xfrm>
            <a:prstGeom prst="line">
              <a:avLst/>
            </a:prstGeom>
            <a:ln w="12700" cap="flat" cmpd="sng">
              <a:solidFill>
                <a:srgbClr val="0000CC"/>
              </a:solidFill>
              <a:prstDash val="solid"/>
              <a:headEnd type="none" w="med" len="med"/>
              <a:tailEnd type="none" w="med" len="med"/>
            </a:ln>
          </p:spPr>
        </p:sp>
      </p:grpSp>
      <p:sp>
        <p:nvSpPr>
          <p:cNvPr id="342024" name="Rectangle 8"/>
          <p:cNvSpPr/>
          <p:nvPr/>
        </p:nvSpPr>
        <p:spPr>
          <a:xfrm>
            <a:off x="2268538" y="5949950"/>
            <a:ext cx="5289550" cy="641350"/>
          </a:xfrm>
          <a:prstGeom prst="rect">
            <a:avLst/>
          </a:prstGeom>
          <a:noFill/>
          <a:ln w="2857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dirty="0">
                <a:solidFill>
                  <a:srgbClr val="FF0000"/>
                </a:solidFill>
                <a:latin typeface="Arial" panose="020B0604020202020204" pitchFamily="34" charset="0"/>
              </a:rPr>
              <a:t>T1 </a:t>
            </a:r>
            <a:r>
              <a:rPr lang="zh-CN" altLang="en-US" dirty="0">
                <a:solidFill>
                  <a:srgbClr val="FF0000"/>
                </a:solidFill>
                <a:latin typeface="Arial" panose="020B0604020202020204" pitchFamily="34" charset="0"/>
              </a:rPr>
              <a:t>的修改被 </a:t>
            </a:r>
            <a:r>
              <a:rPr lang="en-US" altLang="zh-CN" dirty="0">
                <a:solidFill>
                  <a:srgbClr val="FF0000"/>
                </a:solidFill>
                <a:latin typeface="Arial" panose="020B0604020202020204" pitchFamily="34" charset="0"/>
              </a:rPr>
              <a:t>T2 </a:t>
            </a:r>
            <a:r>
              <a:rPr lang="zh-CN" altLang="en-US" dirty="0">
                <a:solidFill>
                  <a:srgbClr val="FF0000"/>
                </a:solidFill>
                <a:latin typeface="Arial" panose="020B0604020202020204" pitchFamily="34" charset="0"/>
              </a:rPr>
              <a:t>覆盖了！</a:t>
            </a:r>
            <a:endParaRPr lang="zh-CN" altLang="en-US" dirty="0">
              <a:solidFill>
                <a:srgbClr val="FF00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2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6" name="Rectangle 2"/>
          <p:cNvSpPr>
            <a:spLocks noGrp="1"/>
          </p:cNvSpPr>
          <p:nvPr>
            <p:ph idx="1"/>
          </p:nvPr>
        </p:nvSpPr>
        <p:spPr>
          <a:xfrm>
            <a:off x="223838" y="981075"/>
            <a:ext cx="8740775" cy="5715000"/>
          </a:xfrm>
        </p:spPr>
        <p:txBody>
          <a:bodyPr vert="horz" wrap="square" lIns="91440" tIns="45720" rIns="91440" bIns="45720" anchor="t" anchorCtr="0"/>
          <a:p>
            <a:pPr marL="0" indent="0" eaLnBrk="1" hangingPunct="1">
              <a:buNone/>
            </a:pPr>
            <a:r>
              <a:rPr lang="en-US" altLang="zh-CN" dirty="0">
                <a:solidFill>
                  <a:srgbClr val="0000CC"/>
                </a:solidFill>
                <a:latin typeface="Arial" panose="020B0604020202020204" pitchFamily="34" charset="0"/>
              </a:rPr>
              <a:t>(4) </a:t>
            </a:r>
            <a:r>
              <a:rPr lang="zh-CN" altLang="en-US" dirty="0">
                <a:solidFill>
                  <a:srgbClr val="0000CC"/>
                </a:solidFill>
                <a:latin typeface="Arial" panose="020B0604020202020204" pitchFamily="34" charset="0"/>
              </a:rPr>
              <a:t>持久性</a:t>
            </a:r>
            <a:r>
              <a:rPr lang="en-US" altLang="zh-CN" dirty="0">
                <a:solidFill>
                  <a:srgbClr val="010103"/>
                </a:solidFill>
                <a:latin typeface="Arial" panose="020B0604020202020204" pitchFamily="34" charset="0"/>
              </a:rPr>
              <a:t>( </a:t>
            </a:r>
            <a:r>
              <a:rPr lang="en-US" altLang="zh-CN" dirty="0">
                <a:solidFill>
                  <a:srgbClr val="FF0000"/>
                </a:solidFill>
                <a:latin typeface="Arial" panose="020B0604020202020204" pitchFamily="34" charset="0"/>
              </a:rPr>
              <a:t>D</a:t>
            </a:r>
            <a:r>
              <a:rPr lang="en-US" altLang="zh-CN" dirty="0">
                <a:solidFill>
                  <a:srgbClr val="010103"/>
                </a:solidFill>
                <a:latin typeface="Arial" panose="020B0604020202020204" pitchFamily="34" charset="0"/>
              </a:rPr>
              <a:t>urability)</a:t>
            </a:r>
            <a:r>
              <a:rPr lang="zh-CN" altLang="en-US" dirty="0">
                <a:solidFill>
                  <a:srgbClr val="010103"/>
                </a:solidFill>
                <a:latin typeface="Arial" panose="020B0604020202020204" pitchFamily="34" charset="0"/>
              </a:rPr>
              <a:t>：保证已交付事务的结果不丢失，且与以后的故障无关。</a:t>
            </a:r>
            <a:endParaRPr lang="zh-CN" altLang="en-US" dirty="0">
              <a:solidFill>
                <a:srgbClr val="010103"/>
              </a:solidFill>
              <a:latin typeface="Arial" panose="020B0604020202020204" pitchFamily="34" charset="0"/>
            </a:endParaRPr>
          </a:p>
          <a:p>
            <a:pPr marL="0" indent="0" eaLnBrk="1" hangingPunct="1">
              <a:buNone/>
            </a:pPr>
            <a:endParaRPr lang="zh-CN" altLang="en-US" dirty="0">
              <a:solidFill>
                <a:srgbClr val="010103"/>
              </a:solidFill>
              <a:latin typeface="Arial" panose="020B0604020202020204" pitchFamily="34" charset="0"/>
            </a:endParaRPr>
          </a:p>
          <a:p>
            <a:pPr marL="0" indent="0" eaLnBrk="1" hangingPunct="1">
              <a:buNone/>
            </a:pPr>
            <a:endParaRPr lang="zh-CN" altLang="en-US" dirty="0">
              <a:solidFill>
                <a:srgbClr val="010103"/>
              </a:solidFill>
              <a:latin typeface="Arial" panose="020B0604020202020204" pitchFamily="34" charset="0"/>
            </a:endParaRPr>
          </a:p>
          <a:p>
            <a:pPr marL="0" indent="0" eaLnBrk="1" hangingPunct="1">
              <a:buNone/>
            </a:pPr>
            <a:endParaRPr lang="zh-CN" altLang="en-US" dirty="0">
              <a:solidFill>
                <a:srgbClr val="010103"/>
              </a:solidFill>
              <a:latin typeface="Arial" panose="020B0604020202020204" pitchFamily="34" charset="0"/>
            </a:endParaRPr>
          </a:p>
          <a:p>
            <a:pPr marL="0" indent="0" eaLnBrk="1" hangingPunct="1">
              <a:buNone/>
            </a:pPr>
            <a:endParaRPr lang="zh-CN" altLang="en-US" dirty="0">
              <a:solidFill>
                <a:srgbClr val="010103"/>
              </a:solidFill>
              <a:latin typeface="Arial" panose="020B0604020202020204" pitchFamily="34" charset="0"/>
            </a:endParaRPr>
          </a:p>
          <a:p>
            <a:pPr marL="0" indent="0" eaLnBrk="1" hangingPunct="1">
              <a:buNone/>
            </a:pPr>
            <a:endParaRPr lang="zh-CN" altLang="en-US" dirty="0">
              <a:solidFill>
                <a:srgbClr val="010103"/>
              </a:solidFill>
              <a:latin typeface="Arial" panose="020B0604020202020204" pitchFamily="34" charset="0"/>
            </a:endParaRPr>
          </a:p>
          <a:p>
            <a:pPr marL="0" indent="0" eaLnBrk="1" hangingPunct="1">
              <a:buNone/>
            </a:pPr>
            <a:endParaRPr lang="zh-CN" altLang="en-US" dirty="0">
              <a:solidFill>
                <a:srgbClr val="010103"/>
              </a:solidFill>
              <a:latin typeface="Arial" panose="020B0604020202020204" pitchFamily="34" charset="0"/>
            </a:endParaRPr>
          </a:p>
          <a:p>
            <a:pPr marL="0" indent="0" eaLnBrk="1" hangingPunct="1">
              <a:lnSpc>
                <a:spcPct val="190000"/>
              </a:lnSpc>
              <a:buNone/>
            </a:pPr>
            <a:r>
              <a:rPr lang="zh-CN" altLang="en-US" dirty="0">
                <a:solidFill>
                  <a:srgbClr val="010103"/>
                </a:solidFill>
                <a:latin typeface="Arial" panose="020B0604020202020204" pitchFamily="34" charset="0"/>
              </a:rPr>
              <a:t>		</a:t>
            </a:r>
            <a:r>
              <a:rPr lang="en-US" altLang="zh-CN" dirty="0">
                <a:solidFill>
                  <a:srgbClr val="FF0000"/>
                </a:solidFill>
                <a:latin typeface="Arial" panose="020B0604020202020204" pitchFamily="34" charset="0"/>
              </a:rPr>
              <a:t>T2</a:t>
            </a:r>
            <a:r>
              <a:rPr lang="zh-CN" altLang="en-US" dirty="0">
                <a:solidFill>
                  <a:srgbClr val="FF0000"/>
                </a:solidFill>
                <a:latin typeface="Arial" panose="020B0604020202020204" pitchFamily="34" charset="0"/>
              </a:rPr>
              <a:t>提交的结果将丢失！</a:t>
            </a:r>
            <a:endParaRPr lang="zh-CN" altLang="en-US" dirty="0">
              <a:solidFill>
                <a:srgbClr val="FF0000"/>
              </a:solidFill>
              <a:latin typeface="Arial" panose="020B0604020202020204" pitchFamily="34" charset="0"/>
            </a:endParaRPr>
          </a:p>
        </p:txBody>
      </p:sp>
      <p:sp>
        <p:nvSpPr>
          <p:cNvPr id="34406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事务的</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ACID</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特性</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4"/>
          <p:cNvGrpSpPr/>
          <p:nvPr/>
        </p:nvGrpSpPr>
        <p:grpSpPr>
          <a:xfrm>
            <a:off x="827088" y="2281238"/>
            <a:ext cx="7740650" cy="3452812"/>
            <a:chOff x="703" y="1573"/>
            <a:chExt cx="4876" cy="2175"/>
          </a:xfrm>
        </p:grpSpPr>
        <p:sp>
          <p:nvSpPr>
            <p:cNvPr id="16389" name="Rectangle 5"/>
            <p:cNvSpPr/>
            <p:nvPr/>
          </p:nvSpPr>
          <p:spPr>
            <a:xfrm>
              <a:off x="3244" y="1573"/>
              <a:ext cx="2335" cy="2175"/>
            </a:xfrm>
            <a:prstGeom prst="rect">
              <a:avLst/>
            </a:prstGeom>
            <a:solidFill>
              <a:srgbClr val="CCFFCC"/>
            </a:solidFill>
            <a:ln w="28575" cap="flat" cmpd="sng">
              <a:solidFill>
                <a:srgbClr val="0000CC"/>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3200" dirty="0">
                  <a:solidFill>
                    <a:srgbClr val="FF0000"/>
                  </a:solidFill>
                  <a:latin typeface="Arial" panose="020B0604020202020204" pitchFamily="34" charset="0"/>
                </a:rPr>
                <a:t>T2</a:t>
              </a:r>
              <a:endParaRPr lang="en-US" altLang="zh-CN" sz="3200" dirty="0">
                <a:solidFill>
                  <a:srgbClr val="FF0000"/>
                </a:solidFill>
                <a:latin typeface="Arial" panose="020B0604020202020204" pitchFamily="34" charset="0"/>
              </a:endParaRPr>
            </a:p>
            <a:p>
              <a:pPr marL="0" lvl="0" indent="0" eaLnBrk="1" hangingPunct="1">
                <a:buNone/>
              </a:pPr>
              <a:endParaRPr lang="en-US" altLang="zh-CN" sz="3200" dirty="0">
                <a:solidFill>
                  <a:srgbClr val="0000CC"/>
                </a:solidFill>
                <a:latin typeface="Arial" panose="020B0604020202020204" pitchFamily="34" charset="0"/>
              </a:endParaRPr>
            </a:p>
            <a:p>
              <a:pPr marL="0" lvl="0" indent="0" eaLnBrk="1" hangingPunct="1">
                <a:buNone/>
              </a:pPr>
              <a:endParaRPr lang="en-US" altLang="zh-CN" sz="3200" dirty="0">
                <a:solidFill>
                  <a:srgbClr val="0000CC"/>
                </a:solidFill>
                <a:latin typeface="Arial" panose="020B0604020202020204" pitchFamily="34" charset="0"/>
              </a:endParaRPr>
            </a:p>
            <a:p>
              <a:pPr marL="0" lvl="0" indent="0" eaLnBrk="1" hangingPunct="1">
                <a:buNone/>
              </a:pPr>
              <a:r>
                <a:rPr lang="zh-CN" altLang="en-US" sz="3200" dirty="0">
                  <a:latin typeface="Arial" panose="020B0604020202020204" pitchFamily="34" charset="0"/>
                </a:rPr>
                <a:t>读</a:t>
              </a:r>
              <a:r>
                <a:rPr lang="en-US" altLang="zh-CN" sz="3200" dirty="0">
                  <a:latin typeface="Arial" panose="020B0604020202020204" pitchFamily="34" charset="0"/>
                </a:rPr>
                <a:t>A=15</a:t>
              </a: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A←A-3  </a:t>
              </a:r>
              <a:r>
                <a:rPr lang="zh-CN" altLang="en-US" sz="3200" dirty="0">
                  <a:latin typeface="Arial" panose="020B0604020202020204" pitchFamily="34" charset="0"/>
                </a:rPr>
                <a:t>写回</a:t>
              </a:r>
              <a:r>
                <a:rPr lang="en-US" altLang="zh-CN" sz="3200" dirty="0">
                  <a:latin typeface="Arial" panose="020B0604020202020204" pitchFamily="34" charset="0"/>
                </a:rPr>
                <a:t>A=12</a:t>
              </a: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COMMIT</a:t>
              </a:r>
              <a:endParaRPr lang="en-US" altLang="zh-CN" sz="3200" dirty="0">
                <a:latin typeface="Arial" panose="020B0604020202020204" pitchFamily="34" charset="0"/>
              </a:endParaRPr>
            </a:p>
          </p:txBody>
        </p:sp>
        <p:sp>
          <p:nvSpPr>
            <p:cNvPr id="16390" name="Rectangle 6"/>
            <p:cNvSpPr/>
            <p:nvPr/>
          </p:nvSpPr>
          <p:spPr>
            <a:xfrm>
              <a:off x="703" y="1573"/>
              <a:ext cx="2541" cy="2175"/>
            </a:xfrm>
            <a:prstGeom prst="rect">
              <a:avLst/>
            </a:prstGeom>
            <a:solidFill>
              <a:srgbClr val="FFDDDD"/>
            </a:solidFill>
            <a:ln w="28575" cap="flat" cmpd="sng">
              <a:solidFill>
                <a:srgbClr val="0000CC"/>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3200" dirty="0">
                  <a:solidFill>
                    <a:srgbClr val="FF0000"/>
                  </a:solidFill>
                  <a:latin typeface="Arial" panose="020B0604020202020204" pitchFamily="34" charset="0"/>
                </a:rPr>
                <a:t>T1</a:t>
              </a:r>
              <a:endParaRPr lang="en-US" altLang="zh-CN" sz="3200" dirty="0">
                <a:solidFill>
                  <a:srgbClr val="FF0000"/>
                </a:solidFill>
                <a:latin typeface="Arial" panose="020B0604020202020204" pitchFamily="34" charset="0"/>
              </a:endParaRPr>
            </a:p>
            <a:p>
              <a:pPr marL="0" lvl="0" indent="0" eaLnBrk="1" hangingPunct="1">
                <a:buNone/>
              </a:pPr>
              <a:r>
                <a:rPr lang="en-US" altLang="zh-CN" sz="3200" dirty="0">
                  <a:solidFill>
                    <a:srgbClr val="0000CC"/>
                  </a:solidFill>
                  <a:latin typeface="Arial" panose="020B0604020202020204" pitchFamily="34" charset="0"/>
                </a:rPr>
                <a:t> </a:t>
              </a:r>
              <a:r>
                <a:rPr lang="zh-CN" altLang="en-US" sz="3200" dirty="0">
                  <a:latin typeface="Arial" panose="020B0604020202020204" pitchFamily="34" charset="0"/>
                </a:rPr>
                <a:t>读</a:t>
              </a:r>
              <a:r>
                <a:rPr lang="en-US" altLang="zh-CN" sz="3200" dirty="0">
                  <a:latin typeface="Arial" panose="020B0604020202020204" pitchFamily="34" charset="0"/>
                </a:rPr>
                <a:t>A=16</a:t>
              </a: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 A←A-1 </a:t>
              </a:r>
              <a:r>
                <a:rPr lang="zh-CN" altLang="en-US" sz="3200" dirty="0">
                  <a:latin typeface="Arial" panose="020B0604020202020204" pitchFamily="34" charset="0"/>
                </a:rPr>
                <a:t>写回</a:t>
              </a:r>
              <a:r>
                <a:rPr lang="en-US" altLang="zh-CN" sz="3200" dirty="0">
                  <a:latin typeface="Arial" panose="020B0604020202020204" pitchFamily="34" charset="0"/>
                </a:rPr>
                <a:t>A=15</a:t>
              </a:r>
              <a:endParaRPr lang="en-US" altLang="zh-CN" sz="3200" dirty="0">
                <a:latin typeface="Arial" panose="020B0604020202020204" pitchFamily="34" charset="0"/>
              </a:endParaRPr>
            </a:p>
            <a:p>
              <a:pPr marL="0" lvl="0" indent="0" eaLnBrk="1" hangingPunct="1">
                <a:buNone/>
              </a:pP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 </a:t>
              </a:r>
              <a:endParaRPr lang="en-US" altLang="zh-CN" sz="3200" dirty="0">
                <a:latin typeface="Arial" panose="020B0604020202020204" pitchFamily="34" charset="0"/>
              </a:endParaRPr>
            </a:p>
            <a:p>
              <a:pPr marL="0" lvl="0" indent="0" eaLnBrk="1" hangingPunct="1">
                <a:buNone/>
              </a:pPr>
              <a:endParaRPr lang="en-US" altLang="zh-CN" sz="3200" dirty="0">
                <a:latin typeface="Arial" panose="020B0604020202020204" pitchFamily="34" charset="0"/>
              </a:endParaRPr>
            </a:p>
            <a:p>
              <a:pPr marL="0" lvl="0" indent="0" eaLnBrk="1" hangingPunct="1">
                <a:buNone/>
              </a:pPr>
              <a:r>
                <a:rPr lang="en-US" altLang="zh-CN" sz="3200" dirty="0">
                  <a:latin typeface="Arial" panose="020B0604020202020204" pitchFamily="34" charset="0"/>
                </a:rPr>
                <a:t>ROLLBACK</a:t>
              </a:r>
              <a:endParaRPr lang="en-US" altLang="zh-CN" sz="3200" dirty="0">
                <a:latin typeface="Arial" panose="020B0604020202020204" pitchFamily="34" charset="0"/>
              </a:endParaRPr>
            </a:p>
          </p:txBody>
        </p:sp>
        <p:sp>
          <p:nvSpPr>
            <p:cNvPr id="16391" name="Line 7"/>
            <p:cNvSpPr/>
            <p:nvPr/>
          </p:nvSpPr>
          <p:spPr>
            <a:xfrm>
              <a:off x="703" y="1887"/>
              <a:ext cx="4853" cy="0"/>
            </a:xfrm>
            <a:prstGeom prst="line">
              <a:avLst/>
            </a:prstGeom>
            <a:ln w="12700" cap="flat" cmpd="sng">
              <a:solidFill>
                <a:srgbClr val="000000"/>
              </a:solidFill>
              <a:prstDash val="solid"/>
              <a:headEnd type="none" w="med" len="med"/>
              <a:tailEnd type="none"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4066">
                                            <p:txEl>
                                              <p:charRg st="52" end="6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idx="1"/>
          </p:nvPr>
        </p:nvSpPr>
        <p:spPr>
          <a:xfrm>
            <a:off x="152400" y="1052513"/>
            <a:ext cx="8740775" cy="5273675"/>
          </a:xfrm>
        </p:spPr>
        <p:txBody>
          <a:bodyPr vert="horz" wrap="square" lIns="91440" tIns="45720" rIns="91440" bIns="45720" anchor="t" anchorCtr="0"/>
          <a:p>
            <a:pPr marL="365125" indent="-365125" defTabSz="914400" eaLnBrk="1" hangingPunct="1">
              <a:tabLst>
                <a:tab pos="898525" algn="l"/>
              </a:tabLst>
            </a:pPr>
            <a:r>
              <a:rPr lang="zh-CN" altLang="en-US" dirty="0">
                <a:latin typeface="Arial" panose="020B0604020202020204" pitchFamily="34" charset="0"/>
              </a:rPr>
              <a:t>破坏事务</a:t>
            </a:r>
            <a:r>
              <a:rPr lang="en-US" altLang="zh-CN" dirty="0">
                <a:latin typeface="Arial" panose="020B0604020202020204" pitchFamily="34" charset="0"/>
              </a:rPr>
              <a:t>ACID</a:t>
            </a:r>
            <a:r>
              <a:rPr lang="zh-CN" altLang="en-US" dirty="0">
                <a:latin typeface="Arial" panose="020B0604020202020204" pitchFamily="34" charset="0"/>
              </a:rPr>
              <a:t>特性的因素：</a:t>
            </a:r>
            <a:endParaRPr lang="zh-CN" altLang="en-US" dirty="0">
              <a:latin typeface="Arial" panose="020B0604020202020204" pitchFamily="34" charset="0"/>
            </a:endParaRPr>
          </a:p>
          <a:p>
            <a:pPr marL="981075" lvl="1" indent="-352425" defTabSz="914400" eaLnBrk="1" hangingPunct="1">
              <a:spcBef>
                <a:spcPct val="30000"/>
              </a:spcBef>
              <a:tabLst>
                <a:tab pos="898525" algn="l"/>
              </a:tabLst>
            </a:pPr>
            <a:r>
              <a:rPr lang="zh-CN" altLang="en-US" sz="3600" dirty="0">
                <a:latin typeface="Arial" panose="020B0604020202020204" pitchFamily="34" charset="0"/>
              </a:rPr>
              <a:t>多个事务</a:t>
            </a:r>
            <a:r>
              <a:rPr lang="zh-CN" altLang="en-US" sz="3600" dirty="0">
                <a:solidFill>
                  <a:srgbClr val="0000CC"/>
                </a:solidFill>
                <a:latin typeface="Arial" panose="020B0604020202020204" pitchFamily="34" charset="0"/>
              </a:rPr>
              <a:t>并发运行</a:t>
            </a:r>
            <a:r>
              <a:rPr lang="zh-CN" altLang="en-US" sz="3600" dirty="0">
                <a:latin typeface="Arial" panose="020B0604020202020204" pitchFamily="34" charset="0"/>
              </a:rPr>
              <a:t>时，不同事务的操作交叉执行。</a:t>
            </a:r>
            <a:endParaRPr lang="zh-CN" altLang="en-US" sz="3600" dirty="0">
              <a:latin typeface="Arial" panose="020B0604020202020204" pitchFamily="34" charset="0"/>
            </a:endParaRPr>
          </a:p>
          <a:p>
            <a:pPr marL="981075" lvl="1" indent="-352425" defTabSz="914400" eaLnBrk="1" hangingPunct="1">
              <a:spcBef>
                <a:spcPct val="30000"/>
              </a:spcBef>
              <a:tabLst>
                <a:tab pos="898525" algn="l"/>
              </a:tabLst>
            </a:pPr>
            <a:r>
              <a:rPr lang="zh-CN" altLang="en-US" sz="3600" dirty="0">
                <a:latin typeface="Arial" panose="020B0604020202020204" pitchFamily="34" charset="0"/>
              </a:rPr>
              <a:t>事务在运行过程中被</a:t>
            </a:r>
            <a:r>
              <a:rPr lang="zh-CN" altLang="en-US" sz="3600" dirty="0">
                <a:solidFill>
                  <a:srgbClr val="0000CC"/>
                </a:solidFill>
                <a:latin typeface="Arial" panose="020B0604020202020204" pitchFamily="34" charset="0"/>
              </a:rPr>
              <a:t>中止</a:t>
            </a:r>
            <a:r>
              <a:rPr lang="zh-CN" altLang="en-US" sz="3600" dirty="0">
                <a:latin typeface="Arial" panose="020B0604020202020204" pitchFamily="34" charset="0"/>
              </a:rPr>
              <a:t>。</a:t>
            </a:r>
            <a:endParaRPr lang="zh-CN" altLang="en-US" sz="3600" dirty="0">
              <a:latin typeface="Arial" panose="020B0604020202020204" pitchFamily="34" charset="0"/>
            </a:endParaRPr>
          </a:p>
          <a:p>
            <a:pPr marL="981075" lvl="1" indent="-352425" defTabSz="914400" eaLnBrk="1" hangingPunct="1">
              <a:spcBef>
                <a:spcPct val="30000"/>
              </a:spcBef>
              <a:buNone/>
              <a:tabLst>
                <a:tab pos="898525" algn="l"/>
              </a:tabLst>
            </a:pPr>
            <a:endParaRPr lang="zh-CN" altLang="en-US" sz="2800" dirty="0">
              <a:latin typeface="Arial" panose="020B0604020202020204" pitchFamily="34" charset="0"/>
            </a:endParaRPr>
          </a:p>
          <a:p>
            <a:pPr marL="365125" indent="-365125" defTabSz="914400" eaLnBrk="1" hangingPunct="1">
              <a:lnSpc>
                <a:spcPts val="4500"/>
              </a:lnSpc>
              <a:tabLst>
                <a:tab pos="898525" algn="l"/>
              </a:tabLst>
            </a:pPr>
            <a:r>
              <a:rPr lang="zh-CN" altLang="en-US" dirty="0">
                <a:latin typeface="Arial" panose="020B0604020202020204" pitchFamily="34" charset="0"/>
              </a:rPr>
              <a:t>在事务管理中既要保证事务的并发执行又要保证事务</a:t>
            </a:r>
            <a:r>
              <a:rPr lang="en-US" altLang="zh-CN" dirty="0">
                <a:latin typeface="Arial" panose="020B0604020202020204" pitchFamily="34" charset="0"/>
              </a:rPr>
              <a:t>ACID</a:t>
            </a:r>
            <a:r>
              <a:rPr lang="zh-CN" altLang="en-US" dirty="0">
                <a:latin typeface="Arial" panose="020B0604020202020204" pitchFamily="34" charset="0"/>
              </a:rPr>
              <a:t>特性。</a:t>
            </a:r>
            <a:endParaRPr lang="zh-CN" altLang="en-US" dirty="0">
              <a:latin typeface="Arial" panose="020B0604020202020204" pitchFamily="34" charset="0"/>
            </a:endParaRPr>
          </a:p>
          <a:p>
            <a:pPr marL="365125" indent="-365125" defTabSz="914400" eaLnBrk="1" hangingPunct="1">
              <a:tabLst>
                <a:tab pos="898525" algn="l"/>
              </a:tabLst>
            </a:pPr>
            <a:endParaRPr lang="en-US" altLang="zh-CN" dirty="0">
              <a:latin typeface="Arial" panose="020B0604020202020204" pitchFamily="34" charset="0"/>
            </a:endParaRPr>
          </a:p>
        </p:txBody>
      </p:sp>
      <p:sp>
        <p:nvSpPr>
          <p:cNvPr id="3461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8.1.4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事务的</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ACID</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特性</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8435" name="Rectangle 3"/>
          <p:cNvSpPr>
            <a:spLocks noGrp="1"/>
          </p:cNvSpPr>
          <p:nvPr>
            <p:ph idx="1"/>
          </p:nvPr>
        </p:nvSpPr>
        <p:spPr>
          <a:xfrm>
            <a:off x="1231900" y="981075"/>
            <a:ext cx="7372350" cy="5434013"/>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8.1 </a:t>
            </a:r>
            <a:r>
              <a:rPr lang="zh-CN" altLang="en-US" dirty="0">
                <a:latin typeface="Arial" panose="020B0604020202020204" pitchFamily="34" charset="0"/>
              </a:rPr>
              <a:t>事务的基本概念</a:t>
            </a:r>
            <a:endParaRPr lang="zh-CN" altLang="en-US" dirty="0">
              <a:latin typeface="Arial" panose="020B0604020202020204" pitchFamily="34" charset="0"/>
            </a:endParaRPr>
          </a:p>
          <a:p>
            <a:pPr eaLnBrk="1" hangingPunct="1">
              <a:lnSpc>
                <a:spcPct val="140000"/>
              </a:lnSpc>
              <a:buNone/>
            </a:pPr>
            <a:r>
              <a:rPr lang="en-US" altLang="zh-CN" dirty="0">
                <a:solidFill>
                  <a:srgbClr val="0000CC"/>
                </a:solidFill>
                <a:latin typeface="Arial" panose="020B0604020202020204" pitchFamily="34" charset="0"/>
              </a:rPr>
              <a:t>8.2 </a:t>
            </a:r>
            <a:r>
              <a:rPr lang="zh-CN" altLang="en-US" dirty="0">
                <a:solidFill>
                  <a:srgbClr val="0000CC"/>
                </a:solidFill>
                <a:latin typeface="Arial" panose="020B0604020202020204" pitchFamily="34" charset="0"/>
              </a:rPr>
              <a:t>事务的并发执行与调度</a:t>
            </a:r>
            <a:endParaRPr lang="zh-CN" altLang="en-US" dirty="0">
              <a:solidFill>
                <a:srgbClr val="0000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8.3 </a:t>
            </a:r>
            <a:r>
              <a:rPr lang="zh-CN" altLang="en-US" dirty="0">
                <a:latin typeface="Arial" panose="020B0604020202020204" pitchFamily="34" charset="0"/>
              </a:rPr>
              <a:t>基于锁的并发控制</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8.4 </a:t>
            </a:r>
            <a:r>
              <a:rPr lang="zh-CN" altLang="en-US" dirty="0"/>
              <a:t>数据库恢复</a:t>
            </a:r>
            <a:endParaRPr lang="zh-CN" altLang="en-US" dirty="0"/>
          </a:p>
        </p:txBody>
      </p:sp>
    </p:spTree>
  </p:cSld>
  <p:clrMapOvr>
    <a:masterClrMapping/>
  </p:clrMapOvr>
  <p:transition>
    <p:random/>
    <p:sndAc>
      <p:stSnd>
        <p:snd r:embed="rId1"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8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8.2.1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事务并发执行</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30083" name="Rectangle 3"/>
          <p:cNvSpPr>
            <a:spLocks noGrp="1"/>
          </p:cNvSpPr>
          <p:nvPr>
            <p:ph idx="1"/>
          </p:nvPr>
        </p:nvSpPr>
        <p:spPr>
          <a:xfrm>
            <a:off x="152400" y="1054100"/>
            <a:ext cx="8848725" cy="5543550"/>
          </a:xfrm>
        </p:spPr>
        <p:txBody>
          <a:bodyPr vert="horz" wrap="square" lIns="91440" tIns="45720" rIns="91440" bIns="45720" anchor="t" anchorCtr="0"/>
          <a:p>
            <a:pPr eaLnBrk="1" hangingPunct="1">
              <a:lnSpc>
                <a:spcPct val="90000"/>
              </a:lnSpc>
            </a:pPr>
            <a:r>
              <a:rPr lang="zh-CN" altLang="en-US" dirty="0">
                <a:solidFill>
                  <a:srgbClr val="FF0000"/>
                </a:solidFill>
              </a:rPr>
              <a:t>串行执行</a:t>
            </a:r>
            <a:r>
              <a:rPr lang="zh-CN" altLang="en-US" dirty="0"/>
              <a:t>：</a:t>
            </a:r>
            <a:r>
              <a:rPr lang="zh-CN" altLang="en-US" sz="3200" dirty="0"/>
              <a:t>当一个事务完全结束，另一个事务才开始执行</a:t>
            </a:r>
            <a:endParaRPr lang="en-US" altLang="zh-CN" dirty="0"/>
          </a:p>
          <a:p>
            <a:pPr eaLnBrk="1" hangingPunct="1">
              <a:lnSpc>
                <a:spcPct val="90000"/>
              </a:lnSpc>
            </a:pPr>
            <a:endParaRPr lang="en-US" altLang="zh-CN" dirty="0"/>
          </a:p>
          <a:p>
            <a:pPr eaLnBrk="1" hangingPunct="1">
              <a:lnSpc>
                <a:spcPct val="90000"/>
              </a:lnSpc>
            </a:pPr>
            <a:endParaRPr lang="en-US" altLang="zh-CN" dirty="0"/>
          </a:p>
          <a:p>
            <a:pPr eaLnBrk="1" hangingPunct="1">
              <a:lnSpc>
                <a:spcPct val="90000"/>
              </a:lnSpc>
            </a:pPr>
            <a:endParaRPr lang="en-US" altLang="zh-CN" dirty="0"/>
          </a:p>
          <a:p>
            <a:pPr eaLnBrk="1" hangingPunct="1">
              <a:lnSpc>
                <a:spcPct val="90000"/>
              </a:lnSpc>
            </a:pPr>
            <a:endParaRPr lang="en-US" altLang="zh-CN" sz="4000" dirty="0"/>
          </a:p>
          <a:p>
            <a:pPr eaLnBrk="1" hangingPunct="1">
              <a:lnSpc>
                <a:spcPct val="90000"/>
              </a:lnSpc>
            </a:pPr>
            <a:r>
              <a:rPr lang="zh-CN" altLang="en-US" dirty="0">
                <a:solidFill>
                  <a:srgbClr val="FF0000"/>
                </a:solidFill>
              </a:rPr>
              <a:t>并行执行</a:t>
            </a:r>
            <a:r>
              <a:rPr lang="zh-CN" altLang="en-US" dirty="0"/>
              <a:t>：</a:t>
            </a:r>
            <a:r>
              <a:rPr lang="zh-CN" altLang="en-US" sz="3200" dirty="0"/>
              <a:t>事务在时间上可重叠执行</a:t>
            </a:r>
            <a:endParaRPr lang="en-US" altLang="zh-CN" dirty="0"/>
          </a:p>
          <a:p>
            <a:pPr eaLnBrk="1" hangingPunct="1">
              <a:lnSpc>
                <a:spcPct val="90000"/>
              </a:lnSpc>
              <a:spcBef>
                <a:spcPct val="40000"/>
              </a:spcBef>
              <a:buNone/>
            </a:pPr>
            <a:r>
              <a:rPr lang="en-US" altLang="zh-CN" dirty="0"/>
              <a:t>   </a:t>
            </a:r>
            <a:endParaRPr lang="zh-CN" altLang="en-US" sz="2800" dirty="0"/>
          </a:p>
        </p:txBody>
      </p:sp>
      <p:grpSp>
        <p:nvGrpSpPr>
          <p:cNvPr id="19460" name="组合 23"/>
          <p:cNvGrpSpPr/>
          <p:nvPr/>
        </p:nvGrpSpPr>
        <p:grpSpPr>
          <a:xfrm>
            <a:off x="642938" y="2241550"/>
            <a:ext cx="7688262" cy="1830388"/>
            <a:chOff x="642910" y="2285992"/>
            <a:chExt cx="7688975" cy="1830655"/>
          </a:xfrm>
        </p:grpSpPr>
        <p:cxnSp>
          <p:nvCxnSpPr>
            <p:cNvPr id="19477" name="直接箭头连接符 4"/>
            <p:cNvCxnSpPr/>
            <p:nvPr/>
          </p:nvCxnSpPr>
          <p:spPr>
            <a:xfrm>
              <a:off x="928662" y="3714752"/>
              <a:ext cx="6929486" cy="1588"/>
            </a:xfrm>
            <a:prstGeom prst="straightConnector1">
              <a:avLst/>
            </a:prstGeom>
            <a:ln w="28575" cap="flat" cmpd="sng">
              <a:solidFill>
                <a:srgbClr val="000000"/>
              </a:solidFill>
              <a:prstDash val="solid"/>
              <a:headEnd type="none" w="med" len="med"/>
              <a:tailEnd type="arrow" w="med" len="med"/>
            </a:ln>
          </p:spPr>
        </p:cxnSp>
        <p:sp>
          <p:nvSpPr>
            <p:cNvPr id="19478" name="矩形 5"/>
            <p:cNvSpPr/>
            <p:nvPr/>
          </p:nvSpPr>
          <p:spPr>
            <a:xfrm>
              <a:off x="1928794" y="2428868"/>
              <a:ext cx="1643074" cy="990217"/>
            </a:xfrm>
            <a:prstGeom prst="rect">
              <a:avLst/>
            </a:prstGeom>
            <a:noFill/>
            <a:ln w="28575" cap="flat" cmpd="sng">
              <a:solidFill>
                <a:srgbClr val="000000"/>
              </a:solidFill>
              <a:prstDash val="solid"/>
              <a:round/>
              <a:headEnd type="none" w="med" len="med"/>
              <a:tailEnd type="none" w="med" len="med"/>
            </a:ln>
          </p:spPr>
          <p:txBody>
            <a:bodyPr tIns="216000" bIns="216000">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dirty="0">
                  <a:latin typeface="Arial" panose="020B0604020202020204" pitchFamily="34" charset="0"/>
                </a:rPr>
                <a:t>DBMS</a:t>
              </a:r>
              <a:endParaRPr lang="zh-CN" altLang="en-US" dirty="0">
                <a:latin typeface="Arial" panose="020B0604020202020204" pitchFamily="34" charset="0"/>
              </a:endParaRPr>
            </a:p>
          </p:txBody>
        </p:sp>
        <p:sp>
          <p:nvSpPr>
            <p:cNvPr id="7" name="Text Box 31"/>
            <p:cNvSpPr txBox="1">
              <a:spLocks noChangeArrowheads="1"/>
            </p:cNvSpPr>
            <p:nvPr/>
          </p:nvSpPr>
          <p:spPr bwMode="auto">
            <a:xfrm>
              <a:off x="7833364" y="3532362"/>
              <a:ext cx="498521" cy="5842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t</a:t>
              </a:r>
              <a:endParaRPr kumimoji="0" lang="zh-CN" altLang="en-US" sz="3200" kern="1200" cap="none" spc="0" normalizeH="0" baseline="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80" name="直接连接符 8"/>
            <p:cNvCxnSpPr/>
            <p:nvPr/>
          </p:nvCxnSpPr>
          <p:spPr>
            <a:xfrm>
              <a:off x="3857620" y="3067048"/>
              <a:ext cx="1500198" cy="1588"/>
            </a:xfrm>
            <a:prstGeom prst="line">
              <a:avLst/>
            </a:prstGeom>
            <a:ln w="28575" cap="flat" cmpd="sng">
              <a:solidFill>
                <a:srgbClr val="000000"/>
              </a:solidFill>
              <a:prstDash val="solid"/>
              <a:headEnd type="none" w="med" len="med"/>
              <a:tailEnd type="none" w="med" len="med"/>
            </a:ln>
          </p:spPr>
        </p:cxnSp>
        <p:cxnSp>
          <p:nvCxnSpPr>
            <p:cNvPr id="19481" name="直接连接符 9"/>
            <p:cNvCxnSpPr/>
            <p:nvPr/>
          </p:nvCxnSpPr>
          <p:spPr>
            <a:xfrm>
              <a:off x="5703576" y="3067048"/>
              <a:ext cx="1071570" cy="1588"/>
            </a:xfrm>
            <a:prstGeom prst="line">
              <a:avLst/>
            </a:prstGeom>
            <a:ln w="28575" cap="flat" cmpd="sng">
              <a:solidFill>
                <a:srgbClr val="000000"/>
              </a:solidFill>
              <a:prstDash val="solid"/>
              <a:headEnd type="none" w="med" len="med"/>
              <a:tailEnd type="none" w="med" len="med"/>
            </a:ln>
          </p:spPr>
        </p:cxnSp>
        <p:cxnSp>
          <p:nvCxnSpPr>
            <p:cNvPr id="19482" name="直接连接符 10"/>
            <p:cNvCxnSpPr/>
            <p:nvPr/>
          </p:nvCxnSpPr>
          <p:spPr>
            <a:xfrm>
              <a:off x="7072330" y="3067048"/>
              <a:ext cx="1071570" cy="1588"/>
            </a:xfrm>
            <a:prstGeom prst="line">
              <a:avLst/>
            </a:prstGeom>
            <a:ln w="28575" cap="flat" cmpd="sng">
              <a:solidFill>
                <a:srgbClr val="000000"/>
              </a:solidFill>
              <a:prstDash val="solid"/>
              <a:headEnd type="none" w="med" len="med"/>
              <a:tailEnd type="none" w="med" len="med"/>
            </a:ln>
          </p:spPr>
        </p:cxnSp>
        <p:sp>
          <p:nvSpPr>
            <p:cNvPr id="13" name="Text Box 31"/>
            <p:cNvSpPr txBox="1">
              <a:spLocks noChangeArrowheads="1"/>
            </p:cNvSpPr>
            <p:nvPr/>
          </p:nvSpPr>
          <p:spPr bwMode="auto">
            <a:xfrm>
              <a:off x="642910" y="2285992"/>
              <a:ext cx="642997" cy="462030"/>
            </a:xfrm>
            <a:prstGeom prst="rect">
              <a:avLst/>
            </a:prstGeom>
            <a:noFill/>
            <a:ln w="9525">
              <a:noFill/>
              <a:miter lim="800000"/>
            </a:ln>
            <a:effectLst/>
          </p:spPr>
          <p:txBody>
            <a:bodyPr>
              <a:spAutoFit/>
            </a:bodyPr>
            <a:lstStyle/>
            <a:p>
              <a:pPr marR="0" defTabSz="914400">
                <a:buClrTx/>
                <a:buSzTx/>
                <a:buFontTx/>
                <a:buNone/>
                <a:defRPr/>
              </a:pPr>
              <a:r>
                <a:rPr kumimoji="0" lang="en-US" altLang="zh-CN" sz="24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1</a:t>
              </a:r>
              <a:endParaRPr kumimoji="0" lang="zh-CN" altLang="en-US"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sp>
          <p:nvSpPr>
            <p:cNvPr id="14" name="Text Box 31"/>
            <p:cNvSpPr txBox="1">
              <a:spLocks noChangeArrowheads="1"/>
            </p:cNvSpPr>
            <p:nvPr/>
          </p:nvSpPr>
          <p:spPr bwMode="auto">
            <a:xfrm>
              <a:off x="5858331" y="2428888"/>
              <a:ext cx="642998" cy="5842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2</a:t>
              </a:r>
              <a:endParaRPr kumimoji="0" lang="zh-CN" altLang="en-US"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sp>
          <p:nvSpPr>
            <p:cNvPr id="15" name="Text Box 31"/>
            <p:cNvSpPr txBox="1">
              <a:spLocks noChangeArrowheads="1"/>
            </p:cNvSpPr>
            <p:nvPr/>
          </p:nvSpPr>
          <p:spPr bwMode="auto">
            <a:xfrm>
              <a:off x="4215116" y="2428888"/>
              <a:ext cx="642997" cy="5842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3</a:t>
              </a:r>
              <a:endParaRPr kumimoji="0" lang="zh-CN" altLang="en-US"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86" name="直接箭头连接符 16"/>
            <p:cNvCxnSpPr/>
            <p:nvPr/>
          </p:nvCxnSpPr>
          <p:spPr>
            <a:xfrm>
              <a:off x="1285852" y="2571744"/>
              <a:ext cx="642942" cy="1588"/>
            </a:xfrm>
            <a:prstGeom prst="straightConnector1">
              <a:avLst/>
            </a:prstGeom>
            <a:ln w="28575" cap="flat" cmpd="sng">
              <a:solidFill>
                <a:srgbClr val="000000"/>
              </a:solidFill>
              <a:prstDash val="solid"/>
              <a:headEnd type="none" w="med" len="med"/>
              <a:tailEnd type="arrow" w="med" len="med"/>
            </a:ln>
          </p:spPr>
        </p:cxnSp>
        <p:sp>
          <p:nvSpPr>
            <p:cNvPr id="19" name="Text Box 31"/>
            <p:cNvSpPr txBox="1">
              <a:spLocks noChangeArrowheads="1"/>
            </p:cNvSpPr>
            <p:nvPr/>
          </p:nvSpPr>
          <p:spPr bwMode="auto">
            <a:xfrm>
              <a:off x="642910" y="2673399"/>
              <a:ext cx="642997" cy="462030"/>
            </a:xfrm>
            <a:prstGeom prst="rect">
              <a:avLst/>
            </a:prstGeom>
            <a:noFill/>
            <a:ln w="9525">
              <a:noFill/>
              <a:miter lim="800000"/>
            </a:ln>
            <a:effectLst/>
          </p:spPr>
          <p:txBody>
            <a:bodyPr>
              <a:spAutoFit/>
            </a:bodyPr>
            <a:lstStyle/>
            <a:p>
              <a:pPr marR="0" defTabSz="914400">
                <a:buClrTx/>
                <a:buSzTx/>
                <a:buFontTx/>
                <a:buNone/>
                <a:defRPr/>
              </a:pPr>
              <a:r>
                <a:rPr kumimoji="0" lang="en-US" altLang="zh-CN" sz="24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2</a:t>
              </a:r>
              <a:endParaRPr kumimoji="0" lang="zh-CN" altLang="en-US"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88" name="直接箭头连接符 19"/>
            <p:cNvCxnSpPr/>
            <p:nvPr/>
          </p:nvCxnSpPr>
          <p:spPr>
            <a:xfrm>
              <a:off x="1285852" y="2959414"/>
              <a:ext cx="642942" cy="1588"/>
            </a:xfrm>
            <a:prstGeom prst="straightConnector1">
              <a:avLst/>
            </a:prstGeom>
            <a:ln w="28575" cap="flat" cmpd="sng">
              <a:solidFill>
                <a:srgbClr val="000000"/>
              </a:solidFill>
              <a:prstDash val="solid"/>
              <a:headEnd type="none" w="med" len="med"/>
              <a:tailEnd type="arrow" w="med" len="med"/>
            </a:ln>
          </p:spPr>
        </p:cxnSp>
        <p:sp>
          <p:nvSpPr>
            <p:cNvPr id="21" name="Text Box 31"/>
            <p:cNvSpPr txBox="1">
              <a:spLocks noChangeArrowheads="1"/>
            </p:cNvSpPr>
            <p:nvPr/>
          </p:nvSpPr>
          <p:spPr bwMode="auto">
            <a:xfrm>
              <a:off x="642910" y="3071920"/>
              <a:ext cx="642997" cy="462029"/>
            </a:xfrm>
            <a:prstGeom prst="rect">
              <a:avLst/>
            </a:prstGeom>
            <a:noFill/>
            <a:ln w="9525">
              <a:noFill/>
              <a:miter lim="800000"/>
            </a:ln>
            <a:effectLst/>
          </p:spPr>
          <p:txBody>
            <a:bodyPr>
              <a:spAutoFit/>
            </a:bodyPr>
            <a:lstStyle/>
            <a:p>
              <a:pPr marR="0" defTabSz="914400">
                <a:buClrTx/>
                <a:buSzTx/>
                <a:buFontTx/>
                <a:buNone/>
                <a:defRPr/>
              </a:pPr>
              <a:r>
                <a:rPr kumimoji="0" lang="en-US" altLang="zh-CN" sz="24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3</a:t>
              </a:r>
              <a:endParaRPr kumimoji="0" lang="zh-CN" altLang="en-US"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90" name="直接箭头连接符 21"/>
            <p:cNvCxnSpPr/>
            <p:nvPr/>
          </p:nvCxnSpPr>
          <p:spPr>
            <a:xfrm>
              <a:off x="1285852" y="3357562"/>
              <a:ext cx="642942" cy="1588"/>
            </a:xfrm>
            <a:prstGeom prst="straightConnector1">
              <a:avLst/>
            </a:prstGeom>
            <a:ln w="28575" cap="flat" cmpd="sng">
              <a:solidFill>
                <a:srgbClr val="000000"/>
              </a:solidFill>
              <a:prstDash val="solid"/>
              <a:headEnd type="none" w="med" len="med"/>
              <a:tailEnd type="arrow" w="med" len="med"/>
            </a:ln>
          </p:spPr>
        </p:cxnSp>
        <p:sp>
          <p:nvSpPr>
            <p:cNvPr id="23" name="Text Box 31"/>
            <p:cNvSpPr txBox="1">
              <a:spLocks noChangeArrowheads="1"/>
            </p:cNvSpPr>
            <p:nvPr/>
          </p:nvSpPr>
          <p:spPr bwMode="auto">
            <a:xfrm>
              <a:off x="7287213" y="2428888"/>
              <a:ext cx="642998" cy="5842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1</a:t>
              </a:r>
              <a:endParaRPr kumimoji="0" lang="zh-CN" altLang="en-US"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grpSp>
      <p:grpSp>
        <p:nvGrpSpPr>
          <p:cNvPr id="3" name="组合 42"/>
          <p:cNvGrpSpPr/>
          <p:nvPr/>
        </p:nvGrpSpPr>
        <p:grpSpPr>
          <a:xfrm>
            <a:off x="741363" y="4691063"/>
            <a:ext cx="7688262" cy="1952625"/>
            <a:chOff x="714348" y="4521526"/>
            <a:chExt cx="7688975" cy="1952575"/>
          </a:xfrm>
        </p:grpSpPr>
        <p:cxnSp>
          <p:nvCxnSpPr>
            <p:cNvPr id="19462" name="直接箭头连接符 25"/>
            <p:cNvCxnSpPr/>
            <p:nvPr/>
          </p:nvCxnSpPr>
          <p:spPr>
            <a:xfrm>
              <a:off x="1000100" y="6072206"/>
              <a:ext cx="6929486" cy="1588"/>
            </a:xfrm>
            <a:prstGeom prst="straightConnector1">
              <a:avLst/>
            </a:prstGeom>
            <a:ln w="28575" cap="flat" cmpd="sng">
              <a:solidFill>
                <a:srgbClr val="000000"/>
              </a:solidFill>
              <a:prstDash val="solid"/>
              <a:headEnd type="none" w="med" len="med"/>
              <a:tailEnd type="arrow" w="med" len="med"/>
            </a:ln>
          </p:spPr>
        </p:cxnSp>
        <p:sp>
          <p:nvSpPr>
            <p:cNvPr id="19463" name="矩形 26"/>
            <p:cNvSpPr/>
            <p:nvPr/>
          </p:nvSpPr>
          <p:spPr>
            <a:xfrm>
              <a:off x="2000232" y="4786322"/>
              <a:ext cx="1643074" cy="990217"/>
            </a:xfrm>
            <a:prstGeom prst="rect">
              <a:avLst/>
            </a:prstGeom>
            <a:noFill/>
            <a:ln w="28575" cap="flat" cmpd="sng">
              <a:solidFill>
                <a:srgbClr val="000000"/>
              </a:solidFill>
              <a:prstDash val="solid"/>
              <a:round/>
              <a:headEnd type="none" w="med" len="med"/>
              <a:tailEnd type="none" w="med" len="med"/>
            </a:ln>
          </p:spPr>
          <p:txBody>
            <a:bodyPr tIns="216000" bIns="216000">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dirty="0">
                  <a:latin typeface="Arial" panose="020B0604020202020204" pitchFamily="34" charset="0"/>
                </a:rPr>
                <a:t>DBMS</a:t>
              </a:r>
              <a:endParaRPr lang="zh-CN" altLang="en-US" dirty="0">
                <a:latin typeface="Arial" panose="020B0604020202020204" pitchFamily="34" charset="0"/>
              </a:endParaRPr>
            </a:p>
          </p:txBody>
        </p:sp>
        <p:sp>
          <p:nvSpPr>
            <p:cNvPr id="28" name="Text Box 31"/>
            <p:cNvSpPr txBox="1">
              <a:spLocks noChangeArrowheads="1"/>
            </p:cNvSpPr>
            <p:nvPr/>
          </p:nvSpPr>
          <p:spPr bwMode="auto">
            <a:xfrm>
              <a:off x="7904802" y="5889916"/>
              <a:ext cx="498521" cy="5841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t</a:t>
              </a:r>
              <a:endParaRPr kumimoji="0" lang="zh-CN" altLang="en-US" sz="3200" kern="1200" cap="none" spc="0" normalizeH="0" baseline="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65" name="直接连接符 28"/>
            <p:cNvCxnSpPr/>
            <p:nvPr/>
          </p:nvCxnSpPr>
          <p:spPr>
            <a:xfrm>
              <a:off x="4643438" y="5786454"/>
              <a:ext cx="2857520" cy="1588"/>
            </a:xfrm>
            <a:prstGeom prst="line">
              <a:avLst/>
            </a:prstGeom>
            <a:ln w="28575" cap="flat" cmpd="sng">
              <a:solidFill>
                <a:srgbClr val="000000"/>
              </a:solidFill>
              <a:prstDash val="solid"/>
              <a:headEnd type="none" w="med" len="med"/>
              <a:tailEnd type="none" w="med" len="med"/>
            </a:ln>
          </p:spPr>
        </p:cxnSp>
        <p:cxnSp>
          <p:nvCxnSpPr>
            <p:cNvPr id="19466" name="直接连接符 29"/>
            <p:cNvCxnSpPr/>
            <p:nvPr/>
          </p:nvCxnSpPr>
          <p:spPr>
            <a:xfrm>
              <a:off x="5203510" y="5500702"/>
              <a:ext cx="1071570" cy="1588"/>
            </a:xfrm>
            <a:prstGeom prst="line">
              <a:avLst/>
            </a:prstGeom>
            <a:ln w="28575" cap="flat" cmpd="sng">
              <a:solidFill>
                <a:srgbClr val="000000"/>
              </a:solidFill>
              <a:prstDash val="solid"/>
              <a:headEnd type="none" w="med" len="med"/>
              <a:tailEnd type="none" w="med" len="med"/>
            </a:ln>
          </p:spPr>
        </p:cxnSp>
        <p:cxnSp>
          <p:nvCxnSpPr>
            <p:cNvPr id="19467" name="直接连接符 30"/>
            <p:cNvCxnSpPr/>
            <p:nvPr/>
          </p:nvCxnSpPr>
          <p:spPr>
            <a:xfrm>
              <a:off x="4214810" y="5159706"/>
              <a:ext cx="1071570" cy="1588"/>
            </a:xfrm>
            <a:prstGeom prst="line">
              <a:avLst/>
            </a:prstGeom>
            <a:ln w="28575" cap="flat" cmpd="sng">
              <a:solidFill>
                <a:srgbClr val="000000"/>
              </a:solidFill>
              <a:prstDash val="solid"/>
              <a:headEnd type="none" w="med" len="med"/>
              <a:tailEnd type="none" w="med" len="med"/>
            </a:ln>
          </p:spPr>
        </p:cxnSp>
        <p:sp>
          <p:nvSpPr>
            <p:cNvPr id="32" name="Text Box 31"/>
            <p:cNvSpPr txBox="1">
              <a:spLocks noChangeArrowheads="1"/>
            </p:cNvSpPr>
            <p:nvPr/>
          </p:nvSpPr>
          <p:spPr bwMode="auto">
            <a:xfrm>
              <a:off x="714348" y="4643760"/>
              <a:ext cx="642997" cy="461951"/>
            </a:xfrm>
            <a:prstGeom prst="rect">
              <a:avLst/>
            </a:prstGeom>
            <a:noFill/>
            <a:ln w="9525">
              <a:noFill/>
              <a:miter lim="800000"/>
            </a:ln>
            <a:effectLst/>
          </p:spPr>
          <p:txBody>
            <a:bodyPr>
              <a:spAutoFit/>
            </a:bodyPr>
            <a:lstStyle/>
            <a:p>
              <a:pPr marR="0" defTabSz="914400">
                <a:buClrTx/>
                <a:buSzTx/>
                <a:buFontTx/>
                <a:buNone/>
                <a:defRPr/>
              </a:pPr>
              <a:r>
                <a:rPr kumimoji="0" lang="en-US" altLang="zh-CN" sz="24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1</a:t>
              </a:r>
              <a:endParaRPr kumimoji="0" lang="zh-CN" altLang="en-US"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sp>
          <p:nvSpPr>
            <p:cNvPr id="33" name="Text Box 31"/>
            <p:cNvSpPr txBox="1">
              <a:spLocks noChangeArrowheads="1"/>
            </p:cNvSpPr>
            <p:nvPr/>
          </p:nvSpPr>
          <p:spPr bwMode="auto">
            <a:xfrm>
              <a:off x="5572549" y="4858067"/>
              <a:ext cx="714441" cy="5841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2</a:t>
              </a:r>
              <a:endParaRPr kumimoji="0" lang="zh-CN" altLang="en-US"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sp>
          <p:nvSpPr>
            <p:cNvPr id="34" name="Text Box 31"/>
            <p:cNvSpPr txBox="1">
              <a:spLocks noChangeArrowheads="1"/>
            </p:cNvSpPr>
            <p:nvPr/>
          </p:nvSpPr>
          <p:spPr bwMode="auto">
            <a:xfrm>
              <a:off x="6858543" y="5143810"/>
              <a:ext cx="642997" cy="5841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3</a:t>
              </a:r>
              <a:endParaRPr kumimoji="0" lang="zh-CN" altLang="en-US"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71" name="直接箭头连接符 34"/>
            <p:cNvCxnSpPr/>
            <p:nvPr/>
          </p:nvCxnSpPr>
          <p:spPr>
            <a:xfrm>
              <a:off x="1357290" y="4929198"/>
              <a:ext cx="642942" cy="1588"/>
            </a:xfrm>
            <a:prstGeom prst="straightConnector1">
              <a:avLst/>
            </a:prstGeom>
            <a:ln w="28575" cap="flat" cmpd="sng">
              <a:solidFill>
                <a:srgbClr val="000000"/>
              </a:solidFill>
              <a:prstDash val="solid"/>
              <a:headEnd type="none" w="med" len="med"/>
              <a:tailEnd type="arrow" w="med" len="med"/>
            </a:ln>
          </p:spPr>
        </p:cxnSp>
        <p:sp>
          <p:nvSpPr>
            <p:cNvPr id="36" name="Text Box 31"/>
            <p:cNvSpPr txBox="1">
              <a:spLocks noChangeArrowheads="1"/>
            </p:cNvSpPr>
            <p:nvPr/>
          </p:nvSpPr>
          <p:spPr bwMode="auto">
            <a:xfrm>
              <a:off x="714348" y="5031100"/>
              <a:ext cx="642997" cy="461951"/>
            </a:xfrm>
            <a:prstGeom prst="rect">
              <a:avLst/>
            </a:prstGeom>
            <a:noFill/>
            <a:ln w="9525">
              <a:noFill/>
              <a:miter lim="800000"/>
            </a:ln>
            <a:effectLst/>
          </p:spPr>
          <p:txBody>
            <a:bodyPr>
              <a:spAutoFit/>
            </a:bodyPr>
            <a:lstStyle/>
            <a:p>
              <a:pPr marR="0" defTabSz="914400">
                <a:buClrTx/>
                <a:buSzTx/>
                <a:buFontTx/>
                <a:buNone/>
                <a:defRPr/>
              </a:pPr>
              <a:r>
                <a:rPr kumimoji="0" lang="en-US" altLang="zh-CN" sz="24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2</a:t>
              </a:r>
              <a:endParaRPr kumimoji="0" lang="zh-CN" altLang="en-US"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73" name="直接箭头连接符 36"/>
            <p:cNvCxnSpPr/>
            <p:nvPr/>
          </p:nvCxnSpPr>
          <p:spPr>
            <a:xfrm>
              <a:off x="1357290" y="5316868"/>
              <a:ext cx="642942" cy="1588"/>
            </a:xfrm>
            <a:prstGeom prst="straightConnector1">
              <a:avLst/>
            </a:prstGeom>
            <a:ln w="28575" cap="flat" cmpd="sng">
              <a:solidFill>
                <a:srgbClr val="000000"/>
              </a:solidFill>
              <a:prstDash val="solid"/>
              <a:headEnd type="none" w="med" len="med"/>
              <a:tailEnd type="arrow" w="med" len="med"/>
            </a:ln>
          </p:spPr>
        </p:cxnSp>
        <p:sp>
          <p:nvSpPr>
            <p:cNvPr id="38" name="Text Box 31"/>
            <p:cNvSpPr txBox="1">
              <a:spLocks noChangeArrowheads="1"/>
            </p:cNvSpPr>
            <p:nvPr/>
          </p:nvSpPr>
          <p:spPr bwMode="auto">
            <a:xfrm>
              <a:off x="714348" y="5429553"/>
              <a:ext cx="642997" cy="461950"/>
            </a:xfrm>
            <a:prstGeom prst="rect">
              <a:avLst/>
            </a:prstGeom>
            <a:noFill/>
            <a:ln w="9525">
              <a:noFill/>
              <a:miter lim="800000"/>
            </a:ln>
            <a:effectLst/>
          </p:spPr>
          <p:txBody>
            <a:bodyPr>
              <a:spAutoFit/>
            </a:bodyPr>
            <a:lstStyle/>
            <a:p>
              <a:pPr marR="0" defTabSz="914400">
                <a:buClrTx/>
                <a:buSzTx/>
                <a:buFontTx/>
                <a:buNone/>
                <a:defRPr/>
              </a:pPr>
              <a:r>
                <a:rPr kumimoji="0" lang="en-US" altLang="zh-CN" sz="24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3</a:t>
              </a:r>
              <a:endParaRPr kumimoji="0" lang="zh-CN" altLang="en-US" sz="24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cxnSp>
          <p:nvCxnSpPr>
            <p:cNvPr id="19475" name="直接箭头连接符 38"/>
            <p:cNvCxnSpPr/>
            <p:nvPr/>
          </p:nvCxnSpPr>
          <p:spPr>
            <a:xfrm>
              <a:off x="1357290" y="5715016"/>
              <a:ext cx="642942" cy="1588"/>
            </a:xfrm>
            <a:prstGeom prst="straightConnector1">
              <a:avLst/>
            </a:prstGeom>
            <a:ln w="28575" cap="flat" cmpd="sng">
              <a:solidFill>
                <a:srgbClr val="000000"/>
              </a:solidFill>
              <a:prstDash val="solid"/>
              <a:headEnd type="none" w="med" len="med"/>
              <a:tailEnd type="arrow" w="med" len="med"/>
            </a:ln>
          </p:spPr>
        </p:cxnSp>
        <p:sp>
          <p:nvSpPr>
            <p:cNvPr id="40" name="Text Box 31"/>
            <p:cNvSpPr txBox="1">
              <a:spLocks noChangeArrowheads="1"/>
            </p:cNvSpPr>
            <p:nvPr/>
          </p:nvSpPr>
          <p:spPr bwMode="auto">
            <a:xfrm>
              <a:off x="4429443" y="4521526"/>
              <a:ext cx="642997" cy="584185"/>
            </a:xfrm>
            <a:prstGeom prst="rect">
              <a:avLst/>
            </a:prstGeom>
            <a:noFill/>
            <a:ln w="9525">
              <a:noFill/>
              <a:miter lim="800000"/>
            </a:ln>
            <a:effectLst/>
          </p:spPr>
          <p:txBody>
            <a:bodyPr>
              <a:spAutoFit/>
            </a:bodyPr>
            <a:lstStyle/>
            <a:p>
              <a:pPr marR="0" defTabSz="914400">
                <a:buClrTx/>
                <a:buSzTx/>
                <a:buFontTx/>
                <a:buNone/>
                <a:defRPr/>
              </a:pPr>
              <a:r>
                <a:rPr kumimoji="0" lang="en-US" altLang="zh-CN" sz="3200" kern="1200" cap="none" spc="0" normalizeH="0" baseline="0" noProof="0" dirty="0">
                  <a:solidFill>
                    <a:srgbClr val="000000"/>
                  </a:solidFill>
                  <a:effectLst>
                    <a:outerShdw blurRad="38100" dist="38100" dir="2700000" algn="tl">
                      <a:srgbClr val="C0C0C0"/>
                    </a:outerShdw>
                  </a:effectLst>
                  <a:latin typeface="+mj-lt"/>
                  <a:ea typeface="黑体" panose="02010609060101010101" pitchFamily="2" charset="-122"/>
                  <a:cs typeface="+mn-cs"/>
                </a:rPr>
                <a:t>T</a:t>
              </a:r>
              <a:r>
                <a:rPr kumimoji="0" lang="en-US" altLang="zh-CN"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1</a:t>
              </a:r>
              <a:endParaRPr kumimoji="0" lang="zh-CN" altLang="en-US" sz="3200" kern="1200" cap="none" spc="0" normalizeH="0" baseline="-25000" noProof="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083">
                                            <p:txEl>
                                              <p:charRg st="30" end="4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8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8.2.1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事务并发执行</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0483" name="Rectangle 3"/>
          <p:cNvSpPr>
            <a:spLocks noGrp="1"/>
          </p:cNvSpPr>
          <p:nvPr>
            <p:ph idx="1"/>
          </p:nvPr>
        </p:nvSpPr>
        <p:spPr>
          <a:xfrm>
            <a:off x="152400" y="1054100"/>
            <a:ext cx="8848725" cy="5543550"/>
          </a:xfrm>
        </p:spPr>
        <p:txBody>
          <a:bodyPr vert="horz" wrap="square" lIns="91440" tIns="45720" rIns="91440" bIns="45720" anchor="t" anchorCtr="0"/>
          <a:p>
            <a:pPr eaLnBrk="1" hangingPunct="1">
              <a:lnSpc>
                <a:spcPct val="90000"/>
              </a:lnSpc>
            </a:pPr>
            <a:r>
              <a:rPr lang="zh-CN" altLang="en-US" dirty="0">
                <a:solidFill>
                  <a:srgbClr val="FF0000"/>
                </a:solidFill>
              </a:rPr>
              <a:t>并发执行</a:t>
            </a:r>
            <a:r>
              <a:rPr lang="zh-CN" altLang="en-US" dirty="0"/>
              <a:t>：指在单</a:t>
            </a:r>
            <a:r>
              <a:rPr lang="en-US" altLang="zh-CN" dirty="0"/>
              <a:t>CPU</a:t>
            </a:r>
            <a:r>
              <a:rPr lang="zh-CN" altLang="en-US" dirty="0"/>
              <a:t>上利用分时方法运行多个事务</a:t>
            </a:r>
            <a:r>
              <a:rPr lang="en-US" altLang="zh-CN" dirty="0"/>
              <a:t>(</a:t>
            </a:r>
            <a:r>
              <a:rPr lang="zh-CN" altLang="en-US" dirty="0"/>
              <a:t>分时并发</a:t>
            </a:r>
            <a:r>
              <a:rPr lang="en-US" altLang="zh-CN" dirty="0"/>
              <a:t>)</a:t>
            </a:r>
            <a:endParaRPr lang="en-US" altLang="zh-CN" dirty="0"/>
          </a:p>
          <a:p>
            <a:pPr eaLnBrk="1" hangingPunct="1">
              <a:lnSpc>
                <a:spcPct val="90000"/>
              </a:lnSpc>
              <a:spcBef>
                <a:spcPct val="40000"/>
              </a:spcBef>
              <a:buNone/>
            </a:pPr>
            <a:r>
              <a:rPr lang="en-US" altLang="zh-CN" dirty="0"/>
              <a:t>   </a:t>
            </a:r>
            <a:r>
              <a:rPr lang="zh-CN" altLang="en-US" dirty="0">
                <a:solidFill>
                  <a:srgbClr val="0000CC"/>
                </a:solidFill>
              </a:rPr>
              <a:t>并行执行</a:t>
            </a:r>
            <a:r>
              <a:rPr lang="zh-CN" altLang="en-US" dirty="0"/>
              <a:t>：指在多</a:t>
            </a:r>
            <a:r>
              <a:rPr lang="en-US" altLang="zh-CN" dirty="0"/>
              <a:t>CPU</a:t>
            </a:r>
            <a:r>
              <a:rPr lang="zh-CN" altLang="en-US" dirty="0"/>
              <a:t>上的同时执行</a:t>
            </a:r>
            <a:r>
              <a:rPr lang="en-US" altLang="zh-CN" dirty="0"/>
              <a:t>(</a:t>
            </a:r>
            <a:r>
              <a:rPr lang="zh-CN" altLang="en-US" dirty="0"/>
              <a:t>同时并发</a:t>
            </a:r>
            <a:r>
              <a:rPr lang="en-US" altLang="zh-CN" dirty="0"/>
              <a:t>)</a:t>
            </a:r>
            <a:endParaRPr lang="en-US" altLang="zh-CN" dirty="0"/>
          </a:p>
          <a:p>
            <a:pPr eaLnBrk="1" hangingPunct="1">
              <a:lnSpc>
                <a:spcPct val="90000"/>
              </a:lnSpc>
              <a:spcBef>
                <a:spcPct val="45000"/>
              </a:spcBef>
            </a:pPr>
            <a:r>
              <a:rPr lang="zh-CN" altLang="en-US" dirty="0"/>
              <a:t>事务并发执行的优点：</a:t>
            </a:r>
            <a:endParaRPr lang="zh-CN" altLang="en-US" dirty="0"/>
          </a:p>
          <a:p>
            <a:pPr lvl="1" eaLnBrk="1" hangingPunct="1">
              <a:lnSpc>
                <a:spcPct val="90000"/>
              </a:lnSpc>
              <a:spcBef>
                <a:spcPct val="10000"/>
              </a:spcBef>
            </a:pPr>
            <a:r>
              <a:rPr lang="zh-CN" altLang="en-US" dirty="0">
                <a:solidFill>
                  <a:srgbClr val="0033CC"/>
                </a:solidFill>
              </a:rPr>
              <a:t>提高系统吞吐量</a:t>
            </a:r>
            <a:r>
              <a:rPr lang="zh-CN" altLang="en-US" dirty="0"/>
              <a:t>：</a:t>
            </a:r>
            <a:endParaRPr lang="zh-CN" altLang="en-US" dirty="0"/>
          </a:p>
          <a:p>
            <a:pPr lvl="1" eaLnBrk="1" hangingPunct="1">
              <a:lnSpc>
                <a:spcPct val="90000"/>
              </a:lnSpc>
              <a:spcBef>
                <a:spcPct val="0"/>
              </a:spcBef>
              <a:buNone/>
            </a:pPr>
            <a:r>
              <a:rPr lang="zh-CN" altLang="en-US" sz="2800" dirty="0"/>
              <a:t>   吞吐量：指单位时间内系统完成事务的数量。</a:t>
            </a:r>
            <a:endParaRPr lang="zh-CN" altLang="en-US" sz="2800" dirty="0"/>
          </a:p>
          <a:p>
            <a:pPr lvl="1" eaLnBrk="1" hangingPunct="1">
              <a:lnSpc>
                <a:spcPct val="90000"/>
              </a:lnSpc>
              <a:spcBef>
                <a:spcPts val="1200"/>
              </a:spcBef>
            </a:pPr>
            <a:r>
              <a:rPr lang="zh-CN" altLang="en-US" dirty="0">
                <a:solidFill>
                  <a:srgbClr val="0033CC"/>
                </a:solidFill>
              </a:rPr>
              <a:t>减少事务平均响应时间</a:t>
            </a:r>
            <a:r>
              <a:rPr lang="zh-CN" altLang="en-US" dirty="0"/>
              <a:t>：</a:t>
            </a:r>
            <a:endParaRPr lang="zh-CN" altLang="en-US" dirty="0"/>
          </a:p>
          <a:p>
            <a:pPr lvl="1" eaLnBrk="1" hangingPunct="1">
              <a:lnSpc>
                <a:spcPct val="90000"/>
              </a:lnSpc>
              <a:spcBef>
                <a:spcPct val="0"/>
              </a:spcBef>
              <a:buNone/>
            </a:pPr>
            <a:r>
              <a:rPr lang="zh-CN" altLang="en-US" dirty="0"/>
              <a:t>   </a:t>
            </a:r>
            <a:r>
              <a:rPr lang="zh-CN" altLang="en-US" sz="2800" dirty="0"/>
              <a:t>事务响应时间：指从提交给系统到最后完成所需时间。</a:t>
            </a:r>
            <a:endParaRPr lang="zh-CN" altLang="en-US" sz="2800" dirty="0"/>
          </a:p>
        </p:txBody>
      </p:sp>
    </p:spTree>
  </p:cSld>
  <p:clrMapOvr>
    <a:masterClrMapping/>
  </p:clrMapOvr>
  <p:transition>
    <p:random/>
    <p:sndAc>
      <p:stSnd>
        <p:snd r:embed="rId1" name="CAMERA.WAV"/>
      </p:stSnd>
    </p:sndAc>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35225" name="Group 409"/>
          <p:cNvGraphicFramePr>
            <a:graphicFrameLocks noGrp="1"/>
          </p:cNvGraphicFramePr>
          <p:nvPr>
            <p:ph sz="half" idx="1"/>
          </p:nvPr>
        </p:nvGraphicFramePr>
        <p:xfrm>
          <a:off x="250825" y="755650"/>
          <a:ext cx="8642350" cy="5991225"/>
        </p:xfrm>
        <a:graphic>
          <a:graphicData uri="http://schemas.openxmlformats.org/drawingml/2006/table">
            <a:tbl>
              <a:tblPr/>
              <a:tblGrid>
                <a:gridCol w="2089150"/>
                <a:gridCol w="1900238"/>
                <a:gridCol w="1244600"/>
                <a:gridCol w="1163637"/>
                <a:gridCol w="1379538"/>
                <a:gridCol w="865187"/>
              </a:tblGrid>
              <a:tr h="4032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T1</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T2</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A</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B</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Σ</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99"/>
                    </a:solidFill>
                  </a:tcPr>
                </a:tc>
              </a:tr>
              <a:tr h="444500">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med" len="med"/>
                      <a:tailEnd type="none" w="med" len="med"/>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med" len="med"/>
                      <a:tailEnd type="none" w="med" len="med"/>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med" len="med"/>
                      <a:tailEnd type="none" w="med" len="med"/>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med" len="med"/>
                      <a:tailEnd type="none" w="med" len="med"/>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med" len="med"/>
                      <a:tailEnd type="none" w="med" len="med"/>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med" len="med"/>
                      <a:tailEnd type="none" w="med" len="med"/>
                    </a:lnB>
                    <a:lnTlToBr>
                      <a:noFill/>
                    </a:lnTlToBr>
                    <a:lnBlToTr>
                      <a:noFill/>
                    </a:lnBlToTr>
                    <a:solidFill>
                      <a:srgbClr val="FFFF99"/>
                    </a:solidFill>
                  </a:tcPr>
                </a:tc>
              </a:tr>
              <a:tr h="5889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sm" len="sm"/>
                      <a:tailEnd type="none" w="sm" len="sm"/>
                    </a:lnB>
                    <a:lnTlToBr>
                      <a:noFill/>
                    </a:lnTlToBr>
                    <a:lnBlToTr>
                      <a:noFill/>
                    </a:lnBlToTr>
                    <a:solidFill>
                      <a:srgbClr val="FFFF99"/>
                    </a:solidFill>
                  </a:tcPr>
                </a:tc>
              </a:tr>
              <a:tr h="87788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C+100</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 </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99"/>
                    </a:solidFill>
                  </a:tcPr>
                </a:tc>
              </a:tr>
              <a:tr h="2889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99"/>
                    </a:solidFill>
                  </a:tcPr>
                </a:tc>
              </a:tr>
              <a:tr h="40481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A+50</a:t>
                      </a: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99"/>
                    </a:solidFill>
                  </a:tcPr>
                </a:tc>
              </a:tr>
            </a:tbl>
          </a:graphicData>
        </a:graphic>
      </p:graphicFrame>
      <p:sp>
        <p:nvSpPr>
          <p:cNvPr id="21557" name="Text Box 214"/>
          <p:cNvSpPr txBox="1"/>
          <p:nvPr/>
        </p:nvSpPr>
        <p:spPr>
          <a:xfrm>
            <a:off x="30163" y="85725"/>
            <a:ext cx="9036050" cy="6413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009900"/>
                </a:solidFill>
                <a:latin typeface="Arial" panose="020B0604020202020204" pitchFamily="34" charset="0"/>
              </a:rPr>
              <a:t>T1</a:t>
            </a:r>
            <a:r>
              <a:rPr lang="zh-CN" altLang="en-US" dirty="0">
                <a:solidFill>
                  <a:srgbClr val="009900"/>
                </a:solidFill>
                <a:latin typeface="Arial" panose="020B0604020202020204" pitchFamily="34" charset="0"/>
              </a:rPr>
              <a:t>：从</a:t>
            </a:r>
            <a:r>
              <a:rPr lang="en-US" altLang="zh-CN" dirty="0">
                <a:solidFill>
                  <a:srgbClr val="009900"/>
                </a:solidFill>
                <a:latin typeface="Arial" panose="020B0604020202020204" pitchFamily="34" charset="0"/>
              </a:rPr>
              <a:t>B</a:t>
            </a:r>
            <a:r>
              <a:rPr lang="zh-CN" altLang="en-US" dirty="0">
                <a:solidFill>
                  <a:srgbClr val="009900"/>
                </a:solidFill>
                <a:latin typeface="Arial" panose="020B0604020202020204" pitchFamily="34" charset="0"/>
              </a:rPr>
              <a:t>转帐</a:t>
            </a:r>
            <a:r>
              <a:rPr lang="en-US" altLang="zh-CN" dirty="0">
                <a:solidFill>
                  <a:srgbClr val="009900"/>
                </a:solidFill>
                <a:latin typeface="Arial" panose="020B0604020202020204" pitchFamily="34" charset="0"/>
              </a:rPr>
              <a:t>100</a:t>
            </a:r>
            <a:r>
              <a:rPr lang="zh-CN" altLang="en-US" dirty="0">
                <a:solidFill>
                  <a:srgbClr val="009900"/>
                </a:solidFill>
                <a:latin typeface="Arial" panose="020B0604020202020204" pitchFamily="34" charset="0"/>
              </a:rPr>
              <a:t>到</a:t>
            </a:r>
            <a:r>
              <a:rPr lang="en-US" altLang="zh-CN" dirty="0">
                <a:solidFill>
                  <a:srgbClr val="009900"/>
                </a:solidFill>
                <a:latin typeface="Arial" panose="020B0604020202020204" pitchFamily="34" charset="0"/>
              </a:rPr>
              <a:t>C    T2</a:t>
            </a:r>
            <a:r>
              <a:rPr lang="zh-CN" altLang="en-US" dirty="0">
                <a:solidFill>
                  <a:srgbClr val="009900"/>
                </a:solidFill>
                <a:latin typeface="Arial" panose="020B0604020202020204" pitchFamily="34" charset="0"/>
              </a:rPr>
              <a:t>：从</a:t>
            </a:r>
            <a:r>
              <a:rPr lang="en-US" altLang="zh-CN" dirty="0">
                <a:solidFill>
                  <a:srgbClr val="009900"/>
                </a:solidFill>
                <a:latin typeface="Arial" panose="020B0604020202020204" pitchFamily="34" charset="0"/>
              </a:rPr>
              <a:t>B</a:t>
            </a:r>
            <a:r>
              <a:rPr lang="zh-CN" altLang="en-US" dirty="0">
                <a:solidFill>
                  <a:srgbClr val="009900"/>
                </a:solidFill>
                <a:latin typeface="Arial" panose="020B0604020202020204" pitchFamily="34" charset="0"/>
              </a:rPr>
              <a:t>转帐</a:t>
            </a:r>
            <a:r>
              <a:rPr lang="en-US" altLang="zh-CN" dirty="0">
                <a:solidFill>
                  <a:srgbClr val="009900"/>
                </a:solidFill>
                <a:latin typeface="Arial" panose="020B0604020202020204" pitchFamily="34" charset="0"/>
              </a:rPr>
              <a:t>50</a:t>
            </a:r>
            <a:r>
              <a:rPr lang="zh-CN" altLang="en-US" dirty="0">
                <a:solidFill>
                  <a:srgbClr val="009900"/>
                </a:solidFill>
                <a:latin typeface="Arial" panose="020B0604020202020204" pitchFamily="34" charset="0"/>
              </a:rPr>
              <a:t>到</a:t>
            </a:r>
            <a:r>
              <a:rPr lang="en-US" altLang="zh-CN" dirty="0">
                <a:solidFill>
                  <a:srgbClr val="009900"/>
                </a:solidFill>
                <a:latin typeface="Arial" panose="020B0604020202020204" pitchFamily="34" charset="0"/>
              </a:rPr>
              <a:t>A</a:t>
            </a:r>
            <a:endParaRPr lang="en-US" altLang="zh-CN" dirty="0">
              <a:solidFill>
                <a:srgbClr val="0099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225"/>
                                        </p:tgtEl>
                                        <p:attrNameLst>
                                          <p:attrName>style.visibility</p:attrName>
                                        </p:attrNameLst>
                                      </p:cBhvr>
                                      <p:to>
                                        <p:strVal val="visible"/>
                                      </p:to>
                                    </p:set>
                                    <p:anim calcmode="lin" valueType="num">
                                      <p:cBhvr additive="base">
                                        <p:cTn id="7" dur="500" fill="hold"/>
                                        <p:tgtEl>
                                          <p:spTgt spid="35225"/>
                                        </p:tgtEl>
                                        <p:attrNameLst>
                                          <p:attrName>ppt_x</p:attrName>
                                        </p:attrNameLst>
                                      </p:cBhvr>
                                      <p:tavLst>
                                        <p:tav tm="0">
                                          <p:val>
                                            <p:strVal val="0-#ppt_w/2"/>
                                          </p:val>
                                        </p:tav>
                                        <p:tav tm="100000">
                                          <p:val>
                                            <p:strVal val="#ppt_x"/>
                                          </p:val>
                                        </p:tav>
                                      </p:tavLst>
                                    </p:anim>
                                    <p:anim calcmode="lin" valueType="num">
                                      <p:cBhvr additive="base">
                                        <p:cTn id="8" dur="500" fill="hold"/>
                                        <p:tgtEl>
                                          <p:spTgt spid="352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3106"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事务并发执行</a:t>
            </a:r>
            <a:endParaRPr kumimoji="0" lang="zh-CN" altLang="en-US" sz="4000" b="1" i="0" u="none" strike="noStrike" kern="0" cap="none" spc="0" normalizeH="0" baseline="0" noProof="0" smtClean="0">
              <a:ln>
                <a:noFill/>
              </a:ln>
              <a:solidFill>
                <a:schemeClr val="bg2"/>
              </a:solidFill>
              <a:effectLst>
                <a:outerShdw blurRad="38100" dist="38100" dir="2700000" algn="tl">
                  <a:srgbClr val="C0C0C0"/>
                </a:outerShdw>
              </a:effectLst>
              <a:uLnTx/>
              <a:uFillTx/>
              <a:latin typeface="+mj-lt"/>
              <a:ea typeface="+mj-ea"/>
              <a:cs typeface="+mj-cs"/>
            </a:endParaRPr>
          </a:p>
        </p:txBody>
      </p:sp>
      <p:graphicFrame>
        <p:nvGraphicFramePr>
          <p:cNvPr id="303368" name="Group 264"/>
          <p:cNvGraphicFramePr>
            <a:graphicFrameLocks noGrp="1"/>
          </p:cNvGraphicFramePr>
          <p:nvPr>
            <p:ph sz="half" idx="1"/>
          </p:nvPr>
        </p:nvGraphicFramePr>
        <p:xfrm>
          <a:off x="322263" y="1125538"/>
          <a:ext cx="8642350" cy="5546725"/>
        </p:xfrm>
        <a:graphic>
          <a:graphicData uri="http://schemas.openxmlformats.org/drawingml/2006/table">
            <a:tbl>
              <a:tblPr/>
              <a:tblGrid>
                <a:gridCol w="2089150"/>
                <a:gridCol w="1900237"/>
                <a:gridCol w="1244600"/>
                <a:gridCol w="1163638"/>
                <a:gridCol w="1379537"/>
                <a:gridCol w="865188"/>
              </a:tblGrid>
              <a:tr h="3968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T1</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T2</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A</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B</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Σ</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r h="6635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r h="5889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B=300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r h="31908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200</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550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r h="3968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600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r h="2889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r h="40481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DD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A=200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写</a:t>
                      </a: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DDFFDD"/>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250</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8F8F8"/>
                    </a:solid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0000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008000"/>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rPr>
                        <a:t>750</a:t>
                      </a:r>
                      <a:endParaRPr kumimoji="0" lang="en-US" altLang="zh-CN" sz="2800" b="1" i="0" u="none" strike="noStrike" cap="none" normalizeH="0" baseline="0" smtClean="0">
                        <a:ln>
                          <a:noFill/>
                        </a:ln>
                        <a:solidFill>
                          <a:srgbClr val="FF0000"/>
                        </a:solidFill>
                        <a:effectLst/>
                        <a:latin typeface="Arial" panose="020B0604020202020204" pitchFamily="34" charset="0"/>
                        <a:ea typeface="黑体" panose="02010609060101010101" pitchFamily="2" charset="-122"/>
                      </a:endParaRPr>
                    </a:p>
                  </a:txBody>
                  <a:tcPr marL="0" marR="0" marT="0" marB="0" anchor="ctr" horzOverflow="overflow">
                    <a:lnL w="19050" cap="flat" cmpd="sng" algn="ctr">
                      <a:solidFill>
                        <a:srgbClr val="000000"/>
                      </a:solidFill>
                      <a:prstDash val="solid"/>
                      <a:round/>
                      <a:headEnd type="none" w="sm" len="sm"/>
                      <a:tailEnd type="none" w="sm" len="sm"/>
                    </a:lnL>
                    <a:lnR w="19050" cap="flat" cmpd="sng" algn="ctr">
                      <a:solidFill>
                        <a:srgbClr val="000000"/>
                      </a:solidFill>
                      <a:prstDash val="solid"/>
                      <a:round/>
                      <a:headEnd type="none" w="sm" len="sm"/>
                      <a:tailEnd type="none" w="sm" len="sm"/>
                    </a:lnR>
                    <a:lnT w="19050" cap="flat" cmpd="sng" algn="ctr">
                      <a:solidFill>
                        <a:srgbClr val="000000"/>
                      </a:solidFill>
                      <a:prstDash val="solid"/>
                      <a:round/>
                      <a:headEnd type="none" w="sm" len="sm"/>
                      <a:tailEnd type="none" w="sm" len="sm"/>
                    </a:lnT>
                    <a:lnB w="19050" cap="flat" cmpd="sng" algn="ctr">
                      <a:solidFill>
                        <a:srgbClr val="000000"/>
                      </a:solidFill>
                      <a:prstDash val="solid"/>
                      <a:round/>
                      <a:headEnd type="none" w="sm" len="sm"/>
                      <a:tailEnd type="none" w="sm" len="sm"/>
                    </a:lnB>
                    <a:lnTlToBr>
                      <a:noFill/>
                    </a:lnTlToBr>
                    <a:lnBlToTr>
                      <a:noFill/>
                    </a:lnBlToTr>
                    <a:solidFill>
                      <a:srgbClr val="FFFFA3"/>
                    </a:solidFill>
                  </a:tcPr>
                </a:tc>
              </a:tr>
            </a:tbl>
          </a:graphicData>
        </a:graphic>
      </p:graphicFrame>
      <p:sp>
        <p:nvSpPr>
          <p:cNvPr id="22589" name="Text Box 75"/>
          <p:cNvSpPr txBox="1"/>
          <p:nvPr/>
        </p:nvSpPr>
        <p:spPr>
          <a:xfrm>
            <a:off x="4427538" y="44450"/>
            <a:ext cx="4608512" cy="1019175"/>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lnSpc>
                <a:spcPct val="95000"/>
              </a:lnSpc>
              <a:buClrTx/>
              <a:buSzTx/>
              <a:buFontTx/>
              <a:buNone/>
            </a:pPr>
            <a:r>
              <a:rPr lang="en-US" altLang="zh-CN" sz="3200" dirty="0">
                <a:solidFill>
                  <a:srgbClr val="009900"/>
                </a:solidFill>
                <a:latin typeface="Arial" panose="020B0604020202020204" pitchFamily="34" charset="0"/>
              </a:rPr>
              <a:t>T1</a:t>
            </a:r>
            <a:r>
              <a:rPr lang="zh-CN" altLang="en-US" sz="3200" dirty="0">
                <a:solidFill>
                  <a:srgbClr val="009900"/>
                </a:solidFill>
                <a:latin typeface="Arial" panose="020B0604020202020204" pitchFamily="34" charset="0"/>
              </a:rPr>
              <a:t>：从</a:t>
            </a:r>
            <a:r>
              <a:rPr lang="en-US" altLang="zh-CN" sz="3200" dirty="0">
                <a:solidFill>
                  <a:srgbClr val="009900"/>
                </a:solidFill>
                <a:latin typeface="Arial" panose="020B0604020202020204" pitchFamily="34" charset="0"/>
              </a:rPr>
              <a:t>B</a:t>
            </a:r>
            <a:r>
              <a:rPr lang="zh-CN" altLang="en-US" sz="3200" dirty="0">
                <a:solidFill>
                  <a:srgbClr val="009900"/>
                </a:solidFill>
                <a:latin typeface="Arial" panose="020B0604020202020204" pitchFamily="34" charset="0"/>
              </a:rPr>
              <a:t>转帐</a:t>
            </a:r>
            <a:r>
              <a:rPr lang="en-US" altLang="zh-CN" sz="3200" dirty="0">
                <a:solidFill>
                  <a:srgbClr val="009900"/>
                </a:solidFill>
                <a:latin typeface="Arial" panose="020B0604020202020204" pitchFamily="34" charset="0"/>
              </a:rPr>
              <a:t>100</a:t>
            </a:r>
            <a:r>
              <a:rPr lang="zh-CN" altLang="en-US" sz="3200" dirty="0">
                <a:solidFill>
                  <a:srgbClr val="009900"/>
                </a:solidFill>
                <a:latin typeface="Arial" panose="020B0604020202020204" pitchFamily="34" charset="0"/>
              </a:rPr>
              <a:t>到</a:t>
            </a:r>
            <a:r>
              <a:rPr lang="en-US" altLang="zh-CN" sz="3200" dirty="0">
                <a:solidFill>
                  <a:srgbClr val="009900"/>
                </a:solidFill>
                <a:latin typeface="Arial" panose="020B0604020202020204" pitchFamily="34" charset="0"/>
              </a:rPr>
              <a:t>C</a:t>
            </a:r>
            <a:endParaRPr lang="en-US" altLang="zh-CN" sz="3200" dirty="0">
              <a:solidFill>
                <a:srgbClr val="009900"/>
              </a:solidFill>
              <a:latin typeface="Arial" panose="020B0604020202020204" pitchFamily="34" charset="0"/>
            </a:endParaRPr>
          </a:p>
          <a:p>
            <a:pPr marL="0" lvl="0" indent="0" eaLnBrk="1" hangingPunct="1">
              <a:lnSpc>
                <a:spcPct val="95000"/>
              </a:lnSpc>
              <a:buClrTx/>
              <a:buSzTx/>
              <a:buFontTx/>
              <a:buNone/>
            </a:pPr>
            <a:r>
              <a:rPr lang="en-US" altLang="zh-CN" sz="3200" dirty="0">
                <a:solidFill>
                  <a:srgbClr val="009900"/>
                </a:solidFill>
                <a:latin typeface="Arial" panose="020B0604020202020204" pitchFamily="34" charset="0"/>
              </a:rPr>
              <a:t>T2</a:t>
            </a:r>
            <a:r>
              <a:rPr lang="zh-CN" altLang="en-US" sz="3200" dirty="0">
                <a:solidFill>
                  <a:srgbClr val="009900"/>
                </a:solidFill>
                <a:latin typeface="Arial" panose="020B0604020202020204" pitchFamily="34" charset="0"/>
              </a:rPr>
              <a:t>：从</a:t>
            </a:r>
            <a:r>
              <a:rPr lang="en-US" altLang="zh-CN" sz="3200" dirty="0">
                <a:solidFill>
                  <a:srgbClr val="009900"/>
                </a:solidFill>
                <a:latin typeface="Arial" panose="020B0604020202020204" pitchFamily="34" charset="0"/>
              </a:rPr>
              <a:t>B</a:t>
            </a:r>
            <a:r>
              <a:rPr lang="zh-CN" altLang="en-US" sz="3200" dirty="0">
                <a:solidFill>
                  <a:srgbClr val="009900"/>
                </a:solidFill>
                <a:latin typeface="Arial" panose="020B0604020202020204" pitchFamily="34" charset="0"/>
              </a:rPr>
              <a:t>转帐  </a:t>
            </a:r>
            <a:r>
              <a:rPr lang="en-US" altLang="zh-CN" sz="3200" dirty="0">
                <a:solidFill>
                  <a:srgbClr val="009900"/>
                </a:solidFill>
                <a:latin typeface="Arial" panose="020B0604020202020204" pitchFamily="34" charset="0"/>
              </a:rPr>
              <a:t>50</a:t>
            </a:r>
            <a:r>
              <a:rPr lang="zh-CN" altLang="en-US" sz="3200" dirty="0">
                <a:solidFill>
                  <a:srgbClr val="009900"/>
                </a:solidFill>
                <a:latin typeface="Arial" panose="020B0604020202020204" pitchFamily="34" charset="0"/>
              </a:rPr>
              <a:t>到</a:t>
            </a:r>
            <a:r>
              <a:rPr lang="en-US" altLang="zh-CN" sz="3200" dirty="0">
                <a:solidFill>
                  <a:srgbClr val="009900"/>
                </a:solidFill>
                <a:latin typeface="Arial" panose="020B0604020202020204" pitchFamily="34" charset="0"/>
              </a:rPr>
              <a:t>A</a:t>
            </a:r>
            <a:endParaRPr lang="en-US" altLang="zh-CN" sz="3200" dirty="0">
              <a:solidFill>
                <a:srgbClr val="0099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3368"/>
                                        </p:tgtEl>
                                        <p:attrNameLst>
                                          <p:attrName>style.visibility</p:attrName>
                                        </p:attrNameLst>
                                      </p:cBhvr>
                                      <p:to>
                                        <p:strVal val="visible"/>
                                      </p:to>
                                    </p:set>
                                    <p:anim calcmode="lin" valueType="num">
                                      <p:cBhvr additive="base">
                                        <p:cTn id="7" dur="500" fill="hold"/>
                                        <p:tgtEl>
                                          <p:spTgt spid="303368"/>
                                        </p:tgtEl>
                                        <p:attrNameLst>
                                          <p:attrName>ppt_x</p:attrName>
                                        </p:attrNameLst>
                                      </p:cBhvr>
                                      <p:tavLst>
                                        <p:tav tm="0">
                                          <p:val>
                                            <p:strVal val="0-#ppt_w/2"/>
                                          </p:val>
                                        </p:tav>
                                        <p:tav tm="100000">
                                          <p:val>
                                            <p:strVal val="#ppt_x"/>
                                          </p:val>
                                        </p:tav>
                                      </p:tavLst>
                                    </p:anim>
                                    <p:anim calcmode="lin" valueType="num">
                                      <p:cBhvr additive="base">
                                        <p:cTn id="8" dur="500" fill="hold"/>
                                        <p:tgtEl>
                                          <p:spTgt spid="3033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idx="1"/>
          </p:nvPr>
        </p:nvSpPr>
        <p:spPr>
          <a:xfrm>
            <a:off x="223838" y="1143000"/>
            <a:ext cx="8812212" cy="5273675"/>
          </a:xfrm>
        </p:spPr>
        <p:txBody>
          <a:bodyPr vert="horz" wrap="square" lIns="91440" tIns="45720" rIns="91440" bIns="45720" anchor="t" anchorCtr="0"/>
          <a:p>
            <a:pPr eaLnBrk="1" hangingPunct="1">
              <a:lnSpc>
                <a:spcPct val="110000"/>
              </a:lnSpc>
            </a:pPr>
            <a:r>
              <a:rPr lang="zh-CN" altLang="en-US" sz="3200" dirty="0">
                <a:latin typeface="Arial" panose="020B0604020202020204" pitchFamily="34" charset="0"/>
              </a:rPr>
              <a:t>尽管单个事务单独执行时不破坏完整性约束，但多个事物并发执行时，如不加以适当控制，可能产生如下问题：</a:t>
            </a:r>
            <a:endParaRPr lang="zh-CN" altLang="en-US" sz="3200" dirty="0">
              <a:latin typeface="Arial" panose="020B0604020202020204" pitchFamily="34" charset="0"/>
            </a:endParaRPr>
          </a:p>
          <a:p>
            <a:pPr marL="571500" indent="-571500" eaLnBrk="1" hangingPunct="1">
              <a:lnSpc>
                <a:spcPct val="110000"/>
              </a:lnSpc>
              <a:spcBef>
                <a:spcPts val="1200"/>
              </a:spcBef>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rPr>
              <a:t>1) </a:t>
            </a:r>
            <a:r>
              <a:rPr lang="zh-CN" altLang="en-US" dirty="0">
                <a:solidFill>
                  <a:srgbClr val="0000CC"/>
                </a:solidFill>
                <a:latin typeface="Arial" panose="020B0604020202020204" pitchFamily="34" charset="0"/>
              </a:rPr>
              <a:t>丢失修改</a:t>
            </a:r>
            <a:endParaRPr lang="zh-CN" altLang="en-US" dirty="0">
              <a:solidFill>
                <a:srgbClr val="0000CC"/>
              </a:solidFill>
              <a:latin typeface="Arial" panose="020B0604020202020204" pitchFamily="34" charset="0"/>
            </a:endParaRPr>
          </a:p>
          <a:p>
            <a:pPr marL="0" indent="539750" eaLnBrk="1" hangingPunct="1">
              <a:lnSpc>
                <a:spcPct val="110000"/>
              </a:lnSpc>
              <a:spcBef>
                <a:spcPts val="600"/>
              </a:spcBef>
              <a:buNone/>
            </a:pPr>
            <a:r>
              <a:rPr lang="en-US" altLang="zh-CN" dirty="0">
                <a:solidFill>
                  <a:srgbClr val="0000CC"/>
                </a:solidFill>
                <a:latin typeface="Arial" panose="020B0604020202020204" pitchFamily="34" charset="0"/>
              </a:rPr>
              <a:t>2</a:t>
            </a:r>
            <a:r>
              <a:rPr lang="en-US" altLang="zh-CN"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读</a:t>
            </a:r>
            <a:r>
              <a:rPr lang="en-US" altLang="zh-CN" dirty="0">
                <a:solidFill>
                  <a:srgbClr val="0000CC"/>
                </a:solidFill>
                <a:latin typeface="Arial" panose="020B0604020202020204" pitchFamily="34" charset="0"/>
              </a:rPr>
              <a:t>"</a:t>
            </a:r>
            <a:r>
              <a:rPr lang="zh-CN" altLang="en-US" dirty="0">
                <a:solidFill>
                  <a:srgbClr val="0000CC"/>
                </a:solidFill>
                <a:latin typeface="Arial" panose="020B0604020202020204" pitchFamily="34" charset="0"/>
              </a:rPr>
              <a:t>脏</a:t>
            </a:r>
            <a:r>
              <a:rPr lang="en-US" altLang="zh-CN" dirty="0">
                <a:solidFill>
                  <a:srgbClr val="0000CC"/>
                </a:solidFill>
                <a:latin typeface="Arial" panose="020B0604020202020204" pitchFamily="34" charset="0"/>
              </a:rPr>
              <a:t>"</a:t>
            </a:r>
            <a:r>
              <a:rPr lang="zh-CN" altLang="en-US" dirty="0">
                <a:solidFill>
                  <a:srgbClr val="0000CC"/>
                </a:solidFill>
                <a:latin typeface="Arial" panose="020B0604020202020204" pitchFamily="34" charset="0"/>
              </a:rPr>
              <a:t>数据</a:t>
            </a:r>
            <a:endParaRPr lang="zh-CN" altLang="en-US" dirty="0">
              <a:solidFill>
                <a:srgbClr val="0000CC"/>
              </a:solidFill>
              <a:latin typeface="Arial" panose="020B0604020202020204" pitchFamily="34" charset="0"/>
            </a:endParaRPr>
          </a:p>
          <a:p>
            <a:pPr marL="0" indent="539750" eaLnBrk="1" hangingPunct="1">
              <a:lnSpc>
                <a:spcPct val="110000"/>
              </a:lnSpc>
              <a:spcBef>
                <a:spcPts val="600"/>
              </a:spcBef>
              <a:buNone/>
            </a:pPr>
            <a:r>
              <a:rPr lang="en-US" altLang="zh-CN"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sym typeface="+mn-ea"/>
              </a:rPr>
              <a:t>) </a:t>
            </a:r>
            <a:r>
              <a:rPr lang="zh-CN" altLang="en-US" dirty="0">
                <a:solidFill>
                  <a:srgbClr val="0000CC"/>
                </a:solidFill>
                <a:latin typeface="Arial" panose="020B0604020202020204" pitchFamily="34" charset="0"/>
              </a:rPr>
              <a:t>不可重复读</a:t>
            </a:r>
            <a:endParaRPr lang="zh-CN" altLang="en-US" dirty="0">
              <a:solidFill>
                <a:srgbClr val="0000CC"/>
              </a:solidFill>
              <a:latin typeface="Arial" panose="020B0604020202020204" pitchFamily="34" charset="0"/>
            </a:endParaRPr>
          </a:p>
          <a:p>
            <a:pPr marL="0" indent="539750" eaLnBrk="1" hangingPunct="1">
              <a:lnSpc>
                <a:spcPct val="110000"/>
              </a:lnSpc>
              <a:buNone/>
            </a:pPr>
            <a:r>
              <a:rPr lang="zh-CN" altLang="en-US" dirty="0">
                <a:solidFill>
                  <a:srgbClr val="0000CC"/>
                </a:solidFill>
                <a:latin typeface="Arial" panose="020B0604020202020204" pitchFamily="34" charset="0"/>
              </a:rPr>
              <a:t>	</a:t>
            </a:r>
            <a:endParaRPr lang="zh-CN" altLang="en-US" dirty="0">
              <a:solidFill>
                <a:srgbClr val="0000CC"/>
              </a:solidFill>
              <a:latin typeface="Arial" panose="020B0604020202020204" pitchFamily="34" charset="0"/>
            </a:endParaRPr>
          </a:p>
        </p:txBody>
      </p:sp>
      <p:sp>
        <p:nvSpPr>
          <p:cNvPr id="1935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8.2.2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并发执行的潜在问题</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9"/>
          <p:cNvSpPr>
            <a:spLocks noGrp="1"/>
          </p:cNvSpPr>
          <p:nvPr>
            <p:ph idx="1"/>
          </p:nvPr>
        </p:nvSpPr>
        <p:spPr/>
        <p:txBody>
          <a:bodyPr vert="horz" wrap="square" lIns="91440" tIns="45720" rIns="91440" bIns="45720" anchor="t" anchorCtr="0"/>
          <a:p>
            <a:pPr algn="just" eaLnBrk="1" latinLnBrk="0" hangingPunct="1">
              <a:lnSpc>
                <a:spcPct val="150000"/>
              </a:lnSpc>
            </a:pPr>
            <a:r>
              <a:rPr lang="zh-CN" altLang="en-US" sz="3200" dirty="0">
                <a:latin typeface="Arial" panose="020B0604020202020204" pitchFamily="34" charset="0"/>
              </a:rPr>
              <a:t>事务</a:t>
            </a:r>
            <a:r>
              <a:rPr lang="en-US" altLang="zh-CN" sz="3200" dirty="0">
                <a:latin typeface="Arial" panose="020B0604020202020204" pitchFamily="34" charset="0"/>
              </a:rPr>
              <a:t>1</a:t>
            </a:r>
            <a:r>
              <a:rPr lang="zh-CN" altLang="en-US" sz="3200" dirty="0">
                <a:latin typeface="Arial" panose="020B0604020202020204" pitchFamily="34" charset="0"/>
              </a:rPr>
              <a:t>与事务</a:t>
            </a:r>
            <a:r>
              <a:rPr lang="en-US" altLang="zh-CN" sz="3200" dirty="0">
                <a:latin typeface="Arial" panose="020B0604020202020204" pitchFamily="34" charset="0"/>
              </a:rPr>
              <a:t>2</a:t>
            </a:r>
            <a:r>
              <a:rPr lang="zh-CN" altLang="en-US" sz="3200" dirty="0">
                <a:latin typeface="Arial" panose="020B0604020202020204" pitchFamily="34" charset="0"/>
              </a:rPr>
              <a:t>从数据库中读入同一数据并修改</a:t>
            </a:r>
            <a:endParaRPr lang="zh-CN" altLang="en-US" sz="3200" dirty="0">
              <a:latin typeface="Arial" panose="020B0604020202020204" pitchFamily="34" charset="0"/>
            </a:endParaRPr>
          </a:p>
          <a:p>
            <a:pPr algn="just" eaLnBrk="1" latinLnBrk="0" hangingPunct="1">
              <a:lnSpc>
                <a:spcPct val="150000"/>
              </a:lnSpc>
            </a:pPr>
            <a:r>
              <a:rPr lang="zh-CN" altLang="en-US" sz="3200" dirty="0">
                <a:latin typeface="Arial" panose="020B0604020202020204" pitchFamily="34" charset="0"/>
              </a:rPr>
              <a:t>事务</a:t>
            </a:r>
            <a:r>
              <a:rPr lang="en-US" altLang="zh-CN" sz="3200" dirty="0">
                <a:latin typeface="Arial" panose="020B0604020202020204" pitchFamily="34" charset="0"/>
              </a:rPr>
              <a:t>2</a:t>
            </a:r>
            <a:r>
              <a:rPr lang="zh-CN" altLang="en-US" sz="3200" dirty="0">
                <a:latin typeface="Arial" panose="020B0604020202020204" pitchFamily="34" charset="0"/>
              </a:rPr>
              <a:t>的提交结果破坏了事务</a:t>
            </a:r>
            <a:r>
              <a:rPr lang="en-US" altLang="zh-CN" sz="3200" dirty="0">
                <a:latin typeface="Arial" panose="020B0604020202020204" pitchFamily="34" charset="0"/>
              </a:rPr>
              <a:t>1 </a:t>
            </a:r>
            <a:r>
              <a:rPr lang="zh-CN" altLang="en-US" sz="3200" dirty="0">
                <a:latin typeface="Arial" panose="020B0604020202020204" pitchFamily="34" charset="0"/>
              </a:rPr>
              <a:t>提交的结果，导致事务</a:t>
            </a:r>
            <a:r>
              <a:rPr lang="en-US" altLang="zh-CN" sz="3200" dirty="0">
                <a:latin typeface="Arial" panose="020B0604020202020204" pitchFamily="34" charset="0"/>
              </a:rPr>
              <a:t>1</a:t>
            </a:r>
            <a:r>
              <a:rPr lang="zh-CN" altLang="en-US" sz="3200" dirty="0">
                <a:latin typeface="Arial" panose="020B0604020202020204" pitchFamily="34" charset="0"/>
              </a:rPr>
              <a:t>的修改被丢失</a:t>
            </a:r>
            <a:endParaRPr lang="zh-CN" altLang="en-US" sz="3200" dirty="0">
              <a:latin typeface="Arial" panose="020B0604020202020204" pitchFamily="34" charset="0"/>
            </a:endParaRPr>
          </a:p>
          <a:p>
            <a:pPr marL="0" indent="0" eaLnBrk="1" hangingPunct="1"/>
            <a:endParaRPr lang="en-US" altLang="zh-CN" sz="3200" dirty="0">
              <a:latin typeface="Arial" panose="020B0604020202020204" pitchFamily="34" charset="0"/>
            </a:endParaRPr>
          </a:p>
        </p:txBody>
      </p:sp>
      <p:sp>
        <p:nvSpPr>
          <p:cNvPr id="378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丢失修改</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4580" name="Group 11"/>
          <p:cNvGrpSpPr/>
          <p:nvPr/>
        </p:nvGrpSpPr>
        <p:grpSpPr>
          <a:xfrm>
            <a:off x="1000125" y="3320415"/>
            <a:ext cx="7531100" cy="3272155"/>
            <a:chOff x="1202" y="1770"/>
            <a:chExt cx="4354" cy="2023"/>
          </a:xfrm>
        </p:grpSpPr>
        <p:sp>
          <p:nvSpPr>
            <p:cNvPr id="24581" name="Rectangle 5"/>
            <p:cNvSpPr/>
            <p:nvPr/>
          </p:nvSpPr>
          <p:spPr>
            <a:xfrm>
              <a:off x="3524" y="2139"/>
              <a:ext cx="2032" cy="1654"/>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lnSpc>
                  <a:spcPct val="140000"/>
                </a:lnSpc>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lnSpc>
                  <a:spcPct val="140000"/>
                </a:lnSpc>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A=16 </a:t>
              </a:r>
              <a:endParaRPr lang="en-US" altLang="zh-CN" sz="2800" dirty="0">
                <a:solidFill>
                  <a:srgbClr val="0000CC"/>
                </a:solidFill>
                <a:latin typeface="Arial" panose="020B0604020202020204" pitchFamily="34" charset="0"/>
              </a:endParaRPr>
            </a:p>
            <a:p>
              <a:pPr marL="0" lvl="0" indent="0" eaLnBrk="1" hangingPunct="1">
                <a:lnSpc>
                  <a:spcPct val="140000"/>
                </a:lnSpc>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lnSpc>
                  <a:spcPct val="140000"/>
                </a:lnSpc>
                <a:buNone/>
              </a:pPr>
              <a:r>
                <a:rPr lang="en-US" altLang="zh-CN" sz="2800" dirty="0">
                  <a:solidFill>
                    <a:srgbClr val="0000CC"/>
                  </a:solidFill>
                  <a:latin typeface="Arial" panose="020B0604020202020204" pitchFamily="34" charset="0"/>
                </a:rPr>
                <a:t>A←A-3 </a:t>
              </a:r>
              <a:r>
                <a:rPr lang="zh-CN" altLang="en-US" sz="2800" dirty="0">
                  <a:solidFill>
                    <a:srgbClr val="0000CC"/>
                  </a:solidFill>
                  <a:latin typeface="Arial" panose="020B0604020202020204" pitchFamily="34" charset="0"/>
                </a:rPr>
                <a:t>写回</a:t>
              </a:r>
              <a:r>
                <a:rPr lang="en-US" altLang="zh-CN" sz="2800" dirty="0">
                  <a:solidFill>
                    <a:srgbClr val="0000CC"/>
                  </a:solidFill>
                  <a:latin typeface="Arial" panose="020B0604020202020204" pitchFamily="34" charset="0"/>
                </a:rPr>
                <a:t>A=13</a:t>
              </a:r>
              <a:endParaRPr lang="en-US" altLang="zh-CN" sz="2800" dirty="0">
                <a:solidFill>
                  <a:srgbClr val="0000CC"/>
                </a:solidFill>
                <a:latin typeface="Arial" panose="020B0604020202020204" pitchFamily="34" charset="0"/>
              </a:endParaRPr>
            </a:p>
          </p:txBody>
        </p:sp>
        <p:sp>
          <p:nvSpPr>
            <p:cNvPr id="24582" name="Rectangle 6"/>
            <p:cNvSpPr/>
            <p:nvPr/>
          </p:nvSpPr>
          <p:spPr>
            <a:xfrm>
              <a:off x="1202" y="2139"/>
              <a:ext cx="2336" cy="1654"/>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lnSpc>
                  <a:spcPct val="140000"/>
                </a:lnSpc>
                <a:buNone/>
              </a:pPr>
              <a:r>
                <a:rPr lang="en-US" altLang="zh-CN" sz="2800" dirty="0">
                  <a:solidFill>
                    <a:srgbClr val="0000CC"/>
                  </a:solidFill>
                  <a:latin typeface="Arial" panose="020B0604020202020204" pitchFamily="34" charset="0"/>
                </a:rPr>
                <a:t>① </a:t>
              </a: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A=16 </a:t>
              </a:r>
              <a:endParaRPr lang="en-US" altLang="zh-CN" sz="2800" dirty="0">
                <a:solidFill>
                  <a:srgbClr val="0000CC"/>
                </a:solidFill>
                <a:latin typeface="Arial" panose="020B0604020202020204" pitchFamily="34" charset="0"/>
              </a:endParaRPr>
            </a:p>
            <a:p>
              <a:pPr marL="0" lvl="0" indent="0" eaLnBrk="1" hangingPunct="1">
                <a:lnSpc>
                  <a:spcPct val="140000"/>
                </a:lnSpc>
                <a:buNone/>
              </a:pPr>
              <a:r>
                <a:rPr lang="en-US" altLang="zh-CN" sz="2800" dirty="0">
                  <a:solidFill>
                    <a:srgbClr val="0000CC"/>
                  </a:solidFill>
                  <a:latin typeface="Arial" panose="020B0604020202020204" pitchFamily="34" charset="0"/>
                </a:rPr>
                <a:t>② </a:t>
              </a:r>
              <a:endParaRPr lang="en-US" altLang="zh-CN" sz="2800" dirty="0">
                <a:solidFill>
                  <a:srgbClr val="0000CC"/>
                </a:solidFill>
                <a:latin typeface="Arial" panose="020B0604020202020204" pitchFamily="34" charset="0"/>
              </a:endParaRPr>
            </a:p>
            <a:p>
              <a:pPr marL="0" lvl="0" indent="0" eaLnBrk="1" hangingPunct="1">
                <a:lnSpc>
                  <a:spcPct val="140000"/>
                </a:lnSpc>
                <a:buNone/>
              </a:pPr>
              <a:r>
                <a:rPr lang="en-US" altLang="zh-CN" sz="2800" dirty="0">
                  <a:solidFill>
                    <a:srgbClr val="0000CC"/>
                  </a:solidFill>
                  <a:latin typeface="Arial" panose="020B0604020202020204" pitchFamily="34" charset="0"/>
                </a:rPr>
                <a:t>③ A←A-1 </a:t>
              </a:r>
              <a:r>
                <a:rPr lang="zh-CN" altLang="en-US" sz="2800" dirty="0">
                  <a:solidFill>
                    <a:srgbClr val="0000CC"/>
                  </a:solidFill>
                  <a:latin typeface="Arial" panose="020B0604020202020204" pitchFamily="34" charset="0"/>
                </a:rPr>
                <a:t>写回</a:t>
              </a:r>
              <a:r>
                <a:rPr lang="en-US" altLang="zh-CN" sz="2800" dirty="0">
                  <a:solidFill>
                    <a:srgbClr val="0000CC"/>
                  </a:solidFill>
                  <a:latin typeface="Arial" panose="020B0604020202020204" pitchFamily="34" charset="0"/>
                </a:rPr>
                <a:t>A=15 </a:t>
              </a:r>
              <a:endParaRPr lang="en-US" altLang="zh-CN" sz="2800" dirty="0">
                <a:solidFill>
                  <a:srgbClr val="0000CC"/>
                </a:solidFill>
                <a:latin typeface="Arial" panose="020B0604020202020204" pitchFamily="34" charset="0"/>
              </a:endParaRPr>
            </a:p>
            <a:p>
              <a:pPr marL="0" lvl="0" indent="0" eaLnBrk="1" hangingPunct="1">
                <a:lnSpc>
                  <a:spcPct val="140000"/>
                </a:lnSpc>
                <a:buNone/>
              </a:pPr>
              <a:r>
                <a:rPr lang="en-US" altLang="zh-CN" sz="2800" dirty="0">
                  <a:solidFill>
                    <a:srgbClr val="0000CC"/>
                  </a:solidFill>
                  <a:latin typeface="Arial" panose="020B0604020202020204" pitchFamily="34" charset="0"/>
                </a:rPr>
                <a:t>④</a:t>
              </a:r>
              <a:endParaRPr lang="en-US" altLang="zh-CN" sz="2800" dirty="0">
                <a:solidFill>
                  <a:srgbClr val="0000CC"/>
                </a:solidFill>
                <a:latin typeface="Arial" panose="020B0604020202020204" pitchFamily="34" charset="0"/>
              </a:endParaRPr>
            </a:p>
          </p:txBody>
        </p:sp>
        <p:sp>
          <p:nvSpPr>
            <p:cNvPr id="24583" name="Rectangle 7"/>
            <p:cNvSpPr/>
            <p:nvPr/>
          </p:nvSpPr>
          <p:spPr>
            <a:xfrm>
              <a:off x="3532" y="1770"/>
              <a:ext cx="2024" cy="366"/>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 </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24584" name="Rectangle 8"/>
            <p:cNvSpPr/>
            <p:nvPr/>
          </p:nvSpPr>
          <p:spPr>
            <a:xfrm>
              <a:off x="1202" y="1770"/>
              <a:ext cx="2336" cy="366"/>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 </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noProof="0" smtClean="0">
                <a:ln>
                  <a:noFill/>
                </a:ln>
                <a:uLnTx/>
                <a:uFillTx/>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读</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脏</a:t>
            </a: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数据</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5603" name="Group 18"/>
          <p:cNvGrpSpPr/>
          <p:nvPr/>
        </p:nvGrpSpPr>
        <p:grpSpPr>
          <a:xfrm>
            <a:off x="2700338" y="3932238"/>
            <a:ext cx="5761037" cy="2881312"/>
            <a:chOff x="1701" y="2432"/>
            <a:chExt cx="3629" cy="1815"/>
          </a:xfrm>
        </p:grpSpPr>
        <p:sp>
          <p:nvSpPr>
            <p:cNvPr id="25605" name="Rectangle 5"/>
            <p:cNvSpPr/>
            <p:nvPr/>
          </p:nvSpPr>
          <p:spPr>
            <a:xfrm>
              <a:off x="4077" y="2758"/>
              <a:ext cx="1253" cy="1489"/>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C=200</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p:txBody>
        </p:sp>
        <p:sp>
          <p:nvSpPr>
            <p:cNvPr id="25606" name="Rectangle 6"/>
            <p:cNvSpPr/>
            <p:nvPr/>
          </p:nvSpPr>
          <p:spPr>
            <a:xfrm>
              <a:off x="1701" y="2758"/>
              <a:ext cx="2384" cy="1489"/>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① </a:t>
              </a: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C=100 C←C*2</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r>
                <a:rPr lang="zh-CN" altLang="en-US" sz="2800" dirty="0">
                  <a:solidFill>
                    <a:srgbClr val="0000CC"/>
                  </a:solidFill>
                  <a:latin typeface="Arial" panose="020B0604020202020204" pitchFamily="34" charset="0"/>
                </a:rPr>
                <a:t>写回</a:t>
              </a:r>
              <a:r>
                <a:rPr lang="en-US" altLang="zh-CN" sz="2800" dirty="0">
                  <a:solidFill>
                    <a:srgbClr val="0000CC"/>
                  </a:solidFill>
                  <a:latin typeface="Arial" panose="020B0604020202020204" pitchFamily="34" charset="0"/>
                </a:rPr>
                <a:t>C</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②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③ ROLLBACK</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C</a:t>
              </a:r>
              <a:r>
                <a:rPr lang="zh-CN" altLang="en-US" sz="2800" dirty="0">
                  <a:solidFill>
                    <a:srgbClr val="0000CC"/>
                  </a:solidFill>
                  <a:latin typeface="Arial" panose="020B0604020202020204" pitchFamily="34" charset="0"/>
                </a:rPr>
                <a:t>恢复为</a:t>
              </a:r>
              <a:r>
                <a:rPr lang="en-US" altLang="zh-CN" sz="2800" dirty="0">
                  <a:solidFill>
                    <a:srgbClr val="0000CC"/>
                  </a:solidFill>
                  <a:latin typeface="Arial" panose="020B0604020202020204" pitchFamily="34" charset="0"/>
                </a:rPr>
                <a:t>100</a:t>
              </a:r>
              <a:endParaRPr lang="en-US" altLang="zh-CN" sz="2800" dirty="0">
                <a:solidFill>
                  <a:srgbClr val="0000CC"/>
                </a:solidFill>
                <a:latin typeface="Arial" panose="020B0604020202020204" pitchFamily="34" charset="0"/>
              </a:endParaRPr>
            </a:p>
          </p:txBody>
        </p:sp>
        <p:sp>
          <p:nvSpPr>
            <p:cNvPr id="25607" name="Rectangle 7"/>
            <p:cNvSpPr/>
            <p:nvPr/>
          </p:nvSpPr>
          <p:spPr>
            <a:xfrm>
              <a:off x="4077" y="2432"/>
              <a:ext cx="1253" cy="326"/>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25608" name="Rectangle 8"/>
            <p:cNvSpPr/>
            <p:nvPr/>
          </p:nvSpPr>
          <p:spPr>
            <a:xfrm>
              <a:off x="1704" y="2432"/>
              <a:ext cx="2373" cy="326"/>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
        <p:nvSpPr>
          <p:cNvPr id="25604" name="Rectangle 17"/>
          <p:cNvSpPr>
            <a:spLocks noGrp="1"/>
          </p:cNvSpPr>
          <p:nvPr>
            <p:ph idx="1"/>
          </p:nvPr>
        </p:nvSpPr>
        <p:spPr/>
        <p:txBody>
          <a:bodyPr vert="horz" wrap="square" lIns="91440" tIns="45720" rIns="91440" bIns="45720" anchor="t" anchorCtr="0"/>
          <a:p>
            <a:pPr marL="0" indent="0" eaLnBrk="1" hangingPunct="1">
              <a:lnSpc>
                <a:spcPct val="95000"/>
              </a:lnSpc>
              <a:buNone/>
            </a:pPr>
            <a:r>
              <a:rPr lang="en-US" altLang="zh-CN" sz="3200" dirty="0">
                <a:latin typeface="Arial" panose="020B0604020202020204" pitchFamily="34" charset="0"/>
              </a:rPr>
              <a:t> </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1</a:t>
            </a:r>
            <a:r>
              <a:rPr lang="en-US" altLang="zh-CN" sz="3200" dirty="0">
                <a:latin typeface="Arial" panose="020B0604020202020204" pitchFamily="34" charset="0"/>
              </a:rPr>
              <a:t> </a:t>
            </a:r>
            <a:r>
              <a:rPr lang="zh-CN" altLang="en-US" sz="3200" dirty="0">
                <a:latin typeface="Arial" panose="020B0604020202020204" pitchFamily="34" charset="0"/>
              </a:rPr>
              <a:t>修改某一数据，并将其写回。</a:t>
            </a:r>
            <a:endParaRPr lang="zh-CN" altLang="en-US" sz="3200" dirty="0">
              <a:latin typeface="Arial" panose="020B0604020202020204" pitchFamily="34" charset="0"/>
            </a:endParaRPr>
          </a:p>
          <a:p>
            <a:pPr marL="0" indent="0" algn="just" eaLnBrk="1" hangingPunct="1">
              <a:lnSpc>
                <a:spcPct val="95000"/>
              </a:lnSpc>
              <a:buNone/>
            </a:pPr>
            <a:r>
              <a:rPr lang="zh-CN" altLang="en-US" sz="3200" dirty="0">
                <a:latin typeface="Arial" panose="020B0604020202020204" pitchFamily="34" charset="0"/>
              </a:rPr>
              <a:t> </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2</a:t>
            </a:r>
            <a:r>
              <a:rPr lang="en-US" altLang="zh-CN" sz="3200" dirty="0">
                <a:latin typeface="Arial" panose="020B0604020202020204" pitchFamily="34" charset="0"/>
              </a:rPr>
              <a:t> </a:t>
            </a:r>
            <a:r>
              <a:rPr lang="zh-CN" altLang="en-US" sz="3200" dirty="0">
                <a:latin typeface="Arial" panose="020B0604020202020204" pitchFamily="34" charset="0"/>
              </a:rPr>
              <a:t>读取了同一数据。</a:t>
            </a:r>
            <a:endParaRPr lang="zh-CN" altLang="en-US" sz="3200" dirty="0">
              <a:latin typeface="Arial" panose="020B0604020202020204" pitchFamily="34" charset="0"/>
            </a:endParaRPr>
          </a:p>
          <a:p>
            <a:pPr marL="0" indent="0" algn="just" eaLnBrk="1" hangingPunct="1">
              <a:lnSpc>
                <a:spcPct val="95000"/>
              </a:lnSpc>
              <a:buNone/>
            </a:pPr>
            <a:r>
              <a:rPr lang="zh-CN" altLang="en-US" sz="3200" dirty="0">
                <a:latin typeface="Arial" panose="020B0604020202020204" pitchFamily="34" charset="0"/>
              </a:rPr>
              <a:t> </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1</a:t>
            </a:r>
            <a:r>
              <a:rPr lang="en-US" altLang="zh-CN" sz="3200" dirty="0">
                <a:latin typeface="Arial" panose="020B0604020202020204" pitchFamily="34" charset="0"/>
              </a:rPr>
              <a:t> </a:t>
            </a:r>
            <a:r>
              <a:rPr lang="zh-CN" altLang="en-US" sz="3200" dirty="0">
                <a:latin typeface="Arial" panose="020B0604020202020204" pitchFamily="34" charset="0"/>
              </a:rPr>
              <a:t>由于某种原因被撤消，这时事务</a:t>
            </a:r>
            <a:r>
              <a:rPr lang="en-US" altLang="zh-CN" sz="3200" dirty="0">
                <a:latin typeface="Arial" panose="020B0604020202020204" pitchFamily="34" charset="0"/>
              </a:rPr>
              <a:t>1 </a:t>
            </a:r>
            <a:r>
              <a:rPr lang="zh-CN" altLang="en-US" sz="3200" dirty="0">
                <a:latin typeface="Arial" panose="020B0604020202020204" pitchFamily="34" charset="0"/>
              </a:rPr>
              <a:t>已修</a:t>
            </a:r>
            <a:endParaRPr lang="zh-CN" altLang="en-US" sz="3200" dirty="0">
              <a:latin typeface="Arial" panose="020B0604020202020204" pitchFamily="34" charset="0"/>
            </a:endParaRPr>
          </a:p>
          <a:p>
            <a:pPr marL="0" indent="0" algn="just" eaLnBrk="1" hangingPunct="1">
              <a:lnSpc>
                <a:spcPct val="95000"/>
              </a:lnSpc>
              <a:buNone/>
            </a:pPr>
            <a:r>
              <a:rPr lang="zh-CN" altLang="en-US" sz="3200" dirty="0">
                <a:latin typeface="Arial" panose="020B0604020202020204" pitchFamily="34" charset="0"/>
              </a:rPr>
              <a:t>           改过的数据恢复原值。</a:t>
            </a:r>
            <a:endParaRPr lang="zh-CN" altLang="en-US" sz="3200" dirty="0">
              <a:latin typeface="Arial" panose="020B0604020202020204" pitchFamily="34" charset="0"/>
            </a:endParaRPr>
          </a:p>
          <a:p>
            <a:pPr marL="0" indent="0" algn="just" eaLnBrk="1" hangingPunct="1">
              <a:lnSpc>
                <a:spcPct val="95000"/>
              </a:lnSpc>
              <a:buNone/>
            </a:pPr>
            <a:r>
              <a:rPr lang="zh-CN" altLang="en-US" sz="3200" dirty="0">
                <a:latin typeface="Arial" panose="020B0604020202020204" pitchFamily="34" charset="0"/>
              </a:rPr>
              <a:t> </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2</a:t>
            </a:r>
            <a:r>
              <a:rPr lang="en-US" altLang="zh-CN" sz="3200" dirty="0">
                <a:latin typeface="Arial" panose="020B0604020202020204" pitchFamily="34" charset="0"/>
              </a:rPr>
              <a:t> </a:t>
            </a:r>
            <a:r>
              <a:rPr lang="zh-CN" altLang="en-US" sz="3200" dirty="0">
                <a:latin typeface="Arial" panose="020B0604020202020204" pitchFamily="34" charset="0"/>
              </a:rPr>
              <a:t>读到的数据与数据库中的数据不一致，</a:t>
            </a:r>
            <a:endParaRPr lang="zh-CN" altLang="en-US" sz="3200" dirty="0">
              <a:latin typeface="Arial" panose="020B0604020202020204" pitchFamily="34" charset="0"/>
            </a:endParaRPr>
          </a:p>
          <a:p>
            <a:pPr marL="0" indent="0" algn="just" eaLnBrk="1" hangingPunct="1">
              <a:lnSpc>
                <a:spcPct val="95000"/>
              </a:lnSpc>
              <a:buNone/>
            </a:pPr>
            <a:r>
              <a:rPr lang="zh-CN" altLang="en-US" sz="3200" dirty="0">
                <a:latin typeface="Arial" panose="020B0604020202020204" pitchFamily="34" charset="0"/>
              </a:rPr>
              <a:t>           是不正确的数据，又称为</a:t>
            </a:r>
            <a:r>
              <a:rPr lang="en-US" altLang="zh-CN" dirty="0">
                <a:latin typeface="Arial" panose="020B0604020202020204" pitchFamily="34" charset="0"/>
              </a:rPr>
              <a:t>"</a:t>
            </a:r>
            <a:r>
              <a:rPr lang="zh-CN" altLang="en-US" sz="3200" dirty="0">
                <a:latin typeface="Arial" panose="020B0604020202020204" pitchFamily="34" charset="0"/>
              </a:rPr>
              <a:t>脏</a:t>
            </a:r>
            <a:r>
              <a:rPr lang="en-US" altLang="zh-CN" dirty="0">
                <a:latin typeface="Arial" panose="020B0604020202020204" pitchFamily="34" charset="0"/>
              </a:rPr>
              <a:t>"</a:t>
            </a:r>
            <a:r>
              <a:rPr lang="zh-CN" altLang="en-US" sz="3200" dirty="0">
                <a:latin typeface="Arial" panose="020B0604020202020204" pitchFamily="34" charset="0"/>
              </a:rPr>
              <a:t>数据。</a:t>
            </a:r>
            <a:endParaRPr lang="zh-CN" altLang="en-US" sz="3200"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18"/>
          <p:cNvSpPr>
            <a:spLocks noGrp="1"/>
          </p:cNvSpPr>
          <p:nvPr>
            <p:ph idx="1"/>
          </p:nvPr>
        </p:nvSpPr>
        <p:spPr/>
        <p:txBody>
          <a:bodyPr vert="horz" wrap="square" lIns="91440" tIns="45720" rIns="91440" bIns="45720" anchor="t" anchorCtr="0"/>
          <a:p>
            <a:pPr eaLnBrk="1" hangingPunct="1">
              <a:lnSpc>
                <a:spcPct val="110000"/>
              </a:lnSpc>
              <a:buFont typeface="Wingdings" panose="05000000000000000000" charset="0"/>
              <a:buChar char="n"/>
            </a:pPr>
            <a:r>
              <a:rPr lang="zh-CN" altLang="en-US" sz="3200" dirty="0">
                <a:latin typeface="Arial" panose="020B0604020202020204" pitchFamily="34" charset="0"/>
              </a:rPr>
              <a:t>事务</a:t>
            </a:r>
            <a:r>
              <a:rPr lang="en-US" altLang="zh-CN" sz="3200" dirty="0">
                <a:latin typeface="Arial" panose="020B0604020202020204" pitchFamily="34" charset="0"/>
              </a:rPr>
              <a:t>1 </a:t>
            </a:r>
            <a:r>
              <a:rPr lang="zh-CN" altLang="en-US" sz="3200" dirty="0">
                <a:latin typeface="Arial" panose="020B0604020202020204" pitchFamily="34" charset="0"/>
              </a:rPr>
              <a:t>读取数据后，事务</a:t>
            </a:r>
            <a:r>
              <a:rPr lang="en-US" altLang="zh-CN" sz="3200" dirty="0">
                <a:latin typeface="Arial" panose="020B0604020202020204" pitchFamily="34" charset="0"/>
              </a:rPr>
              <a:t>2 </a:t>
            </a:r>
            <a:r>
              <a:rPr lang="zh-CN" altLang="en-US" sz="3200" dirty="0">
                <a:latin typeface="Arial" panose="020B0604020202020204" pitchFamily="34" charset="0"/>
              </a:rPr>
              <a:t>执行更新操作，使事务</a:t>
            </a:r>
            <a:r>
              <a:rPr lang="en-US" altLang="zh-CN" sz="3200" dirty="0">
                <a:latin typeface="Arial" panose="020B0604020202020204" pitchFamily="34" charset="0"/>
              </a:rPr>
              <a:t>1 </a:t>
            </a:r>
            <a:r>
              <a:rPr lang="zh-CN" altLang="en-US" sz="3200" dirty="0">
                <a:latin typeface="Arial" panose="020B0604020202020204" pitchFamily="34" charset="0"/>
              </a:rPr>
              <a:t>无法再现前一次读取结果</a:t>
            </a:r>
            <a:endParaRPr lang="zh-CN" altLang="en-US" sz="3200" dirty="0">
              <a:latin typeface="Arial" panose="020B0604020202020204" pitchFamily="34" charset="0"/>
            </a:endParaRPr>
          </a:p>
        </p:txBody>
      </p:sp>
      <p:sp>
        <p:nvSpPr>
          <p:cNvPr id="409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3</a:t>
            </a:r>
            <a:r>
              <a:rPr lang="en-US" altLang="zh-CN" noProof="0" smtClean="0">
                <a:ln>
                  <a:noFill/>
                </a:ln>
                <a:uLnTx/>
                <a:uFillTx/>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不可重复读</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6628" name="Group 17"/>
          <p:cNvGrpSpPr/>
          <p:nvPr/>
        </p:nvGrpSpPr>
        <p:grpSpPr>
          <a:xfrm>
            <a:off x="1116013" y="2349500"/>
            <a:ext cx="7416800" cy="3743325"/>
            <a:chOff x="884" y="1843"/>
            <a:chExt cx="4672" cy="2358"/>
          </a:xfrm>
        </p:grpSpPr>
        <p:sp>
          <p:nvSpPr>
            <p:cNvPr id="26629" name="Rectangle 6"/>
            <p:cNvSpPr/>
            <p:nvPr/>
          </p:nvSpPr>
          <p:spPr>
            <a:xfrm>
              <a:off x="3555" y="2185"/>
              <a:ext cx="2001" cy="2016"/>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B=100  B←B</a:t>
              </a:r>
              <a:r>
                <a:rPr lang="en-US" altLang="zh-CN" sz="3200" dirty="0">
                  <a:solidFill>
                    <a:srgbClr val="0000CC"/>
                  </a:solidFill>
                  <a:latin typeface="Arial" panose="020B0604020202020204" pitchFamily="34" charset="0"/>
                  <a:sym typeface="Symbol" panose="05050102010706020507" pitchFamily="18" charset="2"/>
                </a:rPr>
                <a:t></a:t>
              </a:r>
              <a:r>
                <a:rPr lang="en-US" altLang="zh-CN" sz="2800" dirty="0">
                  <a:solidFill>
                    <a:srgbClr val="0000CC"/>
                  </a:solidFill>
                  <a:latin typeface="Arial" panose="020B0604020202020204" pitchFamily="34" charset="0"/>
                </a:rPr>
                <a:t>2</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写回</a:t>
              </a:r>
              <a:r>
                <a:rPr lang="en-US" altLang="zh-CN" sz="2800" dirty="0">
                  <a:solidFill>
                    <a:srgbClr val="0000CC"/>
                  </a:solidFill>
                  <a:latin typeface="Arial" panose="020B0604020202020204" pitchFamily="34" charset="0"/>
                </a:rPr>
                <a:t>B=200</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p:txBody>
        </p:sp>
        <p:sp>
          <p:nvSpPr>
            <p:cNvPr id="26630" name="Rectangle 7"/>
            <p:cNvSpPr/>
            <p:nvPr/>
          </p:nvSpPr>
          <p:spPr>
            <a:xfrm>
              <a:off x="884" y="2185"/>
              <a:ext cx="2671" cy="2016"/>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①</a:t>
              </a:r>
              <a:r>
                <a:rPr lang="en-US" altLang="zh-CN" sz="2800" dirty="0">
                  <a:solidFill>
                    <a:srgbClr val="0000CC"/>
                  </a:solidFill>
                  <a:latin typeface="Arial" panose="020B0604020202020204" pitchFamily="34" charset="0"/>
                  <a:cs typeface="Times New Roman" panose="02020603050405020304" pitchFamily="18" charset="0"/>
                </a:rPr>
                <a:t> </a:t>
              </a: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A=50 </a:t>
              </a: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B=100</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r>
                <a:rPr lang="zh-CN" altLang="en-US" sz="2800" dirty="0">
                  <a:solidFill>
                    <a:srgbClr val="0000CC"/>
                  </a:solidFill>
                  <a:latin typeface="Arial" panose="020B0604020202020204" pitchFamily="34" charset="0"/>
                </a:rPr>
                <a:t>求和</a:t>
              </a:r>
              <a:r>
                <a:rPr lang="en-US" altLang="zh-CN" sz="2800" dirty="0">
                  <a:solidFill>
                    <a:srgbClr val="0000CC"/>
                  </a:solidFill>
                  <a:latin typeface="Arial" panose="020B0604020202020204" pitchFamily="34" charset="0"/>
                </a:rPr>
                <a:t>=150</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②</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③ </a:t>
              </a: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A=50 </a:t>
              </a: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B=200</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r>
                <a:rPr lang="zh-CN" altLang="en-US" sz="2800" dirty="0">
                  <a:solidFill>
                    <a:srgbClr val="0000CC"/>
                  </a:solidFill>
                  <a:latin typeface="Arial" panose="020B0604020202020204" pitchFamily="34" charset="0"/>
                </a:rPr>
                <a:t>求和</a:t>
              </a:r>
              <a:r>
                <a:rPr lang="en-US" altLang="zh-CN" sz="2800" dirty="0">
                  <a:solidFill>
                    <a:srgbClr val="0000CC"/>
                  </a:solidFill>
                  <a:latin typeface="Arial" panose="020B0604020202020204" pitchFamily="34" charset="0"/>
                </a:rPr>
                <a:t>=250 (</a:t>
              </a:r>
              <a:r>
                <a:rPr lang="zh-CN" altLang="en-US" sz="2800" dirty="0">
                  <a:solidFill>
                    <a:srgbClr val="0000CC"/>
                  </a:solidFill>
                  <a:latin typeface="Arial" panose="020B0604020202020204" pitchFamily="34" charset="0"/>
                </a:rPr>
                <a:t>验算不对</a:t>
              </a: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p:txBody>
        </p:sp>
        <p:sp>
          <p:nvSpPr>
            <p:cNvPr id="26631" name="Rectangle 8"/>
            <p:cNvSpPr/>
            <p:nvPr/>
          </p:nvSpPr>
          <p:spPr>
            <a:xfrm>
              <a:off x="3555" y="1843"/>
              <a:ext cx="2001" cy="342"/>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26632" name="Rectangle 9"/>
            <p:cNvSpPr/>
            <p:nvPr/>
          </p:nvSpPr>
          <p:spPr>
            <a:xfrm>
              <a:off x="884" y="1843"/>
              <a:ext cx="2671" cy="342"/>
            </a:xfrm>
            <a:prstGeom prst="rect">
              <a:avLst/>
            </a:prstGeom>
            <a:no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a:xfrm>
            <a:off x="13493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三类不可重复读</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94568" name="Rectangle 8"/>
          <p:cNvSpPr>
            <a:spLocks noGrp="1"/>
          </p:cNvSpPr>
          <p:nvPr>
            <p:ph idx="1"/>
          </p:nvPr>
        </p:nvSpPr>
        <p:spPr>
          <a:xfrm>
            <a:off x="152400" y="1052513"/>
            <a:ext cx="8848725" cy="5400675"/>
          </a:xfrm>
        </p:spPr>
        <p:txBody>
          <a:bodyPr vert="horz" wrap="square" lIns="91440" tIns="45720" rIns="91440" bIns="45720" anchor="t" anchorCtr="0"/>
          <a:p>
            <a:pPr eaLnBrk="1" hangingPunct="1">
              <a:lnSpc>
                <a:spcPct val="105000"/>
              </a:lnSpc>
              <a:buFont typeface="Wingdings" panose="05000000000000000000" charset="0"/>
              <a:buChar char="n"/>
            </a:pPr>
            <a:r>
              <a:rPr lang="zh-CN" altLang="en-US" sz="3200" dirty="0">
                <a:latin typeface="Arial" panose="020B0604020202020204" pitchFamily="34" charset="0"/>
              </a:rPr>
              <a:t>事务</a:t>
            </a:r>
            <a:r>
              <a:rPr lang="en-US" altLang="zh-CN" sz="3200" dirty="0">
                <a:latin typeface="Arial" panose="020B0604020202020204" pitchFamily="34" charset="0"/>
              </a:rPr>
              <a:t>1 </a:t>
            </a:r>
            <a:r>
              <a:rPr lang="zh-CN" altLang="en-US" sz="3200" dirty="0">
                <a:latin typeface="Arial" panose="020B0604020202020204" pitchFamily="34" charset="0"/>
              </a:rPr>
              <a:t>读取某一数据后：</a:t>
            </a:r>
            <a:endParaRPr lang="zh-CN" altLang="en-US" sz="3200" dirty="0">
              <a:latin typeface="Arial" panose="020B0604020202020204" pitchFamily="34" charset="0"/>
            </a:endParaRPr>
          </a:p>
          <a:p>
            <a:pPr marL="627380" indent="-627380" eaLnBrk="1" hangingPunct="1">
              <a:spcBef>
                <a:spcPct val="20000"/>
              </a:spcBef>
              <a:buNone/>
            </a:pPr>
            <a:r>
              <a:rPr lang="en-US" altLang="zh-CN" sz="3200" dirty="0">
                <a:latin typeface="Arial" panose="020B0604020202020204" pitchFamily="34" charset="0"/>
              </a:rPr>
              <a:t>1</a:t>
            </a:r>
            <a:r>
              <a:rPr lang="zh-CN" altLang="en-US" sz="3200" dirty="0">
                <a:latin typeface="Arial" panose="020B0604020202020204" pitchFamily="34" charset="0"/>
              </a:rPr>
              <a:t>、</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2 </a:t>
            </a:r>
            <a:r>
              <a:rPr lang="zh-CN" altLang="en-US" sz="3200" dirty="0">
                <a:solidFill>
                  <a:srgbClr val="0000CC"/>
                </a:solidFill>
                <a:latin typeface="Arial" panose="020B0604020202020204" pitchFamily="34" charset="0"/>
              </a:rPr>
              <a:t>对其做了修改，</a:t>
            </a:r>
            <a:r>
              <a:rPr lang="zh-CN" altLang="en-US" sz="3200" dirty="0">
                <a:latin typeface="Arial" panose="020B0604020202020204" pitchFamily="34" charset="0"/>
              </a:rPr>
              <a:t>当事务</a:t>
            </a:r>
            <a:r>
              <a:rPr lang="en-US" altLang="zh-CN" sz="3200" dirty="0">
                <a:latin typeface="Arial" panose="020B0604020202020204" pitchFamily="34" charset="0"/>
              </a:rPr>
              <a:t>1 </a:t>
            </a:r>
            <a:r>
              <a:rPr lang="zh-CN" altLang="en-US" sz="3200" dirty="0">
                <a:latin typeface="Arial" panose="020B0604020202020204" pitchFamily="34" charset="0"/>
              </a:rPr>
              <a:t>再次读该数据时，得到与前一次不同的值。</a:t>
            </a:r>
            <a:endParaRPr lang="zh-CN" altLang="en-US" sz="3200" dirty="0">
              <a:latin typeface="Arial" panose="020B0604020202020204" pitchFamily="34" charset="0"/>
            </a:endParaRPr>
          </a:p>
          <a:p>
            <a:pPr marL="627380" indent="-627380" eaLnBrk="1" hangingPunct="1">
              <a:spcBef>
                <a:spcPct val="20000"/>
              </a:spcBef>
              <a:buNone/>
            </a:pPr>
            <a:r>
              <a:rPr lang="en-US" altLang="zh-CN" sz="3200" dirty="0">
                <a:latin typeface="Arial" panose="020B0604020202020204" pitchFamily="34" charset="0"/>
              </a:rPr>
              <a:t>2</a:t>
            </a:r>
            <a:r>
              <a:rPr lang="zh-CN" altLang="en-US" sz="3200" dirty="0">
                <a:latin typeface="Arial" panose="020B0604020202020204" pitchFamily="34" charset="0"/>
              </a:rPr>
              <a:t>、</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2 </a:t>
            </a:r>
            <a:r>
              <a:rPr lang="zh-CN" altLang="en-US" sz="3200" dirty="0">
                <a:solidFill>
                  <a:srgbClr val="0000CC"/>
                </a:solidFill>
                <a:latin typeface="Arial" panose="020B0604020202020204" pitchFamily="34" charset="0"/>
              </a:rPr>
              <a:t>删除了其中部分记录，</a:t>
            </a:r>
            <a:r>
              <a:rPr lang="zh-CN" altLang="en-US" sz="3200" dirty="0">
                <a:latin typeface="Arial" panose="020B0604020202020204" pitchFamily="34" charset="0"/>
              </a:rPr>
              <a:t>当事务</a:t>
            </a:r>
            <a:r>
              <a:rPr lang="en-US" altLang="zh-CN" sz="3200" dirty="0">
                <a:latin typeface="Arial" panose="020B0604020202020204" pitchFamily="34" charset="0"/>
              </a:rPr>
              <a:t>1 </a:t>
            </a:r>
            <a:r>
              <a:rPr lang="zh-CN" altLang="en-US" sz="3200" dirty="0">
                <a:latin typeface="Arial" panose="020B0604020202020204" pitchFamily="34" charset="0"/>
              </a:rPr>
              <a:t>再次读取数据时，发现某些记录神秘地消失了。</a:t>
            </a:r>
            <a:endParaRPr lang="zh-CN" altLang="en-US" sz="3200" dirty="0">
              <a:latin typeface="Arial" panose="020B0604020202020204" pitchFamily="34" charset="0"/>
            </a:endParaRPr>
          </a:p>
          <a:p>
            <a:pPr marL="627380" indent="-627380" eaLnBrk="1" hangingPunct="1">
              <a:spcBef>
                <a:spcPct val="20000"/>
              </a:spcBef>
              <a:buNone/>
            </a:pPr>
            <a:r>
              <a:rPr lang="en-US" altLang="zh-CN" sz="3200" dirty="0">
                <a:latin typeface="Arial" panose="020B0604020202020204" pitchFamily="34" charset="0"/>
              </a:rPr>
              <a:t>3</a:t>
            </a:r>
            <a:r>
              <a:rPr lang="zh-CN" altLang="en-US" sz="3200" dirty="0">
                <a:latin typeface="Arial" panose="020B0604020202020204" pitchFamily="34" charset="0"/>
              </a:rPr>
              <a:t>、</a:t>
            </a:r>
            <a:r>
              <a:rPr lang="zh-CN" altLang="en-US" sz="3200" dirty="0">
                <a:solidFill>
                  <a:srgbClr val="0000CC"/>
                </a:solidFill>
                <a:latin typeface="Arial" panose="020B0604020202020204" pitchFamily="34" charset="0"/>
              </a:rPr>
              <a:t>事务</a:t>
            </a:r>
            <a:r>
              <a:rPr lang="en-US" altLang="zh-CN" sz="3200" dirty="0">
                <a:solidFill>
                  <a:srgbClr val="0000CC"/>
                </a:solidFill>
                <a:latin typeface="Arial" panose="020B0604020202020204" pitchFamily="34" charset="0"/>
              </a:rPr>
              <a:t>2 </a:t>
            </a:r>
            <a:r>
              <a:rPr lang="zh-CN" altLang="en-US" sz="3200" dirty="0">
                <a:solidFill>
                  <a:srgbClr val="0000CC"/>
                </a:solidFill>
                <a:latin typeface="Arial" panose="020B0604020202020204" pitchFamily="34" charset="0"/>
              </a:rPr>
              <a:t>插入了一些记录，</a:t>
            </a:r>
            <a:r>
              <a:rPr lang="zh-CN" altLang="en-US" sz="3200" dirty="0">
                <a:latin typeface="Arial" panose="020B0604020202020204" pitchFamily="34" charset="0"/>
              </a:rPr>
              <a:t>当事务</a:t>
            </a:r>
            <a:r>
              <a:rPr lang="en-US" altLang="zh-CN" sz="3200" dirty="0">
                <a:latin typeface="Arial" panose="020B0604020202020204" pitchFamily="34" charset="0"/>
              </a:rPr>
              <a:t>1 </a:t>
            </a:r>
            <a:r>
              <a:rPr lang="zh-CN" altLang="en-US" sz="3200" dirty="0">
                <a:latin typeface="Arial" panose="020B0604020202020204" pitchFamily="34" charset="0"/>
              </a:rPr>
              <a:t>再次按相同条件读取数据时，发现多了一些记录。      </a:t>
            </a:r>
            <a:r>
              <a:rPr lang="zh-CN" altLang="en-US" sz="1100" dirty="0">
                <a:latin typeface="Arial" panose="020B0604020202020204" pitchFamily="34" charset="0"/>
              </a:rPr>
              <a:t>   </a:t>
            </a:r>
            <a:endParaRPr lang="zh-CN" altLang="en-US" sz="3200" dirty="0">
              <a:latin typeface="Arial" panose="020B0604020202020204" pitchFamily="34" charset="0"/>
            </a:endParaRPr>
          </a:p>
          <a:p>
            <a:pPr marL="627380" indent="-627380" eaLnBrk="1" hangingPunct="1">
              <a:lnSpc>
                <a:spcPct val="105000"/>
              </a:lnSpc>
              <a:spcBef>
                <a:spcPts val="1800"/>
              </a:spcBef>
              <a:buNone/>
            </a:pPr>
            <a:r>
              <a:rPr lang="zh-CN" altLang="en-US" sz="3200" dirty="0">
                <a:latin typeface="Arial" panose="020B0604020202020204" pitchFamily="34" charset="0"/>
              </a:rPr>
              <a:t>     后两种不可重复读有时也称为</a:t>
            </a:r>
            <a:r>
              <a:rPr lang="zh-CN" altLang="en-US" sz="3200" dirty="0">
                <a:solidFill>
                  <a:srgbClr val="0000CC"/>
                </a:solidFill>
                <a:latin typeface="Arial" panose="020B0604020202020204" pitchFamily="34" charset="0"/>
              </a:rPr>
              <a:t>幻影</a:t>
            </a:r>
            <a:r>
              <a:rPr lang="zh-CN" altLang="en-US" sz="3200" dirty="0">
                <a:latin typeface="Arial" panose="020B0604020202020204" pitchFamily="34" charset="0"/>
              </a:rPr>
              <a:t>现象</a:t>
            </a:r>
            <a:r>
              <a:rPr lang="en-US" altLang="zh-CN" sz="3200" dirty="0">
                <a:latin typeface="Arial" panose="020B0604020202020204" pitchFamily="34" charset="0"/>
              </a:rPr>
              <a:t>(phantom row)</a:t>
            </a:r>
            <a:r>
              <a:rPr lang="zh-CN" altLang="en-US" sz="3200" dirty="0">
                <a:latin typeface="Arial" panose="020B0604020202020204" pitchFamily="34" charset="0"/>
              </a:rPr>
              <a:t>。</a:t>
            </a:r>
            <a:endParaRPr lang="zh-CN" altLang="en-US" sz="3200"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68">
                                            <p:txEl>
                                              <p:charRg st="22" end="6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68">
                                            <p:txEl>
                                              <p:charRg st="60" end="10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68">
                                            <p:txEl>
                                              <p:charRg st="103" end="15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68">
                                            <p:txEl>
                                              <p:charRg st="154" end="19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idx="1"/>
          </p:nvPr>
        </p:nvSpPr>
        <p:spPr>
          <a:xfrm>
            <a:off x="152400" y="1143000"/>
            <a:ext cx="8881110" cy="5273675"/>
          </a:xfrm>
        </p:spPr>
        <p:txBody>
          <a:bodyPr vert="horz" wrap="square" lIns="91440" tIns="45720" rIns="91440" bIns="45720" anchor="t" anchorCtr="0"/>
          <a:p>
            <a:pPr marL="365125" indent="-365125" eaLnBrk="1" hangingPunct="1"/>
            <a:r>
              <a:rPr lang="zh-CN" altLang="en-US" dirty="0">
                <a:latin typeface="Arial" panose="020B0604020202020204" pitchFamily="34" charset="0"/>
              </a:rPr>
              <a:t>并发操作可能会存取和存储不正确的数据，破坏事务的</a:t>
            </a:r>
            <a:r>
              <a:rPr lang="zh-CN" altLang="en-US" dirty="0">
                <a:solidFill>
                  <a:srgbClr val="0000CC"/>
                </a:solidFill>
              </a:rPr>
              <a:t>隔离性</a:t>
            </a:r>
            <a:r>
              <a:rPr lang="zh-CN" altLang="en-US" dirty="0"/>
              <a:t>和</a:t>
            </a:r>
            <a:r>
              <a:rPr lang="zh-CN" altLang="en-US" dirty="0">
                <a:latin typeface="Arial" panose="020B0604020202020204" pitchFamily="34" charset="0"/>
              </a:rPr>
              <a:t>数据库的</a:t>
            </a:r>
            <a:r>
              <a:rPr lang="zh-CN" altLang="en-US" dirty="0">
                <a:solidFill>
                  <a:srgbClr val="0000CC"/>
                </a:solidFill>
                <a:latin typeface="Arial" panose="020B0604020202020204" pitchFamily="34" charset="0"/>
              </a:rPr>
              <a:t>一致性</a:t>
            </a:r>
            <a:r>
              <a:rPr lang="zh-CN" altLang="en-US" dirty="0">
                <a:latin typeface="Arial" panose="020B0604020202020204" pitchFamily="34" charset="0"/>
              </a:rPr>
              <a:t>。</a:t>
            </a:r>
            <a:endParaRPr lang="zh-CN" altLang="en-US" dirty="0">
              <a:latin typeface="Arial" panose="020B0604020202020204" pitchFamily="34" charset="0"/>
            </a:endParaRPr>
          </a:p>
          <a:p>
            <a:pPr marL="365125" indent="-365125" algn="just" eaLnBrk="1" hangingPunct="1">
              <a:spcBef>
                <a:spcPct val="60000"/>
              </a:spcBef>
            </a:pPr>
            <a:r>
              <a:rPr lang="en-US" altLang="zh-CN" dirty="0">
                <a:latin typeface="Arial" panose="020B0604020202020204" pitchFamily="34" charset="0"/>
              </a:rPr>
              <a:t>DBMS</a:t>
            </a:r>
            <a:r>
              <a:rPr lang="zh-CN" altLang="en-US" dirty="0">
                <a:latin typeface="Arial" panose="020B0604020202020204" pitchFamily="34" charset="0"/>
              </a:rPr>
              <a:t>必须提供并发控制机制，保证</a:t>
            </a:r>
            <a:r>
              <a:rPr lang="zh-CN" altLang="en-US" dirty="0"/>
              <a:t>：</a:t>
            </a:r>
            <a:endParaRPr lang="zh-CN" altLang="en-US" dirty="0"/>
          </a:p>
          <a:p>
            <a:pPr marL="981075" lvl="1" indent="-349250" algn="just" eaLnBrk="1" hangingPunct="1"/>
            <a:r>
              <a:rPr lang="zh-CN" altLang="en-US" sz="3600" dirty="0"/>
              <a:t>对并发操作进行正确调度</a:t>
            </a:r>
            <a:endParaRPr lang="zh-CN" altLang="en-US" sz="3600" dirty="0"/>
          </a:p>
          <a:p>
            <a:pPr marL="981075" lvl="1" indent="-349250" algn="just" eaLnBrk="1" hangingPunct="1"/>
            <a:r>
              <a:rPr lang="zh-CN" altLang="en-US" sz="3600" dirty="0"/>
              <a:t>保证事务的隔离性</a:t>
            </a:r>
            <a:endParaRPr lang="zh-CN" altLang="en-US" sz="3600" dirty="0"/>
          </a:p>
          <a:p>
            <a:pPr marL="981075" lvl="1" indent="-349250" algn="just" eaLnBrk="1" hangingPunct="1"/>
            <a:r>
              <a:rPr lang="zh-CN" altLang="en-US" sz="3600" dirty="0"/>
              <a:t>保证数据库的一致性</a:t>
            </a:r>
            <a:endParaRPr lang="zh-CN" altLang="en-US" sz="3600" dirty="0"/>
          </a:p>
        </p:txBody>
      </p:sp>
      <p:sp>
        <p:nvSpPr>
          <p:cNvPr id="3481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8.2.2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并发执行的潜在问题</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idx="1"/>
          </p:nvPr>
        </p:nvSpPr>
        <p:spPr>
          <a:xfrm>
            <a:off x="71755" y="998855"/>
            <a:ext cx="8949055" cy="5525770"/>
          </a:xfrm>
        </p:spPr>
        <p:txBody>
          <a:bodyPr vert="horz" wrap="square" lIns="91440" tIns="45720" rIns="91440" bIns="45720" anchor="t" anchorCtr="0"/>
          <a:p>
            <a:pPr marL="355600" indent="-355600" eaLnBrk="1" hangingPunct="1">
              <a:spcBef>
                <a:spcPct val="20000"/>
              </a:spcBef>
            </a:pPr>
            <a:r>
              <a:rPr lang="zh-CN" altLang="en-US" dirty="0">
                <a:solidFill>
                  <a:srgbClr val="0000CC"/>
                </a:solidFill>
                <a:latin typeface="Arial" panose="020B0604020202020204" pitchFamily="34" charset="0"/>
              </a:rPr>
              <a:t>调度</a:t>
            </a:r>
            <a:r>
              <a:rPr lang="zh-CN" altLang="en-US" dirty="0">
                <a:latin typeface="Arial" panose="020B0604020202020204" pitchFamily="34" charset="0"/>
              </a:rPr>
              <a:t>：</a:t>
            </a:r>
            <a:r>
              <a:rPr lang="zh-CN" altLang="en-US" sz="3200" dirty="0">
                <a:latin typeface="Arial" panose="020B0604020202020204" pitchFamily="34" charset="0"/>
              </a:rPr>
              <a:t>如果某一时刻存在并发执行的</a:t>
            </a:r>
            <a:r>
              <a:rPr lang="en-US" altLang="zh-CN" sz="3200" dirty="0">
                <a:latin typeface="Arial" panose="020B0604020202020204" pitchFamily="34" charset="0"/>
              </a:rPr>
              <a:t>n</a:t>
            </a:r>
            <a:r>
              <a:rPr lang="zh-CN" altLang="en-US" sz="3200" dirty="0">
                <a:latin typeface="Arial" panose="020B0604020202020204" pitchFamily="34" charset="0"/>
              </a:rPr>
              <a:t>个事务，则这</a:t>
            </a:r>
            <a:r>
              <a:rPr lang="en-US" altLang="zh-CN" sz="3200" dirty="0">
                <a:latin typeface="Arial" panose="020B0604020202020204" pitchFamily="34" charset="0"/>
              </a:rPr>
              <a:t>n</a:t>
            </a:r>
            <a:r>
              <a:rPr lang="zh-CN" altLang="en-US" sz="3200" dirty="0">
                <a:latin typeface="Arial" panose="020B0604020202020204" pitchFamily="34" charset="0"/>
              </a:rPr>
              <a:t>个事务所有操作的一个</a:t>
            </a:r>
            <a:r>
              <a:rPr lang="zh-CN" altLang="en-US" sz="3200" dirty="0">
                <a:solidFill>
                  <a:srgbClr val="C00000"/>
                </a:solidFill>
                <a:latin typeface="Arial" panose="020B0604020202020204" pitchFamily="34" charset="0"/>
              </a:rPr>
              <a:t>顺序安排</a:t>
            </a:r>
            <a:r>
              <a:rPr lang="zh-CN" altLang="en-US" sz="3200" dirty="0">
                <a:latin typeface="Arial" panose="020B0604020202020204" pitchFamily="34" charset="0"/>
              </a:rPr>
              <a:t>，称为是这</a:t>
            </a:r>
            <a:r>
              <a:rPr lang="en-US" altLang="zh-CN" sz="3200" dirty="0">
                <a:latin typeface="Arial" panose="020B0604020202020204" pitchFamily="34" charset="0"/>
              </a:rPr>
              <a:t>n</a:t>
            </a:r>
            <a:r>
              <a:rPr lang="zh-CN" altLang="en-US" sz="3200" dirty="0">
                <a:latin typeface="Arial" panose="020B0604020202020204" pitchFamily="34" charset="0"/>
              </a:rPr>
              <a:t>个事务的一次调度。</a:t>
            </a:r>
            <a:endParaRPr lang="zh-CN" altLang="en-US" dirty="0">
              <a:latin typeface="Arial" panose="020B0604020202020204" pitchFamily="34" charset="0"/>
            </a:endParaRPr>
          </a:p>
          <a:p>
            <a:pPr marL="355600" indent="-355600" eaLnBrk="1" hangingPunct="1">
              <a:lnSpc>
                <a:spcPct val="90000"/>
              </a:lnSpc>
              <a:spcBef>
                <a:spcPts val="1800"/>
              </a:spcBef>
              <a:buNone/>
            </a:pPr>
            <a:r>
              <a:rPr lang="zh-CN" altLang="en-US" dirty="0">
                <a:latin typeface="Arial" panose="020B0604020202020204" pitchFamily="34" charset="0"/>
              </a:rPr>
              <a:t> 满足：</a:t>
            </a:r>
            <a:endParaRPr lang="zh-CN" altLang="en-US" dirty="0">
              <a:latin typeface="Arial" panose="020B0604020202020204" pitchFamily="34" charset="0"/>
            </a:endParaRPr>
          </a:p>
          <a:p>
            <a:pPr marL="979805" lvl="1" indent="-358775" eaLnBrk="1" hangingPunct="1">
              <a:spcBef>
                <a:spcPct val="10000"/>
              </a:spcBef>
            </a:pPr>
            <a:r>
              <a:rPr lang="zh-CN" altLang="en-US" dirty="0">
                <a:latin typeface="Arial" panose="020B0604020202020204" pitchFamily="34" charset="0"/>
              </a:rPr>
              <a:t>该调度应包括这</a:t>
            </a:r>
            <a:r>
              <a:rPr lang="en-US" altLang="zh-CN" dirty="0">
                <a:latin typeface="Arial" panose="020B0604020202020204" pitchFamily="34" charset="0"/>
              </a:rPr>
              <a:t>n</a:t>
            </a:r>
            <a:r>
              <a:rPr lang="zh-CN" altLang="en-US" dirty="0">
                <a:latin typeface="Arial" panose="020B0604020202020204" pitchFamily="34" charset="0"/>
              </a:rPr>
              <a:t>个事务的全部操作</a:t>
            </a:r>
            <a:endParaRPr lang="zh-CN" altLang="en-US" dirty="0">
              <a:latin typeface="Arial" panose="020B0604020202020204" pitchFamily="34" charset="0"/>
            </a:endParaRPr>
          </a:p>
          <a:p>
            <a:pPr marL="979805" lvl="1" indent="-358775" eaLnBrk="1" hangingPunct="1">
              <a:spcBef>
                <a:spcPct val="10000"/>
              </a:spcBef>
            </a:pPr>
            <a:r>
              <a:rPr lang="zh-CN" altLang="en-US" dirty="0">
                <a:latin typeface="Arial" panose="020B0604020202020204" pitchFamily="34" charset="0"/>
              </a:rPr>
              <a:t>每个事务中的操作顺序不变  </a:t>
            </a:r>
            <a:endParaRPr lang="en-US" altLang="zh-CN" dirty="0">
              <a:latin typeface="Arial" panose="020B0604020202020204" pitchFamily="34" charset="0"/>
            </a:endParaRPr>
          </a:p>
          <a:p>
            <a:pPr marL="355600" indent="-355600" eaLnBrk="1" hangingPunct="1">
              <a:spcBef>
                <a:spcPts val="1200"/>
              </a:spcBef>
            </a:pPr>
            <a:r>
              <a:rPr lang="zh-CN" altLang="en-US" dirty="0">
                <a:latin typeface="Arial" panose="020B0604020202020204" pitchFamily="34" charset="0"/>
              </a:rPr>
              <a:t>假设</a:t>
            </a:r>
            <a:r>
              <a:rPr lang="zh-CN" altLang="en-US" sz="3200" dirty="0">
                <a:latin typeface="Arial" panose="020B0604020202020204" pitchFamily="34" charset="0"/>
              </a:rPr>
              <a:t>：一个事务由若干的读操作和写操作组成</a:t>
            </a:r>
            <a:endParaRPr lang="zh-CN" altLang="en-US" sz="3200" dirty="0">
              <a:latin typeface="Arial" panose="020B0604020202020204" pitchFamily="34" charset="0"/>
            </a:endParaRPr>
          </a:p>
          <a:p>
            <a:pPr marL="355600" indent="-355600" eaLnBrk="1" hangingPunct="1">
              <a:lnSpc>
                <a:spcPct val="95000"/>
              </a:lnSpc>
              <a:spcBef>
                <a:spcPct val="5000"/>
              </a:spcBef>
              <a:buNone/>
            </a:pPr>
            <a:r>
              <a:rPr lang="zh-CN" altLang="en-US" sz="3200" dirty="0">
                <a:solidFill>
                  <a:srgbClr val="009900"/>
                </a:solidFill>
                <a:latin typeface="Arial" panose="020B0604020202020204" pitchFamily="34" charset="0"/>
              </a:rPr>
              <a:t>           </a:t>
            </a:r>
            <a:r>
              <a:rPr lang="en-US" altLang="zh-CN" sz="3200" dirty="0">
                <a:solidFill>
                  <a:srgbClr val="0000CC"/>
                </a:solidFill>
                <a:latin typeface="Arial" panose="020B0604020202020204" pitchFamily="34" charset="0"/>
              </a:rPr>
              <a:t>R(x)</a:t>
            </a:r>
            <a:r>
              <a:rPr lang="en-US" altLang="zh-CN" sz="3200" dirty="0">
                <a:latin typeface="Arial" panose="020B0604020202020204" pitchFamily="34" charset="0"/>
              </a:rPr>
              <a:t> : </a:t>
            </a:r>
            <a:r>
              <a:rPr lang="zh-CN" altLang="en-US" sz="2800" dirty="0">
                <a:latin typeface="Arial" panose="020B0604020202020204" pitchFamily="34" charset="0"/>
              </a:rPr>
              <a:t>表示对数据</a:t>
            </a:r>
            <a:r>
              <a:rPr lang="en-US" altLang="zh-CN" sz="2800" dirty="0">
                <a:latin typeface="Arial" panose="020B0604020202020204" pitchFamily="34" charset="0"/>
              </a:rPr>
              <a:t>X</a:t>
            </a:r>
            <a:r>
              <a:rPr lang="zh-CN" altLang="en-US" sz="2800" dirty="0">
                <a:latin typeface="Arial" panose="020B0604020202020204" pitchFamily="34" charset="0"/>
              </a:rPr>
              <a:t>的</a:t>
            </a:r>
            <a:r>
              <a:rPr lang="zh-CN" altLang="en-US" sz="2800" dirty="0">
                <a:solidFill>
                  <a:srgbClr val="0033CC"/>
                </a:solidFill>
                <a:latin typeface="Arial" panose="020B0604020202020204" pitchFamily="34" charset="0"/>
              </a:rPr>
              <a:t>读操作</a:t>
            </a:r>
            <a:endParaRPr lang="zh-CN" altLang="en-US" sz="3200" dirty="0">
              <a:solidFill>
                <a:srgbClr val="0033CC"/>
              </a:solidFill>
              <a:latin typeface="Arial" panose="020B0604020202020204" pitchFamily="34" charset="0"/>
            </a:endParaRPr>
          </a:p>
          <a:p>
            <a:pPr marL="355600" indent="-355600" eaLnBrk="1" hangingPunct="1">
              <a:lnSpc>
                <a:spcPct val="95000"/>
              </a:lnSpc>
              <a:spcBef>
                <a:spcPct val="5000"/>
              </a:spcBef>
              <a:buNone/>
            </a:pPr>
            <a:r>
              <a:rPr lang="zh-CN" altLang="en-US" sz="3200" dirty="0">
                <a:latin typeface="Arial" panose="020B0604020202020204" pitchFamily="34" charset="0"/>
              </a:rPr>
              <a:t>           </a:t>
            </a:r>
            <a:r>
              <a:rPr lang="en-US" altLang="zh-CN" sz="3200" dirty="0">
                <a:solidFill>
                  <a:srgbClr val="0000CC"/>
                </a:solidFill>
                <a:latin typeface="Arial" panose="020B0604020202020204" pitchFamily="34" charset="0"/>
              </a:rPr>
              <a:t>W(x)</a:t>
            </a:r>
            <a:r>
              <a:rPr lang="en-US" altLang="zh-CN" sz="3200" dirty="0">
                <a:latin typeface="Arial" panose="020B0604020202020204" pitchFamily="34" charset="0"/>
              </a:rPr>
              <a:t> : </a:t>
            </a:r>
            <a:r>
              <a:rPr lang="zh-CN" altLang="en-US" sz="2800" dirty="0">
                <a:latin typeface="Arial" panose="020B0604020202020204" pitchFamily="34" charset="0"/>
              </a:rPr>
              <a:t>表示对数据</a:t>
            </a:r>
            <a:r>
              <a:rPr lang="en-US" altLang="zh-CN" sz="2800" dirty="0">
                <a:latin typeface="Arial" panose="020B0604020202020204" pitchFamily="34" charset="0"/>
              </a:rPr>
              <a:t>X</a:t>
            </a:r>
            <a:r>
              <a:rPr lang="zh-CN" altLang="en-US" sz="2800" dirty="0">
                <a:latin typeface="Arial" panose="020B0604020202020204" pitchFamily="34" charset="0"/>
              </a:rPr>
              <a:t>的</a:t>
            </a:r>
            <a:r>
              <a:rPr lang="zh-CN" altLang="en-US" sz="2800" dirty="0">
                <a:solidFill>
                  <a:srgbClr val="0033CC"/>
                </a:solidFill>
                <a:latin typeface="Arial" panose="020B0604020202020204" pitchFamily="34" charset="0"/>
              </a:rPr>
              <a:t>写操作</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4403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8.2.3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事务的调度</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4">
                                            <p:txEl>
                                              <p:charRg st="54" end="5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34">
                                            <p:txEl>
                                              <p:charRg st="59" end="7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034">
                                            <p:txEl>
                                              <p:charRg st="76" end="9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4">
                                            <p:txEl>
                                              <p:charRg st="91" end="11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034">
                                            <p:txEl>
                                              <p:charRg st="112" end="14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034">
                                            <p:txEl>
                                              <p:charRg st="141" end="17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idx="1"/>
          </p:nvPr>
        </p:nvSpPr>
        <p:spPr>
          <a:xfrm>
            <a:off x="107950" y="998538"/>
            <a:ext cx="8785225" cy="5526087"/>
          </a:xfrm>
        </p:spPr>
        <p:txBody>
          <a:bodyPr vert="horz" wrap="square" lIns="91440" tIns="45720" rIns="91440" bIns="45720" anchor="t" anchorCtr="0"/>
          <a:p>
            <a:pPr marL="440055" indent="-440055" eaLnBrk="1" hangingPunct="1">
              <a:lnSpc>
                <a:spcPct val="95000"/>
              </a:lnSpc>
              <a:spcBef>
                <a:spcPct val="25000"/>
              </a:spcBef>
              <a:buNone/>
            </a:pPr>
            <a:r>
              <a:rPr lang="zh-CN" altLang="en-US" dirty="0">
                <a:latin typeface="Arial" panose="020B0604020202020204" pitchFamily="34" charset="0"/>
              </a:rPr>
              <a:t>设有事务</a:t>
            </a:r>
            <a:r>
              <a:rPr lang="zh-CN" altLang="en-US" sz="3200" dirty="0">
                <a:latin typeface="Arial" panose="020B0604020202020204" pitchFamily="34" charset="0"/>
              </a:rPr>
              <a:t>：    </a:t>
            </a:r>
            <a:r>
              <a:rPr lang="en-US" altLang="zh-CN" sz="3200" dirty="0">
                <a:latin typeface="Arial" panose="020B0604020202020204" pitchFamily="34" charset="0"/>
              </a:rPr>
              <a:t>T1</a:t>
            </a:r>
            <a:r>
              <a:rPr lang="zh-CN" altLang="en-US" sz="3200" dirty="0">
                <a:latin typeface="Arial" panose="020B0604020202020204" pitchFamily="34" charset="0"/>
              </a:rPr>
              <a:t>：</a:t>
            </a:r>
            <a:r>
              <a:rPr lang="en-US" altLang="zh-CN" sz="3200" dirty="0">
                <a:solidFill>
                  <a:srgbClr val="009900"/>
                </a:solidFill>
                <a:latin typeface="Arial" panose="020B0604020202020204" pitchFamily="34" charset="0"/>
              </a:rPr>
              <a:t>R1(x) W1(y)</a:t>
            </a:r>
            <a:endParaRPr lang="en-US" altLang="zh-CN" sz="3200" dirty="0">
              <a:solidFill>
                <a:srgbClr val="009900"/>
              </a:solidFill>
              <a:latin typeface="Arial" panose="020B0604020202020204" pitchFamily="34" charset="0"/>
            </a:endParaRPr>
          </a:p>
          <a:p>
            <a:pPr marL="440055" indent="-440055" eaLnBrk="1" hangingPunct="1">
              <a:lnSpc>
                <a:spcPct val="90000"/>
              </a:lnSpc>
              <a:buNone/>
            </a:pPr>
            <a:r>
              <a:rPr lang="en-US" altLang="zh-CN" sz="3200" dirty="0">
                <a:latin typeface="Arial" panose="020B0604020202020204" pitchFamily="34" charset="0"/>
              </a:rPr>
              <a:t>                        T2</a:t>
            </a:r>
            <a:r>
              <a:rPr lang="zh-CN" altLang="en-US" sz="3200" dirty="0">
                <a:latin typeface="Arial" panose="020B0604020202020204" pitchFamily="34" charset="0"/>
              </a:rPr>
              <a:t>：</a:t>
            </a:r>
            <a:r>
              <a:rPr lang="en-US" altLang="zh-CN" sz="3200" dirty="0">
                <a:solidFill>
                  <a:srgbClr val="FF0000"/>
                </a:solidFill>
                <a:latin typeface="Arial" panose="020B0604020202020204" pitchFamily="34" charset="0"/>
              </a:rPr>
              <a:t>R2(x) W2(x)</a:t>
            </a:r>
            <a:r>
              <a:rPr lang="en-US" altLang="zh-CN" sz="3200" dirty="0">
                <a:latin typeface="Arial" panose="020B0604020202020204" pitchFamily="34" charset="0"/>
              </a:rPr>
              <a:t>     </a:t>
            </a:r>
            <a:endParaRPr lang="en-US" altLang="zh-CN" sz="3200" dirty="0">
              <a:latin typeface="Arial" panose="020B0604020202020204" pitchFamily="34" charset="0"/>
            </a:endParaRPr>
          </a:p>
          <a:p>
            <a:pPr marL="440055" indent="-440055" eaLnBrk="1" hangingPunct="1">
              <a:lnSpc>
                <a:spcPct val="90000"/>
              </a:lnSpc>
              <a:buNone/>
            </a:pPr>
            <a:r>
              <a:rPr lang="en-US" altLang="zh-CN" sz="3200" dirty="0">
                <a:latin typeface="Arial" panose="020B0604020202020204" pitchFamily="34" charset="0"/>
              </a:rPr>
              <a:t>                        T3</a:t>
            </a:r>
            <a:r>
              <a:rPr lang="zh-CN" altLang="en-US" sz="3200" dirty="0">
                <a:latin typeface="Arial" panose="020B0604020202020204" pitchFamily="34" charset="0"/>
              </a:rPr>
              <a:t>：</a:t>
            </a:r>
            <a:r>
              <a:rPr lang="en-US" altLang="zh-CN" sz="3200" dirty="0">
                <a:solidFill>
                  <a:srgbClr val="0000CC"/>
                </a:solidFill>
                <a:latin typeface="Arial" panose="020B0604020202020204" pitchFamily="34" charset="0"/>
              </a:rPr>
              <a:t>R3(y) W3(y)</a:t>
            </a:r>
            <a:endParaRPr lang="en-US" altLang="zh-CN" sz="3200" dirty="0">
              <a:latin typeface="Arial" panose="020B0604020202020204" pitchFamily="34" charset="0"/>
            </a:endParaRPr>
          </a:p>
          <a:p>
            <a:pPr marL="440055" indent="-440055" eaLnBrk="1" hangingPunct="1">
              <a:spcBef>
                <a:spcPct val="35000"/>
              </a:spcBef>
            </a:pPr>
            <a:r>
              <a:rPr lang="zh-CN" altLang="en-US" dirty="0">
                <a:solidFill>
                  <a:srgbClr val="0000CC"/>
                </a:solidFill>
                <a:latin typeface="Arial" panose="020B0604020202020204" pitchFamily="34" charset="0"/>
              </a:rPr>
              <a:t>串行调度</a:t>
            </a:r>
            <a:r>
              <a:rPr lang="zh-CN" altLang="en-US" sz="3200" dirty="0">
                <a:solidFill>
                  <a:srgbClr val="0000CC"/>
                </a:solidFill>
                <a:latin typeface="Arial" panose="020B0604020202020204" pitchFamily="34" charset="0"/>
              </a:rPr>
              <a:t>：</a:t>
            </a:r>
            <a:r>
              <a:rPr lang="zh-CN" altLang="en-US" sz="3200" dirty="0">
                <a:latin typeface="Arial" panose="020B0604020202020204" pitchFamily="34" charset="0"/>
              </a:rPr>
              <a:t>每一个事务的操作连续执行、各事务之间的操作没有任何交叉的调度。</a:t>
            </a:r>
            <a:endParaRPr lang="zh-CN" altLang="en-US" sz="3200" dirty="0">
              <a:latin typeface="Arial" panose="020B0604020202020204" pitchFamily="34" charset="0"/>
            </a:endParaRPr>
          </a:p>
          <a:p>
            <a:pPr marL="440055" indent="-440055" eaLnBrk="1" hangingPunct="1">
              <a:spcBef>
                <a:spcPct val="35000"/>
              </a:spcBef>
              <a:buNone/>
            </a:pPr>
            <a:r>
              <a:rPr lang="zh-CN" altLang="en-US" sz="3200" dirty="0">
                <a:solidFill>
                  <a:srgbClr val="009900"/>
                </a:solidFill>
                <a:latin typeface="Arial" panose="020B0604020202020204" pitchFamily="34" charset="0"/>
              </a:rPr>
              <a:t>    </a:t>
            </a:r>
            <a:r>
              <a:rPr lang="en-US" altLang="zh-CN" sz="3200" dirty="0">
                <a:latin typeface="Arial" panose="020B0604020202020204" pitchFamily="34" charset="0"/>
              </a:rPr>
              <a:t>S1</a:t>
            </a:r>
            <a:r>
              <a:rPr lang="zh-CN" altLang="en-US" sz="3200" dirty="0">
                <a:latin typeface="Arial" panose="020B0604020202020204" pitchFamily="34" charset="0"/>
              </a:rPr>
              <a:t>： </a:t>
            </a:r>
            <a:r>
              <a:rPr lang="en-US" altLang="zh-CN" sz="3200" dirty="0">
                <a:solidFill>
                  <a:srgbClr val="009900"/>
                </a:solidFill>
                <a:latin typeface="Arial" panose="020B0604020202020204" pitchFamily="34" charset="0"/>
              </a:rPr>
              <a:t>R1(x)W1(y)</a:t>
            </a:r>
            <a:r>
              <a:rPr lang="en-US" altLang="zh-CN" sz="3200" dirty="0">
                <a:solidFill>
                  <a:srgbClr val="FF0000"/>
                </a:solidFill>
                <a:latin typeface="Arial" panose="020B0604020202020204" pitchFamily="34" charset="0"/>
              </a:rPr>
              <a:t>R2(x)W2(x)</a:t>
            </a:r>
            <a:r>
              <a:rPr lang="en-US" altLang="zh-CN" sz="3200" dirty="0">
                <a:solidFill>
                  <a:srgbClr val="0000CC"/>
                </a:solidFill>
                <a:latin typeface="Arial" panose="020B0604020202020204" pitchFamily="34" charset="0"/>
              </a:rPr>
              <a:t>R3(y)W3(y)</a:t>
            </a:r>
            <a:endParaRPr lang="en-US" altLang="zh-CN" sz="3200" dirty="0">
              <a:solidFill>
                <a:srgbClr val="0000CC"/>
              </a:solidFill>
              <a:latin typeface="Arial" panose="020B0604020202020204" pitchFamily="34" charset="0"/>
            </a:endParaRPr>
          </a:p>
          <a:p>
            <a:pPr marL="440055" indent="-440055" eaLnBrk="1" hangingPunct="1">
              <a:spcBef>
                <a:spcPct val="55000"/>
              </a:spcBef>
            </a:pPr>
            <a:r>
              <a:rPr lang="zh-CN" altLang="en-US" dirty="0">
                <a:solidFill>
                  <a:srgbClr val="0000CC"/>
                </a:solidFill>
                <a:latin typeface="Arial" panose="020B0604020202020204" pitchFamily="34" charset="0"/>
              </a:rPr>
              <a:t>并发调度</a:t>
            </a:r>
            <a:r>
              <a:rPr lang="zh-CN" altLang="en-US" sz="3200" dirty="0">
                <a:latin typeface="Arial" panose="020B0604020202020204" pitchFamily="34" charset="0"/>
              </a:rPr>
              <a:t>：不同事务的操作有交叉</a:t>
            </a:r>
            <a:endParaRPr lang="zh-CN" altLang="en-US" sz="3200" dirty="0">
              <a:latin typeface="Arial" panose="020B0604020202020204" pitchFamily="34" charset="0"/>
            </a:endParaRPr>
          </a:p>
          <a:p>
            <a:pPr marL="440055" indent="-440055" eaLnBrk="1" hangingPunct="1">
              <a:spcBef>
                <a:spcPct val="35000"/>
              </a:spcBef>
              <a:buNone/>
            </a:pPr>
            <a:r>
              <a:rPr lang="zh-CN" altLang="en-US" sz="3200" dirty="0">
                <a:solidFill>
                  <a:srgbClr val="009900"/>
                </a:solidFill>
                <a:latin typeface="Arial" panose="020B0604020202020204" pitchFamily="34" charset="0"/>
              </a:rPr>
              <a:t>     </a:t>
            </a:r>
            <a:r>
              <a:rPr lang="en-US" altLang="zh-CN" sz="3200" dirty="0">
                <a:latin typeface="Arial" panose="020B0604020202020204" pitchFamily="34" charset="0"/>
              </a:rPr>
              <a:t>S2</a:t>
            </a:r>
            <a:r>
              <a:rPr lang="zh-CN" altLang="en-US" sz="3200" dirty="0">
                <a:latin typeface="Arial" panose="020B0604020202020204" pitchFamily="34" charset="0"/>
              </a:rPr>
              <a:t>：</a:t>
            </a:r>
            <a:r>
              <a:rPr lang="en-US" altLang="zh-CN" sz="3200" dirty="0">
                <a:solidFill>
                  <a:srgbClr val="FF0000"/>
                </a:solidFill>
                <a:latin typeface="Arial" panose="020B0604020202020204" pitchFamily="34" charset="0"/>
              </a:rPr>
              <a:t>R2(x)</a:t>
            </a:r>
            <a:r>
              <a:rPr lang="en-US" altLang="zh-CN" sz="3200" dirty="0">
                <a:solidFill>
                  <a:srgbClr val="009900"/>
                </a:solidFill>
                <a:latin typeface="Arial" panose="020B0604020202020204" pitchFamily="34" charset="0"/>
              </a:rPr>
              <a:t>R1(x)W1(y)</a:t>
            </a:r>
            <a:r>
              <a:rPr lang="en-US" altLang="zh-CN" sz="3200" dirty="0">
                <a:solidFill>
                  <a:srgbClr val="0000CC"/>
                </a:solidFill>
                <a:latin typeface="Arial" panose="020B0604020202020204" pitchFamily="34" charset="0"/>
              </a:rPr>
              <a:t>R3(y)</a:t>
            </a:r>
            <a:r>
              <a:rPr lang="en-US" altLang="zh-CN" sz="3200" dirty="0">
                <a:solidFill>
                  <a:srgbClr val="FF0000"/>
                </a:solidFill>
                <a:latin typeface="Arial" panose="020B0604020202020204" pitchFamily="34" charset="0"/>
              </a:rPr>
              <a:t>W2(x)</a:t>
            </a:r>
            <a:r>
              <a:rPr lang="en-US" altLang="zh-CN" sz="3200" dirty="0">
                <a:solidFill>
                  <a:srgbClr val="0000CC"/>
                </a:solidFill>
                <a:latin typeface="Arial" panose="020B0604020202020204" pitchFamily="34" charset="0"/>
              </a:rPr>
              <a:t>W3(y)</a:t>
            </a:r>
            <a:endParaRPr lang="en-US" altLang="zh-CN" sz="3200" dirty="0">
              <a:solidFill>
                <a:srgbClr val="0000CC"/>
              </a:solidFill>
              <a:latin typeface="Arial" panose="020B0604020202020204" pitchFamily="34" charset="0"/>
            </a:endParaRPr>
          </a:p>
        </p:txBody>
      </p:sp>
      <p:sp>
        <p:nvSpPr>
          <p:cNvPr id="45158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8.2.3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事务的调度</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idx="1"/>
          </p:nvPr>
        </p:nvSpPr>
        <p:spPr>
          <a:xfrm>
            <a:off x="152400" y="1052513"/>
            <a:ext cx="8812213" cy="5526087"/>
          </a:xfrm>
        </p:spPr>
        <p:txBody>
          <a:bodyPr vert="horz" wrap="square" lIns="91440" tIns="45720" rIns="91440" bIns="45720" anchor="t" anchorCtr="0"/>
          <a:p>
            <a:pPr marL="365125" indent="-365125" algn="just" eaLnBrk="1" hangingPunct="1">
              <a:spcBef>
                <a:spcPct val="40000"/>
              </a:spcBef>
            </a:pPr>
            <a:r>
              <a:rPr lang="zh-CN" altLang="en-US" dirty="0">
                <a:latin typeface="Arial" panose="020B0604020202020204" pitchFamily="34" charset="0"/>
              </a:rPr>
              <a:t>所有事务串行调度策略一定是正确的调度策略，可保证数据库的一致性。</a:t>
            </a:r>
            <a:endParaRPr lang="zh-CN" altLang="en-US" dirty="0">
              <a:latin typeface="Arial" panose="020B0604020202020204" pitchFamily="34" charset="0"/>
            </a:endParaRPr>
          </a:p>
          <a:p>
            <a:pPr marL="365125" indent="-365125" algn="just" eaLnBrk="1" hangingPunct="1">
              <a:spcBef>
                <a:spcPct val="40000"/>
              </a:spcBef>
            </a:pPr>
            <a:r>
              <a:rPr lang="zh-CN" altLang="en-US" dirty="0">
                <a:latin typeface="Arial" panose="020B0604020202020204" pitchFamily="34" charset="0"/>
              </a:rPr>
              <a:t>例如：</a:t>
            </a:r>
            <a:endParaRPr lang="zh-CN" altLang="en-US" dirty="0">
              <a:latin typeface="Arial" panose="020B0604020202020204" pitchFamily="34" charset="0"/>
            </a:endParaRPr>
          </a:p>
          <a:p>
            <a:pPr marL="365125" indent="-365125" eaLnBrk="1" hangingPunct="1">
              <a:spcBef>
                <a:spcPts val="600"/>
              </a:spcBef>
              <a:buNone/>
            </a:pPr>
            <a:r>
              <a:rPr lang="zh-CN" altLang="en-US" dirty="0">
                <a:latin typeface="Arial" panose="020B0604020202020204" pitchFamily="34" charset="0"/>
              </a:rPr>
              <a:t> </a:t>
            </a:r>
            <a:r>
              <a:rPr lang="en-US" altLang="zh-CN" dirty="0">
                <a:latin typeface="Arial" panose="020B0604020202020204" pitchFamily="34" charset="0"/>
              </a:rPr>
              <a:t>S1</a:t>
            </a:r>
            <a:r>
              <a:rPr lang="zh-CN" altLang="en-US" dirty="0">
                <a:latin typeface="Arial" panose="020B0604020202020204" pitchFamily="34" charset="0"/>
              </a:rPr>
              <a:t>： </a:t>
            </a:r>
            <a:r>
              <a:rPr lang="en-US" altLang="zh-CN" dirty="0">
                <a:solidFill>
                  <a:srgbClr val="009900"/>
                </a:solidFill>
                <a:latin typeface="Arial" panose="020B0604020202020204" pitchFamily="34" charset="0"/>
              </a:rPr>
              <a:t>R1(x)W1(y)</a:t>
            </a:r>
            <a:r>
              <a:rPr lang="en-US" altLang="zh-CN" dirty="0">
                <a:solidFill>
                  <a:srgbClr val="FF0000"/>
                </a:solidFill>
                <a:latin typeface="Arial" panose="020B0604020202020204" pitchFamily="34" charset="0"/>
              </a:rPr>
              <a:t>R2(x)W2(x)</a:t>
            </a:r>
            <a:r>
              <a:rPr lang="en-US" altLang="zh-CN" dirty="0">
                <a:solidFill>
                  <a:srgbClr val="0000CC"/>
                </a:solidFill>
                <a:latin typeface="Arial" panose="020B0604020202020204" pitchFamily="34" charset="0"/>
              </a:rPr>
              <a:t>R3(y)W3(y)</a:t>
            </a:r>
            <a:endParaRPr lang="en-US" altLang="zh-CN" dirty="0">
              <a:solidFill>
                <a:srgbClr val="0000CC"/>
              </a:solidFill>
              <a:latin typeface="Arial" panose="020B0604020202020204" pitchFamily="34" charset="0"/>
            </a:endParaRPr>
          </a:p>
          <a:p>
            <a:pPr marL="365125" indent="-365125" eaLnBrk="1" hangingPunct="1">
              <a:spcBef>
                <a:spcPct val="55000"/>
              </a:spcBef>
            </a:pPr>
            <a:r>
              <a:rPr lang="zh-CN" altLang="en-US" dirty="0">
                <a:solidFill>
                  <a:srgbClr val="0000CC"/>
                </a:solidFill>
                <a:latin typeface="Arial" panose="020B0604020202020204" pitchFamily="34" charset="0"/>
              </a:rPr>
              <a:t>可串行化调度：</a:t>
            </a:r>
            <a:endParaRPr lang="zh-CN" altLang="en-US" dirty="0">
              <a:solidFill>
                <a:srgbClr val="0000CC"/>
              </a:solidFill>
              <a:latin typeface="Arial" panose="020B0604020202020204" pitchFamily="34" charset="0"/>
            </a:endParaRPr>
          </a:p>
          <a:p>
            <a:pPr marL="365125" indent="-365125" eaLnBrk="1" hangingPunct="1">
              <a:spcBef>
                <a:spcPct val="40000"/>
              </a:spcBef>
              <a:buNone/>
            </a:pPr>
            <a:r>
              <a:rPr lang="zh-CN" altLang="en-US" dirty="0">
                <a:latin typeface="Arial" panose="020B0604020202020204" pitchFamily="34" charset="0"/>
              </a:rPr>
              <a:t>          凡能够产生与某个串行调度相同结果的</a:t>
            </a:r>
            <a:r>
              <a:rPr lang="zh-CN" altLang="en-US" u="sng" dirty="0">
                <a:latin typeface="Arial" panose="020B0604020202020204" pitchFamily="34" charset="0"/>
              </a:rPr>
              <a:t>并发调度</a:t>
            </a:r>
            <a:r>
              <a:rPr lang="zh-CN" altLang="en-US" dirty="0">
                <a:latin typeface="Arial" panose="020B0604020202020204" pitchFamily="34" charset="0"/>
              </a:rPr>
              <a:t>被称之为</a:t>
            </a:r>
            <a:r>
              <a:rPr lang="zh-CN" altLang="en-US" dirty="0">
                <a:solidFill>
                  <a:srgbClr val="0000CC"/>
                </a:solidFill>
                <a:latin typeface="Arial" panose="020B0604020202020204" pitchFamily="34" charset="0"/>
              </a:rPr>
              <a:t>可串行化调度</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460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1</a:t>
            </a:r>
            <a:r>
              <a:rPr lang="en-US" altLang="zh-CN" noProof="0" dirty="0" smtClean="0">
                <a:ln>
                  <a:noFill/>
                </a:ln>
                <a:uLnTx/>
                <a:uFillTx/>
                <a:sym typeface="+mn-ea"/>
              </a:rPr>
              <a:t>)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可串行化调度</a:t>
            </a:r>
            <a:endPar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701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事务调度</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pSp>
        <p:nvGrpSpPr>
          <p:cNvPr id="2" name="Group 9"/>
          <p:cNvGrpSpPr/>
          <p:nvPr/>
        </p:nvGrpSpPr>
        <p:grpSpPr>
          <a:xfrm>
            <a:off x="107950" y="1700213"/>
            <a:ext cx="3170238" cy="3311525"/>
            <a:chOff x="1064" y="754"/>
            <a:chExt cx="1997" cy="2086"/>
          </a:xfrm>
        </p:grpSpPr>
        <p:sp>
          <p:nvSpPr>
            <p:cNvPr id="32784" name="Rectangle 5"/>
            <p:cNvSpPr/>
            <p:nvPr/>
          </p:nvSpPr>
          <p:spPr>
            <a:xfrm>
              <a:off x="2075" y="1129"/>
              <a:ext cx="986" cy="1711"/>
            </a:xfrm>
            <a:prstGeom prst="rect">
              <a:avLst/>
            </a:prstGeom>
            <a:solidFill>
              <a:srgbClr val="CCFFFF"/>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B(=3)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A←B+1</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a:t>
              </a:r>
              <a:r>
                <a:rPr lang="en-US" altLang="zh-CN" sz="2800" dirty="0">
                  <a:solidFill>
                    <a:srgbClr val="0000CC"/>
                  </a:solidFill>
                  <a:latin typeface="Arial" panose="020B0604020202020204" pitchFamily="34" charset="0"/>
                </a:rPr>
                <a:t>A(=4)</a:t>
              </a:r>
              <a:endParaRPr lang="en-US" altLang="zh-CN" sz="2800" dirty="0">
                <a:solidFill>
                  <a:srgbClr val="0000CC"/>
                </a:solidFill>
                <a:latin typeface="Arial" panose="020B0604020202020204" pitchFamily="34" charset="0"/>
              </a:endParaRPr>
            </a:p>
          </p:txBody>
        </p:sp>
        <p:sp>
          <p:nvSpPr>
            <p:cNvPr id="32785" name="Rectangle 6"/>
            <p:cNvSpPr/>
            <p:nvPr/>
          </p:nvSpPr>
          <p:spPr>
            <a:xfrm>
              <a:off x="1066" y="1129"/>
              <a:ext cx="1015" cy="1711"/>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A(=2)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B←A+1</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a:t>
              </a:r>
              <a:r>
                <a:rPr lang="en-US" altLang="zh-CN" sz="2800" dirty="0">
                  <a:solidFill>
                    <a:srgbClr val="0000CC"/>
                  </a:solidFill>
                  <a:latin typeface="Arial" panose="020B0604020202020204" pitchFamily="34" charset="0"/>
                </a:rPr>
                <a:t>B(=3) </a:t>
              </a:r>
              <a:endParaRPr lang="en-US" altLang="zh-CN" sz="2800" dirty="0">
                <a:solidFill>
                  <a:srgbClr val="0000CC"/>
                </a:solidFill>
                <a:latin typeface="Arial" panose="020B0604020202020204" pitchFamily="34" charset="0"/>
              </a:endParaRPr>
            </a:p>
          </p:txBody>
        </p:sp>
        <p:sp>
          <p:nvSpPr>
            <p:cNvPr id="32786" name="Rectangle 7"/>
            <p:cNvSpPr/>
            <p:nvPr/>
          </p:nvSpPr>
          <p:spPr>
            <a:xfrm>
              <a:off x="2075" y="754"/>
              <a:ext cx="986" cy="375"/>
            </a:xfrm>
            <a:prstGeom prst="rect">
              <a:avLst/>
            </a:prstGeom>
            <a:solidFill>
              <a:srgbClr val="CCFFFF"/>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32787" name="Rectangle 8"/>
            <p:cNvSpPr/>
            <p:nvPr/>
          </p:nvSpPr>
          <p:spPr>
            <a:xfrm>
              <a:off x="1064" y="754"/>
              <a:ext cx="1011" cy="375"/>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
        <p:nvSpPr>
          <p:cNvPr id="32772" name="Rectangle 10"/>
          <p:cNvSpPr>
            <a:spLocks noGrp="1"/>
          </p:cNvSpPr>
          <p:nvPr>
            <p:ph idx="1"/>
          </p:nvPr>
        </p:nvSpPr>
        <p:spPr>
          <a:xfrm>
            <a:off x="152400" y="981075"/>
            <a:ext cx="4635500" cy="647700"/>
          </a:xfrm>
        </p:spPr>
        <p:txBody>
          <a:bodyPr vert="horz" wrap="square" lIns="91440" tIns="45720" rIns="91440" bIns="45720" anchor="t" anchorCtr="0"/>
          <a:p>
            <a:pPr eaLnBrk="1" hangingPunct="1">
              <a:buNone/>
            </a:pPr>
            <a:r>
              <a:rPr lang="zh-CN" altLang="en-US" dirty="0"/>
              <a:t>设</a:t>
            </a:r>
            <a:r>
              <a:rPr lang="en-US" altLang="zh-CN" dirty="0"/>
              <a:t>A</a:t>
            </a:r>
            <a:r>
              <a:rPr lang="zh-CN" altLang="en-US" dirty="0"/>
              <a:t>、</a:t>
            </a:r>
            <a:r>
              <a:rPr lang="en-US" altLang="zh-CN" dirty="0"/>
              <a:t>B</a:t>
            </a:r>
            <a:r>
              <a:rPr lang="zh-CN" altLang="en-US" dirty="0"/>
              <a:t>的均初值为</a:t>
            </a:r>
            <a:r>
              <a:rPr lang="en-US" altLang="zh-CN" dirty="0"/>
              <a:t>2</a:t>
            </a:r>
            <a:endParaRPr lang="en-US" altLang="zh-CN" dirty="0"/>
          </a:p>
        </p:txBody>
      </p:sp>
      <p:grpSp>
        <p:nvGrpSpPr>
          <p:cNvPr id="3" name="Group 17"/>
          <p:cNvGrpSpPr/>
          <p:nvPr/>
        </p:nvGrpSpPr>
        <p:grpSpPr>
          <a:xfrm>
            <a:off x="3276600" y="3502025"/>
            <a:ext cx="3170238" cy="3311525"/>
            <a:chOff x="1064" y="754"/>
            <a:chExt cx="1997" cy="2086"/>
          </a:xfrm>
        </p:grpSpPr>
        <p:sp>
          <p:nvSpPr>
            <p:cNvPr id="32780" name="Rectangle 18"/>
            <p:cNvSpPr/>
            <p:nvPr/>
          </p:nvSpPr>
          <p:spPr>
            <a:xfrm>
              <a:off x="2075" y="1129"/>
              <a:ext cx="986" cy="1711"/>
            </a:xfrm>
            <a:prstGeom prst="rect">
              <a:avLst/>
            </a:prstGeom>
            <a:solidFill>
              <a:srgbClr val="CCFFFF"/>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B(=2)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A←B+1</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a:t>
              </a:r>
              <a:r>
                <a:rPr lang="en-US" altLang="zh-CN" sz="2800" dirty="0">
                  <a:solidFill>
                    <a:srgbClr val="0000CC"/>
                  </a:solidFill>
                  <a:latin typeface="Arial" panose="020B0604020202020204" pitchFamily="34" charset="0"/>
                </a:rPr>
                <a:t>A(=3)</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p:txBody>
        </p:sp>
        <p:sp>
          <p:nvSpPr>
            <p:cNvPr id="32781" name="Rectangle 19"/>
            <p:cNvSpPr/>
            <p:nvPr/>
          </p:nvSpPr>
          <p:spPr>
            <a:xfrm>
              <a:off x="1066" y="1129"/>
              <a:ext cx="1015" cy="1711"/>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A(=3)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B←A+1</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a:t>
              </a:r>
              <a:r>
                <a:rPr lang="en-US" altLang="zh-CN" sz="2800" dirty="0">
                  <a:solidFill>
                    <a:srgbClr val="0000CC"/>
                  </a:solidFill>
                  <a:latin typeface="Arial" panose="020B0604020202020204" pitchFamily="34" charset="0"/>
                </a:rPr>
                <a:t>B(=4)</a:t>
              </a:r>
              <a:endParaRPr lang="en-US" altLang="zh-CN" sz="2800" dirty="0">
                <a:solidFill>
                  <a:srgbClr val="0000CC"/>
                </a:solidFill>
                <a:latin typeface="Arial" panose="020B0604020202020204" pitchFamily="34" charset="0"/>
              </a:endParaRPr>
            </a:p>
          </p:txBody>
        </p:sp>
        <p:sp>
          <p:nvSpPr>
            <p:cNvPr id="32782" name="Rectangle 20"/>
            <p:cNvSpPr/>
            <p:nvPr/>
          </p:nvSpPr>
          <p:spPr>
            <a:xfrm>
              <a:off x="2075" y="754"/>
              <a:ext cx="986" cy="375"/>
            </a:xfrm>
            <a:prstGeom prst="rect">
              <a:avLst/>
            </a:prstGeom>
            <a:solidFill>
              <a:srgbClr val="CCFFFF"/>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32783" name="Rectangle 21"/>
            <p:cNvSpPr/>
            <p:nvPr/>
          </p:nvSpPr>
          <p:spPr>
            <a:xfrm>
              <a:off x="1064" y="754"/>
              <a:ext cx="1011" cy="375"/>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grpSp>
        <p:nvGrpSpPr>
          <p:cNvPr id="4" name="Group 22"/>
          <p:cNvGrpSpPr/>
          <p:nvPr/>
        </p:nvGrpSpPr>
        <p:grpSpPr>
          <a:xfrm>
            <a:off x="5865813" y="188913"/>
            <a:ext cx="3170237" cy="3311525"/>
            <a:chOff x="1064" y="754"/>
            <a:chExt cx="1997" cy="2086"/>
          </a:xfrm>
        </p:grpSpPr>
        <p:sp>
          <p:nvSpPr>
            <p:cNvPr id="32776" name="Rectangle 23"/>
            <p:cNvSpPr/>
            <p:nvPr/>
          </p:nvSpPr>
          <p:spPr>
            <a:xfrm>
              <a:off x="2075" y="1129"/>
              <a:ext cx="986" cy="1711"/>
            </a:xfrm>
            <a:prstGeom prst="rect">
              <a:avLst/>
            </a:prstGeom>
            <a:solidFill>
              <a:srgbClr val="CCFFFF"/>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B(=2) </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A←B+1</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a:t>
              </a:r>
              <a:r>
                <a:rPr lang="en-US" altLang="zh-CN" sz="2800" dirty="0">
                  <a:solidFill>
                    <a:srgbClr val="0000CC"/>
                  </a:solidFill>
                  <a:latin typeface="Arial" panose="020B0604020202020204" pitchFamily="34" charset="0"/>
                </a:rPr>
                <a:t>A(=3)</a:t>
              </a:r>
              <a:endParaRPr lang="en-US" altLang="zh-CN" sz="2800" dirty="0">
                <a:solidFill>
                  <a:srgbClr val="0000CC"/>
                </a:solidFill>
                <a:latin typeface="Arial" panose="020B0604020202020204" pitchFamily="34" charset="0"/>
              </a:endParaRPr>
            </a:p>
          </p:txBody>
        </p:sp>
        <p:sp>
          <p:nvSpPr>
            <p:cNvPr id="32777" name="Rectangle 24"/>
            <p:cNvSpPr/>
            <p:nvPr/>
          </p:nvSpPr>
          <p:spPr>
            <a:xfrm>
              <a:off x="1066" y="1129"/>
              <a:ext cx="1015" cy="1711"/>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zh-CN" altLang="en-US" sz="2800" dirty="0">
                  <a:solidFill>
                    <a:srgbClr val="0000CC"/>
                  </a:solidFill>
                  <a:latin typeface="Arial" panose="020B0604020202020204" pitchFamily="34" charset="0"/>
                </a:rPr>
                <a:t>读</a:t>
              </a:r>
              <a:r>
                <a:rPr lang="en-US" altLang="zh-CN" sz="2800" dirty="0">
                  <a:solidFill>
                    <a:srgbClr val="0000CC"/>
                  </a:solidFill>
                  <a:latin typeface="Arial" panose="020B0604020202020204" pitchFamily="34" charset="0"/>
                </a:rPr>
                <a:t>A(=2) </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B←A+1</a:t>
              </a:r>
              <a:endParaRPr lang="en-US" altLang="zh-CN" sz="2800" dirty="0">
                <a:solidFill>
                  <a:srgbClr val="0000CC"/>
                </a:solidFill>
                <a:latin typeface="Arial" panose="020B0604020202020204" pitchFamily="34" charset="0"/>
              </a:endParaRPr>
            </a:p>
            <a:p>
              <a:pPr marL="0" lvl="0" indent="0" eaLnBrk="1" hangingPunct="1">
                <a:buNone/>
              </a:pPr>
              <a:r>
                <a:rPr lang="zh-CN" altLang="en-US" sz="2800" dirty="0">
                  <a:solidFill>
                    <a:srgbClr val="0000CC"/>
                  </a:solidFill>
                  <a:latin typeface="Arial" panose="020B0604020202020204" pitchFamily="34" charset="0"/>
                </a:rPr>
                <a:t>写</a:t>
              </a:r>
              <a:r>
                <a:rPr lang="en-US" altLang="zh-CN" sz="2800" dirty="0">
                  <a:solidFill>
                    <a:srgbClr val="0000CC"/>
                  </a:solidFill>
                  <a:latin typeface="Arial" panose="020B0604020202020204" pitchFamily="34" charset="0"/>
                </a:rPr>
                <a:t>B(=3)</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p:txBody>
        </p:sp>
        <p:sp>
          <p:nvSpPr>
            <p:cNvPr id="32778" name="Rectangle 25"/>
            <p:cNvSpPr/>
            <p:nvPr/>
          </p:nvSpPr>
          <p:spPr>
            <a:xfrm>
              <a:off x="2075" y="754"/>
              <a:ext cx="986" cy="375"/>
            </a:xfrm>
            <a:prstGeom prst="rect">
              <a:avLst/>
            </a:prstGeom>
            <a:solidFill>
              <a:srgbClr val="CCFFFF"/>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32779" name="Rectangle 26"/>
            <p:cNvSpPr/>
            <p:nvPr/>
          </p:nvSpPr>
          <p:spPr>
            <a:xfrm>
              <a:off x="1064" y="754"/>
              <a:ext cx="1011" cy="375"/>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zh-CN" altLang="en-US" sz="2800" dirty="0">
                  <a:solidFill>
                    <a:srgbClr val="0000CC"/>
                  </a:solidFill>
                  <a:latin typeface="Arial" panose="020B0604020202020204" pitchFamily="34" charset="0"/>
                </a:rPr>
                <a:t>事务</a:t>
              </a: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
        <p:nvSpPr>
          <p:cNvPr id="427035" name="AutoShape 27"/>
          <p:cNvSpPr/>
          <p:nvPr/>
        </p:nvSpPr>
        <p:spPr>
          <a:xfrm>
            <a:off x="6804025" y="4221163"/>
            <a:ext cx="2016125" cy="576262"/>
          </a:xfrm>
          <a:prstGeom prst="wedgeRoundRectCallout">
            <a:avLst>
              <a:gd name="adj1" fmla="val -15907"/>
              <a:gd name="adj2" fmla="val -175343"/>
              <a:gd name="adj3" fmla="val 16667"/>
            </a:avLst>
          </a:prstGeom>
          <a:solidFill>
            <a:srgbClr val="FFFF00"/>
          </a:solidFill>
          <a:ln w="28575" cap="flat" cmpd="sng">
            <a:solidFill>
              <a:srgbClr val="000000"/>
            </a:solidFill>
            <a:prstDash val="solid"/>
            <a:miter/>
            <a:headEnd type="none" w="med" len="med"/>
            <a:tailEnd type="none" w="med" len="med"/>
          </a:ln>
        </p:spPr>
        <p:txBody>
          <a:bodyPr lIns="0" rIns="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r>
              <a:rPr lang="zh-CN" altLang="en-US" sz="2800" dirty="0">
                <a:latin typeface="Arial" panose="020B0604020202020204" pitchFamily="34" charset="0"/>
              </a:rPr>
              <a:t>错误的调度</a:t>
            </a:r>
            <a:endParaRPr lang="zh-CN" altLang="en-US" sz="2800"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7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3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152400" y="981075"/>
            <a:ext cx="8740775" cy="5526088"/>
          </a:xfrm>
        </p:spPr>
        <p:txBody>
          <a:bodyPr vert="horz" wrap="square" lIns="91440" tIns="45720" rIns="91440" bIns="45720" anchor="t" anchorCtr="0"/>
          <a:p>
            <a:pPr marL="365125" indent="-365125" eaLnBrk="1" hangingPunct="1">
              <a:lnSpc>
                <a:spcPct val="110000"/>
              </a:lnSpc>
              <a:buNone/>
            </a:pPr>
            <a:r>
              <a:rPr lang="zh-CN" altLang="en-US" dirty="0">
                <a:solidFill>
                  <a:srgbClr val="010103"/>
                </a:solidFill>
                <a:latin typeface="Arial" panose="020B0604020202020204" pitchFamily="34" charset="0"/>
              </a:rPr>
              <a:t>分析两个事务的两个相邻操作的</a:t>
            </a:r>
            <a:r>
              <a:rPr lang="zh-CN" altLang="en-US" dirty="0">
                <a:solidFill>
                  <a:srgbClr val="FF0000"/>
                </a:solidFill>
                <a:latin typeface="Arial" panose="020B0604020202020204" pitchFamily="34" charset="0"/>
              </a:rPr>
              <a:t>交换操作</a:t>
            </a:r>
            <a:r>
              <a:rPr lang="en-US" altLang="zh-CN" dirty="0">
                <a:latin typeface="Arial" panose="020B0604020202020204" pitchFamily="34" charset="0"/>
              </a:rPr>
              <a:t>:</a:t>
            </a:r>
            <a:endParaRPr lang="en-US" altLang="zh-CN" dirty="0">
              <a:latin typeface="Arial" panose="020B0604020202020204" pitchFamily="34" charset="0"/>
            </a:endParaRPr>
          </a:p>
          <a:p>
            <a:pPr marL="365125" indent="-365125" eaLnBrk="1" hangingPunct="1"/>
            <a:r>
              <a:rPr lang="zh-CN" altLang="en-US" dirty="0">
                <a:solidFill>
                  <a:srgbClr val="010103"/>
                </a:solidFill>
                <a:latin typeface="Arial" panose="020B0604020202020204" pitchFamily="34" charset="0"/>
              </a:rPr>
              <a:t>两个操作访问</a:t>
            </a:r>
            <a:r>
              <a:rPr lang="zh-CN" altLang="en-US" dirty="0">
                <a:solidFill>
                  <a:srgbClr val="FF0000"/>
                </a:solidFill>
                <a:latin typeface="Arial" panose="020B0604020202020204" pitchFamily="34" charset="0"/>
              </a:rPr>
              <a:t>不同</a:t>
            </a:r>
            <a:r>
              <a:rPr lang="zh-CN" altLang="en-US" dirty="0">
                <a:solidFill>
                  <a:srgbClr val="010103"/>
                </a:solidFill>
                <a:latin typeface="Arial" panose="020B0604020202020204" pitchFamily="34" charset="0"/>
              </a:rPr>
              <a:t>的数据项</a:t>
            </a:r>
            <a:endParaRPr lang="zh-CN" altLang="en-US" dirty="0">
              <a:solidFill>
                <a:srgbClr val="010103"/>
              </a:solidFill>
              <a:latin typeface="Arial" panose="020B0604020202020204" pitchFamily="34" charset="0"/>
            </a:endParaRPr>
          </a:p>
          <a:p>
            <a:pPr marL="365125" indent="-365125" eaLnBrk="1" hangingPunct="1"/>
            <a:r>
              <a:rPr lang="zh-CN" altLang="en-US" dirty="0">
                <a:solidFill>
                  <a:srgbClr val="010103"/>
                </a:solidFill>
                <a:latin typeface="Arial" panose="020B0604020202020204" pitchFamily="34" charset="0"/>
              </a:rPr>
              <a:t>两个操作访问</a:t>
            </a:r>
            <a:r>
              <a:rPr lang="zh-CN" altLang="en-US" dirty="0">
                <a:solidFill>
                  <a:srgbClr val="FF0000"/>
                </a:solidFill>
                <a:latin typeface="Arial" panose="020B0604020202020204" pitchFamily="34" charset="0"/>
              </a:rPr>
              <a:t>相同</a:t>
            </a:r>
            <a:r>
              <a:rPr lang="zh-CN" altLang="en-US" dirty="0">
                <a:solidFill>
                  <a:srgbClr val="010103"/>
                </a:solidFill>
                <a:latin typeface="Arial" panose="020B0604020202020204" pitchFamily="34" charset="0"/>
              </a:rPr>
              <a:t>的数据项</a:t>
            </a:r>
            <a:endParaRPr lang="zh-CN" altLang="en-US" dirty="0">
              <a:solidFill>
                <a:srgbClr val="010103"/>
              </a:solidFill>
              <a:latin typeface="Arial" panose="020B0604020202020204" pitchFamily="34" charset="0"/>
            </a:endParaRPr>
          </a:p>
          <a:p>
            <a:pPr marL="1163955" lvl="1" indent="-363855" eaLnBrk="1" hangingPunct="1">
              <a:lnSpc>
                <a:spcPct val="110000"/>
              </a:lnSpc>
              <a:spcBef>
                <a:spcPct val="0"/>
              </a:spcBef>
            </a:pPr>
            <a:endParaRPr lang="en-US" altLang="zh-CN" sz="3600" dirty="0">
              <a:solidFill>
                <a:srgbClr val="010103"/>
              </a:solidFill>
              <a:latin typeface="Arial" panose="020B0604020202020204" pitchFamily="34" charset="0"/>
            </a:endParaRPr>
          </a:p>
        </p:txBody>
      </p:sp>
      <p:sp>
        <p:nvSpPr>
          <p:cNvPr id="50179" name="Rectangle 3"/>
          <p:cNvSpPr>
            <a:spLocks noGrp="1" noChangeArrowheads="1"/>
          </p:cNvSpPr>
          <p:nvPr>
            <p:ph type="title"/>
          </p:nvPr>
        </p:nvSpPr>
        <p:spPr>
          <a:xfrm>
            <a:off x="34925" y="115888"/>
            <a:ext cx="89646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具有什么性质的并发调度是可串行化的</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50247" name="Group 71"/>
          <p:cNvGraphicFramePr>
            <a:graphicFrameLocks noGrp="1"/>
          </p:cNvGraphicFramePr>
          <p:nvPr/>
        </p:nvGraphicFramePr>
        <p:xfrm>
          <a:off x="1692275" y="3005138"/>
          <a:ext cx="3455988" cy="1792288"/>
        </p:xfrm>
        <a:graphic>
          <a:graphicData uri="http://schemas.openxmlformats.org/drawingml/2006/table">
            <a:tbl>
              <a:tblPr/>
              <a:tblGrid>
                <a:gridCol w="1727200"/>
                <a:gridCol w="1728788"/>
              </a:tblGrid>
              <a:tr h="67945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5721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 (x)</a:t>
                      </a: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556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50246" name="Group 70"/>
          <p:cNvGraphicFramePr>
            <a:graphicFrameLocks noGrp="1"/>
          </p:cNvGraphicFramePr>
          <p:nvPr/>
        </p:nvGraphicFramePr>
        <p:xfrm>
          <a:off x="5372100" y="3005138"/>
          <a:ext cx="3521075" cy="1792288"/>
        </p:xfrm>
        <a:graphic>
          <a:graphicData uri="http://schemas.openxmlformats.org/drawingml/2006/table">
            <a:tbl>
              <a:tblPr/>
              <a:tblGrid>
                <a:gridCol w="1720850"/>
                <a:gridCol w="1800225"/>
              </a:tblGrid>
              <a:tr h="67945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5721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556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50244" name="Group 68"/>
          <p:cNvGraphicFramePr>
            <a:graphicFrameLocks noGrp="1"/>
          </p:cNvGraphicFramePr>
          <p:nvPr/>
        </p:nvGraphicFramePr>
        <p:xfrm>
          <a:off x="1701800" y="4970463"/>
          <a:ext cx="3446463" cy="1697038"/>
        </p:xfrm>
        <a:graphic>
          <a:graphicData uri="http://schemas.openxmlformats.org/drawingml/2006/table">
            <a:tbl>
              <a:tblPr/>
              <a:tblGrid>
                <a:gridCol w="1717675"/>
                <a:gridCol w="1728788"/>
              </a:tblGrid>
              <a:tr h="5999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48537">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48537">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bl>
          </a:graphicData>
        </a:graphic>
      </p:graphicFrame>
      <p:graphicFrame>
        <p:nvGraphicFramePr>
          <p:cNvPr id="50245" name="Group 69"/>
          <p:cNvGraphicFramePr>
            <a:graphicFrameLocks noGrp="1"/>
          </p:cNvGraphicFramePr>
          <p:nvPr/>
        </p:nvGraphicFramePr>
        <p:xfrm>
          <a:off x="5292725" y="4984750"/>
          <a:ext cx="3600450" cy="1682750"/>
        </p:xfrm>
        <a:graphic>
          <a:graphicData uri="http://schemas.openxmlformats.org/drawingml/2006/table">
            <a:tbl>
              <a:tblPr/>
              <a:tblGrid>
                <a:gridCol w="1800225"/>
                <a:gridCol w="1800225"/>
              </a:tblGrid>
              <a:tr h="585677">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6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6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48536">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48536">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W(x)</a:t>
                      </a:r>
                      <a:endParaRPr kumimoji="0" lang="en-US" altLang="zh-CN"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L="90000" marR="90000" marT="0" marB="0"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8">
                                            <p:txEl>
                                              <p:charRg st="20" end="3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8">
                                            <p:txEl>
                                              <p:charRg st="33" end="4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2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2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2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idx="1"/>
          </p:nvPr>
        </p:nvSpPr>
        <p:spPr>
          <a:xfrm>
            <a:off x="152400" y="998538"/>
            <a:ext cx="8812213" cy="5526087"/>
          </a:xfrm>
        </p:spPr>
        <p:txBody>
          <a:bodyPr vert="horz" wrap="square" lIns="91440" tIns="45720" rIns="91440" bIns="45720" anchor="t" anchorCtr="0"/>
          <a:p>
            <a:pPr marL="365125" indent="-365125" eaLnBrk="1" hangingPunct="1">
              <a:lnSpc>
                <a:spcPct val="90000"/>
              </a:lnSpc>
            </a:pPr>
            <a:r>
              <a:rPr lang="zh-CN" altLang="en-US" dirty="0">
                <a:solidFill>
                  <a:srgbClr val="010103"/>
                </a:solidFill>
                <a:latin typeface="Arial" panose="020B0604020202020204" pitchFamily="34" charset="0"/>
              </a:rPr>
              <a:t>定义</a:t>
            </a:r>
            <a:endParaRPr lang="zh-CN" altLang="en-US" dirty="0">
              <a:solidFill>
                <a:srgbClr val="010103"/>
              </a:solidFill>
              <a:latin typeface="Arial" panose="020B0604020202020204" pitchFamily="34" charset="0"/>
            </a:endParaRPr>
          </a:p>
          <a:p>
            <a:pPr marL="365125" indent="-365125" eaLnBrk="1" hangingPunct="1">
              <a:buNone/>
            </a:pPr>
            <a:r>
              <a:rPr lang="zh-CN" altLang="en-US" dirty="0">
                <a:solidFill>
                  <a:srgbClr val="010103"/>
                </a:solidFill>
                <a:latin typeface="Arial" panose="020B0604020202020204" pitchFamily="34" charset="0"/>
              </a:rPr>
              <a:t>           如果两个事务的两个操作都针对于</a:t>
            </a:r>
            <a:r>
              <a:rPr lang="zh-CN" altLang="en-US" dirty="0">
                <a:solidFill>
                  <a:srgbClr val="FF0000"/>
                </a:solidFill>
                <a:latin typeface="Arial" panose="020B0604020202020204" pitchFamily="34" charset="0"/>
              </a:rPr>
              <a:t>同一</a:t>
            </a:r>
            <a:r>
              <a:rPr lang="zh-CN" altLang="en-US" dirty="0">
                <a:solidFill>
                  <a:srgbClr val="010103"/>
                </a:solidFill>
                <a:latin typeface="Arial" panose="020B0604020202020204" pitchFamily="34" charset="0"/>
              </a:rPr>
              <a:t>数据项，只要其中有一个是</a:t>
            </a:r>
            <a:r>
              <a:rPr lang="zh-CN" altLang="en-US" dirty="0">
                <a:solidFill>
                  <a:srgbClr val="FF0000"/>
                </a:solidFill>
                <a:latin typeface="Arial" panose="020B0604020202020204" pitchFamily="34" charset="0"/>
              </a:rPr>
              <a:t>写</a:t>
            </a:r>
            <a:r>
              <a:rPr lang="zh-CN" altLang="en-US" dirty="0">
                <a:solidFill>
                  <a:srgbClr val="010103"/>
                </a:solidFill>
                <a:latin typeface="Arial" panose="020B0604020202020204" pitchFamily="34" charset="0"/>
              </a:rPr>
              <a:t>操作，则称这两个操作是</a:t>
            </a:r>
            <a:r>
              <a:rPr lang="zh-CN" altLang="en-US" dirty="0">
                <a:solidFill>
                  <a:srgbClr val="0000CC"/>
                </a:solidFill>
                <a:latin typeface="Arial" panose="020B0604020202020204" pitchFamily="34" charset="0"/>
              </a:rPr>
              <a:t>冲突</a:t>
            </a:r>
            <a:r>
              <a:rPr lang="zh-CN" altLang="en-US" dirty="0">
                <a:solidFill>
                  <a:srgbClr val="010103"/>
                </a:solidFill>
                <a:latin typeface="Arial" panose="020B0604020202020204" pitchFamily="34" charset="0"/>
              </a:rPr>
              <a:t>的。</a:t>
            </a:r>
            <a:endParaRPr lang="zh-CN" altLang="en-US" dirty="0">
              <a:solidFill>
                <a:srgbClr val="010103"/>
              </a:solidFill>
            </a:endParaRPr>
          </a:p>
          <a:p>
            <a:pPr marL="365125" indent="-365125" eaLnBrk="1" hangingPunct="1">
              <a:buNone/>
            </a:pPr>
            <a:r>
              <a:rPr lang="zh-CN" altLang="en-US" dirty="0">
                <a:solidFill>
                  <a:srgbClr val="010103"/>
                </a:solidFill>
                <a:latin typeface="Arial" panose="020B0604020202020204" pitchFamily="34" charset="0"/>
              </a:rPr>
              <a:t>       </a:t>
            </a:r>
            <a:r>
              <a:rPr lang="en-US" altLang="zh-CN" dirty="0">
                <a:solidFill>
                  <a:srgbClr val="010103"/>
                </a:solidFill>
                <a:latin typeface="Arial" panose="020B0604020202020204" pitchFamily="34" charset="0"/>
              </a:rPr>
              <a:t>(</a:t>
            </a:r>
            <a:r>
              <a:rPr lang="zh-CN" altLang="en-US" dirty="0">
                <a:solidFill>
                  <a:srgbClr val="010103"/>
                </a:solidFill>
                <a:latin typeface="Arial" panose="020B0604020202020204" pitchFamily="34" charset="0"/>
              </a:rPr>
              <a:t>冲突分为：</a:t>
            </a:r>
            <a:r>
              <a:rPr lang="en-US" altLang="zh-CN" dirty="0">
                <a:solidFill>
                  <a:srgbClr val="010103"/>
                </a:solidFill>
                <a:latin typeface="Arial" panose="020B0604020202020204" pitchFamily="34" charset="0"/>
              </a:rPr>
              <a:t>RW</a:t>
            </a:r>
            <a:r>
              <a:rPr lang="zh-CN" altLang="en-US" dirty="0">
                <a:solidFill>
                  <a:srgbClr val="010103"/>
                </a:solidFill>
                <a:latin typeface="Arial" panose="020B0604020202020204" pitchFamily="34" charset="0"/>
              </a:rPr>
              <a:t>、</a:t>
            </a:r>
            <a:r>
              <a:rPr lang="en-US" altLang="zh-CN" dirty="0">
                <a:solidFill>
                  <a:srgbClr val="010103"/>
                </a:solidFill>
                <a:latin typeface="Arial" panose="020B0604020202020204" pitchFamily="34" charset="0"/>
              </a:rPr>
              <a:t>WR</a:t>
            </a:r>
            <a:r>
              <a:rPr lang="zh-CN" altLang="en-US" dirty="0">
                <a:solidFill>
                  <a:srgbClr val="010103"/>
                </a:solidFill>
                <a:latin typeface="Arial" panose="020B0604020202020204" pitchFamily="34" charset="0"/>
              </a:rPr>
              <a:t>以及</a:t>
            </a:r>
            <a:r>
              <a:rPr lang="en-US" altLang="zh-CN" dirty="0">
                <a:solidFill>
                  <a:srgbClr val="010103"/>
                </a:solidFill>
                <a:latin typeface="Arial" panose="020B0604020202020204" pitchFamily="34" charset="0"/>
              </a:rPr>
              <a:t>WW</a:t>
            </a:r>
            <a:r>
              <a:rPr lang="zh-CN" altLang="en-US" dirty="0">
                <a:solidFill>
                  <a:srgbClr val="010103"/>
                </a:solidFill>
                <a:latin typeface="Arial" panose="020B0604020202020204" pitchFamily="34" charset="0"/>
              </a:rPr>
              <a:t>冲突</a:t>
            </a:r>
            <a:r>
              <a:rPr lang="en-US" altLang="zh-CN" dirty="0">
                <a:latin typeface="Arial" panose="020B0604020202020204" pitchFamily="34" charset="0"/>
              </a:rPr>
              <a:t>)</a:t>
            </a:r>
            <a:endParaRPr lang="en-US" altLang="zh-CN" dirty="0">
              <a:latin typeface="Arial" panose="020B0604020202020204" pitchFamily="34" charset="0"/>
            </a:endParaRPr>
          </a:p>
          <a:p>
            <a:pPr marL="365125" indent="-365125" eaLnBrk="1" hangingPunct="1">
              <a:lnSpc>
                <a:spcPct val="105000"/>
              </a:lnSpc>
              <a:spcBef>
                <a:spcPct val="45000"/>
              </a:spcBef>
            </a:pPr>
            <a:r>
              <a:rPr lang="zh-CN" altLang="en-US" dirty="0">
                <a:solidFill>
                  <a:srgbClr val="010103"/>
                </a:solidFill>
                <a:latin typeface="Arial" panose="020B0604020202020204" pitchFamily="34" charset="0"/>
              </a:rPr>
              <a:t>举例：</a:t>
            </a:r>
            <a:endParaRPr lang="zh-CN" altLang="en-US" dirty="0">
              <a:solidFill>
                <a:srgbClr val="010103"/>
              </a:solidFill>
              <a:latin typeface="Arial" panose="020B0604020202020204" pitchFamily="34" charset="0"/>
            </a:endParaRPr>
          </a:p>
          <a:p>
            <a:pPr marL="365125" indent="-365125" eaLnBrk="1" hangingPunct="1">
              <a:lnSpc>
                <a:spcPct val="105000"/>
              </a:lnSpc>
              <a:spcBef>
                <a:spcPts val="600"/>
              </a:spcBef>
              <a:buNone/>
            </a:pPr>
            <a:r>
              <a:rPr lang="en-US" altLang="zh-CN" dirty="0">
                <a:solidFill>
                  <a:srgbClr val="010103"/>
                </a:solidFill>
                <a:latin typeface="Arial" panose="020B0604020202020204" pitchFamily="34" charset="0"/>
              </a:rPr>
              <a:t>&lt;R1(x),W2(x)&gt;, &lt;W1(x),W2(x)&gt; </a:t>
            </a:r>
            <a:r>
              <a:rPr lang="zh-CN" altLang="en-US" dirty="0">
                <a:solidFill>
                  <a:srgbClr val="010103"/>
                </a:solidFill>
                <a:latin typeface="Arial" panose="020B0604020202020204" pitchFamily="34" charset="0"/>
              </a:rPr>
              <a:t>是冲突的</a:t>
            </a:r>
            <a:endParaRPr lang="zh-CN" altLang="en-US" dirty="0">
              <a:solidFill>
                <a:srgbClr val="010103"/>
              </a:solidFill>
              <a:latin typeface="Arial" panose="020B0604020202020204" pitchFamily="34" charset="0"/>
            </a:endParaRPr>
          </a:p>
          <a:p>
            <a:pPr marL="365125" indent="-365125" eaLnBrk="1" hangingPunct="1">
              <a:lnSpc>
                <a:spcPct val="90000"/>
              </a:lnSpc>
              <a:buNone/>
            </a:pPr>
            <a:r>
              <a:rPr lang="en-US" altLang="zh-CN" dirty="0">
                <a:solidFill>
                  <a:srgbClr val="010103"/>
                </a:solidFill>
                <a:latin typeface="Arial" panose="020B0604020202020204" pitchFamily="34" charset="0"/>
              </a:rPr>
              <a:t>&lt;R1(x),R2(x)&gt;,&lt;W1(x),R1(y)&gt;, </a:t>
            </a:r>
            <a:r>
              <a:rPr lang="zh-CN" altLang="en-US" dirty="0">
                <a:solidFill>
                  <a:srgbClr val="010103"/>
                </a:solidFill>
                <a:latin typeface="Arial" panose="020B0604020202020204" pitchFamily="34" charset="0"/>
              </a:rPr>
              <a:t>当</a:t>
            </a:r>
            <a:r>
              <a:rPr lang="en-US" altLang="zh-CN" dirty="0">
                <a:solidFill>
                  <a:srgbClr val="010103"/>
                </a:solidFill>
                <a:latin typeface="Arial" panose="020B0604020202020204" pitchFamily="34" charset="0"/>
              </a:rPr>
              <a:t>x∩y=</a:t>
            </a:r>
            <a:r>
              <a:rPr lang="en-US" altLang="zh-CN" dirty="0">
                <a:solidFill>
                  <a:srgbClr val="010103"/>
                </a:solidFill>
                <a:latin typeface="Arial" panose="020B0604020202020204" pitchFamily="34" charset="0"/>
                <a:cs typeface="Times New Roman" panose="02020603050405020304" pitchFamily="18" charset="0"/>
              </a:rPr>
              <a:t>Ø</a:t>
            </a:r>
            <a:r>
              <a:rPr lang="zh-CN" altLang="en-US" dirty="0">
                <a:solidFill>
                  <a:srgbClr val="010103"/>
                </a:solidFill>
                <a:latin typeface="Arial" panose="020B0604020202020204" pitchFamily="34" charset="0"/>
              </a:rPr>
              <a:t>时不冲突。</a:t>
            </a:r>
            <a:endParaRPr lang="zh-CN" altLang="en-US" dirty="0">
              <a:solidFill>
                <a:srgbClr val="010103"/>
              </a:solidFill>
              <a:latin typeface="Arial" panose="020B0604020202020204" pitchFamily="34" charset="0"/>
            </a:endParaRPr>
          </a:p>
        </p:txBody>
      </p:sp>
      <p:sp>
        <p:nvSpPr>
          <p:cNvPr id="48133" name="Rectangle 5"/>
          <p:cNvSpPr>
            <a:spLocks noGrp="1" noChangeArrowheads="1"/>
          </p:cNvSpPr>
          <p:nvPr>
            <p:ph type="title"/>
          </p:nvPr>
        </p:nvSpPr>
        <p:spPr>
          <a:xfrm>
            <a:off x="34925" y="115888"/>
            <a:ext cx="89646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具有什么性质的并发调度是可串行化的</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noChangeArrowheads="1"/>
          </p:cNvSpPr>
          <p:nvPr>
            <p:ph idx="1"/>
          </p:nvPr>
        </p:nvSpPr>
        <p:spPr>
          <a:xfrm>
            <a:off x="152400" y="1052513"/>
            <a:ext cx="8812213" cy="5526088"/>
          </a:xfrm>
        </p:spPr>
        <p:txBody>
          <a:bodyPr vert="horz" wrap="square" lIns="91440" tIns="45720" rIns="91440" bIns="45720" numCol="1" anchor="t" anchorCtr="0" compatLnSpc="1"/>
          <a:lstStyle/>
          <a:p>
            <a:pPr marL="365125" marR="0" lvl="0" indent="-365125"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定义</a:t>
            </a:r>
            <a:endPar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endParaRPr>
          </a:p>
          <a:p>
            <a:pPr marL="365125" marR="0" lvl="0" indent="-365125"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          如果调度 </a:t>
            </a:r>
            <a:r>
              <a:rPr kumimoji="0" lang="en-US" altLang="zh-CN"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S </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通过一系列</a:t>
            </a:r>
            <a:r>
              <a:rPr kumimoji="0" lang="zh-CN" altLang="en-US"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不冲突操作的交换</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而转换为调度 </a:t>
            </a:r>
            <a:r>
              <a:rPr kumimoji="0" lang="en-US" altLang="zh-CN" sz="3600" b="1" i="0" u="none" strike="noStrike" kern="0" cap="none" spc="0" normalizeH="0" baseline="0" noProof="0" dirty="0" smtClean="0">
                <a:ln>
                  <a:noFill/>
                </a:ln>
                <a:solidFill>
                  <a:srgbClr val="C00000"/>
                </a:solidFill>
                <a:effectLst/>
                <a:uLnTx/>
                <a:uFillTx/>
                <a:latin typeface="Arial" panose="020B0604020202020204" pitchFamily="34" charset="0"/>
                <a:ea typeface="+mn-ea"/>
                <a:cs typeface="+mn-cs"/>
              </a:rPr>
              <a:t>S</a:t>
            </a:r>
            <a:r>
              <a:rPr kumimoji="0" lang="en-US" altLang="zh-CN" sz="3600" b="1" i="0" u="none" strike="noStrike" kern="0" cap="none" spc="0" normalizeH="0" baseline="0" noProof="0" dirty="0" smtClean="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mn-cs"/>
              </a:rPr>
              <a:t>'</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，则称 </a:t>
            </a:r>
            <a:r>
              <a:rPr kumimoji="0" lang="en-US" altLang="zh-CN"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S </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和 </a:t>
            </a:r>
            <a:r>
              <a:rPr kumimoji="0" lang="en-US" altLang="zh-CN" sz="3600" b="1" i="0" u="none" strike="noStrike" kern="0" cap="none" spc="0" normalizeH="0" baseline="0" noProof="0" dirty="0" smtClean="0">
                <a:ln>
                  <a:noFill/>
                </a:ln>
                <a:solidFill>
                  <a:srgbClr val="C00000"/>
                </a:solidFill>
                <a:effectLst/>
                <a:uLnTx/>
                <a:uFillTx/>
                <a:latin typeface="Arial" panose="020B0604020202020204" pitchFamily="34" charset="0"/>
                <a:ea typeface="+mn-ea"/>
                <a:cs typeface="+mn-cs"/>
              </a:rPr>
              <a:t>S</a:t>
            </a:r>
            <a:r>
              <a:rPr kumimoji="0" lang="en-US" altLang="zh-CN" sz="3600" b="1" i="0" u="none" strike="noStrike" kern="0" cap="none" spc="0" normalizeH="0" baseline="0" noProof="0" dirty="0" smtClean="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mn-cs"/>
              </a:rPr>
              <a:t>'</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是</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冲突等价的</a:t>
            </a:r>
            <a:r>
              <a:rPr kumimoji="0" lang="en-US" altLang="zh-CN"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(conflict equivalent)</a:t>
            </a:r>
            <a:r>
              <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a:t>
            </a:r>
            <a:endPar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endParaRPr>
          </a:p>
          <a:p>
            <a:pPr marL="365125" marR="0" lvl="0" indent="-365125" algn="l"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endParaRPr>
          </a:p>
          <a:p>
            <a:pPr marL="365125" marR="0" lvl="0" indent="-365125"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定义</a:t>
            </a:r>
            <a:endPar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endParaRPr>
          </a:p>
          <a:p>
            <a:pPr marL="365125" marR="0" lvl="0" indent="-365125"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         如果一个调度 </a:t>
            </a:r>
            <a:r>
              <a:rPr kumimoji="0" lang="en-US" altLang="zh-CN"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S </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与一个</a:t>
            </a:r>
            <a:r>
              <a:rPr kumimoji="0" lang="zh-CN" altLang="en-US" sz="3600" b="1" i="0" u="sng" strike="noStrike" kern="0" cap="none" spc="0" normalizeH="0" baseline="0" noProof="0" dirty="0" smtClean="0">
                <a:ln>
                  <a:noFill/>
                </a:ln>
                <a:solidFill>
                  <a:srgbClr val="010103"/>
                </a:solidFill>
                <a:effectLst/>
                <a:uLnTx/>
                <a:uFillTx/>
                <a:latin typeface="Arial" panose="020B0604020202020204" pitchFamily="34" charset="0"/>
                <a:ea typeface="+mn-ea"/>
                <a:cs typeface="+mn-cs"/>
              </a:rPr>
              <a:t>串行调度是冲突等价的</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，则称 </a:t>
            </a:r>
            <a:r>
              <a:rPr kumimoji="0" lang="en-US" altLang="zh-CN"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S </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是</a:t>
            </a: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冲突可串行化</a:t>
            </a:r>
            <a:r>
              <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rPr>
              <a:t>的。</a:t>
            </a:r>
            <a:endParaRPr kumimoji="0" lang="zh-CN" altLang="en-US" sz="36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endParaRPr>
          </a:p>
          <a:p>
            <a:pPr marL="365125" marR="0" lvl="0" indent="-365125"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defRPr/>
            </a:pPr>
            <a:endParaRPr kumimoji="0" lang="zh-CN" altLang="en-US" sz="2400" b="1" i="0" u="none" strike="noStrike" kern="0" cap="none" spc="0" normalizeH="0" baseline="0" noProof="0" dirty="0" smtClean="0">
              <a:ln>
                <a:noFill/>
              </a:ln>
              <a:solidFill>
                <a:srgbClr val="010103"/>
              </a:solidFill>
              <a:effectLst/>
              <a:uLnTx/>
              <a:uFillTx/>
              <a:latin typeface="Arial" panose="020B0604020202020204" pitchFamily="34" charset="0"/>
              <a:ea typeface="+mn-ea"/>
              <a:cs typeface="+mn-cs"/>
            </a:endParaRPr>
          </a:p>
          <a:p>
            <a:pPr marL="365125" marR="0" lvl="0" indent="-365125"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    冲突可串行化是正确调度的充分条件</a:t>
            </a:r>
            <a:endParaRPr kumimoji="0" lang="zh-CN" altLang="en-US"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endParaRPr>
          </a:p>
        </p:txBody>
      </p:sp>
      <p:sp>
        <p:nvSpPr>
          <p:cNvPr id="5222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lang="en-US" altLang="zh-CN" noProof="0" dirty="0" smtClean="0">
                <a:ln>
                  <a:noFill/>
                </a:ln>
                <a:uLnTx/>
                <a:uFillTx/>
                <a:sym typeface="+mn-ea"/>
              </a:rPr>
              <a:t>)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冲突可串行化调度</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事务调度</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6867" name="Rectangle 3"/>
          <p:cNvSpPr>
            <a:spLocks noGrp="1"/>
          </p:cNvSpPr>
          <p:nvPr>
            <p:ph idx="1"/>
          </p:nvPr>
        </p:nvSpPr>
        <p:spPr/>
        <p:txBody>
          <a:bodyPr vert="horz" wrap="square" lIns="91440" tIns="45720" rIns="91440" bIns="45720" anchor="t" anchorCtr="0"/>
          <a:p>
            <a:pPr eaLnBrk="1" hangingPunct="1">
              <a:lnSpc>
                <a:spcPct val="120000"/>
              </a:lnSpc>
              <a:buNone/>
            </a:pPr>
            <a:r>
              <a:rPr lang="en-US" altLang="zh-CN" dirty="0">
                <a:solidFill>
                  <a:srgbClr val="009900"/>
                </a:solidFill>
                <a:latin typeface="Arial" panose="020B0604020202020204" pitchFamily="34" charset="0"/>
              </a:rPr>
              <a:t>T</a:t>
            </a:r>
            <a:r>
              <a:rPr lang="en-US" altLang="zh-CN" baseline="-25000" dirty="0">
                <a:solidFill>
                  <a:srgbClr val="009900"/>
                </a:solidFill>
                <a:latin typeface="Arial" panose="020B0604020202020204" pitchFamily="34" charset="0"/>
              </a:rPr>
              <a:t>1</a:t>
            </a:r>
            <a:r>
              <a:rPr lang="zh-CN" altLang="en-US" dirty="0">
                <a:solidFill>
                  <a:srgbClr val="009900"/>
                </a:solidFill>
                <a:latin typeface="Arial" panose="020B0604020202020204" pitchFamily="34" charset="0"/>
              </a:rPr>
              <a:t>：</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(x)W</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endParaRPr lang="en-US" altLang="zh-CN" dirty="0">
              <a:solidFill>
                <a:srgbClr val="009900"/>
              </a:solidFill>
              <a:latin typeface="Arial" panose="020B0604020202020204" pitchFamily="34" charset="0"/>
            </a:endParaRPr>
          </a:p>
          <a:p>
            <a:pPr eaLnBrk="1" hangingPunct="1">
              <a:lnSpc>
                <a:spcPct val="120000"/>
              </a:lnSpc>
              <a:buNone/>
            </a:pPr>
            <a:r>
              <a:rPr lang="en-US" altLang="zh-CN" dirty="0">
                <a:solidFill>
                  <a:srgbClr val="FF0000"/>
                </a:solidFill>
                <a:latin typeface="Arial" panose="020B0604020202020204" pitchFamily="34" charset="0"/>
              </a:rPr>
              <a:t>T</a:t>
            </a:r>
            <a:r>
              <a:rPr lang="en-US" altLang="zh-CN" baseline="-25000" dirty="0">
                <a:solidFill>
                  <a:srgbClr val="FF0000"/>
                </a:solidFill>
                <a:latin typeface="Arial" panose="020B0604020202020204" pitchFamily="34" charset="0"/>
              </a:rPr>
              <a:t>2</a:t>
            </a:r>
            <a:r>
              <a:rPr lang="zh-CN" altLang="en-US" dirty="0">
                <a:solidFill>
                  <a:srgbClr val="FF0000"/>
                </a:solidFill>
                <a:latin typeface="Arial" panose="020B0604020202020204" pitchFamily="34" charset="0"/>
              </a:rPr>
              <a:t>：</a:t>
            </a:r>
            <a:r>
              <a:rPr lang="en-US" altLang="zh-CN" dirty="0">
                <a:solidFill>
                  <a:srgbClr val="FF0000"/>
                </a:solidFill>
                <a:latin typeface="Arial" panose="020B0604020202020204" pitchFamily="34" charset="0"/>
              </a:rPr>
              <a:t>R</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(x)W</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(y)</a:t>
            </a:r>
            <a:endParaRPr lang="en-US" altLang="zh-CN" dirty="0">
              <a:solidFill>
                <a:srgbClr val="FF0000"/>
              </a:solidFill>
              <a:latin typeface="Arial" panose="020B0604020202020204" pitchFamily="34" charset="0"/>
            </a:endParaRPr>
          </a:p>
          <a:p>
            <a:pPr eaLnBrk="1" hangingPunct="1">
              <a:lnSpc>
                <a:spcPct val="120000"/>
              </a:lnSpc>
              <a:buNone/>
            </a:pPr>
            <a:r>
              <a:rPr lang="en-US" altLang="zh-CN" dirty="0">
                <a:solidFill>
                  <a:srgbClr val="0000CC"/>
                </a:solidFill>
                <a:latin typeface="Arial" panose="020B0604020202020204" pitchFamily="34" charset="0"/>
              </a:rPr>
              <a:t>T</a:t>
            </a:r>
            <a:r>
              <a:rPr lang="en-US" altLang="zh-CN" baseline="-25000"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rPr>
              <a:t>：</a:t>
            </a:r>
            <a:r>
              <a:rPr lang="en-US" altLang="zh-CN" dirty="0">
                <a:solidFill>
                  <a:srgbClr val="0000CC"/>
                </a:solidFill>
                <a:latin typeface="Arial" panose="020B0604020202020204" pitchFamily="34" charset="0"/>
              </a:rPr>
              <a:t>R</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(x)W</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endParaRPr lang="en-US" altLang="zh-CN" dirty="0">
              <a:solidFill>
                <a:srgbClr val="0000CC"/>
              </a:solidFill>
              <a:latin typeface="Arial" panose="020B0604020202020204" pitchFamily="34" charset="0"/>
            </a:endParaRPr>
          </a:p>
          <a:p>
            <a:pPr eaLnBrk="1" hangingPunct="1">
              <a:lnSpc>
                <a:spcPct val="120000"/>
              </a:lnSpc>
              <a:buNone/>
            </a:pPr>
            <a:endParaRPr lang="en-US" altLang="zh-CN" dirty="0">
              <a:solidFill>
                <a:srgbClr val="0000CC"/>
              </a:solidFill>
              <a:latin typeface="Arial" panose="020B0604020202020204" pitchFamily="34" charset="0"/>
            </a:endParaRPr>
          </a:p>
          <a:p>
            <a:pPr eaLnBrk="1" hangingPunct="1">
              <a:lnSpc>
                <a:spcPct val="120000"/>
              </a:lnSpc>
              <a:spcBef>
                <a:spcPct val="15000"/>
              </a:spcBef>
              <a:buNone/>
            </a:pPr>
            <a:r>
              <a:rPr lang="en-US" altLang="zh-CN" dirty="0">
                <a:latin typeface="Arial" panose="020B0604020202020204" pitchFamily="34" charset="0"/>
              </a:rPr>
              <a:t>S</a:t>
            </a:r>
            <a:r>
              <a:rPr lang="en-US" altLang="zh-CN" baseline="-25000" dirty="0">
                <a:latin typeface="Arial" panose="020B0604020202020204" pitchFamily="34" charset="0"/>
              </a:rPr>
              <a:t>1</a:t>
            </a:r>
            <a:r>
              <a:rPr lang="zh-CN" altLang="en-US" dirty="0">
                <a:latin typeface="Arial" panose="020B0604020202020204" pitchFamily="34" charset="0"/>
              </a:rPr>
              <a:t>：</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(x)W</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FF0000"/>
                </a:solidFill>
                <a:latin typeface="Arial" panose="020B0604020202020204" pitchFamily="34" charset="0"/>
              </a:rPr>
              <a:t>R</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(x)W</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(y)</a:t>
            </a:r>
            <a:r>
              <a:rPr lang="en-US" altLang="zh-CN" dirty="0">
                <a:solidFill>
                  <a:srgbClr val="0000CC"/>
                </a:solidFill>
                <a:latin typeface="Arial" panose="020B0604020202020204" pitchFamily="34" charset="0"/>
              </a:rPr>
              <a:t>R</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(x)W</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endParaRPr lang="en-US" altLang="zh-CN" dirty="0">
              <a:latin typeface="Arial" panose="020B0604020202020204" pitchFamily="34" charset="0"/>
            </a:endParaRPr>
          </a:p>
          <a:p>
            <a:pPr eaLnBrk="1" hangingPunct="1">
              <a:lnSpc>
                <a:spcPct val="120000"/>
              </a:lnSpc>
              <a:spcBef>
                <a:spcPct val="15000"/>
              </a:spcBef>
              <a:buNone/>
            </a:pPr>
            <a:r>
              <a:rPr lang="en-US" altLang="zh-CN" dirty="0">
                <a:latin typeface="Arial" panose="020B0604020202020204" pitchFamily="34" charset="0"/>
              </a:rPr>
              <a:t>S</a:t>
            </a:r>
            <a:r>
              <a:rPr lang="en-US" altLang="zh-CN" baseline="-25000" dirty="0">
                <a:latin typeface="Arial" panose="020B0604020202020204" pitchFamily="34" charset="0"/>
              </a:rPr>
              <a:t>2</a:t>
            </a:r>
            <a:r>
              <a:rPr lang="zh-CN" altLang="en-US" dirty="0">
                <a:latin typeface="Arial" panose="020B0604020202020204" pitchFamily="34" charset="0"/>
              </a:rPr>
              <a:t>：</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(x)</a:t>
            </a:r>
            <a:r>
              <a:rPr lang="en-US" altLang="zh-CN" dirty="0">
                <a:solidFill>
                  <a:srgbClr val="FF0000"/>
                </a:solidFill>
                <a:latin typeface="Arial" panose="020B0604020202020204" pitchFamily="34" charset="0"/>
              </a:rPr>
              <a:t>R</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(x)</a:t>
            </a:r>
            <a:r>
              <a:rPr lang="en-US" altLang="zh-CN" dirty="0">
                <a:solidFill>
                  <a:srgbClr val="0000CC"/>
                </a:solidFill>
                <a:latin typeface="Arial" panose="020B0604020202020204" pitchFamily="34" charset="0"/>
              </a:rPr>
              <a:t>R</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r>
              <a:rPr lang="en-US" altLang="zh-CN" dirty="0">
                <a:solidFill>
                  <a:srgbClr val="009900"/>
                </a:solidFill>
                <a:latin typeface="Arial" panose="020B0604020202020204" pitchFamily="34" charset="0"/>
              </a:rPr>
              <a:t>W</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0000CC"/>
                </a:solidFill>
                <a:latin typeface="Arial" panose="020B0604020202020204" pitchFamily="34" charset="0"/>
              </a:rPr>
              <a:t>W</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FF0000"/>
                </a:solidFill>
                <a:latin typeface="Arial" panose="020B0604020202020204" pitchFamily="34" charset="0"/>
              </a:rPr>
              <a:t>W</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(y)</a:t>
            </a:r>
            <a:endParaRPr lang="en-US" altLang="zh-CN" dirty="0">
              <a:latin typeface="Arial" panose="020B0604020202020204" pitchFamily="34" charset="0"/>
            </a:endParaRPr>
          </a:p>
          <a:p>
            <a:pPr eaLnBrk="1" hangingPunct="1">
              <a:lnSpc>
                <a:spcPct val="120000"/>
              </a:lnSpc>
              <a:spcBef>
                <a:spcPct val="15000"/>
              </a:spcBef>
              <a:buNone/>
            </a:pPr>
            <a:r>
              <a:rPr lang="en-US" altLang="zh-CN" dirty="0">
                <a:latin typeface="Arial" panose="020B0604020202020204" pitchFamily="34" charset="0"/>
              </a:rPr>
              <a:t>S</a:t>
            </a:r>
            <a:r>
              <a:rPr lang="en-US" altLang="zh-CN" baseline="-25000" dirty="0">
                <a:latin typeface="Arial" panose="020B0604020202020204" pitchFamily="34" charset="0"/>
              </a:rPr>
              <a:t>3</a:t>
            </a:r>
            <a:r>
              <a:rPr lang="zh-CN" altLang="en-US" dirty="0">
                <a:latin typeface="Arial" panose="020B0604020202020204" pitchFamily="34" charset="0"/>
              </a:rPr>
              <a:t>：</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(x)W</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0000CC"/>
                </a:solidFill>
                <a:latin typeface="Arial" panose="020B0604020202020204" pitchFamily="34" charset="0"/>
              </a:rPr>
              <a:t>R</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r>
              <a:rPr lang="en-US" altLang="zh-CN" dirty="0">
                <a:solidFill>
                  <a:srgbClr val="FF0000"/>
                </a:solidFill>
                <a:latin typeface="Arial" panose="020B0604020202020204" pitchFamily="34" charset="0"/>
              </a:rPr>
              <a:t>R</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(x)W</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(y)</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0000CC"/>
                </a:solidFill>
                <a:latin typeface="Arial" panose="020B0604020202020204" pitchFamily="34" charset="0"/>
              </a:rPr>
              <a:t>W</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endParaRPr lang="en-US" altLang="zh-CN" dirty="0">
              <a:solidFill>
                <a:srgbClr val="0000CC"/>
              </a:solidFill>
              <a:latin typeface="Arial" panose="020B0604020202020204" pitchFamily="34" charset="0"/>
            </a:endParaRPr>
          </a:p>
        </p:txBody>
      </p:sp>
      <p:sp>
        <p:nvSpPr>
          <p:cNvPr id="311300" name="Text Box 4"/>
          <p:cNvSpPr txBox="1"/>
          <p:nvPr/>
        </p:nvSpPr>
        <p:spPr>
          <a:xfrm>
            <a:off x="4716463" y="2852738"/>
            <a:ext cx="3925887" cy="641350"/>
          </a:xfrm>
          <a:prstGeom prst="rect">
            <a:avLst/>
          </a:prstGeom>
          <a:noFill/>
          <a:ln w="28575">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dirty="0">
                <a:latin typeface="Arial" panose="020B0604020202020204" pitchFamily="34" charset="0"/>
              </a:rPr>
              <a:t>S</a:t>
            </a:r>
            <a:r>
              <a:rPr lang="en-US" altLang="zh-CN" baseline="-25000" dirty="0">
                <a:latin typeface="Arial" panose="020B0604020202020204" pitchFamily="34" charset="0"/>
              </a:rPr>
              <a:t>1</a:t>
            </a:r>
            <a:r>
              <a:rPr lang="zh-CN" altLang="en-US" dirty="0">
                <a:latin typeface="Arial" panose="020B0604020202020204" pitchFamily="34" charset="0"/>
              </a:rPr>
              <a:t>：是串行调度</a:t>
            </a:r>
            <a:endParaRPr lang="zh-CN" altLang="en-US"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11300"/>
                                        </p:tgtEl>
                                        <p:attrNameLst>
                                          <p:attrName>style.visibility</p:attrName>
                                        </p:attrNameLst>
                                      </p:cBhvr>
                                      <p:to>
                                        <p:strVal val="visible"/>
                                      </p:to>
                                    </p:set>
                                    <p:anim calcmode="lin" valueType="num">
                                      <p:cBhvr additive="base">
                                        <p:cTn id="7" dur="500" fill="hold"/>
                                        <p:tgtEl>
                                          <p:spTgt spid="311300"/>
                                        </p:tgtEl>
                                        <p:attrNameLst>
                                          <p:attrName>ppt_x</p:attrName>
                                        </p:attrNameLst>
                                      </p:cBhvr>
                                      <p:tavLst>
                                        <p:tav tm="0">
                                          <p:val>
                                            <p:strVal val="#ppt_x"/>
                                          </p:val>
                                        </p:tav>
                                        <p:tav tm="100000">
                                          <p:val>
                                            <p:strVal val="#ppt_x"/>
                                          </p:val>
                                        </p:tav>
                                      </p:tavLst>
                                    </p:anim>
                                    <p:anim calcmode="lin" valueType="num">
                                      <p:cBhvr additive="base">
                                        <p:cTn id="8" dur="500" fill="hold"/>
                                        <p:tgtEl>
                                          <p:spTgt spid="3113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0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事务调度</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7891" name="Rectangle 3"/>
          <p:cNvSpPr>
            <a:spLocks noGrp="1"/>
          </p:cNvSpPr>
          <p:nvPr>
            <p:ph type="body" sz="half" idx="1"/>
          </p:nvPr>
        </p:nvSpPr>
        <p:spPr>
          <a:xfrm>
            <a:off x="152400" y="1016000"/>
            <a:ext cx="8991600" cy="828675"/>
          </a:xfrm>
        </p:spPr>
        <p:txBody>
          <a:bodyPr vert="horz" wrap="square" lIns="91440" tIns="45720" rIns="91440" bIns="45720" anchor="t" anchorCtr="0"/>
          <a:p>
            <a:pPr eaLnBrk="1" hangingPunct="1">
              <a:lnSpc>
                <a:spcPct val="120000"/>
              </a:lnSpc>
              <a:buClr>
                <a:srgbClr val="FF0000"/>
              </a:buClr>
              <a:buSzPct val="65000"/>
              <a:buFont typeface="Wingdings" panose="05000000000000000000" pitchFamily="2" charset="2"/>
              <a:buNone/>
            </a:pPr>
            <a:r>
              <a:rPr lang="en-US" altLang="zh-CN" dirty="0">
                <a:latin typeface="Arial" panose="020B0604020202020204" pitchFamily="34" charset="0"/>
              </a:rPr>
              <a:t>S</a:t>
            </a:r>
            <a:r>
              <a:rPr lang="en-US" altLang="zh-CN" baseline="-25000" dirty="0">
                <a:latin typeface="Arial" panose="020B0604020202020204" pitchFamily="34" charset="0"/>
              </a:rPr>
              <a:t>2</a:t>
            </a:r>
            <a:r>
              <a:rPr lang="zh-CN" altLang="en-US" dirty="0">
                <a:latin typeface="Arial" panose="020B0604020202020204" pitchFamily="34" charset="0"/>
              </a:rPr>
              <a:t>：</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(x)</a:t>
            </a:r>
            <a:r>
              <a:rPr lang="en-US" altLang="zh-CN" dirty="0">
                <a:solidFill>
                  <a:srgbClr val="FF0000"/>
                </a:solidFill>
                <a:latin typeface="Arial" panose="020B0604020202020204" pitchFamily="34" charset="0"/>
              </a:rPr>
              <a:t>R</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(x)</a:t>
            </a:r>
            <a:r>
              <a:rPr lang="en-US" altLang="zh-CN" dirty="0">
                <a:solidFill>
                  <a:srgbClr val="0000CC"/>
                </a:solidFill>
                <a:latin typeface="Arial" panose="020B0604020202020204" pitchFamily="34" charset="0"/>
              </a:rPr>
              <a:t>R</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r>
              <a:rPr lang="en-US" altLang="zh-CN" dirty="0">
                <a:solidFill>
                  <a:srgbClr val="009900"/>
                </a:solidFill>
                <a:latin typeface="Arial" panose="020B0604020202020204" pitchFamily="34" charset="0"/>
              </a:rPr>
              <a:t>W</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0000CC"/>
                </a:solidFill>
                <a:latin typeface="Arial" panose="020B0604020202020204" pitchFamily="34" charset="0"/>
              </a:rPr>
              <a:t>W</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FF0000"/>
                </a:solidFill>
                <a:latin typeface="Arial" panose="020B0604020202020204" pitchFamily="34" charset="0"/>
              </a:rPr>
              <a:t>W</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(y)</a:t>
            </a:r>
            <a:endParaRPr lang="en-US" altLang="zh-CN" dirty="0">
              <a:solidFill>
                <a:srgbClr val="FF0000"/>
              </a:solidFill>
              <a:latin typeface="Arial" panose="020B0604020202020204" pitchFamily="34" charset="0"/>
            </a:endParaRPr>
          </a:p>
        </p:txBody>
      </p:sp>
      <p:graphicFrame>
        <p:nvGraphicFramePr>
          <p:cNvPr id="317490" name="Group 50"/>
          <p:cNvGraphicFramePr>
            <a:graphicFrameLocks noGrp="1"/>
          </p:cNvGraphicFramePr>
          <p:nvPr>
            <p:ph sz="half" idx="1"/>
          </p:nvPr>
        </p:nvGraphicFramePr>
        <p:xfrm>
          <a:off x="3348038" y="1989138"/>
          <a:ext cx="5219700" cy="4702175"/>
        </p:xfrm>
        <a:graphic>
          <a:graphicData uri="http://schemas.openxmlformats.org/drawingml/2006/table">
            <a:tbl>
              <a:tblPr/>
              <a:tblGrid>
                <a:gridCol w="1739900"/>
                <a:gridCol w="1739900"/>
                <a:gridCol w="1739900"/>
              </a:tblGrid>
              <a:tr h="647787">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3</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W(y)</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W(x)</a:t>
                      </a:r>
                      <a:endParaRPr kumimoji="0" lang="en-US" altLang="zh-CN" sz="32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R(y)</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W(y)</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bl>
          </a:graphicData>
        </a:graphic>
      </p:graphicFrame>
      <p:sp>
        <p:nvSpPr>
          <p:cNvPr id="317489" name="Rectangle 49"/>
          <p:cNvSpPr/>
          <p:nvPr/>
        </p:nvSpPr>
        <p:spPr>
          <a:xfrm>
            <a:off x="311150" y="2924175"/>
            <a:ext cx="2470150" cy="1190625"/>
          </a:xfrm>
          <a:prstGeom prst="rect">
            <a:avLst/>
          </a:prstGeom>
          <a:noFill/>
          <a:ln w="2857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dirty="0">
                <a:solidFill>
                  <a:srgbClr val="FF0000"/>
                </a:solidFill>
                <a:latin typeface="Arial" panose="020B0604020202020204" pitchFamily="34" charset="0"/>
              </a:rPr>
              <a:t>是冲突</a:t>
            </a:r>
            <a:endParaRPr lang="zh-CN" altLang="en-US" dirty="0">
              <a:solidFill>
                <a:srgbClr val="FF0000"/>
              </a:solidFill>
              <a:latin typeface="Arial" panose="020B0604020202020204" pitchFamily="34" charset="0"/>
            </a:endParaRPr>
          </a:p>
          <a:p>
            <a:pPr marL="0" lvl="0" indent="0" algn="ctr" eaLnBrk="1" hangingPunct="1">
              <a:buClrTx/>
              <a:buSzTx/>
              <a:buFontTx/>
              <a:buNone/>
            </a:pPr>
            <a:r>
              <a:rPr lang="zh-CN" altLang="en-US" dirty="0">
                <a:solidFill>
                  <a:srgbClr val="FF0000"/>
                </a:solidFill>
                <a:latin typeface="Arial" panose="020B0604020202020204" pitchFamily="34" charset="0"/>
              </a:rPr>
              <a:t>可串行化的</a:t>
            </a:r>
            <a:endParaRPr lang="zh-CN" altLang="en-US" dirty="0">
              <a:solidFill>
                <a:srgbClr val="FF00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3" name="Rectangle 3"/>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事务调度</a:t>
            </a:r>
            <a:r>
              <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aphicFrame>
        <p:nvGraphicFramePr>
          <p:cNvPr id="92238" name="Group 78"/>
          <p:cNvGraphicFramePr>
            <a:graphicFrameLocks noGrp="1"/>
          </p:cNvGraphicFramePr>
          <p:nvPr>
            <p:ph sz="half" idx="1"/>
          </p:nvPr>
        </p:nvGraphicFramePr>
        <p:xfrm>
          <a:off x="3348038" y="1974850"/>
          <a:ext cx="5219700" cy="4716463"/>
        </p:xfrm>
        <a:graphic>
          <a:graphicData uri="http://schemas.openxmlformats.org/drawingml/2006/table">
            <a:tbl>
              <a:tblPr/>
              <a:tblGrid>
                <a:gridCol w="1739900"/>
                <a:gridCol w="1739900"/>
                <a:gridCol w="1739900"/>
              </a:tblGrid>
              <a:tr h="662077">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3</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W(y)</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R(x)</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W(y)</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sm" len="sm"/>
                      <a:tailEnd type="none" w="sm" len="sm"/>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R(y)</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solidFill>
                      <a:srgbClr val="FFFFFF"/>
                    </a:solidFill>
                  </a:tcPr>
                </a:tc>
              </a:tr>
              <a:tr h="57919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sm" len="sm"/>
                      <a:tailEnd type="none" w="sm" len="sm"/>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rPr>
                        <a:t>W(x)</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cs typeface="Times New Roman" panose="02020603050405020304" pitchFamily="18" charset="0"/>
                      </a:endParaRPr>
                    </a:p>
                  </a:txBody>
                  <a:tcPr marT="45726" marB="45726" horzOverflow="overflow">
                    <a:lnL w="28575" cap="flat" cmpd="sng" algn="ctr">
                      <a:solidFill>
                        <a:srgbClr val="0000CC"/>
                      </a:solidFill>
                      <a:prstDash val="solid"/>
                      <a:round/>
                      <a:headEnd type="none" w="sm" len="sm"/>
                      <a:tailEnd type="none" w="sm" len="sm"/>
                    </a:lnL>
                    <a:lnR w="28575" cap="flat" cmpd="sng" algn="ctr">
                      <a:solidFill>
                        <a:srgbClr val="0000CC"/>
                      </a:solidFill>
                      <a:prstDash val="solid"/>
                      <a:round/>
                      <a:headEnd type="none" w="sm" len="sm"/>
                      <a:tailEnd type="none" w="sm" len="sm"/>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sm" len="sm"/>
                      <a:tailEnd type="none" w="sm" len="sm"/>
                    </a:lnB>
                    <a:lnTlToBr>
                      <a:noFill/>
                    </a:lnTlToBr>
                    <a:lnBlToTr>
                      <a:noFill/>
                    </a:lnBlToTr>
                    <a:solidFill>
                      <a:srgbClr val="FFFFFF"/>
                    </a:solidFill>
                  </a:tcPr>
                </a:tc>
              </a:tr>
            </a:tbl>
          </a:graphicData>
        </a:graphic>
      </p:graphicFrame>
      <p:sp>
        <p:nvSpPr>
          <p:cNvPr id="38953" name="Rectangle 11"/>
          <p:cNvSpPr>
            <a:spLocks noGrp="1"/>
          </p:cNvSpPr>
          <p:nvPr>
            <p:ph type="body" sz="half" idx="1"/>
          </p:nvPr>
        </p:nvSpPr>
        <p:spPr>
          <a:xfrm>
            <a:off x="152400" y="1016000"/>
            <a:ext cx="8991600" cy="828675"/>
          </a:xfrm>
        </p:spPr>
        <p:txBody>
          <a:bodyPr vert="horz" wrap="square" lIns="91440" tIns="45720" rIns="91440" bIns="45720" anchor="t" anchorCtr="0"/>
          <a:p>
            <a:pPr eaLnBrk="1" hangingPunct="1">
              <a:lnSpc>
                <a:spcPct val="120000"/>
              </a:lnSpc>
              <a:buClr>
                <a:srgbClr val="FF0000"/>
              </a:buClr>
              <a:buSzPct val="65000"/>
              <a:buFont typeface="Wingdings" panose="05000000000000000000" pitchFamily="2" charset="2"/>
              <a:buNone/>
            </a:pPr>
            <a:r>
              <a:rPr lang="en-US" altLang="zh-CN" dirty="0">
                <a:latin typeface="Arial" panose="020B0604020202020204" pitchFamily="34" charset="0"/>
              </a:rPr>
              <a:t>S</a:t>
            </a:r>
            <a:r>
              <a:rPr lang="en-US" altLang="zh-CN" baseline="-25000" dirty="0">
                <a:latin typeface="Arial" panose="020B0604020202020204" pitchFamily="34" charset="0"/>
              </a:rPr>
              <a:t>3</a:t>
            </a:r>
            <a:r>
              <a:rPr lang="zh-CN" altLang="en-US" dirty="0">
                <a:latin typeface="Arial" panose="020B0604020202020204" pitchFamily="34" charset="0"/>
              </a:rPr>
              <a:t>：</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(x)W</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0000CC"/>
                </a:solidFill>
                <a:latin typeface="Arial" panose="020B0604020202020204" pitchFamily="34" charset="0"/>
              </a:rPr>
              <a:t>R</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r>
              <a:rPr lang="en-US" altLang="zh-CN" dirty="0">
                <a:solidFill>
                  <a:srgbClr val="FF0000"/>
                </a:solidFill>
                <a:latin typeface="Arial" panose="020B0604020202020204" pitchFamily="34" charset="0"/>
              </a:rPr>
              <a:t>R</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(x)W</a:t>
            </a:r>
            <a:r>
              <a:rPr lang="en-US" altLang="zh-CN" baseline="-25000" dirty="0">
                <a:solidFill>
                  <a:srgbClr val="FF0000"/>
                </a:solidFill>
                <a:latin typeface="Arial" panose="020B0604020202020204" pitchFamily="34" charset="0"/>
              </a:rPr>
              <a:t>2</a:t>
            </a:r>
            <a:r>
              <a:rPr lang="en-US" altLang="zh-CN" dirty="0">
                <a:solidFill>
                  <a:srgbClr val="FF0000"/>
                </a:solidFill>
                <a:latin typeface="Arial" panose="020B0604020202020204" pitchFamily="34" charset="0"/>
              </a:rPr>
              <a:t>(y)</a:t>
            </a:r>
            <a:r>
              <a:rPr lang="en-US" altLang="zh-CN" dirty="0">
                <a:solidFill>
                  <a:srgbClr val="009900"/>
                </a:solidFill>
                <a:latin typeface="Arial" panose="020B0604020202020204" pitchFamily="34" charset="0"/>
              </a:rPr>
              <a:t>R</a:t>
            </a:r>
            <a:r>
              <a:rPr lang="en-US" altLang="zh-CN" baseline="-25000" dirty="0">
                <a:solidFill>
                  <a:srgbClr val="009900"/>
                </a:solidFill>
                <a:latin typeface="Arial" panose="020B0604020202020204" pitchFamily="34" charset="0"/>
              </a:rPr>
              <a:t>1</a:t>
            </a:r>
            <a:r>
              <a:rPr lang="en-US" altLang="zh-CN" dirty="0">
                <a:solidFill>
                  <a:srgbClr val="009900"/>
                </a:solidFill>
                <a:latin typeface="Arial" panose="020B0604020202020204" pitchFamily="34" charset="0"/>
              </a:rPr>
              <a:t>(y)</a:t>
            </a:r>
            <a:r>
              <a:rPr lang="en-US" altLang="zh-CN" dirty="0">
                <a:solidFill>
                  <a:srgbClr val="0000CC"/>
                </a:solidFill>
                <a:latin typeface="Arial" panose="020B0604020202020204" pitchFamily="34" charset="0"/>
              </a:rPr>
              <a:t>W</a:t>
            </a:r>
            <a:r>
              <a:rPr lang="en-US" altLang="zh-CN" baseline="-25000" dirty="0">
                <a:solidFill>
                  <a:srgbClr val="0000CC"/>
                </a:solidFill>
                <a:latin typeface="Arial" panose="020B0604020202020204" pitchFamily="34" charset="0"/>
              </a:rPr>
              <a:t>3</a:t>
            </a:r>
            <a:r>
              <a:rPr lang="en-US" altLang="zh-CN" dirty="0">
                <a:solidFill>
                  <a:srgbClr val="0000CC"/>
                </a:solidFill>
                <a:latin typeface="Arial" panose="020B0604020202020204" pitchFamily="34" charset="0"/>
              </a:rPr>
              <a:t>(x)</a:t>
            </a:r>
            <a:endParaRPr lang="en-US" altLang="zh-CN" dirty="0">
              <a:solidFill>
                <a:srgbClr val="0000CC"/>
              </a:solidFill>
              <a:latin typeface="Arial" panose="020B0604020202020204" pitchFamily="34" charset="0"/>
            </a:endParaRPr>
          </a:p>
        </p:txBody>
      </p:sp>
      <p:sp>
        <p:nvSpPr>
          <p:cNvPr id="92229" name="Rectangle 69"/>
          <p:cNvSpPr/>
          <p:nvPr/>
        </p:nvSpPr>
        <p:spPr>
          <a:xfrm>
            <a:off x="382588" y="3068638"/>
            <a:ext cx="2470150" cy="1190625"/>
          </a:xfrm>
          <a:prstGeom prst="rect">
            <a:avLst/>
          </a:prstGeom>
          <a:noFill/>
          <a:ln w="2857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dirty="0">
                <a:solidFill>
                  <a:srgbClr val="FF0000"/>
                </a:solidFill>
                <a:latin typeface="Arial" panose="020B0604020202020204" pitchFamily="34" charset="0"/>
              </a:rPr>
              <a:t>不是冲突</a:t>
            </a:r>
            <a:endParaRPr lang="zh-CN" altLang="en-US" dirty="0">
              <a:solidFill>
                <a:srgbClr val="FF0000"/>
              </a:solidFill>
              <a:latin typeface="Arial" panose="020B0604020202020204" pitchFamily="34" charset="0"/>
            </a:endParaRPr>
          </a:p>
          <a:p>
            <a:pPr marL="0" lvl="0" indent="0" algn="ctr" eaLnBrk="1" hangingPunct="1">
              <a:buClrTx/>
              <a:buSzTx/>
              <a:buFontTx/>
              <a:buNone/>
            </a:pPr>
            <a:r>
              <a:rPr lang="zh-CN" altLang="en-US" dirty="0">
                <a:solidFill>
                  <a:srgbClr val="FF0000"/>
                </a:solidFill>
                <a:latin typeface="Arial" panose="020B0604020202020204" pitchFamily="34" charset="0"/>
              </a:rPr>
              <a:t>可串行化的</a:t>
            </a:r>
            <a:endParaRPr lang="zh-CN" altLang="en-US" dirty="0">
              <a:solidFill>
                <a:srgbClr val="FF00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9939" name="Rectangle 3"/>
          <p:cNvSpPr>
            <a:spLocks noGrp="1"/>
          </p:cNvSpPr>
          <p:nvPr>
            <p:ph idx="1"/>
          </p:nvPr>
        </p:nvSpPr>
        <p:spPr>
          <a:xfrm>
            <a:off x="1231900" y="981075"/>
            <a:ext cx="7372350" cy="5434013"/>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8.1 </a:t>
            </a:r>
            <a:r>
              <a:rPr lang="zh-CN" altLang="en-US" dirty="0">
                <a:latin typeface="Arial" panose="020B0604020202020204" pitchFamily="34" charset="0"/>
              </a:rPr>
              <a:t>事务的基本概念</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8.2 </a:t>
            </a:r>
            <a:r>
              <a:rPr lang="zh-CN" altLang="en-US" dirty="0">
                <a:latin typeface="Arial" panose="020B0604020202020204" pitchFamily="34" charset="0"/>
              </a:rPr>
              <a:t>事务的并发执行与调度</a:t>
            </a:r>
            <a:endParaRPr lang="zh-CN" altLang="en-US" dirty="0">
              <a:latin typeface="宋体" panose="02010600030101010101" pitchFamily="2" charset="-122"/>
            </a:endParaRPr>
          </a:p>
          <a:p>
            <a:pPr eaLnBrk="1" hangingPunct="1">
              <a:lnSpc>
                <a:spcPct val="140000"/>
              </a:lnSpc>
              <a:buNone/>
            </a:pPr>
            <a:r>
              <a:rPr lang="en-US" altLang="zh-CN" dirty="0">
                <a:solidFill>
                  <a:srgbClr val="0000CC"/>
                </a:solidFill>
                <a:latin typeface="Arial" panose="020B0604020202020204" pitchFamily="34" charset="0"/>
              </a:rPr>
              <a:t>8.3 </a:t>
            </a:r>
            <a:r>
              <a:rPr lang="zh-CN" altLang="en-US" dirty="0">
                <a:solidFill>
                  <a:srgbClr val="0000CC"/>
                </a:solidFill>
                <a:latin typeface="Arial" panose="020B0604020202020204" pitchFamily="34" charset="0"/>
              </a:rPr>
              <a:t>基于锁的并发控制</a:t>
            </a:r>
            <a:endParaRPr lang="zh-CN" altLang="en-US" dirty="0">
              <a:solidFill>
                <a:srgbClr val="0000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8.4 </a:t>
            </a:r>
            <a:r>
              <a:rPr lang="zh-CN" altLang="en-US" dirty="0"/>
              <a:t>数据库恢复</a:t>
            </a:r>
            <a:endParaRPr lang="zh-CN" altLang="en-US" dirty="0"/>
          </a:p>
        </p:txBody>
      </p:sp>
    </p:spTree>
  </p:cSld>
  <p:clrMapOvr>
    <a:masterClrMapping/>
  </p:clrMapOvr>
  <p:transition>
    <p:random/>
    <p:sndAc>
      <p:stSnd>
        <p:snd r:embed="rId1"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idx="1"/>
          </p:nvPr>
        </p:nvSpPr>
        <p:spPr>
          <a:xfrm>
            <a:off x="225425" y="1052513"/>
            <a:ext cx="8667750" cy="5273675"/>
          </a:xfrm>
        </p:spPr>
        <p:txBody>
          <a:bodyPr vert="horz" wrap="square" lIns="91440" tIns="45720" rIns="91440" bIns="45720" anchor="t" anchorCtr="0"/>
          <a:p>
            <a:pPr marL="0" indent="0" eaLnBrk="1" hangingPunct="1">
              <a:buNone/>
            </a:pP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、封锁概念</a:t>
            </a:r>
            <a:endParaRPr lang="zh-CN" altLang="en-US" dirty="0">
              <a:latin typeface="Arial" panose="020B0604020202020204" pitchFamily="34" charset="0"/>
            </a:endParaRPr>
          </a:p>
          <a:p>
            <a:pPr marL="803275" lvl="1" indent="-261620" eaLnBrk="1" hangingPunct="1"/>
            <a:r>
              <a:rPr lang="zh-CN" altLang="en-US" dirty="0">
                <a:latin typeface="Arial" panose="020B0604020202020204" pitchFamily="34" charset="0"/>
              </a:rPr>
              <a:t>事务 </a:t>
            </a:r>
            <a:r>
              <a:rPr lang="en-US" altLang="zh-CN" dirty="0">
                <a:latin typeface="Arial" panose="020B0604020202020204" pitchFamily="34" charset="0"/>
              </a:rPr>
              <a:t>T </a:t>
            </a:r>
            <a:r>
              <a:rPr lang="zh-CN" altLang="en-US" dirty="0">
                <a:latin typeface="Arial" panose="020B0604020202020204" pitchFamily="34" charset="0"/>
              </a:rPr>
              <a:t>要对某数据对象操作之前，先向系统发出请求，对其加锁</a:t>
            </a:r>
            <a:endParaRPr lang="zh-CN" altLang="en-US" dirty="0">
              <a:latin typeface="Arial" panose="020B0604020202020204" pitchFamily="34" charset="0"/>
            </a:endParaRPr>
          </a:p>
          <a:p>
            <a:pPr marL="803275" lvl="1" indent="-261620" eaLnBrk="1" hangingPunct="1"/>
            <a:r>
              <a:rPr lang="zh-CN" altLang="en-US" dirty="0">
                <a:latin typeface="Arial" panose="020B0604020202020204" pitchFamily="34" charset="0"/>
              </a:rPr>
              <a:t>加锁后事务 </a:t>
            </a:r>
            <a:r>
              <a:rPr lang="en-US" altLang="zh-CN" dirty="0">
                <a:latin typeface="Arial" panose="020B0604020202020204" pitchFamily="34" charset="0"/>
              </a:rPr>
              <a:t>T </a:t>
            </a:r>
            <a:r>
              <a:rPr lang="zh-CN" altLang="en-US" dirty="0">
                <a:latin typeface="Arial" panose="020B0604020202020204" pitchFamily="34" charset="0"/>
              </a:rPr>
              <a:t>就对该数据对象有了一定的控制</a:t>
            </a:r>
            <a:endParaRPr lang="zh-CN" altLang="en-US" dirty="0">
              <a:latin typeface="Arial" panose="020B0604020202020204" pitchFamily="34" charset="0"/>
            </a:endParaRPr>
          </a:p>
          <a:p>
            <a:pPr marL="803275" lvl="1" indent="-261620" eaLnBrk="1" hangingPunct="1"/>
            <a:r>
              <a:rPr lang="zh-CN" altLang="en-US" dirty="0">
                <a:latin typeface="Arial" panose="020B0604020202020204" pitchFamily="34" charset="0"/>
              </a:rPr>
              <a:t>在事务 </a:t>
            </a:r>
            <a:r>
              <a:rPr lang="en-US" altLang="zh-CN" dirty="0">
                <a:latin typeface="Arial" panose="020B0604020202020204" pitchFamily="34" charset="0"/>
              </a:rPr>
              <a:t>T </a:t>
            </a:r>
            <a:r>
              <a:rPr lang="zh-CN" altLang="en-US" dirty="0">
                <a:latin typeface="Arial" panose="020B0604020202020204" pitchFamily="34" charset="0"/>
              </a:rPr>
              <a:t>释放它的锁之前，其它的事务不能更新此数据对象</a:t>
            </a:r>
            <a:endParaRPr lang="zh-CN" altLang="en-US" dirty="0">
              <a:latin typeface="Arial" panose="020B0604020202020204" pitchFamily="34" charset="0"/>
            </a:endParaRPr>
          </a:p>
          <a:p>
            <a:pPr marL="0" indent="0" eaLnBrk="1" hangingPunct="1">
              <a:buNone/>
            </a:pPr>
            <a:endParaRPr lang="zh-CN" altLang="en-US" dirty="0">
              <a:latin typeface="Arial" panose="020B0604020202020204" pitchFamily="34" charset="0"/>
            </a:endParaRPr>
          </a:p>
          <a:p>
            <a:pPr marL="0" indent="0" eaLnBrk="1" hangingPunct="1">
              <a:buNone/>
            </a:pPr>
            <a:r>
              <a:rPr lang="zh-CN" altLang="en-US" dirty="0">
                <a:latin typeface="Arial" panose="020B0604020202020204" pitchFamily="34" charset="0"/>
              </a:rPr>
              <a:t>    </a:t>
            </a:r>
            <a:r>
              <a:rPr lang="zh-CN" altLang="en-US" dirty="0">
                <a:solidFill>
                  <a:srgbClr val="0000CC"/>
                </a:solidFill>
                <a:latin typeface="Arial" panose="020B0604020202020204" pitchFamily="34" charset="0"/>
              </a:rPr>
              <a:t>封锁是实现并发控制的一个重要的技术</a:t>
            </a:r>
            <a:endParaRPr lang="zh-CN" altLang="en-US" dirty="0">
              <a:solidFill>
                <a:srgbClr val="0000CC"/>
              </a:solidFill>
              <a:latin typeface="Arial" panose="020B0604020202020204" pitchFamily="34" charset="0"/>
            </a:endParaRPr>
          </a:p>
        </p:txBody>
      </p:sp>
      <p:sp>
        <p:nvSpPr>
          <p:cNvPr id="1741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2"/>
          <p:cNvSpPr>
            <a:spLocks noGrp="1"/>
          </p:cNvSpPr>
          <p:nvPr>
            <p:ph idx="1"/>
          </p:nvPr>
        </p:nvSpPr>
        <p:spPr>
          <a:xfrm>
            <a:off x="107950" y="981075"/>
            <a:ext cx="8856663" cy="5545138"/>
          </a:xfrm>
        </p:spPr>
        <p:txBody>
          <a:bodyPr vert="horz" wrap="square" lIns="91440" tIns="45720" rIns="91440" bIns="45720" anchor="t" anchorCtr="0"/>
          <a:p>
            <a:pPr marL="544830" indent="-544830" eaLnBrk="1" hangingPunct="1">
              <a:buNone/>
            </a:pP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、基本封锁类型</a:t>
            </a:r>
            <a:r>
              <a:rPr lang="zh-CN" altLang="en-US" dirty="0">
                <a:latin typeface="Arial" panose="020B0604020202020204" pitchFamily="34" charset="0"/>
              </a:rPr>
              <a:t>    </a:t>
            </a:r>
            <a:endParaRPr lang="zh-CN" altLang="en-US" dirty="0">
              <a:latin typeface="Arial" panose="020B0604020202020204" pitchFamily="34" charset="0"/>
            </a:endParaRPr>
          </a:p>
          <a:p>
            <a:pPr marL="544830" indent="-544830" eaLnBrk="1" hangingPunct="1">
              <a:buNone/>
            </a:pPr>
            <a:r>
              <a:rPr lang="en-US" altLang="zh-CN" dirty="0">
                <a:latin typeface="Arial" panose="020B0604020202020204" pitchFamily="34" charset="0"/>
              </a:rPr>
              <a:t>(1)</a:t>
            </a:r>
            <a:r>
              <a:rPr lang="zh-CN" altLang="en-US" dirty="0">
                <a:latin typeface="Arial" panose="020B0604020202020204" pitchFamily="34" charset="0"/>
              </a:rPr>
              <a:t>排它锁</a:t>
            </a:r>
            <a:r>
              <a:rPr lang="en-US" altLang="zh-CN" dirty="0">
                <a:latin typeface="Arial" panose="020B0604020202020204" pitchFamily="34" charset="0"/>
              </a:rPr>
              <a:t>(e</a:t>
            </a:r>
            <a:r>
              <a:rPr lang="en-US" altLang="zh-CN" dirty="0">
                <a:solidFill>
                  <a:srgbClr val="FF0000"/>
                </a:solidFill>
                <a:latin typeface="Arial" panose="020B0604020202020204" pitchFamily="34" charset="0"/>
              </a:rPr>
              <a:t>X</a:t>
            </a:r>
            <a:r>
              <a:rPr lang="en-US" altLang="zh-CN" dirty="0">
                <a:latin typeface="Arial" panose="020B0604020202020204" pitchFamily="34" charset="0"/>
              </a:rPr>
              <a:t>clusive lock),</a:t>
            </a:r>
            <a:r>
              <a:rPr lang="zh-CN" altLang="en-US" dirty="0">
                <a:latin typeface="Arial" panose="020B0604020202020204" pitchFamily="34" charset="0"/>
              </a:rPr>
              <a:t>又称</a:t>
            </a:r>
            <a:r>
              <a:rPr lang="en-US" altLang="zh-CN" dirty="0">
                <a:latin typeface="Arial" panose="020B0604020202020204" pitchFamily="34" charset="0"/>
              </a:rPr>
              <a:t>X</a:t>
            </a:r>
            <a:r>
              <a:rPr lang="zh-CN" altLang="en-US" dirty="0">
                <a:latin typeface="Arial" panose="020B0604020202020204" pitchFamily="34" charset="0"/>
              </a:rPr>
              <a:t>锁或写锁     </a:t>
            </a:r>
            <a:endParaRPr lang="zh-CN" altLang="en-US" dirty="0">
              <a:latin typeface="Arial" panose="020B0604020202020204" pitchFamily="34" charset="0"/>
            </a:endParaRPr>
          </a:p>
          <a:p>
            <a:pPr marL="544830" indent="-544830" eaLnBrk="1" hangingPunct="1">
              <a:spcBef>
                <a:spcPct val="20000"/>
              </a:spcBef>
              <a:buNone/>
            </a:pPr>
            <a:r>
              <a:rPr lang="zh-CN" altLang="en-US" dirty="0">
                <a:latin typeface="Arial" panose="020B0604020202020204" pitchFamily="34" charset="0"/>
              </a:rPr>
              <a:t>          若事务 </a:t>
            </a:r>
            <a:r>
              <a:rPr lang="en-US" altLang="zh-CN" dirty="0">
                <a:latin typeface="Arial" panose="020B0604020202020204" pitchFamily="34" charset="0"/>
              </a:rPr>
              <a:t>T </a:t>
            </a:r>
            <a:r>
              <a:rPr lang="zh-CN" altLang="en-US" dirty="0">
                <a:latin typeface="Arial" panose="020B0604020202020204" pitchFamily="34" charset="0"/>
              </a:rPr>
              <a:t>对数据 </a:t>
            </a:r>
            <a:r>
              <a:rPr lang="en-US" altLang="zh-CN" dirty="0">
                <a:solidFill>
                  <a:srgbClr val="FF0000"/>
                </a:solidFill>
                <a:latin typeface="Arial" panose="020B0604020202020204" pitchFamily="34" charset="0"/>
              </a:rPr>
              <a:t>A</a:t>
            </a:r>
            <a:r>
              <a:rPr lang="en-US" altLang="zh-CN" dirty="0">
                <a:latin typeface="Arial" panose="020B0604020202020204" pitchFamily="34" charset="0"/>
              </a:rPr>
              <a:t> </a:t>
            </a:r>
            <a:r>
              <a:rPr lang="zh-CN" altLang="en-US" dirty="0">
                <a:solidFill>
                  <a:srgbClr val="FF0000"/>
                </a:solidFill>
                <a:latin typeface="Arial" panose="020B0604020202020204" pitchFamily="34" charset="0"/>
              </a:rPr>
              <a:t>加 </a:t>
            </a:r>
            <a:r>
              <a:rPr lang="en-US" altLang="zh-CN" dirty="0">
                <a:solidFill>
                  <a:srgbClr val="FF0000"/>
                </a:solidFill>
                <a:latin typeface="Arial" panose="020B0604020202020204" pitchFamily="34" charset="0"/>
              </a:rPr>
              <a:t>X </a:t>
            </a:r>
            <a:r>
              <a:rPr lang="zh-CN" altLang="en-US" dirty="0">
                <a:solidFill>
                  <a:srgbClr val="FF0000"/>
                </a:solidFill>
                <a:latin typeface="Arial" panose="020B0604020202020204" pitchFamily="34" charset="0"/>
              </a:rPr>
              <a:t>锁</a:t>
            </a:r>
            <a:r>
              <a:rPr lang="zh-CN" altLang="en-US" dirty="0">
                <a:latin typeface="Arial" panose="020B0604020202020204" pitchFamily="34" charset="0"/>
              </a:rPr>
              <a:t>，则允许 </a:t>
            </a:r>
            <a:r>
              <a:rPr lang="en-US" altLang="zh-CN" dirty="0">
                <a:solidFill>
                  <a:srgbClr val="FF0000"/>
                </a:solidFill>
                <a:latin typeface="Arial" panose="020B0604020202020204" pitchFamily="34" charset="0"/>
              </a:rPr>
              <a:t>T </a:t>
            </a:r>
            <a:r>
              <a:rPr lang="zh-CN" altLang="en-US" dirty="0">
                <a:solidFill>
                  <a:srgbClr val="FF0000"/>
                </a:solidFill>
                <a:latin typeface="Arial" panose="020B0604020202020204" pitchFamily="34" charset="0"/>
              </a:rPr>
              <a:t>读写 </a:t>
            </a:r>
            <a:r>
              <a:rPr lang="en-US" altLang="zh-CN" dirty="0">
                <a:solidFill>
                  <a:srgbClr val="FF0000"/>
                </a:solidFill>
                <a:latin typeface="Arial" panose="020B0604020202020204" pitchFamily="34" charset="0"/>
              </a:rPr>
              <a:t>A</a:t>
            </a:r>
            <a:r>
              <a:rPr lang="zh-CN" altLang="en-US" dirty="0">
                <a:latin typeface="Arial" panose="020B0604020202020204" pitchFamily="34" charset="0"/>
              </a:rPr>
              <a:t>，其它事务不能再对 </a:t>
            </a:r>
            <a:r>
              <a:rPr lang="en-US" altLang="zh-CN" dirty="0">
                <a:latin typeface="Arial" panose="020B0604020202020204" pitchFamily="34" charset="0"/>
              </a:rPr>
              <a:t>A </a:t>
            </a:r>
            <a:r>
              <a:rPr lang="zh-CN" altLang="en-US" dirty="0">
                <a:latin typeface="Arial" panose="020B0604020202020204" pitchFamily="34" charset="0"/>
              </a:rPr>
              <a:t>加任何锁，直到 </a:t>
            </a:r>
            <a:r>
              <a:rPr lang="en-US" altLang="zh-CN" dirty="0">
                <a:latin typeface="Arial" panose="020B0604020202020204" pitchFamily="34" charset="0"/>
              </a:rPr>
              <a:t>T </a:t>
            </a:r>
            <a:r>
              <a:rPr lang="zh-CN" altLang="en-US" dirty="0">
                <a:latin typeface="Arial" panose="020B0604020202020204" pitchFamily="34" charset="0"/>
              </a:rPr>
              <a:t>释放 </a:t>
            </a:r>
            <a:r>
              <a:rPr lang="en-US" altLang="zh-CN" dirty="0">
                <a:latin typeface="Arial" panose="020B0604020202020204" pitchFamily="34" charset="0"/>
              </a:rPr>
              <a:t>A </a:t>
            </a:r>
            <a:r>
              <a:rPr lang="zh-CN" altLang="en-US" dirty="0">
                <a:latin typeface="Arial" panose="020B0604020202020204" pitchFamily="34" charset="0"/>
              </a:rPr>
              <a:t>上的锁。</a:t>
            </a:r>
            <a:endParaRPr lang="zh-CN" altLang="en-US" dirty="0">
              <a:latin typeface="Arial" panose="020B0604020202020204" pitchFamily="34" charset="0"/>
            </a:endParaRPr>
          </a:p>
          <a:p>
            <a:pPr marL="544830" indent="-544830" eaLnBrk="1" hangingPunct="1">
              <a:spcBef>
                <a:spcPct val="50000"/>
              </a:spcBef>
              <a:buNone/>
            </a:pPr>
            <a:r>
              <a:rPr lang="en-US" altLang="zh-CN" dirty="0">
                <a:latin typeface="Arial" panose="020B0604020202020204" pitchFamily="34" charset="0"/>
              </a:rPr>
              <a:t>(2)</a:t>
            </a:r>
            <a:r>
              <a:rPr lang="zh-CN" altLang="en-US" dirty="0">
                <a:latin typeface="Arial" panose="020B0604020202020204" pitchFamily="34" charset="0"/>
              </a:rPr>
              <a:t>共享锁</a:t>
            </a:r>
            <a:r>
              <a:rPr lang="en-US" altLang="zh-CN" dirty="0">
                <a:latin typeface="Arial" panose="020B0604020202020204" pitchFamily="34" charset="0"/>
              </a:rPr>
              <a:t>(</a:t>
            </a:r>
            <a:r>
              <a:rPr lang="en-US" altLang="zh-CN" dirty="0">
                <a:solidFill>
                  <a:srgbClr val="FF0000"/>
                </a:solidFill>
                <a:latin typeface="Arial" panose="020B0604020202020204" pitchFamily="34" charset="0"/>
              </a:rPr>
              <a:t>S</a:t>
            </a:r>
            <a:r>
              <a:rPr lang="en-US" altLang="zh-CN" dirty="0">
                <a:latin typeface="Arial" panose="020B0604020202020204" pitchFamily="34" charset="0"/>
              </a:rPr>
              <a:t>hared lock),</a:t>
            </a:r>
            <a:r>
              <a:rPr lang="zh-CN" altLang="en-US" dirty="0">
                <a:latin typeface="Arial" panose="020B0604020202020204" pitchFamily="34" charset="0"/>
              </a:rPr>
              <a:t>又称</a:t>
            </a:r>
            <a:r>
              <a:rPr lang="en-US" altLang="zh-CN" dirty="0">
                <a:latin typeface="Arial" panose="020B0604020202020204" pitchFamily="34" charset="0"/>
              </a:rPr>
              <a:t>S</a:t>
            </a:r>
            <a:r>
              <a:rPr lang="zh-CN" altLang="en-US" dirty="0">
                <a:latin typeface="Arial" panose="020B0604020202020204" pitchFamily="34" charset="0"/>
              </a:rPr>
              <a:t>锁或读锁</a:t>
            </a:r>
            <a:endParaRPr lang="zh-CN" altLang="en-US" dirty="0">
              <a:latin typeface="Arial" panose="020B0604020202020204" pitchFamily="34" charset="0"/>
            </a:endParaRPr>
          </a:p>
          <a:p>
            <a:pPr marL="544830" indent="-544830" eaLnBrk="1" hangingPunct="1">
              <a:spcBef>
                <a:spcPct val="20000"/>
              </a:spcBef>
              <a:buNone/>
            </a:pPr>
            <a:r>
              <a:rPr lang="zh-CN" altLang="en-US" dirty="0">
                <a:latin typeface="Arial" panose="020B0604020202020204" pitchFamily="34" charset="0"/>
              </a:rPr>
              <a:t>          若事务 </a:t>
            </a:r>
            <a:r>
              <a:rPr lang="en-US" altLang="zh-CN" dirty="0">
                <a:latin typeface="Arial" panose="020B0604020202020204" pitchFamily="34" charset="0"/>
              </a:rPr>
              <a:t>T </a:t>
            </a:r>
            <a:r>
              <a:rPr lang="zh-CN" altLang="en-US" dirty="0">
                <a:latin typeface="Arial" panose="020B0604020202020204" pitchFamily="34" charset="0"/>
              </a:rPr>
              <a:t>对数据 </a:t>
            </a:r>
            <a:r>
              <a:rPr lang="en-US" altLang="zh-CN" dirty="0">
                <a:solidFill>
                  <a:srgbClr val="FF0000"/>
                </a:solidFill>
                <a:latin typeface="Arial" panose="020B0604020202020204" pitchFamily="34" charset="0"/>
              </a:rPr>
              <a:t>A </a:t>
            </a:r>
            <a:r>
              <a:rPr lang="zh-CN" altLang="en-US" dirty="0">
                <a:solidFill>
                  <a:srgbClr val="FF0000"/>
                </a:solidFill>
                <a:latin typeface="Arial" panose="020B0604020202020204" pitchFamily="34" charset="0"/>
              </a:rPr>
              <a:t>加 </a:t>
            </a:r>
            <a:r>
              <a:rPr lang="en-US" altLang="zh-CN" dirty="0">
                <a:solidFill>
                  <a:srgbClr val="FF0000"/>
                </a:solidFill>
                <a:latin typeface="Arial" panose="020B0604020202020204" pitchFamily="34" charset="0"/>
              </a:rPr>
              <a:t>S </a:t>
            </a:r>
            <a:r>
              <a:rPr lang="zh-CN" altLang="en-US" dirty="0">
                <a:solidFill>
                  <a:srgbClr val="FF0000"/>
                </a:solidFill>
                <a:latin typeface="Arial" panose="020B0604020202020204" pitchFamily="34" charset="0"/>
              </a:rPr>
              <a:t>锁</a:t>
            </a:r>
            <a:r>
              <a:rPr lang="zh-CN" altLang="en-US" dirty="0">
                <a:latin typeface="Arial" panose="020B0604020202020204" pitchFamily="34" charset="0"/>
              </a:rPr>
              <a:t>，则 </a:t>
            </a:r>
            <a:r>
              <a:rPr lang="en-US" altLang="zh-CN" dirty="0">
                <a:solidFill>
                  <a:srgbClr val="FF0000"/>
                </a:solidFill>
                <a:latin typeface="Arial" panose="020B0604020202020204" pitchFamily="34" charset="0"/>
              </a:rPr>
              <a:t>T </a:t>
            </a:r>
            <a:r>
              <a:rPr lang="zh-CN" altLang="en-US" dirty="0">
                <a:solidFill>
                  <a:srgbClr val="FF0000"/>
                </a:solidFill>
                <a:latin typeface="Arial" panose="020B0604020202020204" pitchFamily="34" charset="0"/>
              </a:rPr>
              <a:t>可以读 </a:t>
            </a:r>
            <a:r>
              <a:rPr lang="en-US" altLang="zh-CN" dirty="0">
                <a:solidFill>
                  <a:srgbClr val="FF0000"/>
                </a:solidFill>
                <a:latin typeface="Arial" panose="020B0604020202020204" pitchFamily="34" charset="0"/>
              </a:rPr>
              <a:t>A </a:t>
            </a:r>
            <a:r>
              <a:rPr lang="zh-CN" altLang="en-US" dirty="0">
                <a:solidFill>
                  <a:srgbClr val="FF0000"/>
                </a:solidFill>
                <a:latin typeface="Arial" panose="020B0604020202020204" pitchFamily="34" charset="0"/>
              </a:rPr>
              <a:t>但不能写 </a:t>
            </a:r>
            <a:r>
              <a:rPr lang="en-US" altLang="zh-CN" dirty="0">
                <a:solidFill>
                  <a:srgbClr val="FF0000"/>
                </a:solidFill>
                <a:latin typeface="Arial" panose="020B0604020202020204" pitchFamily="34" charset="0"/>
              </a:rPr>
              <a:t>A</a:t>
            </a:r>
            <a:r>
              <a:rPr lang="en-US" altLang="zh-CN" dirty="0">
                <a:latin typeface="Arial" panose="020B0604020202020204" pitchFamily="34" charset="0"/>
              </a:rPr>
              <a:t> </a:t>
            </a:r>
            <a:r>
              <a:rPr lang="zh-CN" altLang="en-US" dirty="0">
                <a:latin typeface="Arial" panose="020B0604020202020204" pitchFamily="34" charset="0"/>
              </a:rPr>
              <a:t>，其它事务可以对 </a:t>
            </a:r>
            <a:r>
              <a:rPr lang="en-US" altLang="zh-CN" dirty="0">
                <a:latin typeface="Arial" panose="020B0604020202020204" pitchFamily="34" charset="0"/>
              </a:rPr>
              <a:t>A </a:t>
            </a:r>
            <a:r>
              <a:rPr lang="zh-CN" altLang="en-US" dirty="0">
                <a:latin typeface="Arial" panose="020B0604020202020204" pitchFamily="34" charset="0"/>
              </a:rPr>
              <a:t>加 </a:t>
            </a:r>
            <a:r>
              <a:rPr lang="en-US" altLang="zh-CN" dirty="0">
                <a:latin typeface="Arial" panose="020B0604020202020204" pitchFamily="34" charset="0"/>
              </a:rPr>
              <a:t>S </a:t>
            </a:r>
            <a:r>
              <a:rPr lang="zh-CN" altLang="en-US" dirty="0">
                <a:latin typeface="Arial" panose="020B0604020202020204" pitchFamily="34" charset="0"/>
              </a:rPr>
              <a:t>锁但不能加 </a:t>
            </a:r>
            <a:r>
              <a:rPr lang="en-US" altLang="zh-CN" dirty="0">
                <a:latin typeface="Arial" panose="020B0604020202020204" pitchFamily="34" charset="0"/>
              </a:rPr>
              <a:t>X </a:t>
            </a:r>
            <a:r>
              <a:rPr lang="zh-CN" altLang="en-US" dirty="0">
                <a:latin typeface="Arial" panose="020B0604020202020204" pitchFamily="34" charset="0"/>
              </a:rPr>
              <a:t>锁。</a:t>
            </a:r>
            <a:endParaRPr lang="zh-CN" altLang="en-US" dirty="0">
              <a:latin typeface="Arial" panose="020B0604020202020204" pitchFamily="34" charset="0"/>
            </a:endParaRPr>
          </a:p>
        </p:txBody>
      </p:sp>
      <p:sp>
        <p:nvSpPr>
          <p:cNvPr id="20480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02">
                                            <p:txEl>
                                              <p:charRg st="13" end="4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02">
                                            <p:txEl>
                                              <p:charRg st="119" end="14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4802">
                                            <p:txEl>
                                              <p:charRg st="49" end="11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4802">
                                            <p:txEl>
                                              <p:charRg st="147" end="2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5" name="Rectangle 3"/>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共享锁</a:t>
            </a: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排它锁控制方式</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3011" name="Rectangle 2"/>
          <p:cNvSpPr>
            <a:spLocks noGrp="1"/>
          </p:cNvSpPr>
          <p:nvPr>
            <p:ph type="body" sz="half" idx="1"/>
          </p:nvPr>
        </p:nvSpPr>
        <p:spPr>
          <a:xfrm>
            <a:off x="225425" y="1052513"/>
            <a:ext cx="8667750" cy="5543550"/>
          </a:xfrm>
        </p:spPr>
        <p:txBody>
          <a:bodyPr vert="horz" wrap="square" lIns="91440" tIns="45720" rIns="91440" bIns="45720" anchor="t" anchorCtr="0"/>
          <a:p>
            <a:pPr marL="0" indent="0" eaLnBrk="1" hangingPunct="1">
              <a:buClr>
                <a:srgbClr val="FF0000"/>
              </a:buClr>
              <a:buSzPct val="65000"/>
              <a:buFont typeface="Wingdings" panose="05000000000000000000" pitchFamily="2" charset="2"/>
              <a:buNone/>
            </a:pPr>
            <a:r>
              <a:rPr lang="en-US" altLang="zh-CN" dirty="0">
                <a:latin typeface="Arial" panose="020B0604020202020204" pitchFamily="34" charset="0"/>
              </a:rPr>
              <a:t>      </a:t>
            </a:r>
            <a:r>
              <a:rPr lang="zh-CN" altLang="en-US" dirty="0">
                <a:latin typeface="Arial" panose="020B0604020202020204" pitchFamily="34" charset="0"/>
              </a:rPr>
              <a:t>共享锁</a:t>
            </a:r>
            <a:r>
              <a:rPr lang="en-US" altLang="zh-CN" dirty="0">
                <a:latin typeface="Arial" panose="020B0604020202020204" pitchFamily="34" charset="0"/>
              </a:rPr>
              <a:t>/</a:t>
            </a:r>
            <a:r>
              <a:rPr lang="zh-CN" altLang="en-US" dirty="0">
                <a:latin typeface="Arial" panose="020B0604020202020204" pitchFamily="34" charset="0"/>
              </a:rPr>
              <a:t>排它锁</a:t>
            </a:r>
            <a:r>
              <a:rPr lang="zh-CN" altLang="en-US" dirty="0"/>
              <a:t>控制方式可以用下面的</a:t>
            </a:r>
            <a:r>
              <a:rPr lang="zh-CN" altLang="en-US" dirty="0">
                <a:solidFill>
                  <a:srgbClr val="0000CC"/>
                </a:solidFill>
              </a:rPr>
              <a:t>相容矩阵</a:t>
            </a:r>
            <a:r>
              <a:rPr lang="zh-CN" altLang="en-US" dirty="0"/>
              <a:t>来表示：</a:t>
            </a:r>
            <a:endParaRPr lang="zh-CN" altLang="en-US" dirty="0"/>
          </a:p>
        </p:txBody>
      </p:sp>
      <p:graphicFrame>
        <p:nvGraphicFramePr>
          <p:cNvPr id="64581" name="Group 69"/>
          <p:cNvGraphicFramePr>
            <a:graphicFrameLocks noGrp="1"/>
          </p:cNvGraphicFramePr>
          <p:nvPr>
            <p:ph sz="half" idx="1"/>
          </p:nvPr>
        </p:nvGraphicFramePr>
        <p:xfrm>
          <a:off x="1681163" y="2565400"/>
          <a:ext cx="6130925" cy="2790826"/>
        </p:xfrm>
        <a:graphic>
          <a:graphicData uri="http://schemas.openxmlformats.org/drawingml/2006/table">
            <a:tbl>
              <a:tblPr/>
              <a:tblGrid>
                <a:gridCol w="2043112"/>
                <a:gridCol w="2044700"/>
                <a:gridCol w="2043113"/>
              </a:tblGrid>
              <a:tr h="1220788">
                <a:tc>
                  <a:txBody>
                    <a:bodyPr/>
                    <a:lstStyle/>
                    <a:p>
                      <a:pPr marL="0" marR="0" lvl="0" indent="0" algn="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T</a:t>
                      </a:r>
                      <a:r>
                        <a:rPr kumimoji="0" lang="en-US" altLang="zh-CN" sz="3200" b="1" i="0" u="none" strike="noStrike" cap="none" normalizeH="0" baseline="-2500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2500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T</a:t>
                      </a:r>
                      <a:r>
                        <a:rPr kumimoji="0" lang="en-US" altLang="zh-CN" sz="3200" b="1" i="0" u="none" strike="noStrike" cap="none" normalizeH="0" baseline="-25000" smtClean="0">
                          <a:ln>
                            <a:noFill/>
                          </a:ln>
                          <a:solidFill>
                            <a:srgbClr val="000000"/>
                          </a:solidFill>
                          <a:effectLst/>
                          <a:latin typeface="Arial" panose="020B0604020202020204" pitchFamily="34" charset="0"/>
                          <a:ea typeface="黑体" panose="02010609060101010101" pitchFamily="2" charset="-122"/>
                        </a:rPr>
                        <a:t>1</a:t>
                      </a:r>
                      <a:endParaRPr kumimoji="0" lang="en-US" altLang="zh-CN" sz="3200" b="1" i="0" u="none" strike="noStrike" cap="none" normalizeH="0" baseline="-2500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w="28575" cap="flat" cmpd="sng" algn="ctr">
                      <a:solidFill>
                        <a:srgbClr val="0000CC"/>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共享锁</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排它锁</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r>
              <a:tr h="7842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共享锁</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True</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False</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r>
              <a:tr h="78581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排它锁</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False</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False</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CC"/>
                      </a:solidFill>
                      <a:prstDash val="solid"/>
                      <a:round/>
                      <a:headEnd type="none" w="med" len="med"/>
                      <a:tailEnd type="none" w="med" len="med"/>
                    </a:lnL>
                    <a:lnR w="28575" cap="flat" cmpd="sng" algn="ctr">
                      <a:solidFill>
                        <a:srgbClr val="0000CC"/>
                      </a:solidFill>
                      <a:prstDash val="solid"/>
                      <a:round/>
                      <a:headEnd type="none" w="med" len="med"/>
                      <a:tailEnd type="none" w="med" len="med"/>
                    </a:lnR>
                    <a:lnT w="28575" cap="flat" cmpd="sng" algn="ctr">
                      <a:solidFill>
                        <a:srgbClr val="0000CC"/>
                      </a:solidFill>
                      <a:prstDash val="solid"/>
                      <a:round/>
                      <a:headEnd type="none" w="med" len="med"/>
                      <a:tailEnd type="none" w="med" len="med"/>
                    </a:lnT>
                    <a:lnB w="28575" cap="flat" cmpd="sng" algn="ctr">
                      <a:solidFill>
                        <a:srgbClr val="0000CC"/>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idx="1"/>
          </p:nvPr>
        </p:nvSpPr>
        <p:spPr>
          <a:xfrm>
            <a:off x="366713" y="981075"/>
            <a:ext cx="8453437" cy="5273675"/>
          </a:xfrm>
        </p:spPr>
        <p:txBody>
          <a:bodyPr vert="horz" wrap="square" lIns="91440" tIns="45720" rIns="91440" bIns="45720" anchor="t" anchorCtr="0"/>
          <a:p>
            <a:pPr marL="0" indent="0" eaLnBrk="1" hangingPunct="1">
              <a:buNone/>
            </a:pP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rPr>
              <a:t>、锁的状态</a:t>
            </a:r>
            <a:endParaRPr lang="zh-CN" altLang="en-US" dirty="0">
              <a:solidFill>
                <a:srgbClr val="0000CC"/>
              </a:solidFill>
              <a:latin typeface="Arial" panose="020B0604020202020204" pitchFamily="34" charset="0"/>
            </a:endParaRPr>
          </a:p>
          <a:p>
            <a:pPr marL="898525" lvl="1" indent="-353695" eaLnBrk="1" hangingPunct="1">
              <a:spcBef>
                <a:spcPct val="0"/>
              </a:spcBef>
            </a:pPr>
            <a:r>
              <a:rPr lang="zh-CN" altLang="en-US" sz="3600" dirty="0">
                <a:latin typeface="Arial" panose="020B0604020202020204" pitchFamily="34" charset="0"/>
              </a:rPr>
              <a:t>读锁</a:t>
            </a:r>
            <a:endParaRPr lang="zh-CN" altLang="en-US" sz="3600" dirty="0">
              <a:latin typeface="Arial" panose="020B0604020202020204" pitchFamily="34" charset="0"/>
            </a:endParaRPr>
          </a:p>
          <a:p>
            <a:pPr marL="898525" lvl="1" indent="-353695" eaLnBrk="1" hangingPunct="1">
              <a:spcBef>
                <a:spcPct val="0"/>
              </a:spcBef>
            </a:pPr>
            <a:r>
              <a:rPr lang="zh-CN" altLang="en-US" sz="3600" dirty="0">
                <a:latin typeface="Arial" panose="020B0604020202020204" pitchFamily="34" charset="0"/>
              </a:rPr>
              <a:t>写锁</a:t>
            </a:r>
            <a:endParaRPr lang="zh-CN" altLang="en-US" sz="3600" dirty="0">
              <a:latin typeface="Arial" panose="020B0604020202020204" pitchFamily="34" charset="0"/>
            </a:endParaRPr>
          </a:p>
          <a:p>
            <a:pPr marL="898525" lvl="1" indent="-353695" eaLnBrk="1" hangingPunct="1">
              <a:spcBef>
                <a:spcPct val="0"/>
              </a:spcBef>
            </a:pPr>
            <a:r>
              <a:rPr lang="zh-CN" altLang="en-US" sz="3600" dirty="0">
                <a:latin typeface="Arial" panose="020B0604020202020204" pitchFamily="34" charset="0"/>
              </a:rPr>
              <a:t>解锁</a:t>
            </a:r>
            <a:endParaRPr lang="zh-CN" altLang="en-US" sz="3600" dirty="0">
              <a:latin typeface="Arial" panose="020B0604020202020204" pitchFamily="34" charset="0"/>
            </a:endParaRPr>
          </a:p>
          <a:p>
            <a:pPr marL="0" indent="0" eaLnBrk="1" fontAlgn="b" hangingPunct="1">
              <a:spcBef>
                <a:spcPts val="1800"/>
              </a:spcBef>
              <a:buNone/>
            </a:pPr>
            <a:r>
              <a:rPr lang="en-US" altLang="zh-CN" dirty="0">
                <a:solidFill>
                  <a:srgbClr val="0000CC"/>
                </a:solidFill>
                <a:latin typeface="Arial" panose="020B0604020202020204" pitchFamily="34" charset="0"/>
              </a:rPr>
              <a:t>4</a:t>
            </a:r>
            <a:r>
              <a:rPr lang="zh-CN" altLang="en-US" dirty="0">
                <a:solidFill>
                  <a:srgbClr val="0000CC"/>
                </a:solidFill>
                <a:latin typeface="Arial" panose="020B0604020202020204" pitchFamily="34" charset="0"/>
              </a:rPr>
              <a:t>、锁的操作</a:t>
            </a:r>
            <a:endParaRPr lang="zh-CN" altLang="en-US" dirty="0">
              <a:solidFill>
                <a:srgbClr val="0000CC"/>
              </a:solidFill>
              <a:latin typeface="Arial" panose="020B0604020202020204" pitchFamily="34" charset="0"/>
            </a:endParaRPr>
          </a:p>
          <a:p>
            <a:pPr marL="898525" lvl="1" indent="-353695" eaLnBrk="1" fontAlgn="b" hangingPunct="1">
              <a:spcBef>
                <a:spcPct val="0"/>
              </a:spcBef>
            </a:pPr>
            <a:r>
              <a:rPr lang="en-US" altLang="zh-CN" sz="3600" dirty="0">
                <a:latin typeface="Arial" panose="020B0604020202020204" pitchFamily="34" charset="0"/>
                <a:cs typeface="Times New Roman" panose="02020603050405020304" pitchFamily="18" charset="0"/>
              </a:rPr>
              <a:t>Slock A (  lock-S(A)  )</a:t>
            </a:r>
            <a:endParaRPr lang="en-US" altLang="zh-CN" sz="3600" dirty="0">
              <a:latin typeface="Arial" panose="020B0604020202020204" pitchFamily="34" charset="0"/>
              <a:cs typeface="Times New Roman" panose="02020603050405020304" pitchFamily="18" charset="0"/>
            </a:endParaRPr>
          </a:p>
          <a:p>
            <a:pPr marL="898525" lvl="1" indent="-353695" eaLnBrk="1" fontAlgn="b" hangingPunct="1">
              <a:spcBef>
                <a:spcPct val="0"/>
              </a:spcBef>
            </a:pPr>
            <a:r>
              <a:rPr lang="en-US" altLang="zh-CN" sz="3600" dirty="0">
                <a:latin typeface="Arial" panose="020B0604020202020204" pitchFamily="34" charset="0"/>
                <a:cs typeface="Times New Roman" panose="02020603050405020304" pitchFamily="18" charset="0"/>
              </a:rPr>
              <a:t>Xlock A (  lock-X(A)  )</a:t>
            </a:r>
            <a:endParaRPr lang="en-US" altLang="zh-CN" sz="3600" dirty="0">
              <a:latin typeface="Arial" panose="020B0604020202020204" pitchFamily="34" charset="0"/>
              <a:cs typeface="Times New Roman" panose="02020603050405020304" pitchFamily="18" charset="0"/>
            </a:endParaRPr>
          </a:p>
          <a:p>
            <a:pPr marL="898525" lvl="1" indent="-353695" eaLnBrk="1" fontAlgn="b" hangingPunct="1">
              <a:spcBef>
                <a:spcPct val="0"/>
              </a:spcBef>
            </a:pPr>
            <a:r>
              <a:rPr lang="en-US" altLang="zh-CN" sz="3600" dirty="0">
                <a:latin typeface="Arial" panose="020B0604020202020204" pitchFamily="34" charset="0"/>
                <a:cs typeface="Times New Roman" panose="02020603050405020304" pitchFamily="18" charset="0"/>
              </a:rPr>
              <a:t>Unlock A (  unlock(A)  )</a:t>
            </a:r>
            <a:endParaRPr lang="en-US" altLang="zh-CN" sz="3600" dirty="0">
              <a:latin typeface="Arial" panose="020B0604020202020204" pitchFamily="34" charset="0"/>
              <a:ea typeface="Times New Roman" panose="02020603050405020304" pitchFamily="18" charset="0"/>
            </a:endParaRPr>
          </a:p>
        </p:txBody>
      </p:sp>
      <p:sp>
        <p:nvSpPr>
          <p:cNvPr id="8806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8.3.1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6">
                                            <p:txEl>
                                              <p:charRg st="16" end="2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66">
                                            <p:txEl>
                                              <p:charRg st="23" end="4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066">
                                            <p:txEl>
                                              <p:charRg st="47" end="7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066">
                                            <p:txEl>
                                              <p:charRg st="71" end="9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noChangeArrowheads="1"/>
          </p:cNvSpPr>
          <p:nvPr>
            <p:ph idx="1"/>
          </p:nvPr>
        </p:nvSpPr>
        <p:spPr>
          <a:xfrm>
            <a:off x="285750" y="1125538"/>
            <a:ext cx="8605838" cy="5616575"/>
          </a:xfrm>
        </p:spPr>
        <p:txBody>
          <a:bodyPr vert="horz" wrap="square" lIns="91440" tIns="45720" rIns="91440" bIns="45720" numCol="1" anchor="t" anchorCtr="0" compatLnSpc="1"/>
          <a:lstStyle/>
          <a:p>
            <a:pPr marL="0" marR="0" lvl="0" indent="0" algn="l" defTabSz="914400" rtl="0" eaLnBrk="1" fontAlgn="base" latinLnBrk="0" hangingPunct="1">
              <a:lnSpc>
                <a:spcPts val="4600"/>
              </a:lnSpc>
              <a:spcBef>
                <a:spcPct val="0"/>
              </a:spcBef>
              <a:spcAft>
                <a:spcPct val="0"/>
              </a:spcAft>
              <a:buClr>
                <a:srgbClr val="FF0000"/>
              </a:buClr>
              <a:buSzPct val="65000"/>
              <a:buFont typeface="Wingdings" panose="05000000000000000000" pitchFamily="2" charset="2"/>
              <a:buNone/>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运用</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X</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锁和</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S</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锁两种基本封锁时，事先约定的一些规则称为封锁协议。</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57505" marR="0" lvl="0" indent="-357505" algn="l" defTabSz="914400" rtl="0" eaLnBrk="1" fontAlgn="base" latinLnBrk="0" hangingPunct="1">
              <a:lnSpc>
                <a:spcPts val="4700"/>
              </a:lnSpc>
              <a:spcBef>
                <a:spcPts val="2400"/>
              </a:spcBef>
              <a:spcAft>
                <a:spcPct val="0"/>
              </a:spcAft>
              <a:buClr>
                <a:srgbClr val="FF0000"/>
              </a:buClr>
              <a:buSzPct val="65000"/>
              <a:buFont typeface="Wingdings" panose="05000000000000000000" pitchFamily="2" charset="2"/>
              <a:buNone/>
              <a:defRPr/>
            </a:pPr>
            <a:r>
              <a:rPr kumimoji="0" lang="en-US" altLang="zh-CN" sz="3600" b="1" i="0" u="none" strike="noStrike" kern="0" cap="none" spc="0" normalizeH="0" baseline="0" noProof="0" dirty="0" smtClean="0">
                <a:ln>
                  <a:noFill/>
                </a:ln>
                <a:solidFill>
                  <a:srgbClr val="0000CC"/>
                </a:solidFill>
                <a:effectLst/>
                <a:uLnTx/>
                <a:uFillTx/>
                <a:latin typeface="Arial" panose="020B0604020202020204" pitchFamily="34" charset="0"/>
                <a:ea typeface="+mn-ea"/>
                <a:cs typeface="+mn-cs"/>
              </a:rPr>
              <a:t>1) </a:t>
            </a:r>
            <a:r>
              <a:rPr kumimoji="0" lang="zh-CN" altLang="en-US" sz="3600" b="1" i="0" u="none" strike="noStrike" kern="0" cap="none" spc="0" normalizeH="0" baseline="0" noProof="0" dirty="0" smtClean="0">
                <a:ln>
                  <a:noFill/>
                </a:ln>
                <a:solidFill>
                  <a:srgbClr val="0033CC"/>
                </a:solidFill>
                <a:effectLst/>
                <a:uLnTx/>
                <a:uFillTx/>
                <a:latin typeface="Arial" panose="020B0604020202020204" pitchFamily="34" charset="0"/>
                <a:ea typeface="+mn-ea"/>
                <a:cs typeface="+mn-cs"/>
              </a:rPr>
              <a:t>一级封锁协议</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：事务</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T</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在对数据</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写操作之前必须对</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加</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X</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锁，直到事务结束</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包括</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Commit</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和</a:t>
            </a:r>
            <a:r>
              <a:rPr kumimoji="0"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Rollback)</a:t>
            </a: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才释放。</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57505" marR="0" lvl="0" indent="-357505" algn="l" defTabSz="914400" rtl="0" eaLnBrk="1" fontAlgn="base" latinLnBrk="0" hangingPunct="1">
              <a:lnSpc>
                <a:spcPct val="100000"/>
              </a:lnSpc>
              <a:spcBef>
                <a:spcPct val="2500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可防止丢失修改</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
        <p:nvSpPr>
          <p:cNvPr id="5529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封锁协议</a:t>
            </a:r>
            <a:r>
              <a:rPr kumimoji="0" lang="en-US" altLang="zh-CN"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(Locking Protocol)</a:t>
            </a:r>
            <a:endParaRPr kumimoji="0" lang="en-US" altLang="zh-CN"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8">
                                            <p:txEl>
                                              <p:charRg st="40" end="10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298">
                                            <p:txEl>
                                              <p:charRg st="100" end="10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9779" name="Rectangle 3"/>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8.3.2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封锁协议</a:t>
            </a:r>
            <a:endParaRPr kumimoji="0" lang="zh-CN" altLang="en-US" sz="36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6083" name="Rectangle 2"/>
          <p:cNvSpPr>
            <a:spLocks noGrp="1"/>
          </p:cNvSpPr>
          <p:nvPr>
            <p:ph type="body" sz="half" idx="1"/>
          </p:nvPr>
        </p:nvSpPr>
        <p:spPr/>
        <p:txBody>
          <a:bodyPr vert="horz" wrap="square" lIns="91440" tIns="45720" rIns="91440" bIns="45720" anchor="t" anchorCtr="0"/>
          <a:p>
            <a:pPr marL="357505" indent="-357505" eaLnBrk="1" hangingPunct="1">
              <a:spcBef>
                <a:spcPct val="25000"/>
              </a:spcBef>
              <a:buClr>
                <a:srgbClr val="FF0000"/>
              </a:buClr>
              <a:buSzPct val="65000"/>
              <a:buFont typeface="Wingdings" panose="05000000000000000000" pitchFamily="2" charset="2"/>
            </a:pPr>
            <a:r>
              <a:rPr lang="zh-CN" altLang="en-US" sz="3200" dirty="0">
                <a:solidFill>
                  <a:srgbClr val="0033CC"/>
                </a:solidFill>
                <a:latin typeface="Arial" panose="020B0604020202020204" pitchFamily="34" charset="0"/>
              </a:rPr>
              <a:t>一级封锁协议</a:t>
            </a:r>
            <a:r>
              <a:rPr lang="zh-CN" altLang="en-US" sz="3200" dirty="0">
                <a:latin typeface="Arial" panose="020B0604020202020204" pitchFamily="34" charset="0"/>
              </a:rPr>
              <a:t>举例：</a:t>
            </a:r>
            <a:endParaRPr lang="en-US" altLang="zh-CN" sz="3200" dirty="0">
              <a:latin typeface="Arial" panose="020B0604020202020204" pitchFamily="34" charset="0"/>
            </a:endParaRPr>
          </a:p>
          <a:p>
            <a:pPr marL="357505" indent="-357505" eaLnBrk="1" hangingPunct="1">
              <a:spcBef>
                <a:spcPts val="600"/>
              </a:spcBef>
              <a:buClr>
                <a:srgbClr val="FF0000"/>
              </a:buClr>
              <a:buSzPct val="65000"/>
              <a:buFont typeface="Wingdings" panose="05000000000000000000" pitchFamily="2" charset="2"/>
              <a:buNone/>
            </a:pPr>
            <a:r>
              <a:rPr lang="zh-CN" altLang="en-US" sz="3200" dirty="0"/>
              <a:t>    可防止丢失修改</a:t>
            </a:r>
            <a:endParaRPr lang="en-US" altLang="zh-CN" sz="3200" dirty="0"/>
          </a:p>
          <a:p>
            <a:pPr marL="357505" indent="-357505" eaLnBrk="1" hangingPunct="1">
              <a:spcBef>
                <a:spcPct val="25000"/>
              </a:spcBef>
              <a:buClr>
                <a:srgbClr val="FF0000"/>
              </a:buClr>
              <a:buSzPct val="65000"/>
              <a:buFont typeface="Wingdings" panose="05000000000000000000" pitchFamily="2" charset="2"/>
              <a:buNone/>
            </a:pPr>
            <a:r>
              <a:rPr lang="zh-CN" altLang="en-US" sz="3200" dirty="0">
                <a:latin typeface="Arial" panose="020B0604020202020204" pitchFamily="34" charset="0"/>
              </a:rPr>
              <a:t>原：</a:t>
            </a:r>
            <a:endParaRPr lang="zh-CN" altLang="en-US" sz="3200" dirty="0">
              <a:latin typeface="Arial" panose="020B0604020202020204" pitchFamily="34" charset="0"/>
            </a:endParaRPr>
          </a:p>
          <a:p>
            <a:pPr marL="357505" indent="-357505" eaLnBrk="1" hangingPunct="1">
              <a:spcBef>
                <a:spcPct val="25000"/>
              </a:spcBef>
              <a:buClr>
                <a:srgbClr val="FF0000"/>
              </a:buClr>
              <a:buSzPct val="65000"/>
              <a:buFont typeface="Wingdings" panose="05000000000000000000" pitchFamily="2" charset="2"/>
            </a:pPr>
            <a:endParaRPr lang="en-US" altLang="zh-CN" sz="3200" dirty="0">
              <a:latin typeface="Arial" panose="020B0604020202020204" pitchFamily="34" charset="0"/>
            </a:endParaRPr>
          </a:p>
          <a:p>
            <a:pPr marL="357505" indent="-357505" eaLnBrk="1" hangingPunct="1">
              <a:spcBef>
                <a:spcPct val="25000"/>
              </a:spcBef>
              <a:buClr>
                <a:srgbClr val="FF0000"/>
              </a:buClr>
              <a:buSzPct val="65000"/>
              <a:buFont typeface="Wingdings" panose="05000000000000000000" pitchFamily="2" charset="2"/>
              <a:buNone/>
            </a:pPr>
            <a:endParaRPr lang="zh-CN" altLang="en-US" sz="3200" dirty="0">
              <a:latin typeface="Arial" panose="020B0604020202020204" pitchFamily="34" charset="0"/>
            </a:endParaRPr>
          </a:p>
        </p:txBody>
      </p:sp>
      <p:graphicFrame>
        <p:nvGraphicFramePr>
          <p:cNvPr id="459802" name="Group 26"/>
          <p:cNvGraphicFramePr>
            <a:graphicFrameLocks noGrp="1"/>
          </p:cNvGraphicFramePr>
          <p:nvPr>
            <p:ph sz="half" idx="1"/>
          </p:nvPr>
        </p:nvGraphicFramePr>
        <p:xfrm>
          <a:off x="4608513" y="1227138"/>
          <a:ext cx="4348163" cy="5202238"/>
        </p:xfrm>
        <a:graphic>
          <a:graphicData uri="http://schemas.openxmlformats.org/drawingml/2006/table">
            <a:tbl>
              <a:tblPr/>
              <a:tblGrid>
                <a:gridCol w="2246312"/>
                <a:gridCol w="2101850"/>
              </a:tblGrid>
              <a:tr h="57915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FFDDDD"/>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DDFFDD"/>
                    </a:solidFill>
                  </a:tcPr>
                </a:tc>
              </a:tr>
              <a:tr h="4623082">
                <a:tc>
                  <a:txBody>
                    <a:bodyPr/>
                    <a:lstStyle/>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Xlock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Y</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Y(=10)</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Y=Y-1</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写回</a:t>
                      </a: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Y(=9)</a:t>
                      </a:r>
                      <a:endPar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Commit</a:t>
                      </a:r>
                      <a:endPar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Unlock Y</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FFDDDD"/>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Xlock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Y</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Xlock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Y</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Y(=9)</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Y=Y-1</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写回</a:t>
                      </a: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Y(=8)</a:t>
                      </a:r>
                      <a:endPar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Commit</a:t>
                      </a:r>
                      <a:endParaRPr kumimoji="0" lang="en-US" altLang="zh-CN" sz="2400" b="0"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Unlock Y</a:t>
                      </a:r>
                      <a:r>
                        <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DDFFDD"/>
                    </a:solidFill>
                  </a:tcPr>
                </a:tc>
              </a:tr>
            </a:tbl>
          </a:graphicData>
        </a:graphic>
      </p:graphicFrame>
      <p:grpSp>
        <p:nvGrpSpPr>
          <p:cNvPr id="2" name="Group 11"/>
          <p:cNvGrpSpPr/>
          <p:nvPr/>
        </p:nvGrpSpPr>
        <p:grpSpPr>
          <a:xfrm>
            <a:off x="428625" y="2928938"/>
            <a:ext cx="3929063" cy="3214687"/>
            <a:chOff x="1202" y="1770"/>
            <a:chExt cx="4152" cy="2023"/>
          </a:xfrm>
        </p:grpSpPr>
        <p:sp>
          <p:nvSpPr>
            <p:cNvPr id="46096" name="Rectangle 5"/>
            <p:cNvSpPr/>
            <p:nvPr/>
          </p:nvSpPr>
          <p:spPr>
            <a:xfrm>
              <a:off x="3322" y="2139"/>
              <a:ext cx="2032" cy="1654"/>
            </a:xfrm>
            <a:prstGeom prst="rect">
              <a:avLst/>
            </a:prstGeom>
            <a:solidFill>
              <a:srgbClr val="DDFFDD"/>
            </a:solidFill>
            <a:ln w="28575" cap="flat" cmpd="sng">
              <a:solidFill>
                <a:srgbClr val="000000"/>
              </a:solidFill>
              <a:prstDash val="solid"/>
              <a:miter/>
              <a:headEnd type="none" w="med" len="med"/>
              <a:tailEnd type="none" w="med" len="med"/>
            </a:ln>
          </p:spPr>
          <p:txBody>
            <a:bodyPr lIns="90000" tIns="36000" rIns="90000" bIns="360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ts val="3600"/>
                </a:spcBef>
                <a:buNone/>
              </a:pPr>
              <a:endParaRPr lang="en-US" altLang="zh-CN" sz="2800" dirty="0">
                <a:solidFill>
                  <a:srgbClr val="0000CC"/>
                </a:solidFill>
                <a:latin typeface="Arial" panose="020B0604020202020204" pitchFamily="34" charset="0"/>
              </a:endParaRPr>
            </a:p>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A=16 </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  </a:t>
              </a:r>
              <a:endParaRPr lang="en-US" altLang="zh-CN" sz="2400" dirty="0">
                <a:latin typeface="Arial" panose="020B0604020202020204" pitchFamily="34" charset="0"/>
              </a:endParaRPr>
            </a:p>
            <a:p>
              <a:pPr marL="0" lvl="0" indent="0" eaLnBrk="1" hangingPunct="1">
                <a:buNone/>
              </a:pP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A←A-3</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写回</a:t>
              </a:r>
              <a:r>
                <a:rPr lang="en-US" altLang="zh-CN" sz="2400" dirty="0">
                  <a:latin typeface="Arial" panose="020B0604020202020204" pitchFamily="34" charset="0"/>
                </a:rPr>
                <a:t>A=13</a:t>
              </a:r>
              <a:endParaRPr lang="en-US" altLang="zh-CN" sz="2400" dirty="0">
                <a:latin typeface="Arial" panose="020B0604020202020204" pitchFamily="34" charset="0"/>
              </a:endParaRPr>
            </a:p>
          </p:txBody>
        </p:sp>
        <p:sp>
          <p:nvSpPr>
            <p:cNvPr id="46097" name="Rectangle 6"/>
            <p:cNvSpPr/>
            <p:nvPr/>
          </p:nvSpPr>
          <p:spPr>
            <a:xfrm>
              <a:off x="1202" y="2139"/>
              <a:ext cx="2134" cy="1654"/>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A=16 </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 </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A←A-1 </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写回</a:t>
              </a:r>
              <a:r>
                <a:rPr lang="en-US" altLang="zh-CN" sz="2400" dirty="0">
                  <a:latin typeface="Arial" panose="020B0604020202020204" pitchFamily="34" charset="0"/>
                </a:rPr>
                <a:t>A=15 </a:t>
              </a:r>
              <a:endParaRPr lang="en-US" altLang="zh-CN" sz="2400" dirty="0">
                <a:latin typeface="Arial" panose="020B0604020202020204" pitchFamily="34" charset="0"/>
              </a:endParaRPr>
            </a:p>
            <a:p>
              <a:pPr marL="0" lvl="0" indent="0" eaLnBrk="1" hangingPunct="1">
                <a:lnSpc>
                  <a:spcPct val="140000"/>
                </a:lnSpc>
                <a:buNone/>
              </a:pPr>
              <a:endParaRPr lang="en-US" altLang="zh-CN" sz="2400" dirty="0">
                <a:solidFill>
                  <a:srgbClr val="0000CC"/>
                </a:solidFill>
                <a:latin typeface="Arial" panose="020B0604020202020204" pitchFamily="34" charset="0"/>
              </a:endParaRPr>
            </a:p>
          </p:txBody>
        </p:sp>
        <p:sp>
          <p:nvSpPr>
            <p:cNvPr id="46098" name="Rectangle 7"/>
            <p:cNvSpPr/>
            <p:nvPr/>
          </p:nvSpPr>
          <p:spPr>
            <a:xfrm>
              <a:off x="3330" y="1770"/>
              <a:ext cx="2024" cy="366"/>
            </a:xfrm>
            <a:prstGeom prst="rect">
              <a:avLst/>
            </a:prstGeom>
            <a:solidFill>
              <a:srgbClr val="DDFFDD"/>
            </a:solidFill>
            <a:ln w="28575" cap="flat" cmpd="sng">
              <a:solidFill>
                <a:srgbClr val="000000"/>
              </a:solidFill>
              <a:prstDash val="solid"/>
              <a:miter/>
              <a:headEnd type="none" w="med" len="med"/>
              <a:tailEnd type="none" w="med" len="med"/>
            </a:ln>
          </p:spPr>
          <p:txBody>
            <a:bodyPr lIns="90000" tIns="46800" rIns="90000" bIns="46800"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en-US" altLang="zh-CN" sz="3200" dirty="0">
                  <a:solidFill>
                    <a:srgbClr val="0000CC"/>
                  </a:solidFill>
                  <a:latin typeface="Arial" panose="020B0604020202020204" pitchFamily="34" charset="0"/>
                </a:rPr>
                <a:t>T</a:t>
              </a:r>
              <a:r>
                <a:rPr lang="en-US" altLang="zh-CN" sz="3200" baseline="-25000" dirty="0">
                  <a:solidFill>
                    <a:srgbClr val="0000CC"/>
                  </a:solidFill>
                  <a:latin typeface="Arial" panose="020B0604020202020204" pitchFamily="34" charset="0"/>
                </a:rPr>
                <a:t>2</a:t>
              </a:r>
              <a:endParaRPr lang="en-US" altLang="zh-CN" sz="3200" baseline="-25000" dirty="0">
                <a:solidFill>
                  <a:srgbClr val="0000CC"/>
                </a:solidFill>
                <a:latin typeface="Arial" panose="020B0604020202020204" pitchFamily="34" charset="0"/>
              </a:endParaRPr>
            </a:p>
          </p:txBody>
        </p:sp>
        <p:sp>
          <p:nvSpPr>
            <p:cNvPr id="46099" name="Rectangle 8"/>
            <p:cNvSpPr/>
            <p:nvPr/>
          </p:nvSpPr>
          <p:spPr>
            <a:xfrm>
              <a:off x="1202" y="1770"/>
              <a:ext cx="2134" cy="366"/>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en-US" altLang="zh-CN" sz="3200" dirty="0">
                  <a:solidFill>
                    <a:srgbClr val="0000CC"/>
                  </a:solidFill>
                  <a:latin typeface="Arial" panose="020B0604020202020204" pitchFamily="34" charset="0"/>
                </a:rPr>
                <a:t>T</a:t>
              </a:r>
              <a:r>
                <a:rPr lang="en-US" altLang="zh-CN" sz="3200" baseline="-25000" dirty="0">
                  <a:solidFill>
                    <a:srgbClr val="0000CC"/>
                  </a:solidFill>
                  <a:latin typeface="Arial" panose="020B0604020202020204" pitchFamily="34" charset="0"/>
                </a:rPr>
                <a:t>1</a:t>
              </a:r>
              <a:endParaRPr lang="en-US" altLang="zh-CN" sz="3200" baseline="-25000" dirty="0">
                <a:solidFill>
                  <a:srgbClr val="0000CC"/>
                </a:solidFill>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charRg st="22" end="2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2850" name="Rectangle 2"/>
          <p:cNvSpPr>
            <a:spLocks noGrp="1"/>
          </p:cNvSpPr>
          <p:nvPr>
            <p:ph idx="1"/>
          </p:nvPr>
        </p:nvSpPr>
        <p:spPr>
          <a:xfrm>
            <a:off x="290513" y="1027113"/>
            <a:ext cx="8496300" cy="5616575"/>
          </a:xfrm>
        </p:spPr>
        <p:txBody>
          <a:bodyPr vert="horz" wrap="square" lIns="91440" tIns="45720" rIns="91440" bIns="45720" anchor="t" anchorCtr="0"/>
          <a:p>
            <a:pPr marL="357505" indent="-357505" eaLnBrk="1" hangingPunct="1">
              <a:lnSpc>
                <a:spcPts val="4600"/>
              </a:lnSpc>
              <a:spcBef>
                <a:spcPct val="25000"/>
              </a:spcBef>
              <a:buNone/>
            </a:pPr>
            <a:r>
              <a:rPr lang="en-US" altLang="zh-CN" dirty="0">
                <a:solidFill>
                  <a:srgbClr val="0000CC"/>
                </a:solidFill>
                <a:latin typeface="Arial" panose="020B0604020202020204" pitchFamily="34" charset="0"/>
              </a:rPr>
              <a:t>2</a:t>
            </a:r>
            <a:r>
              <a:rPr lang="en-US" altLang="zh-CN" noProof="0" dirty="0" smtClean="0">
                <a:ln>
                  <a:noFill/>
                </a:ln>
                <a:solidFill>
                  <a:srgbClr val="0000CC"/>
                </a:solidFill>
                <a:effectLst/>
                <a:uLnTx/>
                <a:uFillTx/>
                <a:latin typeface="Arial" panose="020B0604020202020204" pitchFamily="34" charset="0"/>
                <a:sym typeface="+mn-ea"/>
              </a:rPr>
              <a:t>) </a:t>
            </a:r>
            <a:r>
              <a:rPr lang="zh-CN" altLang="en-US" dirty="0">
                <a:solidFill>
                  <a:srgbClr val="0033CC"/>
                </a:solidFill>
                <a:latin typeface="Arial" panose="020B0604020202020204" pitchFamily="34" charset="0"/>
              </a:rPr>
              <a:t>二级封锁协议</a:t>
            </a:r>
            <a:r>
              <a:rPr lang="zh-CN" altLang="en-US" dirty="0">
                <a:latin typeface="Arial" panose="020B0604020202020204" pitchFamily="34" charset="0"/>
              </a:rPr>
              <a:t>：在一级封锁协议上加事务</a:t>
            </a:r>
            <a:r>
              <a:rPr lang="en-US" altLang="zh-CN" dirty="0">
                <a:latin typeface="Arial" panose="020B0604020202020204" pitchFamily="34" charset="0"/>
              </a:rPr>
              <a:t>T</a:t>
            </a:r>
            <a:r>
              <a:rPr lang="zh-CN" altLang="en-US" dirty="0">
                <a:latin typeface="Arial" panose="020B0604020202020204" pitchFamily="34" charset="0"/>
              </a:rPr>
              <a:t>在对数据</a:t>
            </a:r>
            <a:r>
              <a:rPr lang="en-US" altLang="zh-CN" dirty="0">
                <a:latin typeface="Arial" panose="020B0604020202020204" pitchFamily="34" charset="0"/>
              </a:rPr>
              <a:t>A</a:t>
            </a:r>
            <a:r>
              <a:rPr lang="zh-CN" altLang="en-US" dirty="0">
                <a:latin typeface="Arial" panose="020B0604020202020204" pitchFamily="34" charset="0"/>
              </a:rPr>
              <a:t>读操作之前必须对</a:t>
            </a:r>
            <a:r>
              <a:rPr lang="en-US" altLang="zh-CN" dirty="0">
                <a:latin typeface="Arial" panose="020B0604020202020204" pitchFamily="34" charset="0"/>
              </a:rPr>
              <a:t>A</a:t>
            </a:r>
            <a:r>
              <a:rPr lang="zh-CN" altLang="en-US" dirty="0">
                <a:latin typeface="Arial" panose="020B0604020202020204" pitchFamily="34" charset="0"/>
              </a:rPr>
              <a:t>加</a:t>
            </a:r>
            <a:r>
              <a:rPr lang="en-US" altLang="zh-CN" dirty="0">
                <a:latin typeface="Arial" panose="020B0604020202020204" pitchFamily="34" charset="0"/>
              </a:rPr>
              <a:t>S</a:t>
            </a:r>
            <a:r>
              <a:rPr lang="zh-CN" altLang="en-US" dirty="0">
                <a:latin typeface="Arial" panose="020B0604020202020204" pitchFamily="34" charset="0"/>
              </a:rPr>
              <a:t>锁，读完后即可释放</a:t>
            </a:r>
            <a:r>
              <a:rPr lang="en-US" altLang="zh-CN" dirty="0">
                <a:latin typeface="Arial" panose="020B0604020202020204" pitchFamily="34" charset="0"/>
              </a:rPr>
              <a:t>S</a:t>
            </a:r>
            <a:r>
              <a:rPr lang="zh-CN" altLang="en-US" dirty="0">
                <a:latin typeface="Arial" panose="020B0604020202020204" pitchFamily="34" charset="0"/>
              </a:rPr>
              <a:t>锁。</a:t>
            </a:r>
            <a:endParaRPr lang="zh-CN" altLang="en-US" dirty="0">
              <a:latin typeface="Arial" panose="020B0604020202020204" pitchFamily="34" charset="0"/>
            </a:endParaRPr>
          </a:p>
          <a:p>
            <a:pPr marL="357505" indent="-357505" eaLnBrk="1" hangingPunct="1">
              <a:spcBef>
                <a:spcPct val="25000"/>
              </a:spcBef>
            </a:pPr>
            <a:r>
              <a:rPr lang="zh-CN" altLang="en-US" dirty="0">
                <a:latin typeface="Arial" panose="020B0604020202020204" pitchFamily="34" charset="0"/>
              </a:rPr>
              <a:t>可防止丢失修改</a:t>
            </a:r>
            <a:endParaRPr lang="zh-CN" altLang="en-US" dirty="0">
              <a:latin typeface="Arial" panose="020B0604020202020204" pitchFamily="34" charset="0"/>
            </a:endParaRPr>
          </a:p>
          <a:p>
            <a:pPr marL="357505" indent="-357505" eaLnBrk="1" hangingPunct="1">
              <a:spcBef>
                <a:spcPct val="25000"/>
              </a:spcBef>
            </a:pPr>
            <a:r>
              <a:rPr lang="zh-CN" altLang="en-US" dirty="0">
                <a:latin typeface="Arial" panose="020B0604020202020204" pitchFamily="34" charset="0"/>
              </a:rPr>
              <a:t>可防止读脏数据</a:t>
            </a:r>
            <a:endParaRPr lang="zh-CN" altLang="en-US" dirty="0">
              <a:latin typeface="Arial" panose="020B0604020202020204" pitchFamily="34" charset="0"/>
            </a:endParaRPr>
          </a:p>
        </p:txBody>
      </p:sp>
      <p:sp>
        <p:nvSpPr>
          <p:cNvPr id="4628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封锁协议</a:t>
            </a:r>
            <a:endParaRPr kumimoji="0" lang="zh-CN" altLang="en-US"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2850">
                                            <p:txEl>
                                              <p:charRg st="50" end="58"/>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2850">
                                            <p:txEl>
                                              <p:charRg st="58" end="6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0"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4898"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8.3.2 </a:t>
            </a:r>
            <a:r>
              <a:rPr kumimoji="0"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封锁协议</a:t>
            </a:r>
            <a:endParaRPr kumimoji="0" lang="zh-CN" altLang="en-US" sz="36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48131" name="Rectangle 3"/>
          <p:cNvSpPr>
            <a:spLocks noGrp="1"/>
          </p:cNvSpPr>
          <p:nvPr>
            <p:ph type="body" sz="half" idx="1"/>
          </p:nvPr>
        </p:nvSpPr>
        <p:spPr/>
        <p:txBody>
          <a:bodyPr vert="horz" wrap="square" lIns="91440" tIns="45720" rIns="91440" bIns="45720" anchor="t" anchorCtr="0"/>
          <a:p>
            <a:pPr marL="357505" indent="-357505" eaLnBrk="1" hangingPunct="1">
              <a:spcBef>
                <a:spcPct val="25000"/>
              </a:spcBef>
              <a:buClr>
                <a:srgbClr val="FF0000"/>
              </a:buClr>
              <a:buSzPct val="65000"/>
              <a:buFont typeface="Wingdings" panose="05000000000000000000" pitchFamily="2" charset="2"/>
            </a:pPr>
            <a:r>
              <a:rPr lang="zh-CN" altLang="en-US" sz="3200" dirty="0">
                <a:solidFill>
                  <a:srgbClr val="0033CC"/>
                </a:solidFill>
                <a:latin typeface="Arial" panose="020B0604020202020204" pitchFamily="34" charset="0"/>
              </a:rPr>
              <a:t>二级封锁协议</a:t>
            </a:r>
            <a:r>
              <a:rPr lang="zh-CN" altLang="en-US" sz="3200" dirty="0">
                <a:latin typeface="Arial" panose="020B0604020202020204" pitchFamily="34" charset="0"/>
              </a:rPr>
              <a:t>举例：</a:t>
            </a:r>
            <a:endParaRPr lang="en-US" altLang="zh-CN" sz="3200" dirty="0">
              <a:latin typeface="Arial" panose="020B0604020202020204" pitchFamily="34" charset="0"/>
            </a:endParaRPr>
          </a:p>
          <a:p>
            <a:pPr marL="357505" indent="-357505" eaLnBrk="1" hangingPunct="1">
              <a:spcBef>
                <a:spcPts val="600"/>
              </a:spcBef>
              <a:buClr>
                <a:srgbClr val="FF0000"/>
              </a:buClr>
              <a:buSzPct val="65000"/>
              <a:buFont typeface="Wingdings" panose="05000000000000000000" pitchFamily="2" charset="2"/>
              <a:buNone/>
            </a:pPr>
            <a:r>
              <a:rPr lang="zh-CN" altLang="en-US" sz="3200" dirty="0"/>
              <a:t>   可防止读脏数据</a:t>
            </a:r>
            <a:endParaRPr lang="en-US" altLang="zh-CN" sz="3200" dirty="0"/>
          </a:p>
          <a:p>
            <a:pPr marL="357505" indent="-357505" eaLnBrk="1" hangingPunct="1">
              <a:spcBef>
                <a:spcPts val="1200"/>
              </a:spcBef>
              <a:buClr>
                <a:srgbClr val="FF0000"/>
              </a:buClr>
              <a:buSzPct val="65000"/>
              <a:buFont typeface="Wingdings" panose="05000000000000000000" pitchFamily="2" charset="2"/>
              <a:buNone/>
            </a:pPr>
            <a:r>
              <a:rPr lang="zh-CN" altLang="en-US" sz="3200" dirty="0">
                <a:latin typeface="Arial" panose="020B0604020202020204" pitchFamily="34" charset="0"/>
              </a:rPr>
              <a:t>  原：</a:t>
            </a:r>
            <a:endParaRPr lang="zh-CN" altLang="en-US" sz="3200" dirty="0">
              <a:latin typeface="Arial" panose="020B0604020202020204" pitchFamily="34" charset="0"/>
            </a:endParaRPr>
          </a:p>
        </p:txBody>
      </p:sp>
      <p:graphicFrame>
        <p:nvGraphicFramePr>
          <p:cNvPr id="464915" name="Group 19"/>
          <p:cNvGraphicFramePr>
            <a:graphicFrameLocks noGrp="1"/>
          </p:cNvGraphicFramePr>
          <p:nvPr>
            <p:ph sz="half" idx="1"/>
          </p:nvPr>
        </p:nvGraphicFramePr>
        <p:xfrm>
          <a:off x="4429125" y="1441450"/>
          <a:ext cx="4502150" cy="5202238"/>
        </p:xfrm>
        <a:graphic>
          <a:graphicData uri="http://schemas.openxmlformats.org/drawingml/2006/table">
            <a:tbl>
              <a:tblPr/>
              <a:tblGrid>
                <a:gridCol w="2293938"/>
                <a:gridCol w="2208212"/>
              </a:tblGrid>
              <a:tr h="57915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FFDDDD"/>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DDFFDD"/>
                    </a:solidFill>
                  </a:tcPr>
                </a:tc>
              </a:tr>
              <a:tr h="4623083">
                <a:tc>
                  <a:txBody>
                    <a:bodyPr/>
                    <a:lstStyle/>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Xlock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C</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C(=100)</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C=</a:t>
                      </a: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C</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写回</a:t>
                      </a: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C(=200)</a:t>
                      </a:r>
                      <a:endPar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Rollback</a:t>
                      </a:r>
                      <a:endPar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(C</a:t>
                      </a:r>
                      <a:r>
                        <a:rPr kumimoji="0" lang="zh-CN" altLang="en-US"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恢复为</a:t>
                      </a: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100)</a:t>
                      </a:r>
                      <a:endPar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Unlock C</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FFDDDD"/>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Slock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C</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Slock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C</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C(=100)</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Commit</a:t>
                      </a:r>
                      <a:endParaRPr kumimoji="0" lang="en-US" altLang="zh-CN" sz="2400" b="0"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Unlock C</a:t>
                      </a:r>
                      <a:r>
                        <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23" marB="45723"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DDFFDD"/>
                    </a:solidFill>
                  </a:tcPr>
                </a:tc>
              </a:tr>
            </a:tbl>
          </a:graphicData>
        </a:graphic>
      </p:graphicFrame>
      <p:grpSp>
        <p:nvGrpSpPr>
          <p:cNvPr id="2" name="Group 18"/>
          <p:cNvGrpSpPr/>
          <p:nvPr/>
        </p:nvGrpSpPr>
        <p:grpSpPr>
          <a:xfrm>
            <a:off x="406400" y="3000375"/>
            <a:ext cx="3786188" cy="3214688"/>
            <a:chOff x="1701" y="2432"/>
            <a:chExt cx="2828" cy="1815"/>
          </a:xfrm>
        </p:grpSpPr>
        <p:sp>
          <p:nvSpPr>
            <p:cNvPr id="48144" name="Rectangle 5"/>
            <p:cNvSpPr/>
            <p:nvPr/>
          </p:nvSpPr>
          <p:spPr>
            <a:xfrm>
              <a:off x="3276" y="2758"/>
              <a:ext cx="1253" cy="1489"/>
            </a:xfrm>
            <a:prstGeom prst="rect">
              <a:avLst/>
            </a:prstGeom>
            <a:solidFill>
              <a:srgbClr val="DDFF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spcBef>
                  <a:spcPts val="1200"/>
                </a:spcBef>
                <a:buNone/>
              </a:pPr>
              <a:r>
                <a:rPr lang="zh-CN" altLang="en-US" sz="2400" dirty="0">
                  <a:latin typeface="Arial" panose="020B0604020202020204" pitchFamily="34" charset="0"/>
                </a:rPr>
                <a:t>读</a:t>
              </a:r>
              <a:r>
                <a:rPr lang="en-US" altLang="zh-CN" sz="2400" dirty="0">
                  <a:latin typeface="Arial" panose="020B0604020202020204" pitchFamily="34" charset="0"/>
                </a:rPr>
                <a:t>C=200</a:t>
              </a:r>
              <a:endParaRPr lang="en-US" altLang="zh-CN" sz="2400" dirty="0">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p:txBody>
        </p:sp>
        <p:sp>
          <p:nvSpPr>
            <p:cNvPr id="48145" name="Rectangle 6"/>
            <p:cNvSpPr/>
            <p:nvPr/>
          </p:nvSpPr>
          <p:spPr>
            <a:xfrm>
              <a:off x="1701" y="2758"/>
              <a:ext cx="1575" cy="1489"/>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C=100 </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C←C*2</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写回</a:t>
              </a:r>
              <a:r>
                <a:rPr lang="en-US" altLang="zh-CN" sz="2400" dirty="0">
                  <a:latin typeface="Arial" panose="020B0604020202020204" pitchFamily="34" charset="0"/>
                </a:rPr>
                <a:t>C</a:t>
              </a:r>
              <a:endParaRPr lang="en-US" altLang="zh-CN" sz="2400" dirty="0">
                <a:latin typeface="Arial" panose="020B0604020202020204" pitchFamily="34" charset="0"/>
              </a:endParaRPr>
            </a:p>
            <a:p>
              <a:pPr marL="0" lvl="0" indent="0" eaLnBrk="1" hangingPunct="1">
                <a:buNone/>
              </a:pP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ROLLBACK</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C</a:t>
              </a:r>
              <a:r>
                <a:rPr lang="zh-CN" altLang="en-US" sz="2400" dirty="0">
                  <a:latin typeface="Arial" panose="020B0604020202020204" pitchFamily="34" charset="0"/>
                </a:rPr>
                <a:t>恢复为</a:t>
              </a:r>
              <a:r>
                <a:rPr lang="en-US" altLang="zh-CN" sz="2400" dirty="0">
                  <a:latin typeface="Arial" panose="020B0604020202020204" pitchFamily="34" charset="0"/>
                </a:rPr>
                <a:t>100</a:t>
              </a:r>
              <a:endParaRPr lang="en-US" altLang="zh-CN" sz="2400" dirty="0">
                <a:latin typeface="Arial" panose="020B0604020202020204" pitchFamily="34" charset="0"/>
              </a:endParaRPr>
            </a:p>
          </p:txBody>
        </p:sp>
        <p:sp>
          <p:nvSpPr>
            <p:cNvPr id="48146" name="Rectangle 7"/>
            <p:cNvSpPr/>
            <p:nvPr/>
          </p:nvSpPr>
          <p:spPr>
            <a:xfrm>
              <a:off x="3276" y="2432"/>
              <a:ext cx="1253" cy="326"/>
            </a:xfrm>
            <a:prstGeom prst="rect">
              <a:avLst/>
            </a:prstGeom>
            <a:solidFill>
              <a:srgbClr val="DDFF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48147" name="Rectangle 8"/>
            <p:cNvSpPr/>
            <p:nvPr/>
          </p:nvSpPr>
          <p:spPr>
            <a:xfrm>
              <a:off x="1706" y="2432"/>
              <a:ext cx="1572" cy="326"/>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1">
                                            <p:txEl>
                                              <p:charRg st="21" end="2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6946" name="Rectangle 2"/>
          <p:cNvSpPr>
            <a:spLocks noGrp="1"/>
          </p:cNvSpPr>
          <p:nvPr>
            <p:ph idx="1"/>
          </p:nvPr>
        </p:nvSpPr>
        <p:spPr>
          <a:xfrm>
            <a:off x="285750" y="1071563"/>
            <a:ext cx="8496300" cy="5616575"/>
          </a:xfrm>
        </p:spPr>
        <p:txBody>
          <a:bodyPr vert="horz" wrap="square" lIns="91440" tIns="45720" rIns="91440" bIns="45720" anchor="t" anchorCtr="0"/>
          <a:p>
            <a:pPr marL="357505" indent="-357505" eaLnBrk="1" hangingPunct="1">
              <a:lnSpc>
                <a:spcPts val="4600"/>
              </a:lnSpc>
              <a:buNone/>
            </a:pPr>
            <a:r>
              <a:rPr lang="en-US" altLang="zh-CN" dirty="0">
                <a:solidFill>
                  <a:srgbClr val="0000CC"/>
                </a:solidFill>
                <a:latin typeface="Arial" panose="020B0604020202020204" pitchFamily="34" charset="0"/>
              </a:rPr>
              <a:t>3</a:t>
            </a:r>
            <a:r>
              <a:rPr lang="en-US" altLang="zh-CN" noProof="0" dirty="0" smtClean="0">
                <a:ln>
                  <a:noFill/>
                </a:ln>
                <a:solidFill>
                  <a:srgbClr val="0000CC"/>
                </a:solidFill>
                <a:effectLst/>
                <a:uLnTx/>
                <a:uFillTx/>
                <a:latin typeface="Arial" panose="020B0604020202020204" pitchFamily="34" charset="0"/>
                <a:sym typeface="+mn-ea"/>
              </a:rPr>
              <a:t>) </a:t>
            </a:r>
            <a:r>
              <a:rPr lang="zh-CN" altLang="en-US" dirty="0">
                <a:solidFill>
                  <a:srgbClr val="0033CC"/>
                </a:solidFill>
                <a:latin typeface="Arial" panose="020B0604020202020204" pitchFamily="34" charset="0"/>
              </a:rPr>
              <a:t>三级封锁协议</a:t>
            </a:r>
            <a:r>
              <a:rPr lang="zh-CN" altLang="en-US" dirty="0">
                <a:latin typeface="Arial" panose="020B0604020202020204" pitchFamily="34" charset="0"/>
              </a:rPr>
              <a:t>：在一级封锁协议上加事务</a:t>
            </a:r>
            <a:r>
              <a:rPr lang="en-US" altLang="zh-CN" dirty="0">
                <a:latin typeface="Arial" panose="020B0604020202020204" pitchFamily="34" charset="0"/>
              </a:rPr>
              <a:t>T</a:t>
            </a:r>
            <a:r>
              <a:rPr lang="zh-CN" altLang="en-US" dirty="0">
                <a:latin typeface="Arial" panose="020B0604020202020204" pitchFamily="34" charset="0"/>
              </a:rPr>
              <a:t>在对数据</a:t>
            </a:r>
            <a:r>
              <a:rPr lang="en-US" altLang="zh-CN" dirty="0">
                <a:latin typeface="Arial" panose="020B0604020202020204" pitchFamily="34" charset="0"/>
              </a:rPr>
              <a:t>A</a:t>
            </a:r>
            <a:r>
              <a:rPr lang="zh-CN" altLang="en-US" dirty="0">
                <a:latin typeface="Arial" panose="020B0604020202020204" pitchFamily="34" charset="0"/>
              </a:rPr>
              <a:t>读操作之前必须对</a:t>
            </a:r>
            <a:r>
              <a:rPr lang="en-US" altLang="zh-CN" dirty="0">
                <a:latin typeface="Arial" panose="020B0604020202020204" pitchFamily="34" charset="0"/>
              </a:rPr>
              <a:t>A</a:t>
            </a:r>
            <a:r>
              <a:rPr lang="zh-CN" altLang="en-US" dirty="0">
                <a:latin typeface="Arial" panose="020B0604020202020204" pitchFamily="34" charset="0"/>
              </a:rPr>
              <a:t>加</a:t>
            </a:r>
            <a:r>
              <a:rPr lang="en-US" altLang="zh-CN" dirty="0">
                <a:latin typeface="Arial" panose="020B0604020202020204" pitchFamily="34" charset="0"/>
              </a:rPr>
              <a:t>S</a:t>
            </a:r>
            <a:r>
              <a:rPr lang="zh-CN" altLang="en-US" dirty="0">
                <a:latin typeface="Arial" panose="020B0604020202020204" pitchFamily="34" charset="0"/>
              </a:rPr>
              <a:t>锁，直到事务结束才释放。</a:t>
            </a:r>
            <a:endParaRPr lang="zh-CN" altLang="en-US" dirty="0">
              <a:latin typeface="Arial" panose="020B0604020202020204" pitchFamily="34" charset="0"/>
            </a:endParaRPr>
          </a:p>
          <a:p>
            <a:pPr marL="357505" indent="-357505" eaLnBrk="1" hangingPunct="1">
              <a:spcBef>
                <a:spcPct val="25000"/>
              </a:spcBef>
            </a:pPr>
            <a:r>
              <a:rPr lang="zh-CN" altLang="en-US" dirty="0">
                <a:latin typeface="Arial" panose="020B0604020202020204" pitchFamily="34" charset="0"/>
              </a:rPr>
              <a:t>可防止丢失修改</a:t>
            </a:r>
            <a:endParaRPr lang="zh-CN" altLang="en-US" dirty="0">
              <a:latin typeface="Arial" panose="020B0604020202020204" pitchFamily="34" charset="0"/>
            </a:endParaRPr>
          </a:p>
          <a:p>
            <a:pPr marL="357505" indent="-357505" eaLnBrk="1" hangingPunct="1">
              <a:spcBef>
                <a:spcPct val="25000"/>
              </a:spcBef>
            </a:pPr>
            <a:r>
              <a:rPr lang="zh-CN" altLang="en-US" dirty="0">
                <a:latin typeface="Arial" panose="020B0604020202020204" pitchFamily="34" charset="0"/>
              </a:rPr>
              <a:t>可防止读脏数据</a:t>
            </a:r>
            <a:endParaRPr lang="zh-CN" altLang="en-US" dirty="0">
              <a:latin typeface="Arial" panose="020B0604020202020204" pitchFamily="34" charset="0"/>
            </a:endParaRPr>
          </a:p>
          <a:p>
            <a:pPr marL="357505" indent="-357505" eaLnBrk="1" hangingPunct="1">
              <a:spcBef>
                <a:spcPct val="25000"/>
              </a:spcBef>
            </a:pPr>
            <a:r>
              <a:rPr lang="zh-CN" altLang="en-US" dirty="0">
                <a:latin typeface="Arial" panose="020B0604020202020204" pitchFamily="34" charset="0"/>
              </a:rPr>
              <a:t>可防止不可重复读</a:t>
            </a:r>
            <a:endParaRPr lang="zh-CN" altLang="en-US" dirty="0">
              <a:latin typeface="Arial" panose="020B0604020202020204" pitchFamily="34" charset="0"/>
            </a:endParaRPr>
          </a:p>
        </p:txBody>
      </p:sp>
      <p:sp>
        <p:nvSpPr>
          <p:cNvPr id="4669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封锁协议</a:t>
            </a:r>
            <a:endParaRPr kumimoji="0" lang="zh-CN" altLang="en-US"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6">
                                            <p:txEl>
                                              <p:charRg st="50" end="58"/>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6946">
                                            <p:txEl>
                                              <p:charRg st="58" end="6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6946">
                                            <p:txEl>
                                              <p:charRg st="66" end="7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6"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0178" name="Picture 10" descr="paint"/>
          <p:cNvPicPr>
            <a:picLocks noChangeAspect="1"/>
          </p:cNvPicPr>
          <p:nvPr/>
        </p:nvPicPr>
        <p:blipFill>
          <a:blip r:embed="rId1">
            <a:clrChange>
              <a:clrFrom>
                <a:srgbClr val="C0C0C0"/>
              </a:clrFrom>
              <a:clrTo>
                <a:srgbClr val="C0C0C0">
                  <a:alpha val="0"/>
                </a:srgbClr>
              </a:clrTo>
            </a:clrChange>
          </a:blip>
          <a:stretch>
            <a:fillRect/>
          </a:stretch>
        </p:blipFill>
        <p:spPr>
          <a:xfrm>
            <a:off x="0" y="838200"/>
            <a:ext cx="4716463" cy="142875"/>
          </a:xfrm>
          <a:prstGeom prst="rect">
            <a:avLst/>
          </a:prstGeom>
          <a:noFill/>
          <a:ln w="9525">
            <a:noFill/>
          </a:ln>
        </p:spPr>
      </p:pic>
      <p:sp>
        <p:nvSpPr>
          <p:cNvPr id="468994" name="Rectangle 2"/>
          <p:cNvSpPr>
            <a:spLocks noGrp="1" noChangeArrowheads="1"/>
          </p:cNvSpPr>
          <p:nvPr>
            <p:ph type="title"/>
          </p:nvPr>
        </p:nvSpPr>
        <p:spPr>
          <a:xfrm>
            <a:off x="179388" y="73025"/>
            <a:ext cx="86852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8.3.2 </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封锁协议</a:t>
            </a:r>
            <a:endParaRPr kumimoji="0" lang="zh-CN" altLang="en-US" sz="36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50179" name="Rectangle 3"/>
          <p:cNvSpPr>
            <a:spLocks noGrp="1"/>
          </p:cNvSpPr>
          <p:nvPr>
            <p:ph type="body" sz="half" idx="1"/>
          </p:nvPr>
        </p:nvSpPr>
        <p:spPr>
          <a:xfrm>
            <a:off x="152400" y="928688"/>
            <a:ext cx="4348163" cy="5543550"/>
          </a:xfrm>
        </p:spPr>
        <p:txBody>
          <a:bodyPr vert="horz" wrap="square" lIns="91440" tIns="45720" rIns="91440" bIns="45720" anchor="t" anchorCtr="0"/>
          <a:p>
            <a:pPr marL="357505" indent="-357505" eaLnBrk="1" hangingPunct="1">
              <a:spcBef>
                <a:spcPct val="25000"/>
              </a:spcBef>
              <a:buClr>
                <a:srgbClr val="FF0000"/>
              </a:buClr>
              <a:buSzPct val="65000"/>
              <a:buFont typeface="Wingdings" panose="05000000000000000000" pitchFamily="2" charset="2"/>
            </a:pPr>
            <a:r>
              <a:rPr lang="zh-CN" altLang="en-US" sz="3200" dirty="0">
                <a:solidFill>
                  <a:srgbClr val="0033CC"/>
                </a:solidFill>
                <a:latin typeface="Arial" panose="020B0604020202020204" pitchFamily="34" charset="0"/>
              </a:rPr>
              <a:t>三级封锁协议</a:t>
            </a:r>
            <a:r>
              <a:rPr lang="zh-CN" altLang="en-US" sz="3200" dirty="0">
                <a:latin typeface="Arial" panose="020B0604020202020204" pitchFamily="34" charset="0"/>
              </a:rPr>
              <a:t>举例：</a:t>
            </a:r>
            <a:endParaRPr lang="en-US" altLang="zh-CN" sz="3200" dirty="0">
              <a:latin typeface="Arial" panose="020B0604020202020204" pitchFamily="34" charset="0"/>
            </a:endParaRPr>
          </a:p>
          <a:p>
            <a:pPr marL="357505" indent="-357505" eaLnBrk="1" hangingPunct="1">
              <a:spcBef>
                <a:spcPts val="600"/>
              </a:spcBef>
              <a:buClr>
                <a:srgbClr val="FF0000"/>
              </a:buClr>
              <a:buSzPct val="65000"/>
              <a:buFont typeface="Wingdings" panose="05000000000000000000" pitchFamily="2" charset="2"/>
              <a:buNone/>
            </a:pPr>
            <a:r>
              <a:rPr lang="zh-CN" altLang="en-US" sz="3200" dirty="0">
                <a:latin typeface="Arial" panose="020B0604020202020204" pitchFamily="34" charset="0"/>
              </a:rPr>
              <a:t>   可防止不可重复读</a:t>
            </a:r>
            <a:endParaRPr lang="en-US" altLang="zh-CN" sz="3200" dirty="0">
              <a:latin typeface="Arial" panose="020B0604020202020204" pitchFamily="34" charset="0"/>
            </a:endParaRPr>
          </a:p>
          <a:p>
            <a:pPr marL="357505" indent="-357505" eaLnBrk="1" hangingPunct="1">
              <a:buClr>
                <a:srgbClr val="FF0000"/>
              </a:buClr>
              <a:buSzPct val="65000"/>
              <a:buFont typeface="Wingdings" panose="05000000000000000000" pitchFamily="2" charset="2"/>
              <a:buNone/>
            </a:pPr>
            <a:r>
              <a:rPr lang="zh-CN" altLang="en-US" sz="3200" dirty="0">
                <a:latin typeface="Arial" panose="020B0604020202020204" pitchFamily="34" charset="0"/>
              </a:rPr>
              <a:t>原：</a:t>
            </a:r>
            <a:endParaRPr lang="zh-CN" altLang="en-US" sz="3200" dirty="0">
              <a:latin typeface="Arial" panose="020B0604020202020204" pitchFamily="34" charset="0"/>
            </a:endParaRPr>
          </a:p>
        </p:txBody>
      </p:sp>
      <p:graphicFrame>
        <p:nvGraphicFramePr>
          <p:cNvPr id="469025" name="Group 33"/>
          <p:cNvGraphicFramePr>
            <a:graphicFrameLocks noGrp="1"/>
          </p:cNvGraphicFramePr>
          <p:nvPr>
            <p:ph sz="half" idx="1"/>
          </p:nvPr>
        </p:nvGraphicFramePr>
        <p:xfrm>
          <a:off x="4427538" y="188913"/>
          <a:ext cx="4502150" cy="6577013"/>
        </p:xfrm>
        <a:graphic>
          <a:graphicData uri="http://schemas.openxmlformats.org/drawingml/2006/table">
            <a:tbl>
              <a:tblPr/>
              <a:tblGrid>
                <a:gridCol w="2293938"/>
                <a:gridCol w="2208212"/>
              </a:tblGrid>
              <a:tr h="57907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dirty="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1</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marT="45716" marB="45716"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FFDDDD"/>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T</a:t>
                      </a:r>
                      <a:r>
                        <a:rPr kumimoji="0" lang="en-US" altLang="zh-CN" sz="3200" b="1" i="0" u="none" strike="noStrike" cap="none" normalizeH="0" baseline="-30000" smtClean="0">
                          <a:ln>
                            <a:noFill/>
                          </a:ln>
                          <a:solidFill>
                            <a:srgbClr val="0000CC"/>
                          </a:solidFill>
                          <a:effectLst/>
                          <a:latin typeface="Arial" panose="020B0604020202020204" pitchFamily="34" charset="0"/>
                          <a:ea typeface="黑体" panose="02010609060101010101" pitchFamily="2" charset="-122"/>
                          <a:cs typeface="Times New Roman" panose="02020603050405020304" pitchFamily="18" charset="0"/>
                        </a:rPr>
                        <a:t>2</a:t>
                      </a:r>
                      <a:endParaRPr kumimoji="0" lang="en-US" altLang="zh-CN" sz="32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T="45716" marB="45716"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DDFFDD"/>
                    </a:solidFill>
                  </a:tcPr>
                </a:tc>
              </a:tr>
              <a:tr h="5997942">
                <a:tc>
                  <a:txBody>
                    <a:bodyPr/>
                    <a:lstStyle/>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Slock A</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Slock B</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A(=50)</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B(=100)</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A+B=150</a:t>
                      </a:r>
                      <a:endParaRPr kumimoji="0" lang="en-US" altLang="zh-CN" sz="2400" b="0"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A(=50)</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B(=100)</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A+B=150</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Commit</a:t>
                      </a:r>
                      <a:endParaRPr kumimoji="0" lang="en-US" altLang="zh-CN" sz="2400" b="0"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Unlock B</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Unlock A</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12700" cap="flat" cmpd="sng" algn="ctr">
                      <a:solidFill>
                        <a:schemeClr val="bg2"/>
                      </a:solidFill>
                      <a:prstDash val="solid"/>
                      <a:round/>
                      <a:headEnd type="none" w="sm" len="sm"/>
                      <a:tailEnd type="none" w="sm" len="sm"/>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FFDDDD"/>
                    </a:solidFill>
                  </a:tcPr>
                </a:tc>
                <a:tc>
                  <a:txBody>
                    <a:bodyPr/>
                    <a:lstStyle/>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Xlock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B</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等待</a:t>
                      </a:r>
                      <a:endPar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Xlock</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B</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读</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B(=100)</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B=</a:t>
                      </a:r>
                      <a:r>
                        <a:rPr kumimoji="0" lang="en-US" altLang="zh-CN" sz="2400" b="1" i="0" u="none" strike="noStrike" cap="none" normalizeH="0" baseline="0" dirty="0" err="1" smtClean="0">
                          <a:ln>
                            <a:noFill/>
                          </a:ln>
                          <a:solidFill>
                            <a:srgbClr val="000000"/>
                          </a:solidFill>
                          <a:effectLst/>
                          <a:latin typeface="Arial" panose="020B0604020202020204" pitchFamily="34" charset="0"/>
                          <a:ea typeface="黑体" panose="02010609060101010101" pitchFamily="2" charset="-122"/>
                        </a:rPr>
                        <a:t>B</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写回</a:t>
                      </a: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B(=200)</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Commit</a:t>
                      </a:r>
                      <a:endParaRPr kumimoji="0" lang="en-US" altLang="zh-CN" sz="2400" b="0"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p>
                      <a:pPr marL="0" marR="0" lvl="0" indent="0" algn="l" defTabSz="914400" rtl="0" eaLnBrk="1" fontAlgn="base" latinLnBrk="0" hangingPunct="1">
                        <a:lnSpc>
                          <a:spcPct val="95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Unlock B</a:t>
                      </a:r>
                      <a:r>
                        <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rPr>
                        <a:t> </a:t>
                      </a:r>
                      <a:endParaRPr kumimoji="0" lang="en-US" altLang="zh-CN" sz="2400" b="0" i="0" u="none" strike="noStrike" cap="none" normalizeH="0" baseline="0" dirty="0" smtClean="0">
                        <a:ln>
                          <a:noFill/>
                        </a:ln>
                        <a:solidFill>
                          <a:srgbClr val="000000"/>
                        </a:solidFill>
                        <a:effectLst/>
                        <a:latin typeface="Arial" panose="020B0604020202020204" pitchFamily="34" charset="0"/>
                        <a:ea typeface="黑体" panose="02010609060101010101" pitchFamily="2" charset="-122"/>
                      </a:endParaRPr>
                    </a:p>
                  </a:txBody>
                  <a:tcPr marT="45716" marB="45716"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sm" len="sm"/>
                      <a:tailEnd type="none" w="sm" len="sm"/>
                    </a:lnR>
                    <a:lnT w="12700" cap="flat" cmpd="sng" algn="ctr">
                      <a:solidFill>
                        <a:schemeClr val="bg2"/>
                      </a:solidFill>
                      <a:prstDash val="solid"/>
                      <a:round/>
                      <a:headEnd type="none" w="sm" len="sm"/>
                      <a:tailEnd type="none" w="sm" len="sm"/>
                    </a:lnT>
                    <a:lnB w="12700" cap="flat" cmpd="sng" algn="ctr">
                      <a:solidFill>
                        <a:schemeClr val="bg2"/>
                      </a:solidFill>
                      <a:prstDash val="solid"/>
                      <a:round/>
                      <a:headEnd type="none" w="sm" len="sm"/>
                      <a:tailEnd type="none" w="sm" len="sm"/>
                    </a:lnB>
                    <a:lnTlToBr>
                      <a:noFill/>
                    </a:lnTlToBr>
                    <a:lnBlToTr>
                      <a:noFill/>
                    </a:lnBlToTr>
                    <a:solidFill>
                      <a:srgbClr val="DDFFDD"/>
                    </a:solidFill>
                  </a:tcPr>
                </a:tc>
              </a:tr>
            </a:tbl>
          </a:graphicData>
        </a:graphic>
      </p:graphicFrame>
      <p:grpSp>
        <p:nvGrpSpPr>
          <p:cNvPr id="2" name="Group 17"/>
          <p:cNvGrpSpPr/>
          <p:nvPr/>
        </p:nvGrpSpPr>
        <p:grpSpPr>
          <a:xfrm>
            <a:off x="501650" y="2571750"/>
            <a:ext cx="3641725" cy="4071938"/>
            <a:chOff x="884" y="1843"/>
            <a:chExt cx="2487" cy="2358"/>
          </a:xfrm>
        </p:grpSpPr>
        <p:sp>
          <p:nvSpPr>
            <p:cNvPr id="50193" name="Rectangle 6"/>
            <p:cNvSpPr/>
            <p:nvPr/>
          </p:nvSpPr>
          <p:spPr>
            <a:xfrm>
              <a:off x="2152" y="2185"/>
              <a:ext cx="1219" cy="2016"/>
            </a:xfrm>
            <a:prstGeom prst="rect">
              <a:avLst/>
            </a:prstGeom>
            <a:solidFill>
              <a:srgbClr val="DDFF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spcBef>
                  <a:spcPts val="1800"/>
                </a:spcBef>
                <a:buNone/>
              </a:pPr>
              <a:endParaRPr lang="en-US" altLang="zh-CN" sz="2400" dirty="0">
                <a:solidFill>
                  <a:srgbClr val="0000CC"/>
                </a:solidFill>
                <a:latin typeface="Arial" panose="020B0604020202020204" pitchFamily="34" charset="0"/>
              </a:endParaRPr>
            </a:p>
            <a:p>
              <a:pPr marL="0" lvl="0" indent="0" eaLnBrk="1" hangingPunct="1">
                <a:spcBef>
                  <a:spcPts val="600"/>
                </a:spcBef>
                <a:buNone/>
              </a:pPr>
              <a:r>
                <a:rPr lang="zh-CN" altLang="en-US" sz="2400" dirty="0">
                  <a:latin typeface="Arial" panose="020B0604020202020204" pitchFamily="34" charset="0"/>
                </a:rPr>
                <a:t>读</a:t>
              </a:r>
              <a:r>
                <a:rPr lang="en-US" altLang="zh-CN" sz="2400" dirty="0">
                  <a:latin typeface="Arial" panose="020B0604020202020204" pitchFamily="34" charset="0"/>
                </a:rPr>
                <a:t>B=100  B←B</a:t>
              </a:r>
              <a:r>
                <a:rPr lang="en-US" altLang="zh-CN" sz="2800" dirty="0">
                  <a:latin typeface="Arial" panose="020B0604020202020204" pitchFamily="34" charset="0"/>
                  <a:sym typeface="Symbol" panose="05050102010706020507" pitchFamily="18" charset="2"/>
                </a:rPr>
                <a:t></a:t>
              </a:r>
              <a:r>
                <a:rPr lang="en-US" altLang="zh-CN" sz="2400" dirty="0">
                  <a:latin typeface="Arial" panose="020B0604020202020204" pitchFamily="34" charset="0"/>
                </a:rPr>
                <a:t>2</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写回</a:t>
              </a:r>
              <a:r>
                <a:rPr lang="en-US" altLang="zh-CN" sz="2400" dirty="0">
                  <a:latin typeface="Arial" panose="020B0604020202020204" pitchFamily="34" charset="0"/>
                </a:rPr>
                <a:t>B=200</a:t>
              </a:r>
              <a:endParaRPr lang="en-US" altLang="zh-CN" sz="2400" dirty="0">
                <a:latin typeface="Arial" panose="020B0604020202020204" pitchFamily="34" charset="0"/>
              </a:endParaRPr>
            </a:p>
            <a:p>
              <a:pPr marL="0" lvl="0" indent="0" eaLnBrk="1" hangingPunct="1">
                <a:buNone/>
              </a:pPr>
              <a:r>
                <a:rPr lang="en-US" altLang="zh-CN" sz="2800" dirty="0">
                  <a:solidFill>
                    <a:srgbClr val="0000CC"/>
                  </a:solidFill>
                  <a:latin typeface="Arial" panose="020B0604020202020204" pitchFamily="34" charset="0"/>
                </a:rPr>
                <a:t> </a:t>
              </a:r>
              <a:endParaRPr lang="en-US" altLang="zh-CN" sz="2800" dirty="0">
                <a:solidFill>
                  <a:srgbClr val="0000CC"/>
                </a:solidFill>
                <a:latin typeface="Arial" panose="020B0604020202020204" pitchFamily="34" charset="0"/>
              </a:endParaRPr>
            </a:p>
            <a:p>
              <a:pPr marL="0" lvl="0" indent="0" eaLnBrk="1" hangingPunct="1">
                <a:buNone/>
              </a:pPr>
              <a:endParaRPr lang="en-US" altLang="zh-CN" sz="2800" dirty="0">
                <a:solidFill>
                  <a:srgbClr val="0000CC"/>
                </a:solidFill>
                <a:latin typeface="Arial" panose="020B0604020202020204" pitchFamily="34" charset="0"/>
              </a:endParaRPr>
            </a:p>
          </p:txBody>
        </p:sp>
        <p:sp>
          <p:nvSpPr>
            <p:cNvPr id="50194" name="Rectangle 7"/>
            <p:cNvSpPr/>
            <p:nvPr/>
          </p:nvSpPr>
          <p:spPr>
            <a:xfrm>
              <a:off x="884" y="2185"/>
              <a:ext cx="1268" cy="2016"/>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A=50 </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B=100</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求</a:t>
              </a:r>
              <a:r>
                <a:rPr lang="en-US" altLang="zh-CN" sz="2400" dirty="0">
                  <a:latin typeface="Arial" panose="020B0604020202020204" pitchFamily="34" charset="0"/>
                </a:rPr>
                <a:t>A+B=150</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 </a:t>
              </a:r>
              <a:endParaRPr lang="en-US" altLang="zh-CN" sz="2400" dirty="0">
                <a:latin typeface="Arial" panose="020B0604020202020204" pitchFamily="34" charset="0"/>
              </a:endParaRPr>
            </a:p>
            <a:p>
              <a:pPr marL="0" lvl="0" indent="0" eaLnBrk="1" hangingPunct="1">
                <a:buNone/>
              </a:pPr>
              <a:r>
                <a:rPr lang="en-US" altLang="zh-CN" sz="2400" dirty="0">
                  <a:latin typeface="Arial" panose="020B0604020202020204" pitchFamily="34" charset="0"/>
                </a:rPr>
                <a:t> </a:t>
              </a:r>
              <a:endParaRPr lang="en-US" altLang="zh-CN" sz="2400" dirty="0">
                <a:latin typeface="Arial" panose="020B0604020202020204" pitchFamily="34" charset="0"/>
              </a:endParaRPr>
            </a:p>
            <a:p>
              <a:pPr marL="0" lvl="0" indent="0" eaLnBrk="1" hangingPunct="1">
                <a:buNone/>
              </a:pP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A=50 </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读</a:t>
              </a:r>
              <a:r>
                <a:rPr lang="en-US" altLang="zh-CN" sz="2400" dirty="0">
                  <a:latin typeface="Arial" panose="020B0604020202020204" pitchFamily="34" charset="0"/>
                </a:rPr>
                <a:t>B=200</a:t>
              </a:r>
              <a:endParaRPr lang="en-US" altLang="zh-CN" sz="2400" dirty="0">
                <a:latin typeface="Arial" panose="020B0604020202020204" pitchFamily="34" charset="0"/>
              </a:endParaRPr>
            </a:p>
            <a:p>
              <a:pPr marL="0" lvl="0" indent="0" eaLnBrk="1" hangingPunct="1">
                <a:buNone/>
              </a:pPr>
              <a:r>
                <a:rPr lang="zh-CN" altLang="en-US" sz="2400" dirty="0">
                  <a:latin typeface="Arial" panose="020B0604020202020204" pitchFamily="34" charset="0"/>
                </a:rPr>
                <a:t>求</a:t>
              </a:r>
              <a:r>
                <a:rPr lang="en-US" altLang="zh-CN" sz="2400" dirty="0">
                  <a:latin typeface="Arial" panose="020B0604020202020204" pitchFamily="34" charset="0"/>
                </a:rPr>
                <a:t>A+B=250 </a:t>
              </a:r>
              <a:endParaRPr lang="en-US" altLang="zh-CN" sz="2400" dirty="0">
                <a:latin typeface="Arial" panose="020B0604020202020204" pitchFamily="34" charset="0"/>
              </a:endParaRPr>
            </a:p>
          </p:txBody>
        </p:sp>
        <p:sp>
          <p:nvSpPr>
            <p:cNvPr id="50195" name="Rectangle 8"/>
            <p:cNvSpPr/>
            <p:nvPr/>
          </p:nvSpPr>
          <p:spPr>
            <a:xfrm>
              <a:off x="2152" y="1843"/>
              <a:ext cx="1219" cy="342"/>
            </a:xfrm>
            <a:prstGeom prst="rect">
              <a:avLst/>
            </a:prstGeom>
            <a:solidFill>
              <a:srgbClr val="DDFF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2</a:t>
              </a:r>
              <a:endParaRPr lang="en-US" altLang="zh-CN" sz="2800" baseline="-25000" dirty="0">
                <a:solidFill>
                  <a:srgbClr val="0000CC"/>
                </a:solidFill>
                <a:latin typeface="Arial" panose="020B0604020202020204" pitchFamily="34" charset="0"/>
              </a:endParaRPr>
            </a:p>
          </p:txBody>
        </p:sp>
        <p:sp>
          <p:nvSpPr>
            <p:cNvPr id="50196" name="Rectangle 9"/>
            <p:cNvSpPr/>
            <p:nvPr/>
          </p:nvSpPr>
          <p:spPr>
            <a:xfrm>
              <a:off x="884" y="1843"/>
              <a:ext cx="1268" cy="342"/>
            </a:xfrm>
            <a:prstGeom prst="rect">
              <a:avLst/>
            </a:prstGeom>
            <a:solidFill>
              <a:srgbClr val="FFDDDD"/>
            </a:solidFill>
            <a:ln w="28575" cap="flat" cmpd="sng">
              <a:solidFill>
                <a:srgbClr val="000000"/>
              </a:solidFill>
              <a:prstDash val="solid"/>
              <a:miter/>
              <a:headEnd type="none" w="med" len="med"/>
              <a:tailEnd type="none" w="med" len="med"/>
            </a:ln>
          </p:spPr>
          <p:txBody>
            <a:bodyPr lIns="90000" tIns="46800" rIns="90000" bIns="4680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0000CC"/>
                </a:buClr>
                <a:buSzPct val="65000"/>
                <a:buFont typeface="Wingdings" panose="05000000000000000000" pitchFamily="2" charset="2"/>
                <a:buChar char="n"/>
                <a:defRPr sz="3200" b="1">
                  <a:solidFill>
                    <a:srgbClr val="000000"/>
                  </a:solidFill>
                  <a:latin typeface="+mn-lt"/>
                  <a:ea typeface="+mn-ea"/>
                </a:defRPr>
              </a:lvl2pPr>
              <a:lvl3pPr marL="1262380" indent="-269875"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790700" indent="-1809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4pPr>
              <a:lvl5pPr marL="2330450" indent="-269875" algn="l" rtl="0" eaLnBrk="0" fontAlgn="base" hangingPunct="0">
                <a:spcBef>
                  <a:spcPct val="20000"/>
                </a:spcBef>
                <a:spcAft>
                  <a:spcPct val="0"/>
                </a:spcAft>
                <a:buClr>
                  <a:srgbClr val="008000"/>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None/>
              </a:pPr>
              <a:r>
                <a:rPr lang="en-US" altLang="zh-CN" sz="2800" dirty="0">
                  <a:solidFill>
                    <a:srgbClr val="0000CC"/>
                  </a:solidFill>
                  <a:latin typeface="Arial" panose="020B0604020202020204" pitchFamily="34" charset="0"/>
                </a:rPr>
                <a:t>T</a:t>
              </a:r>
              <a:r>
                <a:rPr lang="en-US" altLang="zh-CN" sz="2800" baseline="-25000" dirty="0">
                  <a:solidFill>
                    <a:srgbClr val="0000CC"/>
                  </a:solidFill>
                  <a:latin typeface="Arial" panose="020B0604020202020204" pitchFamily="34" charset="0"/>
                </a:rPr>
                <a:t>1</a:t>
              </a:r>
              <a:endParaRPr lang="en-US" altLang="zh-CN" sz="2800" baseline="-25000" dirty="0">
                <a:solidFill>
                  <a:srgbClr val="0000CC"/>
                </a:solidFill>
                <a:latin typeface="Arial" panose="020B0604020202020204" pitchFamily="34" charset="0"/>
              </a:endParaRP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charRg st="22" end="2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tags/tag1.xml><?xml version="1.0" encoding="utf-8"?>
<p:tagLst xmlns:p="http://schemas.openxmlformats.org/presentationml/2006/main">
  <p:tag name="COMMONDATA" val="eyJoZGlkIjoiNjAxYWNjNWM4YjUwYzdkM2Y4ZDNlNzBkZmE0NjZkZTkifQ=="/>
  <p:tag name="KSO_WPP_MARK_KEY" val="bc45baa6-16d8-49f7-b5ff-6ab46d38ee73"/>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幼圆"/>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000000"/>
          </a:solid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28575" cap="flat" cmpd="sng" algn="ctr">
          <a:solidFill>
            <a:srgbClr val="000000"/>
          </a:solid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6412</Words>
  <Application>WPS 演示</Application>
  <PresentationFormat>全屏显示(4:3)</PresentationFormat>
  <Paragraphs>934</Paragraphs>
  <Slides>47</Slides>
  <Notes>37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47</vt:i4>
      </vt:variant>
    </vt:vector>
  </HeadingPairs>
  <TitlesOfParts>
    <vt:vector size="63" baseType="lpstr">
      <vt:lpstr>Arial</vt:lpstr>
      <vt:lpstr>宋体</vt:lpstr>
      <vt:lpstr>Wingdings</vt:lpstr>
      <vt:lpstr>黑体</vt:lpstr>
      <vt:lpstr>Times New Roman</vt:lpstr>
      <vt:lpstr>楷体_GB2312</vt:lpstr>
      <vt:lpstr>幼圆</vt:lpstr>
      <vt:lpstr>华文新魏</vt:lpstr>
      <vt:lpstr>华文中宋</vt:lpstr>
      <vt:lpstr>Tahoma</vt:lpstr>
      <vt:lpstr>微软雅黑</vt:lpstr>
      <vt:lpstr>Arial Unicode MS</vt:lpstr>
      <vt:lpstr>Wingdings</vt:lpstr>
      <vt:lpstr>Symbol</vt:lpstr>
      <vt:lpstr>新宋体</vt:lpstr>
      <vt:lpstr>HXH</vt:lpstr>
      <vt:lpstr>PowerPoint 演示文稿</vt:lpstr>
      <vt:lpstr>主要内容</vt:lpstr>
      <vt:lpstr>8.1.1 什么是事务(Transaction)</vt:lpstr>
      <vt:lpstr>8.1.1 什么是事务(Transaction)</vt:lpstr>
      <vt:lpstr>8.1.2 事务执行的状态</vt:lpstr>
      <vt:lpstr>8.1.3 事务控制语句</vt:lpstr>
      <vt:lpstr>8.1.3 事务控制语句</vt:lpstr>
      <vt:lpstr>8.1.3 事务控制语句</vt:lpstr>
      <vt:lpstr>8.1.3 事务控制语句</vt:lpstr>
      <vt:lpstr>8.1.3 事务控制语句举例</vt:lpstr>
      <vt:lpstr>8.1.3 事务控制语句举例</vt:lpstr>
      <vt:lpstr>8.1.4 事务的ACID特性</vt:lpstr>
      <vt:lpstr>8.1.4 事务的ACID特性</vt:lpstr>
      <vt:lpstr>8.1.4 事务的ACID特性</vt:lpstr>
      <vt:lpstr>8.1.4 事务的ACID特性</vt:lpstr>
      <vt:lpstr>主要内容</vt:lpstr>
      <vt:lpstr>8.2.1 事务并发执行</vt:lpstr>
      <vt:lpstr>8.2.1 事务并发执行</vt:lpstr>
      <vt:lpstr>PowerPoint 演示文稿</vt:lpstr>
      <vt:lpstr>事务并发执行</vt:lpstr>
      <vt:lpstr>8.2.2 并发执行的潜在问题</vt:lpstr>
      <vt:lpstr>1) 丢失修改</vt:lpstr>
      <vt:lpstr>2) 读"脏"数据</vt:lpstr>
      <vt:lpstr>3) 不可重复读</vt:lpstr>
      <vt:lpstr>三类不可重复读</vt:lpstr>
      <vt:lpstr>8.2.2 并发执行的潜在问题</vt:lpstr>
      <vt:lpstr>8.2.3 事务的调度</vt:lpstr>
      <vt:lpstr>8.2.3 事务的调度</vt:lpstr>
      <vt:lpstr>1) 可串行化调度</vt:lpstr>
      <vt:lpstr>事务调度举例</vt:lpstr>
      <vt:lpstr>具有什么性质的并发调度是可串行化的</vt:lpstr>
      <vt:lpstr>具有什么性质的并发调度是可串行化的</vt:lpstr>
      <vt:lpstr>2) 冲突可串行化调度</vt:lpstr>
      <vt:lpstr>事务调度举例</vt:lpstr>
      <vt:lpstr>事务调度举例</vt:lpstr>
      <vt:lpstr>事务调度举例</vt:lpstr>
      <vt:lpstr>主要内容</vt:lpstr>
      <vt:lpstr>8.3.1 封锁</vt:lpstr>
      <vt:lpstr>8.3.1 封锁</vt:lpstr>
      <vt:lpstr>共享锁/排它锁控制方式</vt:lpstr>
      <vt:lpstr>8.3.1 封锁</vt:lpstr>
      <vt:lpstr>8.3.2 封锁协议(Locking Protocol)</vt:lpstr>
      <vt:lpstr>8.3.2 封锁协议</vt:lpstr>
      <vt:lpstr>8.3.2 封锁协议</vt:lpstr>
      <vt:lpstr>8.3.2 封锁协议</vt:lpstr>
      <vt:lpstr>8.3.2 封锁协议</vt:lpstr>
      <vt:lpstr>8.3.2 封锁协议</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885</cp:revision>
  <dcterms:created xsi:type="dcterms:W3CDTF">2007-03-26T07:48:00Z</dcterms:created>
  <dcterms:modified xsi:type="dcterms:W3CDTF">2023-06-06T06:31:21Z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57A48AD1AE474989BC06443648D20D35</vt:lpwstr>
  </property>
  <property fmtid="{D5CDD505-2E9C-101B-9397-08002B2CF9AE}" pid="3" name="KSOProductBuildVer">
    <vt:lpwstr>2052-11.1.0.14309</vt:lpwstr>
  </property>
</Properties>
</file>