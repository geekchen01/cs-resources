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5"/>
  </p:handoutMasterIdLst>
  <p:sldIdLst>
    <p:sldId id="400" r:id="rId3"/>
    <p:sldId id="389" r:id="rId4"/>
    <p:sldId id="408" r:id="rId6"/>
    <p:sldId id="409" r:id="rId7"/>
    <p:sldId id="410" r:id="rId8"/>
    <p:sldId id="411" r:id="rId9"/>
    <p:sldId id="412" r:id="rId10"/>
    <p:sldId id="413" r:id="rId11"/>
    <p:sldId id="414" r:id="rId12"/>
    <p:sldId id="415" r:id="rId13"/>
    <p:sldId id="416" r:id="rId14"/>
    <p:sldId id="417" r:id="rId15"/>
    <p:sldId id="418" r:id="rId16"/>
    <p:sldId id="465" r:id="rId17"/>
    <p:sldId id="419" r:id="rId18"/>
    <p:sldId id="420" r:id="rId19"/>
    <p:sldId id="421" r:id="rId20"/>
    <p:sldId id="424" r:id="rId21"/>
    <p:sldId id="425" r:id="rId22"/>
    <p:sldId id="426" r:id="rId23"/>
    <p:sldId id="427" r:id="rId24"/>
    <p:sldId id="470" r:id="rId25"/>
    <p:sldId id="456" r:id="rId26"/>
    <p:sldId id="432" r:id="rId27"/>
    <p:sldId id="433" r:id="rId28"/>
    <p:sldId id="434" r:id="rId29"/>
    <p:sldId id="435" r:id="rId30"/>
    <p:sldId id="436" r:id="rId31"/>
    <p:sldId id="437" r:id="rId32"/>
    <p:sldId id="438" r:id="rId33"/>
    <p:sldId id="439" r:id="rId34"/>
    <p:sldId id="440" r:id="rId35"/>
    <p:sldId id="441" r:id="rId36"/>
    <p:sldId id="442" r:id="rId37"/>
    <p:sldId id="446" r:id="rId38"/>
    <p:sldId id="447" r:id="rId39"/>
    <p:sldId id="448" r:id="rId40"/>
    <p:sldId id="449" r:id="rId41"/>
    <p:sldId id="450" r:id="rId42"/>
    <p:sldId id="451" r:id="rId43"/>
    <p:sldId id="452" r:id="rId44"/>
  </p:sldIdLst>
  <p:sldSz cx="9144000" cy="6858000" type="screen4x3"/>
  <p:notesSz cx="6858000" cy="9144000"/>
  <p:custDataLst>
    <p:tags r:id="rId49"/>
  </p:custDataLst>
  <p:defaultTextStyle>
    <a:defPPr>
      <a:defRPr lang="zh-CN"/>
    </a:defPPr>
    <a:lvl1pPr marL="0" lvl="0"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CCFF"/>
    <a:srgbClr val="FFFFCC"/>
    <a:srgbClr val="FFCCCC"/>
    <a:srgbClr val="FF0000"/>
    <a:srgbClr val="000000"/>
    <a:srgbClr val="FFE1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647"/>
    <p:restoredTop sz="69498"/>
  </p:normalViewPr>
  <p:slideViewPr>
    <p:cSldViewPr showGuides="1">
      <p:cViewPr varScale="1">
        <p:scale>
          <a:sx n="76" d="100"/>
          <a:sy n="76" d="100"/>
        </p:scale>
        <p:origin x="1909" y="29"/>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9" Type="http://schemas.openxmlformats.org/officeDocument/2006/relationships/tags" Target="tags/tag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969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6963"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6964"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6965"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171" name="Rectangle 2"/>
          <p:cNvSpPr>
            <a:spLocks noRot="1" noTextEdit="1"/>
          </p:cNvSpPr>
          <p:nvPr>
            <p:ph type="sldImg"/>
          </p:nvPr>
        </p:nvSpPr>
        <p:spPr/>
      </p:sp>
      <p:sp>
        <p:nvSpPr>
          <p:cNvPr id="71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219" name="Rectangle 2"/>
          <p:cNvSpPr>
            <a:spLocks noRot="1" noTextEdit="1"/>
          </p:cNvSpPr>
          <p:nvPr>
            <p:ph type="sldImg"/>
          </p:nvPr>
        </p:nvSpPr>
        <p:spPr/>
      </p:sp>
      <p:sp>
        <p:nvSpPr>
          <p:cNvPr id="92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7" name="Rectangle 2"/>
          <p:cNvSpPr>
            <a:spLocks noRot="1" noTextEdit="1"/>
          </p:cNvSpPr>
          <p:nvPr>
            <p:ph type="sldImg"/>
          </p:nvPr>
        </p:nvSpPr>
        <p:spPr/>
      </p:sp>
      <p:sp>
        <p:nvSpPr>
          <p:cNvPr id="11268" name="Rectangle 3"/>
          <p:cNvSpPr>
            <a:spLocks noGrp="1"/>
          </p:cNvSpPr>
          <p:nvPr>
            <p:ph type="body" idx="1"/>
          </p:nvPr>
        </p:nvSpPr>
        <p:spPr/>
        <p:txBody>
          <a:bodyPr wrap="square" lIns="91440" tIns="45720" rIns="91440" bIns="45720" anchor="t" anchorCtr="0"/>
          <a:p>
            <a:pPr lvl="0" algn="just" eaLnBrk="1" hangingPunct="1"/>
            <a:r>
              <a:rPr lang="zh-CN" altLang="en-US" dirty="0">
                <a:solidFill>
                  <a:srgbClr val="000000"/>
                </a:solidFill>
              </a:rPr>
              <a:t>分解法是一种重要的关系规范方法。它的作法是，用关系框架</a:t>
            </a:r>
            <a:r>
              <a:rPr lang="en-US" altLang="zh-CN" dirty="0">
                <a:solidFill>
                  <a:srgbClr val="000000"/>
                </a:solidFill>
              </a:rPr>
              <a:t>R</a:t>
            </a:r>
            <a:r>
              <a:rPr lang="zh-CN" altLang="en-US" dirty="0">
                <a:solidFill>
                  <a:srgbClr val="000000"/>
                </a:solidFill>
              </a:rPr>
              <a:t>的一组子框架等价地替换</a:t>
            </a:r>
            <a:r>
              <a:rPr lang="en-US" altLang="zh-CN" dirty="0">
                <a:solidFill>
                  <a:srgbClr val="000000"/>
                </a:solidFill>
              </a:rPr>
              <a:t>R</a:t>
            </a:r>
            <a:r>
              <a:rPr lang="zh-CN" altLang="en-US" dirty="0">
                <a:solidFill>
                  <a:srgbClr val="000000"/>
                </a:solidFill>
              </a:rPr>
              <a:t>，使子框架的结构比较简单，从而达到规范的目的。</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315" name="Rectangle 2"/>
          <p:cNvSpPr>
            <a:spLocks noRot="1" noTextEdit="1"/>
          </p:cNvSpPr>
          <p:nvPr>
            <p:ph type="sldImg"/>
          </p:nvPr>
        </p:nvSpPr>
        <p:spPr/>
      </p:sp>
      <p:sp>
        <p:nvSpPr>
          <p:cNvPr id="13316" name="Rectangle 3"/>
          <p:cNvSpPr>
            <a:spLocks noGrp="1"/>
          </p:cNvSpPr>
          <p:nvPr>
            <p:ph type="body" idx="1"/>
          </p:nvPr>
        </p:nvSpPr>
        <p:spPr/>
        <p:txBody>
          <a:bodyPr wrap="square" lIns="91440" tIns="45720" rIns="91440" bIns="45720" anchor="t" anchorCtr="0"/>
          <a:p>
            <a:pPr lvl="0" eaLnBrk="1" hangingPunct="1">
              <a:lnSpc>
                <a:spcPct val="140000"/>
              </a:lnSpc>
            </a:pPr>
            <a:r>
              <a:rPr lang="zh-CN" altLang="en-US" dirty="0"/>
              <a:t>把低一级的关系模式分解为若干个高一级的关系模式的方法并不是唯一的</a:t>
            </a:r>
            <a:endParaRPr lang="zh-CN" altLang="en-US" dirty="0"/>
          </a:p>
          <a:p>
            <a:pPr lvl="0" eaLnBrk="1" hangingPunct="1">
              <a:lnSpc>
                <a:spcPct val="140000"/>
              </a:lnSpc>
            </a:pPr>
            <a:r>
              <a:rPr lang="zh-CN" altLang="en-US" dirty="0"/>
              <a:t>只有能够保证分解后的关系模式与原关系模式等价，分解方法才有意义</a:t>
            </a:r>
            <a:endParaRPr lang="zh-CN" altLang="en-US" dirty="0"/>
          </a:p>
          <a:p>
            <a:pPr lvl="0" eaLnBrk="1" hangingPunct="1">
              <a:lnSpc>
                <a:spcPct val="140000"/>
              </a:lnSpc>
            </a:pPr>
            <a:r>
              <a:rPr lang="zh-CN" altLang="en-US" dirty="0">
                <a:latin typeface="黑体" panose="02010609060101010101" pitchFamily="2" charset="-122"/>
              </a:rPr>
              <a:t>模式分解的三种等价定义：</a:t>
            </a:r>
            <a:endParaRPr lang="zh-CN" altLang="en-US" dirty="0"/>
          </a:p>
          <a:p>
            <a:pPr lvl="0" eaLnBrk="1" hangingPunct="1">
              <a:lnSpc>
                <a:spcPct val="130000"/>
              </a:lnSpc>
            </a:pPr>
            <a:r>
              <a:rPr lang="en-US" altLang="zh-CN" sz="800" dirty="0">
                <a:latin typeface="黑体" panose="02010609060101010101" pitchFamily="2" charset="-122"/>
              </a:rPr>
              <a:t>1</a:t>
            </a:r>
            <a:r>
              <a:rPr lang="zh-CN" altLang="en-US" sz="800" dirty="0">
                <a:latin typeface="黑体" panose="02010609060101010101" pitchFamily="2" charset="-122"/>
              </a:rPr>
              <a:t>、分解具有无损连接性</a:t>
            </a:r>
            <a:endParaRPr lang="zh-CN" altLang="en-US" sz="800" dirty="0">
              <a:latin typeface="黑体" panose="02010609060101010101" pitchFamily="2" charset="-122"/>
            </a:endParaRPr>
          </a:p>
          <a:p>
            <a:pPr lvl="0" eaLnBrk="1" hangingPunct="1">
              <a:lnSpc>
                <a:spcPct val="130000"/>
              </a:lnSpc>
            </a:pPr>
            <a:r>
              <a:rPr lang="en-US" altLang="zh-CN" sz="800" dirty="0">
                <a:latin typeface="黑体" panose="02010609060101010101" pitchFamily="2" charset="-122"/>
              </a:rPr>
              <a:t>2</a:t>
            </a:r>
            <a:r>
              <a:rPr lang="zh-CN" altLang="en-US" sz="800" dirty="0">
                <a:latin typeface="黑体" panose="02010609060101010101" pitchFamily="2" charset="-122"/>
              </a:rPr>
              <a:t>、分解要保持函数依赖</a:t>
            </a:r>
            <a:endParaRPr lang="zh-CN" altLang="en-US" sz="800" dirty="0">
              <a:latin typeface="黑体" panose="02010609060101010101" pitchFamily="2" charset="-122"/>
            </a:endParaRPr>
          </a:p>
          <a:p>
            <a:pPr lvl="0" eaLnBrk="1" hangingPunct="1">
              <a:lnSpc>
                <a:spcPct val="130000"/>
              </a:lnSpc>
            </a:pPr>
            <a:r>
              <a:rPr lang="en-US" altLang="zh-CN" sz="800" dirty="0">
                <a:latin typeface="黑体" panose="02010609060101010101" pitchFamily="2" charset="-122"/>
              </a:rPr>
              <a:t>3</a:t>
            </a:r>
            <a:r>
              <a:rPr lang="zh-CN" altLang="en-US" sz="800" dirty="0">
                <a:latin typeface="黑体" panose="02010609060101010101" pitchFamily="2" charset="-122"/>
              </a:rPr>
              <a:t>、分解既要保持函数依赖，又要具有无损连接性</a:t>
            </a:r>
            <a:endParaRPr lang="zh-CN" altLang="en-US" sz="800" dirty="0">
              <a:latin typeface="黑体" panose="02010609060101010101" pitchFamily="2" charset="-122"/>
            </a:endParaRPr>
          </a:p>
          <a:p>
            <a:pPr lvl="0"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5363" name="Rectangle 2"/>
          <p:cNvSpPr>
            <a:spLocks noRot="1" noTextEdit="1"/>
          </p:cNvSpPr>
          <p:nvPr>
            <p:ph type="sldImg"/>
          </p:nvPr>
        </p:nvSpPr>
        <p:spPr/>
      </p:sp>
      <p:sp>
        <p:nvSpPr>
          <p:cNvPr id="15364" name="Rectangle 3"/>
          <p:cNvSpPr>
            <a:spLocks noGrp="1"/>
          </p:cNvSpPr>
          <p:nvPr>
            <p:ph type="body" idx="1"/>
          </p:nvPr>
        </p:nvSpPr>
        <p:spPr/>
        <p:txBody>
          <a:bodyPr wrap="square" lIns="91440" tIns="45720" rIns="91440" bIns="45720" anchor="t" anchorCtr="0"/>
          <a:p>
            <a:pPr lvl="0" eaLnBrk="1" hangingPunct="1"/>
            <a:r>
              <a:rPr lang="en-US" altLang="zh-CN" dirty="0"/>
              <a:t>SL∈2NF</a:t>
            </a:r>
            <a:endParaRPr lang="en-US" altLang="zh-CN" dirty="0"/>
          </a:p>
          <a:p>
            <a:pPr lvl="0" eaLnBrk="1" hangingPunct="1"/>
            <a:r>
              <a:rPr lang="zh-CN" altLang="en-US" dirty="0"/>
              <a:t>插入：如果某个系无在校学生，则其地点无法输入</a:t>
            </a:r>
            <a:endParaRPr lang="zh-CN" altLang="en-US" dirty="0"/>
          </a:p>
          <a:p>
            <a:pPr lvl="0" eaLnBrk="1" hangingPunct="1"/>
            <a:r>
              <a:rPr lang="zh-CN" altLang="en-US" dirty="0"/>
              <a:t>删除：如果</a:t>
            </a:r>
            <a:r>
              <a:rPr lang="en-US" altLang="zh-CN" dirty="0"/>
              <a:t>990003</a:t>
            </a:r>
            <a:r>
              <a:rPr lang="zh-CN" altLang="en-US" dirty="0"/>
              <a:t>毕业了，删除后，</a:t>
            </a:r>
            <a:r>
              <a:rPr lang="en-US" altLang="zh-CN" dirty="0"/>
              <a:t>MA</a:t>
            </a:r>
            <a:r>
              <a:rPr lang="zh-CN" altLang="en-US" dirty="0"/>
              <a:t>系的地点</a:t>
            </a:r>
            <a:r>
              <a:rPr lang="en-US" altLang="zh-CN" dirty="0"/>
              <a:t>C</a:t>
            </a:r>
            <a:r>
              <a:rPr lang="zh-CN" altLang="en-US" dirty="0"/>
              <a:t>也就丢失了</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7411" name="Rectangle 2"/>
          <p:cNvSpPr>
            <a:spLocks noRot="1" noTextEdit="1"/>
          </p:cNvSpPr>
          <p:nvPr>
            <p:ph type="sldImg"/>
          </p:nvPr>
        </p:nvSpPr>
        <p:spPr/>
      </p:sp>
      <p:sp>
        <p:nvSpPr>
          <p:cNvPr id="17412" name="Rectangle 3"/>
          <p:cNvSpPr>
            <a:spLocks noGrp="1"/>
          </p:cNvSpPr>
          <p:nvPr>
            <p:ph type="body" idx="1"/>
          </p:nvPr>
        </p:nvSpPr>
        <p:spPr/>
        <p:txBody>
          <a:bodyPr wrap="square" lIns="91440" tIns="45720" rIns="91440" bIns="45720" anchor="t" anchorCtr="0"/>
          <a:p>
            <a:pPr lvl="0" algn="just" eaLnBrk="1" hangingPunct="1">
              <a:lnSpc>
                <a:spcPct val="160000"/>
              </a:lnSpc>
            </a:pPr>
            <a:r>
              <a:rPr lang="zh-CN" altLang="en-US" dirty="0"/>
              <a:t>分解后的数据库</a:t>
            </a:r>
            <a:r>
              <a:rPr lang="zh-CN" altLang="en-US" dirty="0">
                <a:solidFill>
                  <a:schemeClr val="accent2"/>
                </a:solidFill>
              </a:rPr>
              <a:t>丢失了许多信息：</a:t>
            </a:r>
            <a:r>
              <a:rPr lang="zh-CN" altLang="en-US" dirty="0"/>
              <a:t>例如无法查询</a:t>
            </a:r>
            <a:r>
              <a:rPr lang="en-US" altLang="zh-CN" dirty="0"/>
              <a:t>090001</a:t>
            </a:r>
            <a:r>
              <a:rPr lang="zh-CN" altLang="en-US" dirty="0"/>
              <a:t>学生所在系或所在宿舍。    </a:t>
            </a:r>
            <a:endParaRPr lang="zh-CN" altLang="en-US" dirty="0"/>
          </a:p>
          <a:p>
            <a:pPr lvl="0" algn="just" eaLnBrk="1" hangingPunct="1">
              <a:lnSpc>
                <a:spcPct val="160000"/>
              </a:lnSpc>
            </a:pPr>
            <a:r>
              <a:rPr lang="zh-CN" altLang="en-US" dirty="0"/>
              <a:t>如果分解后的关系可以通过自然连接恢复为原来的关系，那么这种分解就没有</a:t>
            </a:r>
            <a:r>
              <a:rPr lang="zh-CN" altLang="en-US" dirty="0">
                <a:solidFill>
                  <a:schemeClr val="accent2"/>
                </a:solidFill>
              </a:rPr>
              <a:t>丢失信息。</a:t>
            </a:r>
            <a:endParaRPr lang="zh-CN" altLang="en-US" dirty="0"/>
          </a:p>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9459" name="Rectangle 2"/>
          <p:cNvSpPr>
            <a:spLocks noRot="1" noTextEdit="1"/>
          </p:cNvSpPr>
          <p:nvPr>
            <p:ph type="sldImg"/>
          </p:nvPr>
        </p:nvSpPr>
        <p:spPr/>
      </p:sp>
      <p:sp>
        <p:nvSpPr>
          <p:cNvPr id="194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1507" name="Rectangle 2"/>
          <p:cNvSpPr>
            <a:spLocks noRot="1" noTextEdit="1"/>
          </p:cNvSpPr>
          <p:nvPr>
            <p:ph type="sldImg"/>
          </p:nvPr>
        </p:nvSpPr>
        <p:spPr/>
      </p:sp>
      <p:sp>
        <p:nvSpPr>
          <p:cNvPr id="21508" name="Rectangle 3"/>
          <p:cNvSpPr>
            <a:spLocks noGrp="1"/>
          </p:cNvSpPr>
          <p:nvPr>
            <p:ph type="body" idx="1"/>
          </p:nvPr>
        </p:nvSpPr>
        <p:spPr/>
        <p:txBody>
          <a:bodyPr wrap="square" lIns="91440" tIns="45720" rIns="91440" bIns="45720" anchor="t" anchorCtr="0"/>
          <a:p>
            <a:pPr lvl="0" eaLnBrk="1" hangingPunct="1"/>
            <a:r>
              <a:rPr lang="zh-CN" altLang="en-US" dirty="0"/>
              <a:t>比原来的</a:t>
            </a:r>
            <a:r>
              <a:rPr lang="en-US" altLang="zh-CN" dirty="0"/>
              <a:t>SL</a:t>
            </a:r>
            <a:r>
              <a:rPr lang="zh-CN" altLang="en-US" dirty="0"/>
              <a:t>关系多了</a:t>
            </a:r>
            <a:r>
              <a:rPr lang="en-US" altLang="zh-CN" dirty="0"/>
              <a:t>3</a:t>
            </a:r>
            <a:r>
              <a:rPr lang="zh-CN" altLang="en-US" dirty="0"/>
              <a:t>个元组</a:t>
            </a:r>
            <a:endParaRPr lang="zh-CN" altLang="en-US" dirty="0"/>
          </a:p>
          <a:p>
            <a:pPr lvl="0" eaLnBrk="1" hangingPunct="1"/>
            <a:r>
              <a:rPr lang="zh-CN" altLang="en-US" dirty="0"/>
              <a:t>无法知道</a:t>
            </a:r>
            <a:r>
              <a:rPr lang="en-US" altLang="zh-CN" dirty="0"/>
              <a:t>090002</a:t>
            </a:r>
            <a:r>
              <a:rPr lang="zh-CN" altLang="en-US" dirty="0"/>
              <a:t>、</a:t>
            </a:r>
            <a:r>
              <a:rPr lang="en-US" altLang="zh-CN" dirty="0"/>
              <a:t>090004</a:t>
            </a:r>
            <a:r>
              <a:rPr lang="zh-CN" altLang="en-US" dirty="0"/>
              <a:t>、</a:t>
            </a:r>
            <a:r>
              <a:rPr lang="en-US" altLang="zh-CN" dirty="0"/>
              <a:t>090005</a:t>
            </a:r>
            <a:endParaRPr lang="en-US" altLang="zh-CN" dirty="0"/>
          </a:p>
          <a:p>
            <a:pPr lvl="0" eaLnBrk="1" hangingPunct="1"/>
            <a:r>
              <a:rPr lang="zh-CN" altLang="en-US" dirty="0"/>
              <a:t>究竟是哪个系的学生</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3555" name="Rectangle 2"/>
          <p:cNvSpPr>
            <a:spLocks noRot="1" noTextEdit="1"/>
          </p:cNvSpPr>
          <p:nvPr>
            <p:ph type="sldImg"/>
          </p:nvPr>
        </p:nvSpPr>
        <p:spPr/>
      </p:sp>
      <p:sp>
        <p:nvSpPr>
          <p:cNvPr id="235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5603" name="Rectangle 2"/>
          <p:cNvSpPr>
            <a:spLocks noRot="1" noTextEdit="1"/>
          </p:cNvSpPr>
          <p:nvPr>
            <p:ph type="sldImg"/>
          </p:nvPr>
        </p:nvSpPr>
        <p:spPr/>
      </p:sp>
      <p:sp>
        <p:nvSpPr>
          <p:cNvPr id="256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7651" name="Rectangle 2"/>
          <p:cNvSpPr>
            <a:spLocks noRot="1" noTextEdit="1"/>
          </p:cNvSpPr>
          <p:nvPr>
            <p:ph type="sldImg"/>
          </p:nvPr>
        </p:nvSpPr>
        <p:spPr/>
      </p:sp>
      <p:sp>
        <p:nvSpPr>
          <p:cNvPr id="27652"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用此定义确定一个分解 </a:t>
            </a:r>
            <a:r>
              <a:rPr lang="zh-CN" altLang="en-US" dirty="0">
                <a:solidFill>
                  <a:srgbClr val="000000"/>
                </a:solidFill>
                <a:sym typeface="Symbol" panose="05050102010706020507" pitchFamily="18" charset="2"/>
              </a:rPr>
              <a:t> 是否为无</a:t>
            </a:r>
            <a:r>
              <a:rPr lang="zh-CN" altLang="en-US" dirty="0">
                <a:solidFill>
                  <a:srgbClr val="000000"/>
                </a:solidFill>
              </a:rPr>
              <a:t>损分解是很困难的，后面的算法给出了简便的判别法。</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9699" name="Rectangle 2"/>
          <p:cNvSpPr>
            <a:spLocks noRot="1" noTextEdit="1"/>
          </p:cNvSpPr>
          <p:nvPr>
            <p:ph type="sldImg"/>
          </p:nvPr>
        </p:nvSpPr>
        <p:spPr/>
      </p:sp>
      <p:sp>
        <p:nvSpPr>
          <p:cNvPr id="29700"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1747" name="Rectangle 2"/>
          <p:cNvSpPr>
            <a:spLocks noRot="1" noTextEdit="1"/>
          </p:cNvSpPr>
          <p:nvPr>
            <p:ph type="sldImg"/>
          </p:nvPr>
        </p:nvSpPr>
        <p:spPr/>
      </p:sp>
      <p:sp>
        <p:nvSpPr>
          <p:cNvPr id="317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3795" name="Rectangle 2"/>
          <p:cNvSpPr>
            <a:spLocks noRot="1" noTextEdit="1"/>
          </p:cNvSpPr>
          <p:nvPr>
            <p:ph type="sldImg"/>
          </p:nvPr>
        </p:nvSpPr>
        <p:spPr/>
      </p:sp>
      <p:sp>
        <p:nvSpPr>
          <p:cNvPr id="33796"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5843" name="Rectangle 2"/>
          <p:cNvSpPr>
            <a:spLocks noRot="1" noTextEdit="1"/>
          </p:cNvSpPr>
          <p:nvPr>
            <p:ph type="sldImg"/>
          </p:nvPr>
        </p:nvSpPr>
        <p:spPr/>
      </p:sp>
      <p:sp>
        <p:nvSpPr>
          <p:cNvPr id="358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7891" name="Rectangle 2"/>
          <p:cNvSpPr>
            <a:spLocks noRot="1" noTextEdit="1"/>
          </p:cNvSpPr>
          <p:nvPr>
            <p:ph type="sldImg"/>
          </p:nvPr>
        </p:nvSpPr>
        <p:spPr/>
      </p:sp>
      <p:sp>
        <p:nvSpPr>
          <p:cNvPr id="37892" name="Rectangle 3"/>
          <p:cNvSpPr>
            <a:spLocks noGrp="1"/>
          </p:cNvSpPr>
          <p:nvPr>
            <p:ph type="body" idx="1"/>
          </p:nvPr>
        </p:nvSpPr>
        <p:spPr/>
        <p:txBody>
          <a:bodyPr wrap="square" lIns="91440" tIns="45720" rIns="91440" bIns="45720" anchor="t" anchorCtr="0"/>
          <a:p>
            <a:pPr lvl="0" eaLnBrk="1" hangingPunct="1"/>
            <a:r>
              <a:rPr lang="zh-CN" altLang="en-US" sz="1400" dirty="0"/>
              <a:t>具有无损连接性的分解不一定能够保持函数依赖。同样，保持函数依赖的分解也不一定具有无损连接性。</a:t>
            </a:r>
            <a:endParaRPr lang="zh-CN" altLang="en-US" sz="1400" dirty="0"/>
          </a:p>
          <a:p>
            <a:pPr lvl="0" eaLnBrk="1" hangingPunct="1"/>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0963" name="Rectangle 2"/>
          <p:cNvSpPr>
            <a:spLocks noRot="1" noTextEdit="1"/>
          </p:cNvSpPr>
          <p:nvPr>
            <p:ph type="sldImg"/>
          </p:nvPr>
        </p:nvSpPr>
        <p:spPr/>
      </p:sp>
      <p:sp>
        <p:nvSpPr>
          <p:cNvPr id="40964" name="Rectangle 3"/>
          <p:cNvSpPr>
            <a:spLocks noGrp="1"/>
          </p:cNvSpPr>
          <p:nvPr>
            <p:ph type="body" idx="1"/>
          </p:nvPr>
        </p:nvSpPr>
        <p:spPr/>
        <p:txBody>
          <a:bodyPr wrap="square" lIns="91440" tIns="45720" rIns="91440" bIns="45720" anchor="t" anchorCtr="0"/>
          <a:p>
            <a:pPr lvl="0" eaLnBrk="1" hangingPunct="1"/>
            <a:r>
              <a:rPr lang="zh-CN" altLang="en-US" b="1" dirty="0">
                <a:solidFill>
                  <a:srgbClr val="000000"/>
                </a:solidFill>
              </a:rPr>
              <a:t>一个无损分解不一定保存相关性</a:t>
            </a:r>
            <a:endParaRPr lang="zh-CN" altLang="en-US" b="1" dirty="0">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3011" name="Rectangle 2"/>
          <p:cNvSpPr>
            <a:spLocks noRot="1" noTextEdit="1"/>
          </p:cNvSpPr>
          <p:nvPr>
            <p:ph type="sldImg"/>
          </p:nvPr>
        </p:nvSpPr>
        <p:spPr/>
      </p:sp>
      <p:sp>
        <p:nvSpPr>
          <p:cNvPr id="43012" name="Rectangle 3"/>
          <p:cNvSpPr>
            <a:spLocks noGrp="1"/>
          </p:cNvSpPr>
          <p:nvPr>
            <p:ph type="body" idx="1"/>
          </p:nvPr>
        </p:nvSpPr>
        <p:spPr/>
        <p:txBody>
          <a:bodyPr wrap="square" lIns="91440" tIns="45720" rIns="91440" bIns="45720" anchor="t" anchorCtr="0"/>
          <a:p>
            <a:pPr lvl="0" eaLnBrk="1" hangingPunct="1"/>
            <a:r>
              <a:rPr lang="zh-CN" altLang="en-US" dirty="0">
                <a:ea typeface="黑体" panose="02010609060101010101" pitchFamily="2" charset="-122"/>
              </a:rPr>
              <a:t>王珊</a:t>
            </a:r>
            <a:r>
              <a:rPr lang="en-US" altLang="zh-CN" dirty="0">
                <a:ea typeface="黑体" panose="02010609060101010101" pitchFamily="2" charset="-122"/>
              </a:rPr>
              <a:t>P189/</a:t>
            </a:r>
            <a:r>
              <a:rPr lang="zh-CN" altLang="en-US" dirty="0">
                <a:ea typeface="黑体" panose="02010609060101010101" pitchFamily="2" charset="-122"/>
              </a:rPr>
              <a:t>算法</a:t>
            </a:r>
            <a:r>
              <a:rPr lang="en-US" altLang="zh-CN" dirty="0"/>
              <a:t>6.2  </a:t>
            </a:r>
            <a:r>
              <a:rPr lang="zh-CN" altLang="en-US" dirty="0"/>
              <a:t>判别一个分解的无损连接性</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5059" name="Rectangle 2"/>
          <p:cNvSpPr>
            <a:spLocks noRot="1" noTextEdit="1"/>
          </p:cNvSpPr>
          <p:nvPr>
            <p:ph type="sldImg"/>
          </p:nvPr>
        </p:nvSpPr>
        <p:spPr/>
      </p:sp>
      <p:sp>
        <p:nvSpPr>
          <p:cNvPr id="45060" name="Rectangle 3"/>
          <p:cNvSpPr>
            <a:spLocks noGrp="1"/>
          </p:cNvSpPr>
          <p:nvPr>
            <p:ph type="body" idx="1"/>
          </p:nvPr>
        </p:nvSpPr>
        <p:spPr/>
        <p:txBody>
          <a:bodyPr wrap="square" lIns="91440" tIns="45720" rIns="91440" bIns="45720" anchor="t" anchorCtr="0"/>
          <a:p>
            <a:pPr lvl="0" eaLnBrk="1" hangingPunct="1"/>
            <a:r>
              <a:rPr lang="en-US" altLang="zh-CN" sz="1400" dirty="0">
                <a:ea typeface="Arial Unicode MS" pitchFamily="34" charset="-122"/>
                <a:sym typeface="Symbol" panose="05050102010706020507" pitchFamily="18" charset="2"/>
              </a:rPr>
              <a:t></a:t>
            </a:r>
            <a:r>
              <a:rPr lang="zh-CN" altLang="en-US" sz="1400" dirty="0">
                <a:ea typeface="Arial Unicode MS" pitchFamily="34" charset="-122"/>
                <a:sym typeface="Symbol" panose="05050102010706020507" pitchFamily="18" charset="2"/>
              </a:rPr>
              <a:t>为无损分解分解的充分必要条件是：上述算法终止时，表中有一行</a:t>
            </a:r>
            <a:r>
              <a:rPr lang="en-US" altLang="zh-CN" sz="1400" dirty="0">
                <a:ea typeface="Arial Unicode MS" pitchFamily="34" charset="-122"/>
                <a:sym typeface="Symbol" panose="05050102010706020507" pitchFamily="18" charset="2"/>
              </a:rPr>
              <a:t>a1,a2,…an</a:t>
            </a:r>
            <a:r>
              <a:rPr lang="zh-CN" altLang="en-US" sz="1400" dirty="0">
                <a:ea typeface="Arial Unicode MS" pitchFamily="34" charset="-122"/>
                <a:sym typeface="Symbol" panose="05050102010706020507" pitchFamily="18" charset="2"/>
              </a:rPr>
              <a:t>。</a:t>
            </a:r>
            <a:endParaRPr lang="zh-CN" altLang="en-US" sz="1400" dirty="0">
              <a:ea typeface="Arial Unicode MS" pitchFamily="34" charset="-122"/>
              <a:sym typeface="Symbol" panose="05050102010706020507" pitchFamily="18" charset="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7107" name="Rectangle 2"/>
          <p:cNvSpPr>
            <a:spLocks noRot="1" noTextEdit="1"/>
          </p:cNvSpPr>
          <p:nvPr>
            <p:ph type="sldImg"/>
          </p:nvPr>
        </p:nvSpPr>
        <p:spPr/>
      </p:sp>
      <p:sp>
        <p:nvSpPr>
          <p:cNvPr id="47108" name="Rectangle 3"/>
          <p:cNvSpPr>
            <a:spLocks noGrp="1"/>
          </p:cNvSpPr>
          <p:nvPr>
            <p:ph type="body" idx="1"/>
          </p:nvPr>
        </p:nvSpPr>
        <p:spPr/>
        <p:txBody>
          <a:bodyPr wrap="square" lIns="91440" tIns="45720" rIns="91440" bIns="45720" anchor="t" anchorCtr="0"/>
          <a:p>
            <a:pPr lvl="0" eaLnBrk="1" hangingPunct="1"/>
            <a:r>
              <a:rPr lang="en-US" altLang="zh-CN" sz="1400" dirty="0">
                <a:ea typeface="Arial Unicode MS" pitchFamily="34" charset="-122"/>
                <a:sym typeface="Symbol" panose="05050102010706020507" pitchFamily="18" charset="2"/>
              </a:rPr>
              <a:t></a:t>
            </a:r>
            <a:r>
              <a:rPr lang="zh-CN" altLang="en-US" sz="1400" dirty="0">
                <a:ea typeface="Arial Unicode MS" pitchFamily="34" charset="-122"/>
                <a:sym typeface="Symbol" panose="05050102010706020507" pitchFamily="18" charset="2"/>
              </a:rPr>
              <a:t>为无损分解分解的充分必要条件是：上述算法终止时，表中有一行</a:t>
            </a:r>
            <a:r>
              <a:rPr lang="en-US" altLang="zh-CN" sz="1400" dirty="0">
                <a:ea typeface="Arial Unicode MS" pitchFamily="34" charset="-122"/>
                <a:sym typeface="Symbol" panose="05050102010706020507" pitchFamily="18" charset="2"/>
              </a:rPr>
              <a:t>a1,a2,…an</a:t>
            </a:r>
            <a:r>
              <a:rPr lang="zh-CN" altLang="en-US" sz="1400" dirty="0">
                <a:ea typeface="Arial Unicode MS" pitchFamily="34" charset="-122"/>
                <a:sym typeface="Symbol" panose="05050102010706020507" pitchFamily="18" charset="2"/>
              </a:rPr>
              <a:t>。</a:t>
            </a:r>
            <a:endParaRPr lang="zh-CN" altLang="en-US" sz="1400" dirty="0">
              <a:ea typeface="Arial Unicode MS" pitchFamily="34" charset="-122"/>
              <a:sym typeface="Symbol" panose="05050102010706020507" pitchFamily="18" charset="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9155" name="Rectangle 2"/>
          <p:cNvSpPr>
            <a:spLocks noRot="1" noTextEdit="1"/>
          </p:cNvSpPr>
          <p:nvPr>
            <p:ph type="sldImg"/>
          </p:nvPr>
        </p:nvSpPr>
        <p:spPr/>
      </p:sp>
      <p:sp>
        <p:nvSpPr>
          <p:cNvPr id="491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1203" name="Rectangle 2"/>
          <p:cNvSpPr>
            <a:spLocks noRot="1" noTextEdit="1"/>
          </p:cNvSpPr>
          <p:nvPr>
            <p:ph type="sldImg"/>
          </p:nvPr>
        </p:nvSpPr>
        <p:spPr/>
      </p:sp>
      <p:sp>
        <p:nvSpPr>
          <p:cNvPr id="51204" name="Rectangle 3"/>
          <p:cNvSpPr>
            <a:spLocks noGrp="1"/>
          </p:cNvSpPr>
          <p:nvPr>
            <p:ph type="body" idx="1"/>
          </p:nvPr>
        </p:nvSpPr>
        <p:spPr/>
        <p:txBody>
          <a:bodyPr wrap="square" lIns="91440" tIns="45720" rIns="91440" bIns="45720" anchor="t" anchorCtr="0"/>
          <a:p>
            <a:pPr lvl="0" eaLnBrk="1" hangingPunct="1"/>
            <a:endParaRPr lang="en-US" altLang="zh-CN" dirty="0">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3251" name="Rectangle 2"/>
          <p:cNvSpPr>
            <a:spLocks noRot="1" noTextEdit="1"/>
          </p:cNvSpPr>
          <p:nvPr>
            <p:ph type="sldImg"/>
          </p:nvPr>
        </p:nvSpPr>
        <p:spPr/>
      </p:sp>
      <p:sp>
        <p:nvSpPr>
          <p:cNvPr id="53252"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5299" name="Rectangle 2"/>
          <p:cNvSpPr>
            <a:spLocks noRot="1" noTextEdit="1"/>
          </p:cNvSpPr>
          <p:nvPr>
            <p:ph type="sldImg"/>
          </p:nvPr>
        </p:nvSpPr>
        <p:spPr/>
      </p:sp>
      <p:sp>
        <p:nvSpPr>
          <p:cNvPr id="55300" name="Rectangle 3"/>
          <p:cNvSpPr>
            <a:spLocks noGrp="1"/>
          </p:cNvSpPr>
          <p:nvPr>
            <p:ph type="body" idx="1"/>
          </p:nvPr>
        </p:nvSpPr>
        <p:spPr/>
        <p:txBody>
          <a:bodyPr wrap="square" lIns="91440" tIns="45720" rIns="91440" bIns="45720" anchor="t" anchorCtr="0"/>
          <a:p>
            <a:pPr lvl="0" eaLnBrk="1" hangingPunct="1"/>
            <a:r>
              <a:rPr lang="en-US" altLang="zh-CN" dirty="0"/>
              <a:t>2NF</a:t>
            </a:r>
            <a:r>
              <a:rPr lang="zh-CN" altLang="en-US" dirty="0"/>
              <a:t>可能存在数据冗余和更新异常等问题，因为其中可能存在传递函数依赖。</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7347" name="Rectangle 2"/>
          <p:cNvSpPr>
            <a:spLocks noRot="1" noTextEdit="1"/>
          </p:cNvSpPr>
          <p:nvPr>
            <p:ph type="sldImg"/>
          </p:nvPr>
        </p:nvSpPr>
        <p:spPr/>
      </p:sp>
      <p:sp>
        <p:nvSpPr>
          <p:cNvPr id="57348"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9395" name="Rectangle 2"/>
          <p:cNvSpPr>
            <a:spLocks noRot="1" noTextEdit="1"/>
          </p:cNvSpPr>
          <p:nvPr>
            <p:ph type="sldImg"/>
          </p:nvPr>
        </p:nvSpPr>
        <p:spPr/>
      </p:sp>
      <p:sp>
        <p:nvSpPr>
          <p:cNvPr id="593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2467" name="Rectangle 2"/>
          <p:cNvSpPr>
            <a:spLocks noRot="1" noTextEdit="1"/>
          </p:cNvSpPr>
          <p:nvPr>
            <p:ph type="sldImg"/>
          </p:nvPr>
        </p:nvSpPr>
        <p:spPr/>
      </p:sp>
      <p:sp>
        <p:nvSpPr>
          <p:cNvPr id="62468" name="Rectangle 3"/>
          <p:cNvSpPr>
            <a:spLocks noGrp="1"/>
          </p:cNvSpPr>
          <p:nvPr>
            <p:ph type="body" idx="1"/>
          </p:nvPr>
        </p:nvSpPr>
        <p:spPr/>
        <p:txBody>
          <a:bodyPr wrap="square" lIns="91440" tIns="45720" rIns="91440" bIns="45720" anchor="t" anchorCtr="0"/>
          <a:p>
            <a:pPr lvl="0" eaLnBrk="1" hangingPunct="1">
              <a:lnSpc>
                <a:spcPct val="105000"/>
              </a:lnSpc>
            </a:pPr>
            <a:r>
              <a:rPr lang="zh-CN" altLang="en-US" dirty="0"/>
              <a:t>对</a:t>
            </a:r>
            <a:r>
              <a:rPr lang="en-US" altLang="zh-CN" dirty="0">
                <a:ea typeface="Arial Unicode MS" pitchFamily="34" charset="-122"/>
              </a:rPr>
              <a:t>2NF</a:t>
            </a:r>
            <a:r>
              <a:rPr lang="zh-CN" altLang="en-US" dirty="0"/>
              <a:t>的检验包括检验函数依赖左边属性是否是码的一部分。如果码只包含一个单个属性，则不需要应用该检验。</a:t>
            </a:r>
            <a:endParaRPr lang="zh-CN" altLang="en-US" dirty="0"/>
          </a:p>
          <a:p>
            <a:pPr lvl="0" eaLnBrk="1" hangingPunct="1"/>
            <a:r>
              <a:rPr lang="en-US" altLang="zh-CN" dirty="0"/>
              <a:t>2NF</a:t>
            </a:r>
            <a:r>
              <a:rPr lang="zh-CN" altLang="en-US" dirty="0"/>
              <a:t>可能存在数据冗余和更新异常等问题，因为其中可能存在传递函数依赖。</a:t>
            </a:r>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4515" name="Rectangle 2"/>
          <p:cNvSpPr>
            <a:spLocks noRot="1" noTextEdit="1"/>
          </p:cNvSpPr>
          <p:nvPr>
            <p:ph type="sldImg"/>
          </p:nvPr>
        </p:nvSpPr>
        <p:spPr/>
      </p:sp>
      <p:sp>
        <p:nvSpPr>
          <p:cNvPr id="645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6563" name="Rectangle 2"/>
          <p:cNvSpPr>
            <a:spLocks noRot="1" noTextEdit="1"/>
          </p:cNvSpPr>
          <p:nvPr>
            <p:ph type="sldImg"/>
          </p:nvPr>
        </p:nvSpPr>
        <p:spPr/>
      </p:sp>
      <p:sp>
        <p:nvSpPr>
          <p:cNvPr id="665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0659" name="Rectangle 2"/>
          <p:cNvSpPr>
            <a:spLocks noRot="1" noTextEdit="1"/>
          </p:cNvSpPr>
          <p:nvPr>
            <p:ph type="sldImg"/>
          </p:nvPr>
        </p:nvSpPr>
        <p:spPr/>
      </p:sp>
      <p:sp>
        <p:nvSpPr>
          <p:cNvPr id="70660"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一个</a:t>
            </a:r>
            <a:r>
              <a:rPr lang="en-US" altLang="zh-CN" dirty="0">
                <a:solidFill>
                  <a:srgbClr val="000000"/>
                </a:solidFill>
              </a:rPr>
              <a:t>3NF</a:t>
            </a:r>
            <a:r>
              <a:rPr lang="zh-CN" altLang="en-US" dirty="0">
                <a:solidFill>
                  <a:srgbClr val="000000"/>
                </a:solidFill>
              </a:rPr>
              <a:t>的关系框架不一定是</a:t>
            </a:r>
            <a:r>
              <a:rPr lang="en-US" altLang="zh-CN" dirty="0">
                <a:solidFill>
                  <a:srgbClr val="000000"/>
                </a:solidFill>
              </a:rPr>
              <a:t>BCNF</a:t>
            </a:r>
            <a:r>
              <a:rPr lang="zh-CN" altLang="en-US" dirty="0">
                <a:solidFill>
                  <a:srgbClr val="000000"/>
                </a:solidFill>
              </a:rPr>
              <a:t>的</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2707" name="Rectangle 2"/>
          <p:cNvSpPr>
            <a:spLocks noRot="1" noTextEdit="1"/>
          </p:cNvSpPr>
          <p:nvPr>
            <p:ph type="sldImg"/>
          </p:nvPr>
        </p:nvSpPr>
        <p:spPr/>
      </p:sp>
      <p:sp>
        <p:nvSpPr>
          <p:cNvPr id="72708" name="Rectangle 3"/>
          <p:cNvSpPr>
            <a:spLocks noGrp="1"/>
          </p:cNvSpPr>
          <p:nvPr>
            <p:ph type="body" idx="1"/>
          </p:nvPr>
        </p:nvSpPr>
        <p:spPr/>
        <p:txBody>
          <a:bodyPr wrap="square" lIns="91440" tIns="45720" rIns="91440" bIns="45720" anchor="t" anchorCtr="0"/>
          <a:p>
            <a:pPr lvl="0" eaLnBrk="1" hangingPunct="1"/>
            <a:r>
              <a:rPr lang="zh-CN" altLang="en-US" dirty="0"/>
              <a:t>没有</a:t>
            </a:r>
            <a:r>
              <a:rPr lang="zh-CN" altLang="en-US" dirty="0">
                <a:solidFill>
                  <a:srgbClr val="0000CC"/>
                </a:solidFill>
              </a:rPr>
              <a:t>任何属性</a:t>
            </a:r>
            <a:r>
              <a:rPr lang="zh-CN" altLang="en-US" dirty="0"/>
              <a:t>对码的部分函数依赖和传递函数依赖。</a:t>
            </a:r>
            <a:endParaRPr lang="zh-CN" altLang="en-US" dirty="0"/>
          </a:p>
          <a:p>
            <a:pPr lvl="0" eaLnBrk="1" hangingPunct="1"/>
            <a:endParaRPr lang="en-US"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4755" name="Rectangle 2"/>
          <p:cNvSpPr>
            <a:spLocks noRot="1" noTextEdit="1"/>
          </p:cNvSpPr>
          <p:nvPr>
            <p:ph type="sldImg"/>
          </p:nvPr>
        </p:nvSpPr>
        <p:spPr/>
      </p:sp>
      <p:sp>
        <p:nvSpPr>
          <p:cNvPr id="747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6803" name="Rectangle 2"/>
          <p:cNvSpPr>
            <a:spLocks noRot="1" noTextEdit="1"/>
          </p:cNvSpPr>
          <p:nvPr>
            <p:ph type="sldImg"/>
          </p:nvPr>
        </p:nvSpPr>
        <p:spPr/>
      </p:sp>
      <p:sp>
        <p:nvSpPr>
          <p:cNvPr id="76804"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00"/>
                </a:solidFill>
              </a:rPr>
              <a:t>一个</a:t>
            </a:r>
            <a:r>
              <a:rPr lang="en-US" altLang="zh-CN" dirty="0">
                <a:solidFill>
                  <a:srgbClr val="000000"/>
                </a:solidFill>
              </a:rPr>
              <a:t>3NF</a:t>
            </a:r>
            <a:r>
              <a:rPr lang="zh-CN" altLang="en-US" dirty="0">
                <a:solidFill>
                  <a:srgbClr val="000000"/>
                </a:solidFill>
              </a:rPr>
              <a:t>的关系框架不一定是</a:t>
            </a:r>
            <a:r>
              <a:rPr lang="en-US" altLang="zh-CN" dirty="0">
                <a:solidFill>
                  <a:srgbClr val="000000"/>
                </a:solidFill>
              </a:rPr>
              <a:t>BCNF</a:t>
            </a:r>
            <a:r>
              <a:rPr lang="zh-CN" altLang="en-US" dirty="0">
                <a:solidFill>
                  <a:srgbClr val="000000"/>
                </a:solidFill>
              </a:rPr>
              <a:t>的</a:t>
            </a:r>
            <a:endParaRPr lang="zh-CN" altLang="en-US" dirty="0">
              <a:solidFill>
                <a:srgbClr val="000000"/>
              </a:solidFill>
            </a:endParaRPr>
          </a:p>
          <a:p>
            <a:pPr lvl="0" eaLnBrk="1" hangingPunct="1"/>
            <a:endParaRPr lang="en-US"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8851" name="Rectangle 2"/>
          <p:cNvSpPr>
            <a:spLocks noRot="1" noTextEdit="1"/>
          </p:cNvSpPr>
          <p:nvPr>
            <p:ph type="sldImg"/>
          </p:nvPr>
        </p:nvSpPr>
        <p:spPr/>
      </p:sp>
      <p:sp>
        <p:nvSpPr>
          <p:cNvPr id="78852"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0899" name="Rectangle 2"/>
          <p:cNvSpPr>
            <a:spLocks noRot="1"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sp>
        <p:nvSpPr>
          <p:cNvPr id="291855" name="Rectangle 15"/>
          <p:cNvSpPr>
            <a:spLocks noGrp="1" noChangeArrowheads="1"/>
          </p:cNvSpPr>
          <p:nvPr>
            <p:ph type="ctrTitle" sz="quarter"/>
          </p:nvPr>
        </p:nvSpPr>
        <p:spPr>
          <a:xfrm>
            <a:off x="900113" y="1219200"/>
            <a:ext cx="7772400" cy="1143000"/>
          </a:xfrm>
        </p:spPr>
        <p:txBody>
          <a:bodyPr/>
          <a:lstStyle>
            <a:lvl1pPr>
              <a:defRPr/>
            </a:lvl1pPr>
          </a:lstStyle>
          <a:p>
            <a:r>
              <a:rPr lang="en-US" altLang="zh-CN"/>
              <a:t>Click to edit Master title style</a:t>
            </a:r>
            <a:endParaRPr lang="en-US" altLang="zh-CN"/>
          </a:p>
        </p:txBody>
      </p:sp>
      <p:sp>
        <p:nvSpPr>
          <p:cNvPr id="291856" name="Rectangle 16"/>
          <p:cNvSpPr>
            <a:spLocks noGrp="1" noChangeArrowheads="1"/>
          </p:cNvSpPr>
          <p:nvPr>
            <p:ph type="subTitle" sz="quarter" idx="1"/>
          </p:nvPr>
        </p:nvSpPr>
        <p:spPr>
          <a:xfrm>
            <a:off x="395288" y="2819400"/>
            <a:ext cx="8307387" cy="3200400"/>
          </a:xfrm>
        </p:spPr>
        <p:txBody>
          <a:bodyPr lIns="92075" tIns="46038" rIns="92075" bIns="46038"/>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2" name="Rectangle 17"/>
          <p:cNvSpPr>
            <a:spLocks noGrp="1" noChangeArrowheads="1"/>
          </p:cNvSpPr>
          <p:nvPr>
            <p:ph type="dt" sz="quarter" idx="2"/>
          </p:nvPr>
        </p:nvSpPr>
        <p:spPr bwMode="auto">
          <a:xfrm>
            <a:off x="152400" y="6248400"/>
            <a:ext cx="19050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Rectangle 18"/>
          <p:cNvSpPr>
            <a:spLocks noGrp="1" noChangeArrowheads="1"/>
          </p:cNvSpPr>
          <p:nvPr>
            <p:ph type="ftr" sz="quarter" idx="3"/>
          </p:nvPr>
        </p:nvSpPr>
        <p:spPr bwMode="auto">
          <a:xfrm>
            <a:off x="3124200" y="6248400"/>
            <a:ext cx="28956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4" name="Rectangle 19"/>
          <p:cNvSpPr>
            <a:spLocks noGrp="1" noChangeArrowheads="1"/>
          </p:cNvSpPr>
          <p:nvPr>
            <p:ph type="sldNum" sz="quarter" idx="4"/>
          </p:nvPr>
        </p:nvSpPr>
        <p:spPr bwMode="auto">
          <a:xfrm>
            <a:off x="7162800" y="6248400"/>
            <a:ext cx="1905000" cy="457200"/>
          </a:xfrm>
          <a:prstGeom prst="rect">
            <a:avLst/>
          </a:prstGeom>
          <a:ln>
            <a:miter lim="800000"/>
          </a:ln>
        </p:spPr>
        <p:txBody>
          <a:bodyPr vert="horz" wrap="none" lIns="92075" tIns="46038" rIns="92075" bIns="46038" numCol="1" anchor="ctr" anchorCtr="0" compatLnSpc="1"/>
          <a:p>
            <a:pPr algn="r"/>
            <a:fld id="{9A0DB2DC-4C9A-4742-B13C-FB6460FD3503}" type="slidenum">
              <a:rPr lang="en-US" altLang="zh-CN" i="1" dirty="0">
                <a:ea typeface="宋体" panose="02010600030101010101" pitchFamily="2" charset="-122"/>
              </a:rPr>
            </a:fld>
            <a:endParaRPr lang="en-US" altLang="zh-CN" i="1" dirty="0">
              <a:ea typeface="宋体" panose="02010600030101010101" pitchFamily="2" charset="-122"/>
            </a:endParaRPr>
          </a:p>
        </p:txBody>
      </p:sp>
    </p:spTree>
  </p:cSld>
  <p:clrMapOvr>
    <a:masterClrMapping/>
  </p:clrMapOvr>
  <p:transition>
    <p:random/>
    <p:sndAc>
      <p:stSnd>
        <p:snd r:embed="rId2"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2400" y="1016000"/>
            <a:ext cx="4348163" cy="5473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2963" y="1016000"/>
            <a:ext cx="4348162" cy="5473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endParaRPr kumimoji="0" lang="zh-CN" altLang="en-US" sz="3200" b="1" i="0" u="none" strike="noStrike" kern="0" cap="none" spc="0" normalizeH="0" baseline="0" noProof="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144463"/>
            <a:ext cx="2211387" cy="634523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2400" y="144463"/>
            <a:ext cx="6484938" cy="634523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44463"/>
            <a:ext cx="8659812" cy="69215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52400" y="1016000"/>
            <a:ext cx="4348163" cy="5473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2963" y="1016000"/>
            <a:ext cx="4348162" cy="5473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44463"/>
            <a:ext cx="8659812" cy="69215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52400" y="1016000"/>
            <a:ext cx="4348163" cy="5473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52963" y="1016000"/>
            <a:ext cx="4348162" cy="26606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52963" y="3829050"/>
            <a:ext cx="4348162" cy="26606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a:spcBef>
                <a:spcPct val="0"/>
              </a:spcBef>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audio" Target="../media/audio1.wav"/><Relationship Id="rId16" Type="http://schemas.openxmlformats.org/officeDocument/2006/relationships/image" Target="../media/image2.wmf"/><Relationship Id="rId15" Type="http://schemas.openxmlformats.org/officeDocument/2006/relationships/control" Target="../activeX/activeX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p:sp>
        <p:nvSpPr>
          <p:cNvPr id="290818" name="Rectangle 2"/>
          <p:cNvSpPr>
            <a:spLocks noGrp="1" noChangeArrowheads="1"/>
          </p:cNvSpPr>
          <p:nvPr>
            <p:ph type="title"/>
          </p:nvPr>
        </p:nvSpPr>
        <p:spPr bwMode="auto">
          <a:xfrm>
            <a:off x="179388" y="144463"/>
            <a:ext cx="8659813" cy="692150"/>
          </a:xfrm>
          <a:prstGeom prst="rect">
            <a:avLst/>
          </a:prstGeom>
          <a:noFill/>
          <a:ln w="9525">
            <a:noFill/>
            <a:miter lim="800000"/>
          </a:ln>
          <a:effectLst/>
        </p:spPr>
        <p:txBody>
          <a:bodyPr vert="horz" wrap="square" lIns="92075" tIns="46038" rIns="92075" bIns="46038" numCol="1" anchor="ctr" anchorCtr="0" compatLnSpc="1"/>
          <a:lstStyle/>
          <a:p>
            <a:pPr lvl="0"/>
            <a:r>
              <a:rPr lang="en-US" altLang="zh-CN"/>
              <a:t>Click to edit Master title style</a:t>
            </a:r>
            <a:endParaRPr lang="en-US" altLang="zh-CN"/>
          </a:p>
        </p:txBody>
      </p:sp>
      <p:sp>
        <p:nvSpPr>
          <p:cNvPr id="290819" name="Rectangle 3"/>
          <p:cNvSpPr>
            <a:spLocks noGrp="1" noChangeArrowheads="1"/>
          </p:cNvSpPr>
          <p:nvPr>
            <p:ph type="dt" sz="half" idx="2"/>
          </p:nvPr>
        </p:nvSpPr>
        <p:spPr bwMode="auto">
          <a:xfrm>
            <a:off x="12954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l" eaLnBrk="0" hangingPunct="0">
              <a:spcBef>
                <a:spcPct val="0"/>
              </a:spcBef>
              <a:defRPr sz="1400" b="0">
                <a:solidFill>
                  <a:schemeClr val="tx1"/>
                </a:solidFill>
                <a:latin typeface="+mn-lt"/>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0820" name="Rectangle 4"/>
          <p:cNvSpPr>
            <a:spLocks noGrp="1" noChangeArrowheads="1"/>
          </p:cNvSpPr>
          <p:nvPr>
            <p:ph type="ftr" sz="quarter" idx="3"/>
          </p:nvPr>
        </p:nvSpPr>
        <p:spPr bwMode="auto">
          <a:xfrm>
            <a:off x="3733800" y="6248400"/>
            <a:ext cx="2895600" cy="457200"/>
          </a:xfrm>
          <a:prstGeom prst="rect">
            <a:avLst/>
          </a:prstGeom>
          <a:noFill/>
          <a:ln w="9525">
            <a:noFill/>
            <a:miter lim="800000"/>
          </a:ln>
          <a:effectLst/>
        </p:spPr>
        <p:txBody>
          <a:bodyPr vert="horz" wrap="none" lIns="92075" tIns="46038" rIns="92075" bIns="46038" numCol="1" anchor="ctr" anchorCtr="0" compatLnSpc="1"/>
          <a:lstStyle>
            <a:lvl1pPr eaLnBrk="0" hangingPunct="0">
              <a:spcBef>
                <a:spcPct val="0"/>
              </a:spcBef>
              <a:defRPr sz="1400" b="0">
                <a:solidFill>
                  <a:schemeClr val="tx1"/>
                </a:solidFill>
                <a:latin typeface="+mn-lt"/>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90821" name="Rectangle 5"/>
          <p:cNvSpPr>
            <a:spLocks noGrp="1" noChangeArrowheads="1"/>
          </p:cNvSpPr>
          <p:nvPr>
            <p:ph type="sldNum" sz="quarter" idx="4"/>
          </p:nvPr>
        </p:nvSpPr>
        <p:spPr bwMode="auto">
          <a:xfrm>
            <a:off x="71628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sz="1400" b="0">
                <a:solidFill>
                  <a:schemeClr val="tx1"/>
                </a:solidFill>
                <a:latin typeface="Times New Roman" panose="02020603050405020304" pitchFamily="18" charset="0"/>
                <a:ea typeface="宋体" panose="02010600030101010101" pitchFamily="2" charset="-122"/>
              </a:defRPr>
            </a:lvl1pPr>
          </a:lstStyle>
          <a:p>
            <a:pPr lvl="0">
              <a:spcBef>
                <a:spcPct val="0"/>
              </a:spcBef>
            </a:pPr>
            <a:fld id="{9A0DB2DC-4C9A-4742-B13C-FB6460FD3503}" type="slidenum">
              <a:rPr lang="en-US" altLang="zh-CN" dirty="0"/>
            </a:fld>
            <a:endParaRPr lang="en-US" altLang="zh-CN" dirty="0"/>
          </a:p>
        </p:txBody>
      </p:sp>
      <p:sp>
        <p:nvSpPr>
          <p:cNvPr id="1030" name="Rectangle 6"/>
          <p:cNvSpPr>
            <a:spLocks noGrp="1"/>
          </p:cNvSpPr>
          <p:nvPr>
            <p:ph type="body" idx="1"/>
          </p:nvPr>
        </p:nvSpPr>
        <p:spPr>
          <a:xfrm>
            <a:off x="152400" y="1016000"/>
            <a:ext cx="8848725" cy="54737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1" name="Rectangle 8"/>
          <p:cNvSpPr/>
          <p:nvPr/>
        </p:nvSpPr>
        <p:spPr>
          <a:xfrm>
            <a:off x="1828800" y="6461125"/>
            <a:ext cx="2667000" cy="396875"/>
          </a:xfrm>
          <a:prstGeom prst="rect">
            <a:avLst/>
          </a:prstGeom>
          <a:noFill/>
          <a:ln w="12700">
            <a:noFill/>
          </a:ln>
        </p:spPr>
        <p:txBody>
          <a:bodyPr>
            <a:spAutoFit/>
          </a:bodyPr>
          <a:p>
            <a:pPr lvl="0" algn="l">
              <a:spcBef>
                <a:spcPct val="0"/>
              </a:spcBef>
              <a:buNone/>
            </a:pPr>
            <a:endParaRPr lang="en-US" altLang="zh-CN" sz="2000" b="0" dirty="0">
              <a:solidFill>
                <a:srgbClr val="808000"/>
              </a:solidFill>
              <a:latin typeface="Arial" panose="020B0604020202020204" pitchFamily="34" charset="0"/>
              <a:ea typeface="楷体_GB2312" pitchFamily="49" charset="-122"/>
            </a:endParaRPr>
          </a:p>
        </p:txBody>
      </p:sp>
      <p:pic>
        <p:nvPicPr>
          <p:cNvPr id="290825" name="Picture 9" descr="paint"/>
          <p:cNvPicPr>
            <a:picLocks noChangeAspect="1"/>
          </p:cNvPicPr>
          <p:nvPr userDrawn="1"/>
        </p:nvPicPr>
        <p:blipFill>
          <a:blip r:embed="rId14">
            <a:clrChange>
              <a:clrFrom>
                <a:srgbClr val="C0C0C0"/>
              </a:clrFrom>
              <a:clrTo>
                <a:srgbClr val="C0C0C0">
                  <a:alpha val="0"/>
                </a:srgbClr>
              </a:clrTo>
            </a:clrChange>
          </a:blip>
          <a:stretch>
            <a:fillRect/>
          </a:stretch>
        </p:blipFill>
        <p:spPr>
          <a:xfrm>
            <a:off x="0" y="838200"/>
            <a:ext cx="4716463" cy="142875"/>
          </a:xfrm>
          <a:prstGeom prst="rect">
            <a:avLst/>
          </a:prstGeom>
          <a:noFill/>
          <a:ln w="9525">
            <a:noFill/>
          </a:ln>
        </p:spPr>
      </p:pic>
      <p:sp>
        <p:nvSpPr>
          <p:cNvPr id="290827" name="Text Box 11"/>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a:spcBef>
                <a:spcPct val="0"/>
              </a:spcBef>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Tree>
    <p:controls>
      <mc:AlternateContent xmlns:mc="http://schemas.openxmlformats.org/markup-compatibility/2006">
        <mc:Choice xmlns:v="urn:schemas-microsoft-com:vml" Requires="v">
          <p:control spid="1034" name="" r:id="rId15" imgW="684213" imgH="569913"/>
        </mc:Choice>
        <mc:Fallback>
          <p:control name="" r:id="rId15" imgW="684213" imgH="569913">
            <p:pic>
              <p:nvPicPr>
                <p:cNvPr id="0" name="Host Control  1033"/>
                <p:cNvPicPr/>
                <p:nvPr userDrawn="1"/>
              </p:nvPicPr>
              <p:blipFill>
                <a:blip r:embed="rId16"/>
                <a:stretch>
                  <a:fillRect/>
                </a:stretch>
              </p:blipFill>
              <p:spPr>
                <a:xfrm>
                  <a:off x="0" y="6245225"/>
                  <a:ext cx="684213" cy="569913"/>
                </a:xfrm>
                <a:prstGeom prst="rect">
                  <a:avLst/>
                </a:prstGeom>
              </p:spPr>
            </p:pic>
          </p:control>
        </mc:Fallback>
      </mc:AlternateContent>
    </p:controls>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sndAc>
      <p:stSnd>
        <p:snd r:embed="rId17"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0825"/>
                                        </p:tgtEl>
                                        <p:attrNameLst>
                                          <p:attrName>style.visibility</p:attrName>
                                        </p:attrNameLst>
                                      </p:cBhvr>
                                      <p:to>
                                        <p:strVal val="visible"/>
                                      </p:to>
                                    </p:set>
                                    <p:animEffect transition="in" filter="wipe(left)">
                                      <p:cBhvr>
                                        <p:cTn id="7" dur="500"/>
                                        <p:tgtEl>
                                          <p:spTgt spid="290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2pPr>
      <a:lvl3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4pPr>
      <a:lvl5pPr algn="l" rtl="0" eaLnBrk="0" fontAlgn="base" hangingPunct="0">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5pPr>
      <a:lvl6pPr marL="4572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6pPr>
      <a:lvl7pPr marL="9144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7pPr>
      <a:lvl8pPr marL="13716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8pPr>
      <a:lvl9pPr marL="1828800" algn="l" rtl="0" fontAlgn="base">
        <a:spcBef>
          <a:spcPct val="0"/>
        </a:spcBef>
        <a:spcAft>
          <a:spcPct val="0"/>
        </a:spcAft>
        <a:defRPr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9pPr>
    </p:titleStyle>
    <p:body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b="1">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vl6pPr marL="27927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6pPr>
      <a:lvl7pPr marL="32499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7pPr>
      <a:lvl8pPr marL="37071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8pPr>
      <a:lvl9pPr marL="41643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vmlDrawing" Target="../drawings/vmlDrawing2.vml"/><Relationship Id="rId4" Type="http://schemas.openxmlformats.org/officeDocument/2006/relationships/slideLayout" Target="../slideLayouts/slideLayout12.xml"/><Relationship Id="rId3" Type="http://schemas.openxmlformats.org/officeDocument/2006/relationships/audio" Target="../media/audio1.wav"/><Relationship Id="rId2" Type="http://schemas.openxmlformats.org/officeDocument/2006/relationships/image" Target="../media/image4.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vmlDrawing" Target="../drawings/vmlDrawing3.vml"/><Relationship Id="rId4" Type="http://schemas.openxmlformats.org/officeDocument/2006/relationships/slideLayout" Target="../slideLayouts/slideLayout12.xml"/><Relationship Id="rId3" Type="http://schemas.openxmlformats.org/officeDocument/2006/relationships/audio" Target="../media/audio1.wav"/><Relationship Id="rId2" Type="http://schemas.openxmlformats.org/officeDocument/2006/relationships/image" Target="../media/image4.wmf"/><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5122" name="Picture 2" descr="Multi_3"/>
          <p:cNvPicPr>
            <a:picLocks noChangeAspect="1"/>
          </p:cNvPicPr>
          <p:nvPr/>
        </p:nvPicPr>
        <p:blipFill>
          <a:blip r:embed="rId1">
            <a:clrChange>
              <a:clrFrom>
                <a:srgbClr val="4800A1"/>
              </a:clrFrom>
              <a:clrTo>
                <a:srgbClr val="4800A1">
                  <a:alpha val="0"/>
                </a:srgbClr>
              </a:clrTo>
            </a:clrChange>
          </a:blip>
          <a:stretch>
            <a:fillRect/>
          </a:stretch>
        </p:blipFill>
        <p:spPr>
          <a:xfrm>
            <a:off x="684213" y="4868863"/>
            <a:ext cx="1905000" cy="1450975"/>
          </a:xfrm>
          <a:prstGeom prst="rect">
            <a:avLst/>
          </a:prstGeom>
          <a:noFill/>
          <a:ln w="9525">
            <a:noFill/>
          </a:ln>
        </p:spPr>
      </p:pic>
      <p:sp>
        <p:nvSpPr>
          <p:cNvPr id="5123" name="Rectangle 3"/>
          <p:cNvSpPr/>
          <p:nvPr/>
        </p:nvSpPr>
        <p:spPr>
          <a:xfrm>
            <a:off x="827088" y="2924175"/>
            <a:ext cx="7772400" cy="936625"/>
          </a:xfrm>
          <a:prstGeom prst="rect">
            <a:avLst/>
          </a:prstGeom>
          <a:noFill/>
          <a:ln w="9525">
            <a:noFill/>
          </a:ln>
        </p:spPr>
        <p:txBody>
          <a:bodyPr anchor="b"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buClrTx/>
              <a:buSzTx/>
              <a:buFontTx/>
              <a:buNone/>
            </a:pPr>
            <a:r>
              <a:rPr lang="zh-CN" altLang="en-US" sz="5400" dirty="0">
                <a:solidFill>
                  <a:srgbClr val="0000CC"/>
                </a:solidFill>
                <a:latin typeface="华文新魏" panose="02010800040101010101" pitchFamily="2" charset="-122"/>
                <a:ea typeface="华文新魏" panose="02010800040101010101" pitchFamily="2" charset="-122"/>
              </a:rPr>
              <a:t>第</a:t>
            </a:r>
            <a:r>
              <a:rPr lang="en-US" altLang="zh-CN" sz="5400" dirty="0">
                <a:solidFill>
                  <a:srgbClr val="0000CC"/>
                </a:solidFill>
                <a:latin typeface="Arial" panose="020B0604020202020204" pitchFamily="34" charset="0"/>
                <a:ea typeface="幼圆" panose="02010509060101010101" pitchFamily="49" charset="-122"/>
              </a:rPr>
              <a:t>7</a:t>
            </a:r>
            <a:r>
              <a:rPr lang="zh-CN" altLang="en-US" sz="5400" dirty="0">
                <a:solidFill>
                  <a:srgbClr val="0000CC"/>
                </a:solidFill>
                <a:latin typeface="华文新魏" panose="02010800040101010101" pitchFamily="2" charset="-122"/>
                <a:ea typeface="华文新魏" panose="02010800040101010101" pitchFamily="2" charset="-122"/>
              </a:rPr>
              <a:t>章</a:t>
            </a:r>
            <a:r>
              <a:rPr lang="zh-CN" altLang="en-US" sz="6000" dirty="0">
                <a:solidFill>
                  <a:srgbClr val="0000CC"/>
                </a:solidFill>
                <a:latin typeface="华文新魏" panose="02010800040101010101" pitchFamily="2" charset="-122"/>
                <a:ea typeface="华文新魏" panose="02010800040101010101" pitchFamily="2" charset="-122"/>
              </a:rPr>
              <a:t> </a:t>
            </a:r>
            <a:r>
              <a:rPr lang="zh-CN" altLang="en-US" sz="5400" dirty="0">
                <a:solidFill>
                  <a:srgbClr val="0000CC"/>
                </a:solidFill>
                <a:latin typeface="华文新魏" panose="02010800040101010101" pitchFamily="2" charset="-122"/>
                <a:ea typeface="华文新魏" panose="02010800040101010101" pitchFamily="2" charset="-122"/>
              </a:rPr>
              <a:t>关系规范化理论</a:t>
            </a:r>
            <a:endParaRPr lang="zh-CN" altLang="en-US" sz="5400" dirty="0">
              <a:solidFill>
                <a:srgbClr val="0000CC"/>
              </a:solidFill>
              <a:latin typeface="华文新魏" panose="02010800040101010101" pitchFamily="2" charset="-122"/>
              <a:ea typeface="华文新魏" panose="02010800040101010101" pitchFamily="2" charset="-122"/>
            </a:endParaRPr>
          </a:p>
        </p:txBody>
      </p:sp>
      <p:sp>
        <p:nvSpPr>
          <p:cNvPr id="5124" name="Rectangle 4"/>
          <p:cNvSpPr/>
          <p:nvPr/>
        </p:nvSpPr>
        <p:spPr>
          <a:xfrm>
            <a:off x="-36512" y="1052513"/>
            <a:ext cx="9180512" cy="1143000"/>
          </a:xfrm>
          <a:prstGeom prst="rect">
            <a:avLst/>
          </a:prstGeom>
          <a:noFill/>
          <a:ln w="12700">
            <a:noFill/>
          </a:ln>
          <a:effectLst>
            <a:outerShdw dist="35921" dir="2699999" algn="ctr" rotWithShape="0">
              <a:schemeClr val="bg2">
                <a:alpha val="50000"/>
              </a:schemeClr>
            </a:outerShdw>
          </a:effectLst>
        </p:spPr>
        <p:txBody>
          <a:bodyPr lIns="90488" tIns="44450" rIns="90488" bIns="44450" anchor="ctr" anchorCtr="0"/>
          <a:p>
            <a:pPr algn="ctr">
              <a:buNone/>
            </a:pPr>
            <a:r>
              <a:rPr lang="zh-CN" altLang="en-US" sz="6000" dirty="0">
                <a:solidFill>
                  <a:srgbClr val="FF3300"/>
                </a:solidFill>
                <a:latin typeface="Arial" panose="020B0604020202020204" pitchFamily="34" charset="0"/>
                <a:ea typeface="华文新魏" panose="02010800040101010101" pitchFamily="2" charset="-122"/>
              </a:rPr>
              <a:t>数据库</a:t>
            </a:r>
            <a:r>
              <a:rPr lang="zh-CN" altLang="en-US" sz="6000" dirty="0">
                <a:solidFill>
                  <a:srgbClr val="FF3300"/>
                </a:solidFill>
                <a:latin typeface="Arial" panose="020B0604020202020204" pitchFamily="34" charset="0"/>
                <a:ea typeface="华文新魏" panose="02010800040101010101" pitchFamily="2" charset="-122"/>
              </a:rPr>
              <a:t>系统</a:t>
            </a:r>
            <a:endParaRPr lang="zh-CN" altLang="en-US" sz="6000" dirty="0">
              <a:solidFill>
                <a:srgbClr val="FF3300"/>
              </a:solidFill>
              <a:latin typeface="Arial" panose="020B0604020202020204" pitchFamily="34" charset="0"/>
              <a:ea typeface="华文新魏" panose="02010800040101010101" pitchFamily="2" charset="-122"/>
            </a:endParaRPr>
          </a:p>
        </p:txBody>
      </p:sp>
      <p:sp>
        <p:nvSpPr>
          <p:cNvPr id="5125" name="Text Box 5"/>
          <p:cNvSpPr txBox="1"/>
          <p:nvPr/>
        </p:nvSpPr>
        <p:spPr>
          <a:xfrm>
            <a:off x="1588" y="6513513"/>
            <a:ext cx="9144000" cy="420687"/>
          </a:xfrm>
          <a:prstGeom prst="rect">
            <a:avLst/>
          </a:prstGeom>
          <a:gradFill rotWithShape="0">
            <a:gsLst>
              <a:gs pos="0">
                <a:srgbClr val="FFFFFF"/>
              </a:gs>
              <a:gs pos="100000">
                <a:srgbClr val="3333CC"/>
              </a:gs>
            </a:gsLst>
            <a:lin ang="5400000" scaled="1"/>
            <a:tileRect/>
          </a:gradFill>
          <a:ln w="9525">
            <a:noFill/>
          </a:ln>
        </p:spPr>
        <p:txBody>
          <a:bodyPr lIns="92075" tIns="46038" rIns="92075" bIns="46038">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nSpc>
                <a:spcPct val="90000"/>
              </a:lnSpc>
              <a:spcBef>
                <a:spcPct val="50000"/>
              </a:spcBef>
              <a:buClrTx/>
              <a:buSzTx/>
              <a:buFontTx/>
              <a:buNone/>
            </a:pPr>
            <a:endParaRPr lang="zh-CN" altLang="zh-CN" sz="2400" dirty="0">
              <a:solidFill>
                <a:schemeClr val="tx1"/>
              </a:solidFill>
              <a:latin typeface="华文中宋" panose="02010600040101010101" pitchFamily="2" charset="-122"/>
              <a:ea typeface="华文中宋" panose="02010600040101010101" pitchFamily="2" charset="-122"/>
            </a:endParaRPr>
          </a:p>
        </p:txBody>
      </p:sp>
      <p:sp>
        <p:nvSpPr>
          <p:cNvPr id="5126" name="Text Box 6"/>
          <p:cNvSpPr txBox="1"/>
          <p:nvPr/>
        </p:nvSpPr>
        <p:spPr>
          <a:xfrm>
            <a:off x="0" y="-76200"/>
            <a:ext cx="9144000" cy="420688"/>
          </a:xfrm>
          <a:prstGeom prst="rect">
            <a:avLst/>
          </a:prstGeom>
          <a:gradFill rotWithShape="0">
            <a:gsLst>
              <a:gs pos="0">
                <a:srgbClr val="3333CC"/>
              </a:gs>
              <a:gs pos="100000">
                <a:srgbClr val="FFFFFF"/>
              </a:gs>
            </a:gsLst>
            <a:lin ang="5400000" scaled="1"/>
            <a:tileRect/>
          </a:gradFill>
          <a:ln w="9525">
            <a:noFill/>
          </a:ln>
        </p:spPr>
        <p:txBody>
          <a:bodyPr lIns="92075" tIns="46038" rIns="92075" bIns="46038">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nSpc>
                <a:spcPct val="90000"/>
              </a:lnSpc>
              <a:spcBef>
                <a:spcPct val="50000"/>
              </a:spcBef>
              <a:buClrTx/>
              <a:buSzTx/>
              <a:buFontTx/>
              <a:buNone/>
            </a:pPr>
            <a:endParaRPr lang="zh-CN" altLang="zh-CN" sz="2400" dirty="0">
              <a:solidFill>
                <a:schemeClr val="tx1"/>
              </a:solidFill>
              <a:latin typeface="华文中宋" panose="02010600040101010101" pitchFamily="2" charset="-122"/>
              <a:ea typeface="华文中宋" panose="02010600040101010101" pitchFamily="2" charset="-122"/>
            </a:endParaRPr>
          </a:p>
        </p:txBody>
      </p:sp>
    </p:spTree>
  </p:cSld>
  <p:clrMapOvr>
    <a:masterClrMapping/>
  </p:clrMapOvr>
  <p:transition>
    <p:rand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147" name="Rectangle 3"/>
          <p:cNvSpPr>
            <a:spLocks noGrp="1"/>
          </p:cNvSpPr>
          <p:nvPr>
            <p:ph idx="1"/>
          </p:nvPr>
        </p:nvSpPr>
        <p:spPr>
          <a:xfrm>
            <a:off x="1231900" y="1016000"/>
            <a:ext cx="7372350" cy="5365750"/>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7.1 </a:t>
            </a:r>
            <a:r>
              <a:rPr lang="zh-CN" altLang="en-US" dirty="0">
                <a:latin typeface="宋体" panose="02010600030101010101" pitchFamily="2" charset="-122"/>
              </a:rPr>
              <a:t>问题的提出</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7.2 </a:t>
            </a:r>
            <a:r>
              <a:rPr lang="zh-CN" altLang="en-US" dirty="0">
                <a:latin typeface="宋体" panose="02010600030101010101" pitchFamily="2" charset="-122"/>
              </a:rPr>
              <a:t>函数依赖</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7.3 </a:t>
            </a:r>
            <a:r>
              <a:rPr lang="zh-CN" altLang="en-US" dirty="0">
                <a:latin typeface="Arial" panose="020B0604020202020204" pitchFamily="34" charset="0"/>
              </a:rPr>
              <a:t>数据依赖的公理系统</a:t>
            </a:r>
            <a:endParaRPr lang="zh-CN" altLang="en-US" dirty="0">
              <a:solidFill>
                <a:srgbClr val="0033CC"/>
              </a:solidFill>
              <a:latin typeface="Arial" panose="020B0604020202020204" pitchFamily="34" charset="0"/>
            </a:endParaRPr>
          </a:p>
          <a:p>
            <a:pPr eaLnBrk="1" hangingPunct="1">
              <a:lnSpc>
                <a:spcPct val="140000"/>
              </a:lnSpc>
              <a:buNone/>
            </a:pPr>
            <a:r>
              <a:rPr lang="en-US" altLang="zh-CN" dirty="0">
                <a:solidFill>
                  <a:srgbClr val="0000CC"/>
                </a:solidFill>
                <a:latin typeface="Arial" panose="020B0604020202020204" pitchFamily="34" charset="0"/>
              </a:rPr>
              <a:t>7.4</a:t>
            </a:r>
            <a:r>
              <a:rPr lang="en-US" altLang="zh-CN" dirty="0">
                <a:latin typeface="Arial" panose="020B0604020202020204" pitchFamily="34" charset="0"/>
              </a:rPr>
              <a:t> </a:t>
            </a:r>
            <a:r>
              <a:rPr lang="zh-CN" altLang="en-US" dirty="0">
                <a:solidFill>
                  <a:srgbClr val="0033CC"/>
                </a:solidFill>
                <a:latin typeface="Arial" panose="020B0604020202020204" pitchFamily="34" charset="0"/>
              </a:rPr>
              <a:t>关系模式的分解</a:t>
            </a:r>
            <a:endParaRPr lang="zh-CN" altLang="en-US" dirty="0">
              <a:solidFill>
                <a:srgbClr val="0033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7.5 </a:t>
            </a:r>
            <a:r>
              <a:rPr lang="zh-CN" altLang="en-US" dirty="0"/>
              <a:t>范式及其规范化</a:t>
            </a:r>
            <a:endParaRPr lang="zh-CN" altLang="en-US" dirty="0"/>
          </a:p>
        </p:txBody>
      </p:sp>
    </p:spTree>
  </p:cSld>
  <p:clrMapOvr>
    <a:masterClrMapping/>
  </p:clrMapOvr>
  <p:transition>
    <p:random/>
    <p:sndAc>
      <p:stSnd>
        <p:snd r:embed="rId1"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idx="1"/>
          </p:nvPr>
        </p:nvSpPr>
        <p:spPr>
          <a:xfrm>
            <a:off x="152400" y="1052513"/>
            <a:ext cx="8812213" cy="5273675"/>
          </a:xfrm>
        </p:spPr>
        <p:txBody>
          <a:bodyPr vert="horz" wrap="square" lIns="91440" tIns="45720" rIns="91440" bIns="45720" anchor="t" anchorCtr="0"/>
          <a:p>
            <a:pPr marL="361950" indent="-361950" eaLnBrk="1" hangingPunct="1"/>
            <a:r>
              <a:rPr lang="zh-CN" altLang="en-US" dirty="0">
                <a:solidFill>
                  <a:srgbClr val="010103"/>
                </a:solidFill>
                <a:latin typeface="Arial" panose="020B0604020202020204" pitchFamily="34" charset="0"/>
              </a:rPr>
              <a:t>定义</a:t>
            </a:r>
            <a:endParaRPr lang="zh-CN" altLang="en-US" dirty="0">
              <a:latin typeface="Arial" panose="020B0604020202020204" pitchFamily="34" charset="0"/>
            </a:endParaRPr>
          </a:p>
          <a:p>
            <a:pPr marL="361950" indent="-361950" eaLnBrk="1" hangingPunct="1">
              <a:lnSpc>
                <a:spcPct val="110000"/>
              </a:lnSpc>
              <a:spcBef>
                <a:spcPct val="25000"/>
              </a:spcBef>
              <a:buNone/>
            </a:pPr>
            <a:r>
              <a:rPr lang="zh-CN" altLang="en-US" dirty="0">
                <a:latin typeface="Arial" panose="020B0604020202020204" pitchFamily="34" charset="0"/>
              </a:rPr>
              <a:t>        关系模式 </a:t>
            </a:r>
            <a:r>
              <a:rPr lang="en-US" altLang="zh-CN" dirty="0">
                <a:latin typeface="Arial" panose="020B0604020202020204" pitchFamily="34" charset="0"/>
                <a:ea typeface="Arial Unicode MS" pitchFamily="34" charset="-122"/>
              </a:rPr>
              <a:t>R&lt;U, F&gt; </a:t>
            </a:r>
            <a:r>
              <a:rPr lang="zh-CN" altLang="en-US" dirty="0">
                <a:latin typeface="Arial" panose="020B0604020202020204" pitchFamily="34" charset="0"/>
                <a:ea typeface="Arial Unicode MS" pitchFamily="34" charset="-122"/>
              </a:rPr>
              <a:t>，</a:t>
            </a:r>
            <a:r>
              <a:rPr lang="en-US" altLang="zh-CN" dirty="0">
                <a:latin typeface="Arial" panose="020B0604020202020204" pitchFamily="34" charset="0"/>
                <a:ea typeface="Arial Unicode MS" pitchFamily="34" charset="-122"/>
              </a:rPr>
              <a:t>U</a:t>
            </a:r>
            <a:r>
              <a:rPr lang="en-US" altLang="zh-CN" i="1" baseline="-25000" dirty="0">
                <a:ea typeface="Arial Unicode MS" pitchFamily="34" charset="-122"/>
              </a:rPr>
              <a:t>i</a:t>
            </a:r>
            <a:r>
              <a:rPr lang="en-US" altLang="zh-CN" baseline="-25000" dirty="0">
                <a:latin typeface="Arial" panose="020B0604020202020204" pitchFamily="34" charset="0"/>
                <a:ea typeface="Arial Unicode MS" pitchFamily="34" charset="-122"/>
              </a:rPr>
              <a:t> </a:t>
            </a:r>
            <a:r>
              <a:rPr lang="en-US" altLang="zh-CN" dirty="0">
                <a:latin typeface="Arial" panose="020B0604020202020204" pitchFamily="34" charset="0"/>
                <a:ea typeface="Arial Unicode MS" pitchFamily="34" charset="-122"/>
                <a:sym typeface="Symbol" panose="05050102010706020507" pitchFamily="18" charset="2"/>
              </a:rPr>
              <a:t></a:t>
            </a:r>
            <a:r>
              <a:rPr lang="en-US" altLang="zh-CN" dirty="0">
                <a:latin typeface="Arial" panose="020B0604020202020204" pitchFamily="34" charset="0"/>
              </a:rPr>
              <a:t> </a:t>
            </a:r>
            <a:r>
              <a:rPr lang="en-US" altLang="zh-CN" dirty="0">
                <a:latin typeface="Arial" panose="020B0604020202020204" pitchFamily="34" charset="0"/>
                <a:ea typeface="Arial Unicode MS" pitchFamily="34" charset="-122"/>
              </a:rPr>
              <a:t>U </a:t>
            </a:r>
            <a:r>
              <a:rPr lang="zh-CN" altLang="en-US" dirty="0">
                <a:latin typeface="Arial" panose="020B0604020202020204" pitchFamily="34" charset="0"/>
                <a:ea typeface="Arial Unicode MS" pitchFamily="34" charset="-122"/>
              </a:rPr>
              <a:t>，</a:t>
            </a:r>
            <a:endParaRPr lang="zh-CN" altLang="en-US" dirty="0">
              <a:latin typeface="Arial" panose="020B0604020202020204" pitchFamily="34" charset="0"/>
              <a:ea typeface="Arial Unicode MS" pitchFamily="34" charset="-122"/>
            </a:endParaRPr>
          </a:p>
          <a:p>
            <a:pPr marL="361950" indent="-361950" eaLnBrk="1" hangingPunct="1">
              <a:lnSpc>
                <a:spcPct val="110000"/>
              </a:lnSpc>
              <a:buNone/>
            </a:pPr>
            <a:r>
              <a:rPr lang="zh-CN" altLang="en-US" dirty="0">
                <a:latin typeface="Arial" panose="020B0604020202020204" pitchFamily="34" charset="0"/>
                <a:ea typeface="Arial Unicode MS" pitchFamily="34" charset="-122"/>
              </a:rPr>
              <a:t> </a:t>
            </a:r>
            <a:r>
              <a:rPr lang="zh-CN" altLang="en-US" dirty="0">
                <a:latin typeface="Arial" panose="020B0604020202020204" pitchFamily="34" charset="0"/>
              </a:rPr>
              <a:t>函数依赖集合</a:t>
            </a:r>
            <a:endParaRPr lang="zh-CN" altLang="en-US" dirty="0">
              <a:latin typeface="Arial" panose="020B0604020202020204" pitchFamily="34" charset="0"/>
            </a:endParaRPr>
          </a:p>
          <a:p>
            <a:pPr marL="361950" indent="-361950" eaLnBrk="1" hangingPunct="1">
              <a:lnSpc>
                <a:spcPct val="110000"/>
              </a:lnSpc>
              <a:spcBef>
                <a:spcPct val="25000"/>
              </a:spcBef>
              <a:buNone/>
            </a:pPr>
            <a:r>
              <a:rPr lang="zh-CN" altLang="en-US" dirty="0">
                <a:latin typeface="Arial" panose="020B0604020202020204" pitchFamily="34" charset="0"/>
                <a:ea typeface="Arial Unicode MS" pitchFamily="34" charset="-122"/>
              </a:rPr>
              <a:t>          </a:t>
            </a:r>
            <a:r>
              <a:rPr lang="en-US" altLang="zh-CN" dirty="0">
                <a:latin typeface="Arial" panose="020B0604020202020204" pitchFamily="34" charset="0"/>
                <a:ea typeface="Arial Unicode MS" pitchFamily="34" charset="-122"/>
              </a:rPr>
              <a:t>F</a:t>
            </a:r>
            <a:r>
              <a:rPr lang="en-US" altLang="zh-CN" i="1" baseline="-25000" dirty="0">
                <a:ea typeface="Arial Unicode MS" pitchFamily="34" charset="-122"/>
              </a:rPr>
              <a:t>i</a:t>
            </a:r>
            <a:r>
              <a:rPr lang="en-US" altLang="zh-CN" baseline="-25000" dirty="0">
                <a:latin typeface="Arial" panose="020B0604020202020204" pitchFamily="34" charset="0"/>
                <a:ea typeface="Arial Unicode MS" pitchFamily="34" charset="-122"/>
              </a:rPr>
              <a:t> </a:t>
            </a:r>
            <a:r>
              <a:rPr lang="en-US" altLang="zh-CN" dirty="0">
                <a:latin typeface="Arial" panose="020B0604020202020204" pitchFamily="34" charset="0"/>
                <a:ea typeface="Arial Unicode MS" pitchFamily="34" charset="-122"/>
              </a:rPr>
              <a:t>= { X</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Y | X</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Y</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F</a:t>
            </a:r>
            <a:r>
              <a:rPr lang="en-US" altLang="zh-CN" baseline="30000" dirty="0">
                <a:latin typeface="Arial" panose="020B0604020202020204" pitchFamily="34" charset="0"/>
                <a:ea typeface="Arial Unicode MS" pitchFamily="34" charset="-122"/>
              </a:rPr>
              <a:t>+ </a:t>
            </a:r>
            <a:r>
              <a:rPr lang="en-US" altLang="zh-CN" dirty="0">
                <a:latin typeface="Arial" panose="020B0604020202020204" pitchFamily="34" charset="0"/>
                <a:ea typeface="Arial Unicode MS" pitchFamily="34" charset="-122"/>
              </a:rPr>
              <a:t>∧ XY</a:t>
            </a:r>
            <a:r>
              <a:rPr lang="en-US" altLang="zh-CN" dirty="0">
                <a:latin typeface="Arial" panose="020B0604020202020204" pitchFamily="34" charset="0"/>
                <a:ea typeface="Arial Unicode MS" pitchFamily="34" charset="-122"/>
                <a:sym typeface="Symbol" panose="05050102010706020507" pitchFamily="18" charset="2"/>
              </a:rPr>
              <a:t> </a:t>
            </a:r>
            <a:r>
              <a:rPr lang="en-US" altLang="zh-CN" dirty="0">
                <a:latin typeface="Arial" panose="020B0604020202020204" pitchFamily="34" charset="0"/>
                <a:ea typeface="Arial Unicode MS" pitchFamily="34" charset="-122"/>
              </a:rPr>
              <a:t>U</a:t>
            </a:r>
            <a:r>
              <a:rPr lang="en-US" altLang="zh-CN" i="1" baseline="-25000" dirty="0">
                <a:ea typeface="Arial Unicode MS" pitchFamily="34" charset="-122"/>
              </a:rPr>
              <a:t>i</a:t>
            </a:r>
            <a:r>
              <a:rPr lang="en-US" altLang="zh-CN" dirty="0">
                <a:latin typeface="Arial" panose="020B0604020202020204" pitchFamily="34" charset="0"/>
                <a:ea typeface="Arial Unicode MS" pitchFamily="34" charset="-122"/>
              </a:rPr>
              <a:t> }</a:t>
            </a:r>
            <a:endParaRPr lang="en-US" altLang="zh-CN" dirty="0">
              <a:latin typeface="Arial" panose="020B0604020202020204" pitchFamily="34" charset="0"/>
              <a:ea typeface="Arial Unicode MS" pitchFamily="34" charset="-122"/>
            </a:endParaRPr>
          </a:p>
          <a:p>
            <a:pPr marL="361950" indent="-361950" eaLnBrk="1" hangingPunct="1">
              <a:lnSpc>
                <a:spcPct val="110000"/>
              </a:lnSpc>
              <a:spcBef>
                <a:spcPct val="25000"/>
              </a:spcBef>
              <a:buNone/>
            </a:pPr>
            <a:r>
              <a:rPr lang="en-US" altLang="zh-CN" dirty="0">
                <a:latin typeface="Arial" panose="020B0604020202020204" pitchFamily="34" charset="0"/>
                <a:ea typeface="Arial Unicode MS" pitchFamily="34" charset="-122"/>
              </a:rPr>
              <a:t>    </a:t>
            </a:r>
            <a:r>
              <a:rPr lang="zh-CN" altLang="en-US" dirty="0">
                <a:latin typeface="Arial" panose="020B0604020202020204" pitchFamily="34" charset="0"/>
              </a:rPr>
              <a:t>叫做</a:t>
            </a:r>
            <a:r>
              <a:rPr lang="zh-CN" altLang="en-US" dirty="0">
                <a:latin typeface="Arial" panose="020B0604020202020204" pitchFamily="34" charset="0"/>
                <a:ea typeface="Arial Unicode MS" pitchFamily="34" charset="-122"/>
              </a:rPr>
              <a:t> </a:t>
            </a:r>
            <a:r>
              <a:rPr lang="en-US" altLang="zh-CN" dirty="0">
                <a:latin typeface="Arial" panose="020B0604020202020204" pitchFamily="34" charset="0"/>
                <a:ea typeface="Arial Unicode MS" pitchFamily="34" charset="-122"/>
              </a:rPr>
              <a:t>F </a:t>
            </a:r>
            <a:r>
              <a:rPr lang="zh-CN" altLang="en-US" dirty="0">
                <a:latin typeface="Arial" panose="020B0604020202020204" pitchFamily="34" charset="0"/>
              </a:rPr>
              <a:t>在属性集 </a:t>
            </a:r>
            <a:r>
              <a:rPr lang="en-US" altLang="zh-CN" dirty="0">
                <a:latin typeface="Arial" panose="020B0604020202020204" pitchFamily="34" charset="0"/>
                <a:ea typeface="Arial Unicode MS" pitchFamily="34" charset="-122"/>
              </a:rPr>
              <a:t>U</a:t>
            </a:r>
            <a:r>
              <a:rPr lang="en-US" altLang="zh-CN" i="1" baseline="-25000" dirty="0">
                <a:ea typeface="Arial Unicode MS" pitchFamily="34" charset="-122"/>
              </a:rPr>
              <a:t>i</a:t>
            </a:r>
            <a:r>
              <a:rPr lang="en-US" altLang="zh-CN" baseline="-25000" dirty="0">
                <a:latin typeface="Arial" panose="020B0604020202020204" pitchFamily="34" charset="0"/>
                <a:ea typeface="Arial Unicode MS" pitchFamily="34" charset="-122"/>
              </a:rPr>
              <a:t> </a:t>
            </a:r>
            <a:r>
              <a:rPr lang="zh-CN" altLang="en-US" dirty="0">
                <a:latin typeface="Arial" panose="020B0604020202020204" pitchFamily="34" charset="0"/>
              </a:rPr>
              <a:t>上的</a:t>
            </a:r>
            <a:r>
              <a:rPr lang="zh-CN" altLang="en-US" dirty="0">
                <a:solidFill>
                  <a:srgbClr val="FF0000"/>
                </a:solidFill>
                <a:latin typeface="Arial" panose="020B0604020202020204" pitchFamily="34" charset="0"/>
              </a:rPr>
              <a:t>投影</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31744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body" sz="half" idx="1"/>
          </p:nvPr>
        </p:nvSpPr>
        <p:spPr>
          <a:xfrm>
            <a:off x="152400" y="1016000"/>
            <a:ext cx="8812213" cy="5473700"/>
          </a:xfrm>
        </p:spPr>
        <p:txBody>
          <a:bodyPr vert="horz" wrap="square" lIns="91440" tIns="45720" rIns="91440" bIns="45720" anchor="t" anchorCtr="0"/>
          <a:p>
            <a:pPr marL="355600" indent="-355600" eaLnBrk="1" hangingPunct="1">
              <a:lnSpc>
                <a:spcPct val="110000"/>
              </a:lnSpc>
              <a:buClr>
                <a:srgbClr val="FF0000"/>
              </a:buClr>
              <a:buSzPct val="65000"/>
              <a:buFont typeface="Wingdings" panose="05000000000000000000" pitchFamily="2" charset="2"/>
            </a:pPr>
            <a:r>
              <a:rPr lang="zh-CN" altLang="en-US" dirty="0">
                <a:solidFill>
                  <a:srgbClr val="010103"/>
                </a:solidFill>
                <a:latin typeface="Arial" panose="020B0604020202020204" pitchFamily="34" charset="0"/>
              </a:rPr>
              <a:t>定义</a:t>
            </a:r>
            <a:endParaRPr lang="zh-CN" altLang="en-US" dirty="0">
              <a:latin typeface="Arial" panose="020B0604020202020204" pitchFamily="34" charset="0"/>
            </a:endParaRPr>
          </a:p>
          <a:p>
            <a:pPr marL="355600" indent="-355600" eaLnBrk="1" hangingPunct="1">
              <a:lnSpc>
                <a:spcPct val="120000"/>
              </a:lnSpc>
              <a:spcBef>
                <a:spcPct val="25000"/>
              </a:spcBef>
              <a:buClr>
                <a:srgbClr val="FF0000"/>
              </a:buClr>
              <a:buSzPct val="65000"/>
              <a:buFont typeface="Wingdings" panose="05000000000000000000" pitchFamily="2" charset="2"/>
              <a:buNone/>
            </a:pPr>
            <a:r>
              <a:rPr lang="zh-CN" altLang="en-US" dirty="0">
                <a:latin typeface="Arial" panose="020B0604020202020204" pitchFamily="34" charset="0"/>
              </a:rPr>
              <a:t>          关系模式 </a:t>
            </a:r>
            <a:r>
              <a:rPr lang="en-US" altLang="zh-CN" dirty="0">
                <a:latin typeface="Arial" panose="020B0604020202020204" pitchFamily="34" charset="0"/>
                <a:ea typeface="Arial Unicode MS" pitchFamily="34" charset="-122"/>
              </a:rPr>
              <a:t>R &lt;U, F&gt; </a:t>
            </a:r>
            <a:r>
              <a:rPr lang="zh-CN" altLang="en-US" dirty="0">
                <a:latin typeface="Arial" panose="020B0604020202020204" pitchFamily="34" charset="0"/>
              </a:rPr>
              <a:t>的一个</a:t>
            </a:r>
            <a:r>
              <a:rPr lang="zh-CN" altLang="en-US" dirty="0">
                <a:solidFill>
                  <a:srgbClr val="FF0000"/>
                </a:solidFill>
                <a:latin typeface="Arial" panose="020B0604020202020204" pitchFamily="34" charset="0"/>
              </a:rPr>
              <a:t>分解</a:t>
            </a:r>
            <a:r>
              <a:rPr lang="zh-CN" altLang="en-US" dirty="0">
                <a:latin typeface="Arial" panose="020B0604020202020204" pitchFamily="34" charset="0"/>
              </a:rPr>
              <a:t>是指一个关系模式的集合</a:t>
            </a:r>
            <a:endParaRPr lang="zh-CN" altLang="en-US" dirty="0">
              <a:latin typeface="Arial" panose="020B0604020202020204" pitchFamily="34" charset="0"/>
            </a:endParaRPr>
          </a:p>
          <a:p>
            <a:pPr marL="355600" indent="-355600" eaLnBrk="1" hangingPunct="1">
              <a:lnSpc>
                <a:spcPct val="120000"/>
              </a:lnSpc>
              <a:spcBef>
                <a:spcPct val="25000"/>
              </a:spcBef>
              <a:buClr>
                <a:srgbClr val="FF0000"/>
              </a:buClr>
              <a:buSzPct val="65000"/>
              <a:buFont typeface="Wingdings" panose="05000000000000000000" pitchFamily="2" charset="2"/>
              <a:buNone/>
            </a:pPr>
            <a:r>
              <a:rPr lang="zh-CN" altLang="en-US" dirty="0">
                <a:latin typeface="Arial" panose="020B0604020202020204" pitchFamily="34" charset="0"/>
              </a:rPr>
              <a:t> </a:t>
            </a:r>
            <a:r>
              <a:rPr lang="zh-CN" altLang="en-US" dirty="0">
                <a:solidFill>
                  <a:srgbClr val="0000CC"/>
                </a:solidFill>
                <a:latin typeface="Arial" panose="020B0604020202020204" pitchFamily="34" charset="0"/>
                <a:ea typeface="Arial Unicode MS" pitchFamily="34" charset="-122"/>
                <a:sym typeface="Symbol" panose="05050102010706020507" pitchFamily="18" charset="2"/>
              </a:rPr>
              <a:t></a:t>
            </a:r>
            <a:r>
              <a:rPr lang="en-US" altLang="zh-CN" dirty="0">
                <a:solidFill>
                  <a:srgbClr val="0000CC"/>
                </a:solidFill>
                <a:latin typeface="Arial" panose="020B0604020202020204" pitchFamily="34" charset="0"/>
                <a:ea typeface="Arial Unicode MS" pitchFamily="34" charset="-122"/>
              </a:rPr>
              <a:t>={ R</a:t>
            </a:r>
            <a:r>
              <a:rPr lang="en-US" altLang="zh-CN" baseline="-25000" dirty="0">
                <a:solidFill>
                  <a:srgbClr val="0000CC"/>
                </a:solidFill>
                <a:latin typeface="Arial" panose="020B0604020202020204" pitchFamily="34" charset="0"/>
                <a:ea typeface="Arial Unicode MS" pitchFamily="34" charset="-122"/>
              </a:rPr>
              <a:t>1</a:t>
            </a:r>
            <a:r>
              <a:rPr lang="en-US" altLang="zh-CN" dirty="0">
                <a:solidFill>
                  <a:srgbClr val="0000CC"/>
                </a:solidFill>
                <a:latin typeface="Arial" panose="020B0604020202020204" pitchFamily="34" charset="0"/>
                <a:ea typeface="Arial Unicode MS" pitchFamily="34" charset="-122"/>
              </a:rPr>
              <a:t>&lt;U</a:t>
            </a:r>
            <a:r>
              <a:rPr lang="en-US" altLang="zh-CN" baseline="-25000" dirty="0">
                <a:solidFill>
                  <a:srgbClr val="0000CC"/>
                </a:solidFill>
                <a:latin typeface="Arial" panose="020B0604020202020204" pitchFamily="34" charset="0"/>
                <a:ea typeface="Arial Unicode MS" pitchFamily="34" charset="-122"/>
              </a:rPr>
              <a:t>1</a:t>
            </a:r>
            <a:r>
              <a:rPr lang="en-US" altLang="zh-CN" dirty="0">
                <a:solidFill>
                  <a:srgbClr val="0000CC"/>
                </a:solidFill>
                <a:latin typeface="Arial" panose="020B0604020202020204" pitchFamily="34" charset="0"/>
                <a:ea typeface="Arial Unicode MS" pitchFamily="34" charset="-122"/>
              </a:rPr>
              <a:t>,F</a:t>
            </a:r>
            <a:r>
              <a:rPr lang="en-US" altLang="zh-CN" baseline="-25000" dirty="0">
                <a:solidFill>
                  <a:srgbClr val="0000CC"/>
                </a:solidFill>
                <a:latin typeface="Arial" panose="020B0604020202020204" pitchFamily="34" charset="0"/>
                <a:ea typeface="Arial Unicode MS" pitchFamily="34" charset="-122"/>
              </a:rPr>
              <a:t>1</a:t>
            </a:r>
            <a:r>
              <a:rPr lang="en-US" altLang="zh-CN" dirty="0">
                <a:solidFill>
                  <a:srgbClr val="0000CC"/>
                </a:solidFill>
                <a:latin typeface="Arial" panose="020B0604020202020204" pitchFamily="34" charset="0"/>
                <a:ea typeface="Arial Unicode MS" pitchFamily="34" charset="-122"/>
              </a:rPr>
              <a:t>&gt;</a:t>
            </a:r>
            <a:r>
              <a:rPr lang="en-US" altLang="zh-CN"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ea typeface="Arial Unicode MS" pitchFamily="34" charset="-122"/>
              </a:rPr>
              <a:t>R</a:t>
            </a:r>
            <a:r>
              <a:rPr lang="en-US" altLang="zh-CN" baseline="-25000" dirty="0">
                <a:solidFill>
                  <a:srgbClr val="0000CC"/>
                </a:solidFill>
                <a:latin typeface="Arial" panose="020B0604020202020204" pitchFamily="34" charset="0"/>
                <a:ea typeface="Arial Unicode MS" pitchFamily="34" charset="-122"/>
              </a:rPr>
              <a:t>2</a:t>
            </a:r>
            <a:r>
              <a:rPr lang="en-US" altLang="zh-CN" dirty="0">
                <a:solidFill>
                  <a:srgbClr val="0000CC"/>
                </a:solidFill>
                <a:latin typeface="Arial" panose="020B0604020202020204" pitchFamily="34" charset="0"/>
                <a:ea typeface="Arial Unicode MS" pitchFamily="34" charset="-122"/>
              </a:rPr>
              <a:t>&lt;U</a:t>
            </a:r>
            <a:r>
              <a:rPr lang="en-US" altLang="zh-CN" baseline="-25000" dirty="0">
                <a:solidFill>
                  <a:srgbClr val="0000CC"/>
                </a:solidFill>
                <a:latin typeface="Arial" panose="020B0604020202020204" pitchFamily="34" charset="0"/>
                <a:ea typeface="Arial Unicode MS" pitchFamily="34" charset="-122"/>
              </a:rPr>
              <a:t>2</a:t>
            </a:r>
            <a:r>
              <a:rPr lang="en-US" altLang="zh-CN" dirty="0">
                <a:solidFill>
                  <a:srgbClr val="0000CC"/>
                </a:solidFill>
                <a:latin typeface="Arial" panose="020B0604020202020204" pitchFamily="34" charset="0"/>
                <a:ea typeface="Arial Unicode MS" pitchFamily="34" charset="-122"/>
              </a:rPr>
              <a:t>,F</a:t>
            </a:r>
            <a:r>
              <a:rPr lang="en-US" altLang="zh-CN" baseline="-25000" dirty="0">
                <a:solidFill>
                  <a:srgbClr val="0000CC"/>
                </a:solidFill>
                <a:latin typeface="Arial" panose="020B0604020202020204" pitchFamily="34" charset="0"/>
                <a:ea typeface="Arial Unicode MS" pitchFamily="34" charset="-122"/>
              </a:rPr>
              <a:t>2</a:t>
            </a:r>
            <a:r>
              <a:rPr lang="en-US" altLang="zh-CN" dirty="0">
                <a:solidFill>
                  <a:srgbClr val="0000CC"/>
                </a:solidFill>
                <a:latin typeface="Arial" panose="020B0604020202020204" pitchFamily="34" charset="0"/>
                <a:ea typeface="Arial Unicode MS" pitchFamily="34" charset="-122"/>
              </a:rPr>
              <a:t>&gt;</a:t>
            </a:r>
            <a:r>
              <a:rPr lang="en-US" altLang="zh-CN"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ea typeface="Arial Unicode MS" pitchFamily="34" charset="-122"/>
              </a:rPr>
              <a:t>R</a:t>
            </a:r>
            <a:r>
              <a:rPr lang="en-US" altLang="zh-CN" baseline="-25000" dirty="0">
                <a:solidFill>
                  <a:srgbClr val="0000CC"/>
                </a:solidFill>
                <a:latin typeface="Arial" panose="020B0604020202020204" pitchFamily="34" charset="0"/>
                <a:ea typeface="Arial Unicode MS" pitchFamily="34" charset="-122"/>
              </a:rPr>
              <a:t>n</a:t>
            </a:r>
            <a:r>
              <a:rPr lang="en-US" altLang="zh-CN" dirty="0">
                <a:solidFill>
                  <a:srgbClr val="0000CC"/>
                </a:solidFill>
                <a:latin typeface="Arial" panose="020B0604020202020204" pitchFamily="34" charset="0"/>
                <a:ea typeface="Arial Unicode MS" pitchFamily="34" charset="-122"/>
              </a:rPr>
              <a:t>&lt;U</a:t>
            </a:r>
            <a:r>
              <a:rPr lang="en-US" altLang="zh-CN" baseline="-25000" dirty="0">
                <a:solidFill>
                  <a:srgbClr val="0000CC"/>
                </a:solidFill>
                <a:latin typeface="Arial" panose="020B0604020202020204" pitchFamily="34" charset="0"/>
                <a:ea typeface="Arial Unicode MS" pitchFamily="34" charset="-122"/>
              </a:rPr>
              <a:t>n</a:t>
            </a:r>
            <a:r>
              <a:rPr lang="en-US" altLang="zh-CN" dirty="0">
                <a:solidFill>
                  <a:srgbClr val="0000CC"/>
                </a:solidFill>
                <a:latin typeface="Arial" panose="020B0604020202020204" pitchFamily="34" charset="0"/>
                <a:ea typeface="Arial Unicode MS" pitchFamily="34" charset="-122"/>
              </a:rPr>
              <a:t>,F</a:t>
            </a:r>
            <a:r>
              <a:rPr lang="en-US" altLang="zh-CN" baseline="-25000" dirty="0">
                <a:solidFill>
                  <a:srgbClr val="0000CC"/>
                </a:solidFill>
                <a:latin typeface="Arial" panose="020B0604020202020204" pitchFamily="34" charset="0"/>
                <a:ea typeface="Arial Unicode MS" pitchFamily="34" charset="-122"/>
              </a:rPr>
              <a:t>n</a:t>
            </a:r>
            <a:r>
              <a:rPr lang="en-US" altLang="zh-CN" dirty="0">
                <a:solidFill>
                  <a:srgbClr val="0000CC"/>
                </a:solidFill>
                <a:latin typeface="Arial" panose="020B0604020202020204" pitchFamily="34" charset="0"/>
                <a:ea typeface="Arial Unicode MS" pitchFamily="34" charset="-122"/>
              </a:rPr>
              <a:t>&gt; }</a:t>
            </a:r>
            <a:endParaRPr lang="en-US" altLang="zh-CN" dirty="0">
              <a:solidFill>
                <a:srgbClr val="0000CC"/>
              </a:solidFill>
              <a:latin typeface="Arial" panose="020B0604020202020204" pitchFamily="34" charset="0"/>
            </a:endParaRPr>
          </a:p>
          <a:p>
            <a:pPr marL="355600" indent="-355600" eaLnBrk="1" hangingPunct="1">
              <a:lnSpc>
                <a:spcPct val="120000"/>
              </a:lnSpc>
              <a:spcBef>
                <a:spcPct val="40000"/>
              </a:spcBef>
              <a:buClr>
                <a:srgbClr val="FF0000"/>
              </a:buClr>
              <a:buSzPct val="65000"/>
              <a:buFont typeface="Wingdings" panose="05000000000000000000" pitchFamily="2" charset="2"/>
              <a:buNone/>
            </a:pPr>
            <a:r>
              <a:rPr lang="en-US" altLang="zh-CN" dirty="0">
                <a:latin typeface="Arial" panose="020B0604020202020204" pitchFamily="34" charset="0"/>
              </a:rPr>
              <a:t>   </a:t>
            </a:r>
            <a:r>
              <a:rPr lang="zh-CN" altLang="en-US" dirty="0">
                <a:latin typeface="Arial" panose="020B0604020202020204" pitchFamily="34" charset="0"/>
              </a:rPr>
              <a:t>其中 </a:t>
            </a:r>
            <a:r>
              <a:rPr lang="en-US" altLang="zh-CN" dirty="0">
                <a:latin typeface="Arial" panose="020B0604020202020204" pitchFamily="34" charset="0"/>
              </a:rPr>
              <a:t>U=    U</a:t>
            </a:r>
            <a:r>
              <a:rPr lang="en-US" altLang="zh-CN" i="1" baseline="-25000" dirty="0">
                <a:ea typeface="Arial Unicode MS" pitchFamily="34" charset="-122"/>
              </a:rPr>
              <a:t>i</a:t>
            </a:r>
            <a:r>
              <a:rPr lang="en-US" altLang="zh-CN" dirty="0">
                <a:latin typeface="Arial" panose="020B0604020202020204" pitchFamily="34" charset="0"/>
              </a:rPr>
              <a:t> </a:t>
            </a:r>
            <a:r>
              <a:rPr lang="zh-CN" altLang="en-US" dirty="0">
                <a:latin typeface="Arial" panose="020B0604020202020204" pitchFamily="34" charset="0"/>
              </a:rPr>
              <a:t>，  并且没有 </a:t>
            </a:r>
            <a:r>
              <a:rPr lang="en-US" altLang="zh-CN" dirty="0">
                <a:latin typeface="Arial" panose="020B0604020202020204" pitchFamily="34" charset="0"/>
                <a:ea typeface="Arial Unicode MS" pitchFamily="34" charset="-122"/>
              </a:rPr>
              <a:t>U</a:t>
            </a:r>
            <a:r>
              <a:rPr lang="en-US" altLang="zh-CN" i="1" baseline="-25000" dirty="0">
                <a:ea typeface="Arial Unicode MS" pitchFamily="34" charset="-122"/>
              </a:rPr>
              <a:t>i</a:t>
            </a:r>
            <a:r>
              <a:rPr lang="en-US" altLang="zh-CN" baseline="-25000" dirty="0">
                <a:latin typeface="Arial" panose="020B0604020202020204" pitchFamily="34" charset="0"/>
                <a:ea typeface="Arial Unicode MS" pitchFamily="34" charset="-122"/>
              </a:rPr>
              <a:t> </a:t>
            </a:r>
            <a:r>
              <a:rPr lang="en-US" altLang="zh-CN" dirty="0">
                <a:latin typeface="Arial" panose="020B0604020202020204" pitchFamily="34" charset="0"/>
                <a:ea typeface="Arial Unicode MS" pitchFamily="34" charset="-122"/>
                <a:sym typeface="Symbol" panose="05050102010706020507" pitchFamily="18" charset="2"/>
              </a:rPr>
              <a:t> </a:t>
            </a:r>
            <a:r>
              <a:rPr lang="en-US" altLang="zh-CN" dirty="0">
                <a:latin typeface="Arial" panose="020B0604020202020204" pitchFamily="34" charset="0"/>
                <a:ea typeface="Arial Unicode MS" pitchFamily="34" charset="-122"/>
              </a:rPr>
              <a:t>U</a:t>
            </a:r>
            <a:r>
              <a:rPr lang="en-US" altLang="zh-CN" i="1" baseline="-25000" dirty="0">
                <a:ea typeface="Arial Unicode MS" pitchFamily="34" charset="-122"/>
              </a:rPr>
              <a:t>j</a:t>
            </a:r>
            <a:r>
              <a:rPr lang="en-US" altLang="zh-CN" baseline="-25000" dirty="0">
                <a:latin typeface="Arial" panose="020B0604020202020204" pitchFamily="34" charset="0"/>
                <a:ea typeface="Arial Unicode MS" pitchFamily="34" charset="-122"/>
              </a:rPr>
              <a:t> </a:t>
            </a:r>
            <a:r>
              <a:rPr lang="zh-CN" altLang="en-US" dirty="0">
                <a:latin typeface="Arial" panose="020B0604020202020204" pitchFamily="34" charset="0"/>
              </a:rPr>
              <a:t>，  </a:t>
            </a:r>
            <a:r>
              <a:rPr lang="en-US" altLang="zh-CN" dirty="0">
                <a:latin typeface="Arial" panose="020B0604020202020204" pitchFamily="34" charset="0"/>
                <a:ea typeface="Arial Unicode MS" pitchFamily="34" charset="-122"/>
              </a:rPr>
              <a:t>1</a:t>
            </a:r>
            <a:r>
              <a:rPr lang="en-US" altLang="zh-CN" dirty="0">
                <a:latin typeface="Arial" panose="020B0604020202020204" pitchFamily="34" charset="0"/>
                <a:cs typeface="Arial" panose="020B0604020202020204" pitchFamily="34" charset="0"/>
              </a:rPr>
              <a:t>≤</a:t>
            </a:r>
            <a:r>
              <a:rPr lang="en-US" altLang="zh-CN" i="1" dirty="0">
                <a:ea typeface="Arial Unicode MS" pitchFamily="34" charset="-122"/>
              </a:rPr>
              <a:t>i</a:t>
            </a:r>
            <a:r>
              <a:rPr lang="en-US" altLang="zh-CN" dirty="0">
                <a:latin typeface="Arial" panose="020B0604020202020204" pitchFamily="34" charset="0"/>
                <a:ea typeface="Arial Unicode MS" pitchFamily="34" charset="-122"/>
              </a:rPr>
              <a:t>, </a:t>
            </a:r>
            <a:r>
              <a:rPr lang="en-US" altLang="zh-CN" i="1" dirty="0">
                <a:ea typeface="Arial Unicode MS" pitchFamily="34" charset="-122"/>
              </a:rPr>
              <a:t>j</a:t>
            </a:r>
            <a:r>
              <a:rPr lang="en-US" altLang="zh-CN" dirty="0">
                <a:latin typeface="Arial" panose="020B0604020202020204" pitchFamily="34" charset="0"/>
                <a:cs typeface="Arial" panose="020B0604020202020204" pitchFamily="34" charset="0"/>
              </a:rPr>
              <a:t>≤</a:t>
            </a:r>
            <a:r>
              <a:rPr lang="en-US" altLang="zh-CN" dirty="0">
                <a:latin typeface="Arial" panose="020B0604020202020204" pitchFamily="34" charset="0"/>
                <a:ea typeface="Arial Unicode MS" pitchFamily="34" charset="-122"/>
              </a:rPr>
              <a:t>n </a:t>
            </a:r>
            <a:r>
              <a:rPr lang="zh-CN" altLang="en-US" dirty="0">
                <a:latin typeface="Arial" panose="020B0604020202020204" pitchFamily="34" charset="0"/>
              </a:rPr>
              <a:t>，</a:t>
            </a:r>
            <a:r>
              <a:rPr lang="en-US" altLang="zh-CN" dirty="0">
                <a:latin typeface="Arial" panose="020B0604020202020204" pitchFamily="34" charset="0"/>
                <a:ea typeface="Arial Unicode MS" pitchFamily="34" charset="-122"/>
              </a:rPr>
              <a:t>F</a:t>
            </a:r>
            <a:r>
              <a:rPr lang="en-US" altLang="zh-CN" i="1" baseline="-25000" dirty="0">
                <a:ea typeface="Arial Unicode MS" pitchFamily="34" charset="-122"/>
              </a:rPr>
              <a:t>i</a:t>
            </a:r>
            <a:r>
              <a:rPr lang="en-US" altLang="zh-CN" baseline="-25000" dirty="0">
                <a:latin typeface="Arial" panose="020B0604020202020204" pitchFamily="34" charset="0"/>
                <a:ea typeface="Arial Unicode MS" pitchFamily="34" charset="-122"/>
              </a:rPr>
              <a:t> </a:t>
            </a:r>
            <a:r>
              <a:rPr lang="zh-CN" altLang="en-US" dirty="0">
                <a:latin typeface="Arial" panose="020B0604020202020204" pitchFamily="34" charset="0"/>
              </a:rPr>
              <a:t>是 </a:t>
            </a:r>
            <a:r>
              <a:rPr lang="en-US" altLang="zh-CN" dirty="0">
                <a:latin typeface="Arial" panose="020B0604020202020204" pitchFamily="34" charset="0"/>
                <a:ea typeface="Arial Unicode MS" pitchFamily="34" charset="-122"/>
              </a:rPr>
              <a:t>F </a:t>
            </a:r>
            <a:r>
              <a:rPr lang="zh-CN" altLang="en-US" dirty="0">
                <a:latin typeface="Arial" panose="020B0604020202020204" pitchFamily="34" charset="0"/>
              </a:rPr>
              <a:t>在 </a:t>
            </a:r>
            <a:r>
              <a:rPr lang="en-US" altLang="zh-CN" dirty="0">
                <a:latin typeface="Arial" panose="020B0604020202020204" pitchFamily="34" charset="0"/>
                <a:ea typeface="Arial Unicode MS" pitchFamily="34" charset="-122"/>
              </a:rPr>
              <a:t>U</a:t>
            </a:r>
            <a:r>
              <a:rPr lang="en-US" altLang="zh-CN" i="1" baseline="-25000" dirty="0">
                <a:ea typeface="Arial Unicode MS" pitchFamily="34" charset="-122"/>
              </a:rPr>
              <a:t>i </a:t>
            </a:r>
            <a:r>
              <a:rPr lang="zh-CN" altLang="en-US" dirty="0">
                <a:latin typeface="Arial" panose="020B0604020202020204" pitchFamily="34" charset="0"/>
              </a:rPr>
              <a:t>上的投影。</a:t>
            </a:r>
            <a:endParaRPr lang="zh-CN" altLang="en-US" dirty="0">
              <a:latin typeface="Arial" panose="020B0604020202020204" pitchFamily="34" charset="0"/>
            </a:endParaRPr>
          </a:p>
        </p:txBody>
      </p:sp>
      <p:sp>
        <p:nvSpPr>
          <p:cNvPr id="319491" name="Rectangle 3"/>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10244" name="Object 4"/>
          <p:cNvGraphicFramePr>
            <a:graphicFrameLocks noChangeAspect="1"/>
          </p:cNvGraphicFramePr>
          <p:nvPr>
            <p:ph sz="half" idx="2"/>
          </p:nvPr>
        </p:nvGraphicFramePr>
        <p:xfrm>
          <a:off x="2363788" y="4062413"/>
          <a:ext cx="520700" cy="806450"/>
        </p:xfrm>
        <a:graphic>
          <a:graphicData uri="http://schemas.openxmlformats.org/presentationml/2006/ole">
            <mc:AlternateContent xmlns:mc="http://schemas.openxmlformats.org/markup-compatibility/2006">
              <mc:Choice xmlns:v="urn:schemas-microsoft-com:vml" Requires="v">
                <p:oleObj spid="_x0000_s3076" name="" r:id="rId1" imgW="279400" imgH="431800" progId="Equation.3">
                  <p:embed/>
                </p:oleObj>
              </mc:Choice>
              <mc:Fallback>
                <p:oleObj name="" r:id="rId1" imgW="279400" imgH="431800" progId="Equation.3">
                  <p:embed/>
                  <p:pic>
                    <p:nvPicPr>
                      <p:cNvPr id="0" name="图片 3075"/>
                      <p:cNvPicPr/>
                      <p:nvPr/>
                    </p:nvPicPr>
                    <p:blipFill>
                      <a:blip r:embed="rId2"/>
                      <a:srcRect/>
                      <a:stretch>
                        <a:fillRect/>
                      </a:stretch>
                    </p:blipFill>
                    <p:spPr>
                      <a:xfrm>
                        <a:off x="2363788" y="4062413"/>
                        <a:ext cx="520700" cy="806450"/>
                      </a:xfrm>
                      <a:prstGeom prst="rect">
                        <a:avLst/>
                      </a:prstGeom>
                      <a:noFill/>
                      <a:ln w="38100">
                        <a:miter/>
                      </a:ln>
                    </p:spPr>
                  </p:pic>
                </p:oleObj>
              </mc:Fallback>
            </mc:AlternateContent>
          </a:graphicData>
        </a:graphic>
      </p:graphicFrame>
    </p:spTree>
  </p:cSld>
  <p:clrMapOvr>
    <a:masterClrMapping/>
  </p:clrMapOvr>
  <p:transition>
    <p:random/>
    <p:sndAc>
      <p:stSnd>
        <p:snd r:embed="rId3"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idx="1"/>
          </p:nvPr>
        </p:nvSpPr>
        <p:spPr>
          <a:xfrm>
            <a:off x="296863" y="1143000"/>
            <a:ext cx="8667750" cy="5273675"/>
          </a:xfrm>
        </p:spPr>
        <p:txBody>
          <a:bodyPr vert="horz" wrap="square" lIns="91440" tIns="45720" rIns="91440" bIns="45720" anchor="t" anchorCtr="0"/>
          <a:p>
            <a:pPr marL="354330" indent="-354330" eaLnBrk="1" hangingPunct="1">
              <a:lnSpc>
                <a:spcPct val="95000"/>
              </a:lnSpc>
              <a:buNone/>
            </a:pPr>
            <a:r>
              <a:rPr lang="en-US" altLang="zh-CN" dirty="0"/>
              <a:t>           </a:t>
            </a:r>
            <a:r>
              <a:rPr lang="zh-CN" altLang="en-US" dirty="0"/>
              <a:t>只有能够保证分解后的关系模式与原关系模式</a:t>
            </a:r>
            <a:r>
              <a:rPr lang="zh-CN" altLang="en-US" dirty="0">
                <a:solidFill>
                  <a:srgbClr val="0033CC"/>
                </a:solidFill>
              </a:rPr>
              <a:t>等价</a:t>
            </a:r>
            <a:r>
              <a:rPr lang="zh-CN" altLang="en-US" dirty="0"/>
              <a:t>，分解方法才有意义。</a:t>
            </a:r>
            <a:r>
              <a:rPr lang="zh-CN" altLang="en-US" dirty="0">
                <a:latin typeface="黑体" panose="02010609060101010101" pitchFamily="2" charset="-122"/>
              </a:rPr>
              <a:t> </a:t>
            </a:r>
            <a:endParaRPr lang="zh-CN" altLang="en-US" dirty="0">
              <a:latin typeface="黑体" panose="02010609060101010101" pitchFamily="2" charset="-122"/>
            </a:endParaRPr>
          </a:p>
          <a:p>
            <a:pPr marL="354330" indent="-354330" eaLnBrk="1" hangingPunct="1">
              <a:lnSpc>
                <a:spcPct val="130000"/>
              </a:lnSpc>
              <a:spcBef>
                <a:spcPct val="55000"/>
              </a:spcBef>
              <a:buNone/>
            </a:pPr>
            <a:r>
              <a:rPr lang="zh-CN" altLang="en-US" dirty="0">
                <a:latin typeface="黑体" panose="02010609060101010101" pitchFamily="2" charset="-122"/>
              </a:rPr>
              <a:t>   分解过程中需要考虑的问题：</a:t>
            </a:r>
            <a:endParaRPr lang="zh-CN" altLang="en-US" dirty="0">
              <a:latin typeface="黑体" panose="02010609060101010101" pitchFamily="2" charset="-122"/>
            </a:endParaRPr>
          </a:p>
          <a:p>
            <a:pPr marL="354330" indent="-354330" eaLnBrk="1" hangingPunct="1">
              <a:spcBef>
                <a:spcPct val="20000"/>
              </a:spcBef>
              <a:buNone/>
            </a:pPr>
            <a:r>
              <a:rPr lang="en-US" altLang="zh-CN" dirty="0">
                <a:latin typeface="黑体" panose="02010609060101010101" pitchFamily="2" charset="-122"/>
              </a:rPr>
              <a:t>1.</a:t>
            </a:r>
            <a:r>
              <a:rPr lang="zh-CN" altLang="en-US" dirty="0">
                <a:latin typeface="黑体" panose="02010609060101010101" pitchFamily="2" charset="-122"/>
              </a:rPr>
              <a:t>分解前的</a:t>
            </a:r>
            <a:r>
              <a:rPr lang="en-US" altLang="zh-CN" sz="4000" dirty="0">
                <a:solidFill>
                  <a:srgbClr val="0000CC"/>
                </a:solidFill>
                <a:latin typeface="Arial" panose="020B0604020202020204" pitchFamily="34" charset="0"/>
                <a:ea typeface="Arial Unicode MS" pitchFamily="34" charset="-122"/>
              </a:rPr>
              <a:t>R</a:t>
            </a:r>
            <a:r>
              <a:rPr lang="zh-CN" altLang="en-US" dirty="0">
                <a:latin typeface="黑体" panose="02010609060101010101" pitchFamily="2" charset="-122"/>
              </a:rPr>
              <a:t>和分解后的</a:t>
            </a:r>
            <a:r>
              <a:rPr lang="zh-CN" altLang="en-US" sz="4000" dirty="0">
                <a:solidFill>
                  <a:srgbClr val="0000CC"/>
                </a:solidFill>
                <a:latin typeface="Arial" panose="020B0604020202020204" pitchFamily="34" charset="0"/>
                <a:ea typeface="Arial Unicode MS" pitchFamily="34" charset="-122"/>
                <a:sym typeface="Symbol" panose="05050102010706020507" pitchFamily="18" charset="2"/>
              </a:rPr>
              <a:t></a:t>
            </a:r>
            <a:r>
              <a:rPr lang="zh-CN" altLang="en-US" dirty="0">
                <a:latin typeface="黑体" panose="02010609060101010101" pitchFamily="2" charset="-122"/>
                <a:sym typeface="Symbol" panose="05050102010706020507" pitchFamily="18" charset="2"/>
              </a:rPr>
              <a:t>是否表示同样的数据？</a:t>
            </a:r>
            <a:endParaRPr lang="zh-CN" altLang="en-US" dirty="0">
              <a:latin typeface="黑体" panose="02010609060101010101" pitchFamily="2" charset="-122"/>
              <a:sym typeface="Symbol" panose="05050102010706020507" pitchFamily="18" charset="2"/>
            </a:endParaRPr>
          </a:p>
          <a:p>
            <a:pPr marL="354330" indent="-354330" eaLnBrk="1" hangingPunct="1">
              <a:spcBef>
                <a:spcPct val="20000"/>
              </a:spcBef>
              <a:buNone/>
            </a:pPr>
            <a:r>
              <a:rPr lang="en-US" altLang="zh-CN" dirty="0">
                <a:latin typeface="黑体" panose="02010609060101010101" pitchFamily="2" charset="-122"/>
                <a:sym typeface="Symbol" panose="05050102010706020507" pitchFamily="18" charset="2"/>
              </a:rPr>
              <a:t>2.</a:t>
            </a:r>
            <a:r>
              <a:rPr lang="zh-CN" altLang="en-US" dirty="0">
                <a:latin typeface="黑体" panose="02010609060101010101" pitchFamily="2" charset="-122"/>
              </a:rPr>
              <a:t>分解前的</a:t>
            </a:r>
            <a:r>
              <a:rPr lang="en-US" altLang="zh-CN" sz="4000" dirty="0">
                <a:solidFill>
                  <a:srgbClr val="0000CC"/>
                </a:solidFill>
                <a:latin typeface="Arial" panose="020B0604020202020204" pitchFamily="34" charset="0"/>
                <a:ea typeface="Arial Unicode MS" pitchFamily="34" charset="-122"/>
              </a:rPr>
              <a:t>R</a:t>
            </a:r>
            <a:r>
              <a:rPr lang="zh-CN" altLang="en-US" dirty="0">
                <a:latin typeface="黑体" panose="02010609060101010101" pitchFamily="2" charset="-122"/>
              </a:rPr>
              <a:t>和分解后的</a:t>
            </a:r>
            <a:r>
              <a:rPr lang="zh-CN" altLang="en-US" sz="4000" dirty="0">
                <a:solidFill>
                  <a:srgbClr val="0000CC"/>
                </a:solidFill>
                <a:latin typeface="Arial" panose="020B0604020202020204" pitchFamily="34" charset="0"/>
                <a:ea typeface="Arial Unicode MS" pitchFamily="34" charset="-122"/>
                <a:sym typeface="Symbol" panose="05050102010706020507" pitchFamily="18" charset="2"/>
              </a:rPr>
              <a:t></a:t>
            </a:r>
            <a:r>
              <a:rPr lang="zh-CN" altLang="en-US" dirty="0">
                <a:latin typeface="黑体" panose="02010609060101010101" pitchFamily="2" charset="-122"/>
                <a:sym typeface="Symbol" panose="05050102010706020507" pitchFamily="18" charset="2"/>
              </a:rPr>
              <a:t>是否保持相同的函数依赖？</a:t>
            </a:r>
            <a:endParaRPr lang="zh-CN" altLang="en-US" dirty="0">
              <a:latin typeface="黑体" panose="02010609060101010101" pitchFamily="2" charset="-122"/>
            </a:endParaRPr>
          </a:p>
        </p:txBody>
      </p:sp>
      <p:sp>
        <p:nvSpPr>
          <p:cNvPr id="3215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23587" name="Rectangle 3"/>
          <p:cNvSpPr>
            <a:spLocks noGrp="1"/>
          </p:cNvSpPr>
          <p:nvPr>
            <p:ph idx="1"/>
          </p:nvPr>
        </p:nvSpPr>
        <p:spPr/>
        <p:txBody>
          <a:bodyPr vert="horz" wrap="square" lIns="91440" tIns="45720" rIns="91440" bIns="45720" anchor="t" anchorCtr="0"/>
          <a:p>
            <a:pPr marL="0" indent="0" algn="just" eaLnBrk="1" hangingPunct="1">
              <a:buNone/>
            </a:pPr>
            <a:r>
              <a:rPr lang="zh-CN" altLang="en-US" sz="3200" dirty="0">
                <a:latin typeface="Arial" panose="020B0604020202020204" pitchFamily="34" charset="0"/>
              </a:rPr>
              <a:t>例</a:t>
            </a:r>
            <a:r>
              <a:rPr lang="en-US" altLang="zh-CN" sz="3200" dirty="0">
                <a:latin typeface="Arial" panose="020B0604020202020204" pitchFamily="34" charset="0"/>
              </a:rPr>
              <a:t>:  SDL(Sno, Sdept, Sloc)</a:t>
            </a:r>
            <a:endParaRPr lang="en-US" altLang="zh-CN" sz="3200" dirty="0">
              <a:latin typeface="Arial" panose="020B0604020202020204" pitchFamily="34" charset="0"/>
            </a:endParaRPr>
          </a:p>
          <a:p>
            <a:pPr marL="0" indent="0" algn="just" eaLnBrk="1" hangingPunct="1">
              <a:spcBef>
                <a:spcPct val="10000"/>
              </a:spcBef>
              <a:buNone/>
            </a:pPr>
            <a:r>
              <a:rPr lang="en-US" altLang="zh-CN" sz="3200" dirty="0">
                <a:latin typeface="Arial" panose="020B0604020202020204" pitchFamily="34" charset="0"/>
              </a:rPr>
              <a:t>       F={ Sno→Sdept, Sdept→Sloc }</a:t>
            </a:r>
            <a:endParaRPr lang="en-US" altLang="zh-CN" sz="3200" dirty="0">
              <a:latin typeface="Arial" panose="020B0604020202020204" pitchFamily="34" charset="0"/>
            </a:endParaRPr>
          </a:p>
          <a:p>
            <a:pPr marL="0" indent="0" algn="just" eaLnBrk="1" hangingPunct="1">
              <a:lnSpc>
                <a:spcPct val="90000"/>
              </a:lnSpc>
              <a:spcBef>
                <a:spcPct val="25000"/>
              </a:spcBef>
              <a:buNone/>
            </a:pPr>
            <a:r>
              <a:rPr lang="en-US" altLang="zh-CN" sz="3200" dirty="0">
                <a:latin typeface="Arial" panose="020B0604020202020204" pitchFamily="34" charset="0"/>
              </a:rPr>
              <a:t>      </a:t>
            </a:r>
            <a:r>
              <a:rPr lang="zh-CN" altLang="en-US" sz="3200" dirty="0">
                <a:latin typeface="Arial" panose="020B0604020202020204" pitchFamily="34" charset="0"/>
              </a:rPr>
              <a:t>存在插入异常、删除异常、冗余度大和修改复杂等问题。</a:t>
            </a:r>
            <a:endParaRPr lang="zh-CN" altLang="en-US" sz="3200" dirty="0">
              <a:latin typeface="Arial" panose="020B0604020202020204" pitchFamily="34" charset="0"/>
            </a:endParaRPr>
          </a:p>
          <a:p>
            <a:pPr marL="0" indent="0" algn="just" eaLnBrk="1" hangingPunct="1">
              <a:lnSpc>
                <a:spcPct val="90000"/>
              </a:lnSpc>
              <a:spcBef>
                <a:spcPct val="10000"/>
              </a:spcBef>
              <a:buNone/>
            </a:pPr>
            <a:endParaRPr lang="en-US" altLang="zh-CN" sz="3200" dirty="0">
              <a:latin typeface="Arial" panose="020B0604020202020204" pitchFamily="34" charset="0"/>
            </a:endParaRPr>
          </a:p>
        </p:txBody>
      </p:sp>
      <p:sp>
        <p:nvSpPr>
          <p:cNvPr id="323588" name="Text Box 4"/>
          <p:cNvSpPr txBox="1"/>
          <p:nvPr/>
        </p:nvSpPr>
        <p:spPr>
          <a:xfrm>
            <a:off x="2339975" y="3716338"/>
            <a:ext cx="10985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SDL</a:t>
            </a:r>
            <a:endParaRPr lang="en-US" altLang="zh-CN" dirty="0">
              <a:solidFill>
                <a:srgbClr val="FF0000"/>
              </a:solidFill>
              <a:latin typeface="Arial" panose="020B0604020202020204" pitchFamily="34" charset="0"/>
              <a:ea typeface="宋体" panose="02010600030101010101" pitchFamily="2" charset="-122"/>
            </a:endParaRPr>
          </a:p>
        </p:txBody>
      </p:sp>
      <p:graphicFrame>
        <p:nvGraphicFramePr>
          <p:cNvPr id="323589" name="Group 5"/>
          <p:cNvGraphicFramePr>
            <a:graphicFrameLocks noGrp="1"/>
          </p:cNvGraphicFramePr>
          <p:nvPr/>
        </p:nvGraphicFramePr>
        <p:xfrm>
          <a:off x="3492500" y="2997200"/>
          <a:ext cx="4900613" cy="3475038"/>
        </p:xfrm>
        <a:graphic>
          <a:graphicData uri="http://schemas.openxmlformats.org/drawingml/2006/table">
            <a:tbl>
              <a:tblPr/>
              <a:tblGrid>
                <a:gridCol w="1727200"/>
                <a:gridCol w="1658938"/>
                <a:gridCol w="1514475"/>
              </a:tblGrid>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587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7850">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35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358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3587">
                                            <p:txEl>
                                              <p:charRg st="61" end="9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7" grpId="0" build="p"/>
      <p:bldP spid="3235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6387" name="Rectangle 3"/>
          <p:cNvSpPr>
            <a:spLocks noGrp="1"/>
          </p:cNvSpPr>
          <p:nvPr>
            <p:ph type="body" sz="half" idx="1"/>
          </p:nvPr>
        </p:nvSpPr>
        <p:spPr>
          <a:xfrm>
            <a:off x="152400" y="1016000"/>
            <a:ext cx="8596313" cy="2700338"/>
          </a:xfrm>
        </p:spPr>
        <p:txBody>
          <a:bodyPr vert="horz" wrap="square" lIns="91440" tIns="45720" rIns="91440" bIns="45720" anchor="t" anchorCtr="0"/>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SDL </a:t>
            </a:r>
            <a:r>
              <a:rPr lang="zh-CN" altLang="en-US" dirty="0">
                <a:latin typeface="Arial" panose="020B0604020202020204" pitchFamily="34" charset="0"/>
              </a:rPr>
              <a:t>分解为下面三个关系模式：</a:t>
            </a:r>
            <a:endParaRPr lang="zh-CN" altLang="en-US"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SN ( Sno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	SD ( Sdept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	SL ( Sloc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solidFill>
                <a:srgbClr val="0000CC"/>
              </a:solidFill>
            </a:endParaRPr>
          </a:p>
        </p:txBody>
      </p:sp>
      <p:graphicFrame>
        <p:nvGraphicFramePr>
          <p:cNvPr id="325636" name="Group 4"/>
          <p:cNvGraphicFramePr>
            <a:graphicFrameLocks noGrp="1"/>
          </p:cNvGraphicFramePr>
          <p:nvPr>
            <p:ph sz="quarter" idx="1"/>
          </p:nvPr>
        </p:nvGraphicFramePr>
        <p:xfrm>
          <a:off x="5795963" y="2554288"/>
          <a:ext cx="1655763" cy="2895600"/>
        </p:xfrm>
        <a:graphic>
          <a:graphicData uri="http://schemas.openxmlformats.org/drawingml/2006/table">
            <a:tbl>
              <a:tblPr/>
              <a:tblGrid>
                <a:gridCol w="1655762"/>
              </a:tblGrid>
              <a:tr h="4016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016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16402" name="Text Box 18"/>
          <p:cNvSpPr txBox="1"/>
          <p:nvPr/>
        </p:nvSpPr>
        <p:spPr>
          <a:xfrm>
            <a:off x="4257675" y="1851025"/>
            <a:ext cx="8191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SN</a:t>
            </a:r>
            <a:endParaRPr lang="en-US" altLang="zh-CN" dirty="0">
              <a:solidFill>
                <a:srgbClr val="FF0000"/>
              </a:solidFill>
              <a:latin typeface="Arial" panose="020B0604020202020204" pitchFamily="34" charset="0"/>
              <a:ea typeface="宋体" panose="02010600030101010101" pitchFamily="2" charset="-122"/>
            </a:endParaRPr>
          </a:p>
        </p:txBody>
      </p:sp>
      <p:graphicFrame>
        <p:nvGraphicFramePr>
          <p:cNvPr id="325651" name="Group 19"/>
          <p:cNvGraphicFramePr>
            <a:graphicFrameLocks noGrp="1"/>
          </p:cNvGraphicFramePr>
          <p:nvPr/>
        </p:nvGraphicFramePr>
        <p:xfrm>
          <a:off x="3924300" y="2565400"/>
          <a:ext cx="1655763" cy="3475038"/>
        </p:xfrm>
        <a:graphic>
          <a:graphicData uri="http://schemas.openxmlformats.org/drawingml/2006/table">
            <a:tbl>
              <a:tblPr/>
              <a:tblGrid>
                <a:gridCol w="1655763"/>
              </a:tblGrid>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aphicFrame>
        <p:nvGraphicFramePr>
          <p:cNvPr id="325667" name="Group 35"/>
          <p:cNvGraphicFramePr>
            <a:graphicFrameLocks noGrp="1"/>
          </p:cNvGraphicFramePr>
          <p:nvPr>
            <p:ph sz="quarter" idx="1"/>
          </p:nvPr>
        </p:nvGraphicFramePr>
        <p:xfrm>
          <a:off x="7667625" y="2554288"/>
          <a:ext cx="1343025" cy="2316163"/>
        </p:xfrm>
        <a:graphic>
          <a:graphicData uri="http://schemas.openxmlformats.org/drawingml/2006/table">
            <a:tbl>
              <a:tblPr/>
              <a:tblGrid>
                <a:gridCol w="1343025"/>
              </a:tblGrid>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16431" name="Text Box 47"/>
          <p:cNvSpPr txBox="1"/>
          <p:nvPr/>
        </p:nvSpPr>
        <p:spPr>
          <a:xfrm>
            <a:off x="6200775" y="1851025"/>
            <a:ext cx="8191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SD</a:t>
            </a:r>
            <a:endParaRPr lang="en-US" altLang="zh-CN" dirty="0">
              <a:solidFill>
                <a:srgbClr val="FF0000"/>
              </a:solidFill>
              <a:latin typeface="Arial" panose="020B0604020202020204" pitchFamily="34" charset="0"/>
              <a:ea typeface="宋体" panose="02010600030101010101" pitchFamily="2" charset="-122"/>
            </a:endParaRPr>
          </a:p>
        </p:txBody>
      </p:sp>
      <p:sp>
        <p:nvSpPr>
          <p:cNvPr id="16432" name="Text Box 48"/>
          <p:cNvSpPr txBox="1"/>
          <p:nvPr/>
        </p:nvSpPr>
        <p:spPr>
          <a:xfrm>
            <a:off x="7980363" y="1851025"/>
            <a:ext cx="7683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SL</a:t>
            </a:r>
            <a:endParaRPr lang="en-US" altLang="zh-CN" dirty="0">
              <a:solidFill>
                <a:srgbClr val="FF0000"/>
              </a:solidFill>
              <a:latin typeface="Arial" panose="020B0604020202020204" pitchFamily="34" charset="0"/>
              <a:ea typeface="宋体" panose="02010600030101010101" pitchFamily="2" charset="-122"/>
            </a:endParaRPr>
          </a:p>
        </p:txBody>
      </p:sp>
      <p:sp>
        <p:nvSpPr>
          <p:cNvPr id="325681" name="Rectangle 49"/>
          <p:cNvSpPr/>
          <p:nvPr/>
        </p:nvSpPr>
        <p:spPr>
          <a:xfrm>
            <a:off x="250825" y="4076700"/>
            <a:ext cx="3455988" cy="1217613"/>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
              </a:spcBef>
              <a:buClrTx/>
              <a:buSzTx/>
              <a:buFontTx/>
              <a:buNone/>
            </a:pPr>
            <a:r>
              <a:rPr lang="zh-CN" altLang="en-US" dirty="0">
                <a:latin typeface="Arial" panose="020B0604020202020204" pitchFamily="34" charset="0"/>
              </a:rPr>
              <a:t>分解后的数据库</a:t>
            </a:r>
            <a:endParaRPr lang="zh-CN" altLang="en-US" dirty="0">
              <a:latin typeface="Arial" panose="020B0604020202020204" pitchFamily="34" charset="0"/>
            </a:endParaRPr>
          </a:p>
          <a:p>
            <a:pPr marL="0" lvl="0" indent="0" algn="ctr" eaLnBrk="1" hangingPunct="1">
              <a:spcBef>
                <a:spcPct val="5000"/>
              </a:spcBef>
              <a:buClrTx/>
              <a:buSzTx/>
              <a:buFontTx/>
              <a:buNone/>
            </a:pPr>
            <a:r>
              <a:rPr lang="zh-CN" altLang="en-US" dirty="0">
                <a:solidFill>
                  <a:srgbClr val="0000CC"/>
                </a:solidFill>
                <a:latin typeface="Arial" panose="020B0604020202020204" pitchFamily="34" charset="0"/>
              </a:rPr>
              <a:t>丢失了许多信息</a:t>
            </a:r>
            <a:endParaRPr lang="zh-CN" altLang="en-US" dirty="0">
              <a:solidFill>
                <a:srgbClr val="0000CC"/>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56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8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8435" name="Rectangle 3"/>
          <p:cNvSpPr>
            <a:spLocks noGrp="1"/>
          </p:cNvSpPr>
          <p:nvPr>
            <p:ph type="body" sz="half" idx="1"/>
          </p:nvPr>
        </p:nvSpPr>
        <p:spPr>
          <a:xfrm>
            <a:off x="152400" y="1016000"/>
            <a:ext cx="8596313" cy="5473700"/>
          </a:xfrm>
        </p:spPr>
        <p:txBody>
          <a:bodyPr vert="horz" wrap="square" lIns="91440" tIns="45720" rIns="91440" bIns="45720" anchor="t" anchorCtr="0"/>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2</a:t>
            </a:r>
            <a:r>
              <a:rPr lang="zh-CN" altLang="en-US" dirty="0">
                <a:latin typeface="Arial" panose="020B0604020202020204" pitchFamily="34" charset="0"/>
              </a:rPr>
              <a:t>、</a:t>
            </a:r>
            <a:r>
              <a:rPr lang="en-US" altLang="zh-CN" dirty="0">
                <a:latin typeface="Arial" panose="020B0604020202020204" pitchFamily="34" charset="0"/>
              </a:rPr>
              <a:t>SDL </a:t>
            </a:r>
            <a:r>
              <a:rPr lang="zh-CN" altLang="en-US" dirty="0">
                <a:latin typeface="Arial" panose="020B0604020202020204" pitchFamily="34" charset="0"/>
              </a:rPr>
              <a:t>分解为下面两个关系模式：</a:t>
            </a:r>
            <a:endParaRPr lang="zh-CN" altLang="en-US"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NL ( Sno, Sloc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	DL ( Sdept, Sloc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solidFill>
                <a:srgbClr val="0000CC"/>
              </a:solidFill>
            </a:endParaRPr>
          </a:p>
        </p:txBody>
      </p:sp>
      <p:graphicFrame>
        <p:nvGraphicFramePr>
          <p:cNvPr id="327684" name="Group 4"/>
          <p:cNvGraphicFramePr>
            <a:graphicFrameLocks noGrp="1"/>
          </p:cNvGraphicFramePr>
          <p:nvPr>
            <p:ph sz="quarter" idx="1"/>
          </p:nvPr>
        </p:nvGraphicFramePr>
        <p:xfrm>
          <a:off x="6373813" y="3130550"/>
          <a:ext cx="2519363" cy="2895600"/>
        </p:xfrm>
        <a:graphic>
          <a:graphicData uri="http://schemas.openxmlformats.org/drawingml/2006/table">
            <a:tbl>
              <a:tblPr/>
              <a:tblGrid>
                <a:gridCol w="1439862"/>
                <a:gridCol w="1079500"/>
              </a:tblGrid>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32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18456" name="Text Box 24"/>
          <p:cNvSpPr txBox="1"/>
          <p:nvPr/>
        </p:nvSpPr>
        <p:spPr>
          <a:xfrm>
            <a:off x="5003800" y="2349500"/>
            <a:ext cx="7937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NL</a:t>
            </a:r>
            <a:endParaRPr lang="en-US" altLang="zh-CN" dirty="0">
              <a:solidFill>
                <a:srgbClr val="FF0000"/>
              </a:solidFill>
              <a:latin typeface="Arial" panose="020B0604020202020204" pitchFamily="34" charset="0"/>
              <a:ea typeface="宋体" panose="02010600030101010101" pitchFamily="2" charset="-122"/>
            </a:endParaRPr>
          </a:p>
        </p:txBody>
      </p:sp>
      <p:graphicFrame>
        <p:nvGraphicFramePr>
          <p:cNvPr id="327705" name="Group 25"/>
          <p:cNvGraphicFramePr>
            <a:graphicFrameLocks noGrp="1"/>
          </p:cNvGraphicFramePr>
          <p:nvPr/>
        </p:nvGraphicFramePr>
        <p:xfrm>
          <a:off x="3635375" y="2997200"/>
          <a:ext cx="2449513" cy="3475038"/>
        </p:xfrm>
        <a:graphic>
          <a:graphicData uri="http://schemas.openxmlformats.org/drawingml/2006/table">
            <a:tbl>
              <a:tblPr/>
              <a:tblGrid>
                <a:gridCol w="1296988"/>
                <a:gridCol w="1152525"/>
              </a:tblGrid>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587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7850">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18480" name="Text Box 48"/>
          <p:cNvSpPr txBox="1"/>
          <p:nvPr/>
        </p:nvSpPr>
        <p:spPr>
          <a:xfrm>
            <a:off x="7810500" y="2427288"/>
            <a:ext cx="7937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DL</a:t>
            </a:r>
            <a:endParaRPr lang="en-US" altLang="zh-CN"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3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29731" name="Rectangle 3"/>
          <p:cNvSpPr>
            <a:spLocks noGrp="1"/>
          </p:cNvSpPr>
          <p:nvPr>
            <p:ph idx="1"/>
          </p:nvPr>
        </p:nvSpPr>
        <p:spPr>
          <a:xfrm>
            <a:off x="368300" y="3213100"/>
            <a:ext cx="3556000" cy="1655763"/>
          </a:xfrm>
        </p:spPr>
        <p:txBody>
          <a:bodyPr vert="horz" wrap="square" lIns="91440" tIns="45720" rIns="91440" bIns="45720" anchor="t" anchorCtr="0"/>
          <a:p>
            <a:pPr marL="0" indent="0" eaLnBrk="1" hangingPunct="1">
              <a:lnSpc>
                <a:spcPct val="110000"/>
              </a:lnSpc>
              <a:buNone/>
            </a:pPr>
            <a:r>
              <a:rPr lang="zh-CN" altLang="en-US" dirty="0">
                <a:solidFill>
                  <a:srgbClr val="0000CC"/>
                </a:solidFill>
                <a:latin typeface="Arial" panose="020B0604020202020204" pitchFamily="34" charset="0"/>
              </a:rPr>
              <a:t>元组增加了，</a:t>
            </a:r>
            <a:endParaRPr lang="zh-CN" altLang="en-US" dirty="0">
              <a:solidFill>
                <a:srgbClr val="0000CC"/>
              </a:solidFill>
              <a:latin typeface="Arial" panose="020B0604020202020204" pitchFamily="34" charset="0"/>
            </a:endParaRPr>
          </a:p>
          <a:p>
            <a:pPr marL="0" indent="0" eaLnBrk="1" hangingPunct="1">
              <a:lnSpc>
                <a:spcPct val="110000"/>
              </a:lnSpc>
              <a:buNone/>
            </a:pPr>
            <a:r>
              <a:rPr lang="zh-CN" altLang="en-US" dirty="0">
                <a:solidFill>
                  <a:srgbClr val="0000CC"/>
                </a:solidFill>
                <a:latin typeface="Arial" panose="020B0604020202020204" pitchFamily="34" charset="0"/>
              </a:rPr>
              <a:t>但信息丢失了</a:t>
            </a:r>
            <a:endParaRPr lang="zh-CN" altLang="en-US" dirty="0">
              <a:solidFill>
                <a:srgbClr val="0000CC"/>
              </a:solidFill>
              <a:latin typeface="Arial" panose="020B0604020202020204" pitchFamily="34" charset="0"/>
            </a:endParaRPr>
          </a:p>
        </p:txBody>
      </p:sp>
      <p:graphicFrame>
        <p:nvGraphicFramePr>
          <p:cNvPr id="329732" name="Group 4"/>
          <p:cNvGraphicFramePr>
            <a:graphicFrameLocks noGrp="1"/>
          </p:cNvGraphicFramePr>
          <p:nvPr/>
        </p:nvGraphicFramePr>
        <p:xfrm>
          <a:off x="4354513" y="1268413"/>
          <a:ext cx="4538663" cy="5211763"/>
        </p:xfrm>
        <a:graphic>
          <a:graphicData uri="http://schemas.openxmlformats.org/drawingml/2006/table">
            <a:tbl>
              <a:tblPr/>
              <a:tblGrid>
                <a:gridCol w="1585912"/>
                <a:gridCol w="1511300"/>
                <a:gridCol w="1441450"/>
              </a:tblGrid>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587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3587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7850">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grpSp>
        <p:nvGrpSpPr>
          <p:cNvPr id="20526" name="Group 46"/>
          <p:cNvGrpSpPr/>
          <p:nvPr/>
        </p:nvGrpSpPr>
        <p:grpSpPr>
          <a:xfrm>
            <a:off x="1979613" y="1341438"/>
            <a:ext cx="2232025" cy="641350"/>
            <a:chOff x="476" y="1117"/>
            <a:chExt cx="1406" cy="404"/>
          </a:xfrm>
        </p:grpSpPr>
        <p:sp>
          <p:nvSpPr>
            <p:cNvPr id="20527" name="Text Box 47"/>
            <p:cNvSpPr txBox="1"/>
            <p:nvPr/>
          </p:nvSpPr>
          <p:spPr>
            <a:xfrm>
              <a:off x="476" y="1117"/>
              <a:ext cx="1406" cy="404"/>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NL      </a:t>
              </a:r>
              <a:r>
                <a:rPr lang="en-US" altLang="zh-CN" dirty="0">
                  <a:solidFill>
                    <a:srgbClr val="FF0000"/>
                  </a:solidFill>
                  <a:latin typeface="Arial" panose="020B0604020202020204" pitchFamily="34" charset="0"/>
                  <a:ea typeface="幼圆" panose="02010509060101010101" pitchFamily="49" charset="-122"/>
                </a:rPr>
                <a:t>DL</a:t>
              </a:r>
              <a:endParaRPr lang="en-US" altLang="zh-CN" dirty="0">
                <a:solidFill>
                  <a:srgbClr val="FF0000"/>
                </a:solidFill>
                <a:latin typeface="Arial" panose="020B0604020202020204" pitchFamily="34" charset="0"/>
                <a:ea typeface="幼圆" panose="02010509060101010101" pitchFamily="49" charset="-122"/>
              </a:endParaRPr>
            </a:p>
          </p:txBody>
        </p:sp>
        <p:grpSp>
          <p:nvGrpSpPr>
            <p:cNvPr id="20528" name="Group 48"/>
            <p:cNvGrpSpPr/>
            <p:nvPr/>
          </p:nvGrpSpPr>
          <p:grpSpPr>
            <a:xfrm>
              <a:off x="975" y="1207"/>
              <a:ext cx="317" cy="198"/>
              <a:chOff x="4320" y="2256"/>
              <a:chExt cx="240" cy="144"/>
            </a:xfrm>
          </p:grpSpPr>
          <p:sp>
            <p:nvSpPr>
              <p:cNvPr id="20529" name="Line 49"/>
              <p:cNvSpPr/>
              <p:nvPr/>
            </p:nvSpPr>
            <p:spPr>
              <a:xfrm>
                <a:off x="4320" y="2256"/>
                <a:ext cx="0" cy="144"/>
              </a:xfrm>
              <a:prstGeom prst="line">
                <a:avLst/>
              </a:prstGeom>
              <a:ln w="57150" cap="flat" cmpd="sng">
                <a:solidFill>
                  <a:srgbClr val="FF0000"/>
                </a:solidFill>
                <a:prstDash val="solid"/>
                <a:headEnd type="none" w="med" len="med"/>
                <a:tailEnd type="none" w="med" len="med"/>
              </a:ln>
            </p:spPr>
          </p:sp>
          <p:sp>
            <p:nvSpPr>
              <p:cNvPr id="20530" name="Line 50"/>
              <p:cNvSpPr/>
              <p:nvPr/>
            </p:nvSpPr>
            <p:spPr>
              <a:xfrm>
                <a:off x="4560" y="2256"/>
                <a:ext cx="0" cy="144"/>
              </a:xfrm>
              <a:prstGeom prst="line">
                <a:avLst/>
              </a:prstGeom>
              <a:ln w="57150" cap="flat" cmpd="sng">
                <a:solidFill>
                  <a:srgbClr val="FF0000"/>
                </a:solidFill>
                <a:prstDash val="solid"/>
                <a:headEnd type="none" w="med" len="med"/>
                <a:tailEnd type="none" w="med" len="med"/>
              </a:ln>
            </p:spPr>
          </p:sp>
          <p:sp>
            <p:nvSpPr>
              <p:cNvPr id="20531" name="Line 51"/>
              <p:cNvSpPr/>
              <p:nvPr/>
            </p:nvSpPr>
            <p:spPr>
              <a:xfrm>
                <a:off x="4320" y="2256"/>
                <a:ext cx="240" cy="144"/>
              </a:xfrm>
              <a:prstGeom prst="line">
                <a:avLst/>
              </a:prstGeom>
              <a:ln w="57150" cap="flat" cmpd="sng">
                <a:solidFill>
                  <a:srgbClr val="FF0000"/>
                </a:solidFill>
                <a:prstDash val="solid"/>
                <a:headEnd type="none" w="med" len="med"/>
                <a:tailEnd type="none" w="med" len="med"/>
              </a:ln>
            </p:spPr>
          </p:sp>
          <p:sp>
            <p:nvSpPr>
              <p:cNvPr id="20532" name="Line 52"/>
              <p:cNvSpPr/>
              <p:nvPr/>
            </p:nvSpPr>
            <p:spPr>
              <a:xfrm flipV="1">
                <a:off x="4320" y="2256"/>
                <a:ext cx="240" cy="144"/>
              </a:xfrm>
              <a:prstGeom prst="line">
                <a:avLst/>
              </a:prstGeom>
              <a:ln w="57150" cap="flat" cmpd="sng">
                <a:solidFill>
                  <a:srgbClr val="FF0000"/>
                </a:solidFill>
                <a:prstDash val="solid"/>
                <a:headEnd type="none" w="med" len="med"/>
                <a:tailEnd type="none" w="med" len="med"/>
              </a:ln>
            </p:spPr>
          </p:sp>
        </p:gr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9731">
                                            <p:txEl>
                                              <p:charRg st="0"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9731">
                                            <p:txEl>
                                              <p:charRg st="7"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8"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2531" name="Rectangle 3"/>
          <p:cNvSpPr>
            <a:spLocks noGrp="1"/>
          </p:cNvSpPr>
          <p:nvPr>
            <p:ph type="body" sz="half" idx="1"/>
          </p:nvPr>
        </p:nvSpPr>
        <p:spPr>
          <a:xfrm>
            <a:off x="152400" y="1016000"/>
            <a:ext cx="8596313" cy="5473700"/>
          </a:xfrm>
        </p:spPr>
        <p:txBody>
          <a:bodyPr vert="horz" wrap="square" lIns="91440" tIns="45720" rIns="91440" bIns="45720" anchor="t" anchorCtr="0"/>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3</a:t>
            </a:r>
            <a:r>
              <a:rPr lang="zh-CN" altLang="en-US" dirty="0">
                <a:latin typeface="Arial" panose="020B0604020202020204" pitchFamily="34" charset="0"/>
              </a:rPr>
              <a:t>、</a:t>
            </a:r>
            <a:r>
              <a:rPr lang="en-US" altLang="zh-CN" dirty="0">
                <a:latin typeface="Arial" panose="020B0604020202020204" pitchFamily="34" charset="0"/>
              </a:rPr>
              <a:t>SDL </a:t>
            </a:r>
            <a:r>
              <a:rPr lang="zh-CN" altLang="en-US" dirty="0">
                <a:latin typeface="Arial" panose="020B0604020202020204" pitchFamily="34" charset="0"/>
              </a:rPr>
              <a:t>分解为下面两个关系模式：</a:t>
            </a:r>
            <a:endParaRPr lang="zh-CN" altLang="en-US"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ND ( Sno, Sdept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	NL ( Sno, Sloc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solidFill>
                <a:srgbClr val="0000CC"/>
              </a:solidFill>
            </a:endParaRPr>
          </a:p>
        </p:txBody>
      </p:sp>
      <p:graphicFrame>
        <p:nvGraphicFramePr>
          <p:cNvPr id="331780" name="Group 4"/>
          <p:cNvGraphicFramePr>
            <a:graphicFrameLocks noGrp="1"/>
          </p:cNvGraphicFramePr>
          <p:nvPr>
            <p:ph sz="quarter" idx="1"/>
          </p:nvPr>
        </p:nvGraphicFramePr>
        <p:xfrm>
          <a:off x="6443663" y="2997200"/>
          <a:ext cx="2447925" cy="3475038"/>
        </p:xfrm>
        <a:graphic>
          <a:graphicData uri="http://schemas.openxmlformats.org/drawingml/2006/table">
            <a:tbl>
              <a:tblPr/>
              <a:tblGrid>
                <a:gridCol w="1366837"/>
                <a:gridCol w="1081088"/>
              </a:tblGrid>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32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7850">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22555" name="Text Box 27"/>
          <p:cNvSpPr txBox="1"/>
          <p:nvPr/>
        </p:nvSpPr>
        <p:spPr>
          <a:xfrm>
            <a:off x="4859338" y="2349500"/>
            <a:ext cx="8445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ND</a:t>
            </a:r>
            <a:endParaRPr lang="en-US" altLang="zh-CN" dirty="0">
              <a:solidFill>
                <a:srgbClr val="FF0000"/>
              </a:solidFill>
              <a:latin typeface="Arial" panose="020B0604020202020204" pitchFamily="34" charset="0"/>
              <a:ea typeface="宋体" panose="02010600030101010101" pitchFamily="2" charset="-122"/>
            </a:endParaRPr>
          </a:p>
        </p:txBody>
      </p:sp>
      <p:graphicFrame>
        <p:nvGraphicFramePr>
          <p:cNvPr id="331804" name="Group 28"/>
          <p:cNvGraphicFramePr>
            <a:graphicFrameLocks noGrp="1"/>
          </p:cNvGraphicFramePr>
          <p:nvPr/>
        </p:nvGraphicFramePr>
        <p:xfrm>
          <a:off x="3203575" y="2997200"/>
          <a:ext cx="2881313" cy="3475038"/>
        </p:xfrm>
        <a:graphic>
          <a:graphicData uri="http://schemas.openxmlformats.org/drawingml/2006/table">
            <a:tbl>
              <a:tblPr/>
              <a:tblGrid>
                <a:gridCol w="1368425"/>
                <a:gridCol w="1512888"/>
              </a:tblGrid>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22579" name="Text Box 51"/>
          <p:cNvSpPr txBox="1"/>
          <p:nvPr/>
        </p:nvSpPr>
        <p:spPr>
          <a:xfrm>
            <a:off x="7713663" y="2349500"/>
            <a:ext cx="7937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NL</a:t>
            </a:r>
            <a:endParaRPr lang="en-US" altLang="zh-CN"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3826"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33827" name="Rectangle 3"/>
          <p:cNvSpPr>
            <a:spLocks noGrp="1"/>
          </p:cNvSpPr>
          <p:nvPr>
            <p:ph type="body" sz="half" idx="1"/>
          </p:nvPr>
        </p:nvSpPr>
        <p:spPr>
          <a:xfrm>
            <a:off x="152400" y="2492375"/>
            <a:ext cx="4132263" cy="3997325"/>
          </a:xfrm>
        </p:spPr>
        <p:txBody>
          <a:bodyPr vert="horz" wrap="square" lIns="91440" tIns="45720" rIns="91440" bIns="45720" anchor="t" anchorCtr="0"/>
          <a:p>
            <a:pPr marL="0" indent="0" eaLnBrk="1" hangingPunct="1">
              <a:lnSpc>
                <a:spcPct val="110000"/>
              </a:lnSpc>
              <a:buClr>
                <a:srgbClr val="FF0000"/>
              </a:buClr>
              <a:buSzPct val="65000"/>
              <a:buFont typeface="Wingdings" panose="05000000000000000000" pitchFamily="2" charset="2"/>
              <a:buNone/>
            </a:pPr>
            <a:r>
              <a:rPr lang="zh-CN" altLang="en-US" dirty="0">
                <a:solidFill>
                  <a:srgbClr val="0000CC"/>
                </a:solidFill>
                <a:latin typeface="黑体" panose="02010609060101010101" pitchFamily="2" charset="-122"/>
              </a:rPr>
              <a:t>与</a:t>
            </a:r>
            <a:r>
              <a:rPr lang="en-US" altLang="zh-CN" dirty="0">
                <a:solidFill>
                  <a:srgbClr val="0000CC"/>
                </a:solidFill>
                <a:latin typeface="Arial" panose="020B0604020202020204" pitchFamily="34" charset="0"/>
              </a:rPr>
              <a:t>SDL</a:t>
            </a:r>
            <a:r>
              <a:rPr lang="zh-CN" altLang="en-US" dirty="0">
                <a:solidFill>
                  <a:srgbClr val="0000CC"/>
                </a:solidFill>
                <a:latin typeface="黑体" panose="02010609060101010101" pitchFamily="2" charset="-122"/>
              </a:rPr>
              <a:t>关系一样，因此没有丢失信息</a:t>
            </a:r>
            <a:endParaRPr lang="zh-CN" altLang="en-US" dirty="0">
              <a:solidFill>
                <a:srgbClr val="0000CC"/>
              </a:solidFill>
              <a:latin typeface="黑体" panose="02010609060101010101" pitchFamily="2" charset="-122"/>
            </a:endParaRPr>
          </a:p>
        </p:txBody>
      </p:sp>
      <p:grpSp>
        <p:nvGrpSpPr>
          <p:cNvPr id="24580" name="Group 4"/>
          <p:cNvGrpSpPr/>
          <p:nvPr/>
        </p:nvGrpSpPr>
        <p:grpSpPr>
          <a:xfrm>
            <a:off x="5435600" y="1412875"/>
            <a:ext cx="2232025" cy="641350"/>
            <a:chOff x="1247" y="845"/>
            <a:chExt cx="1406" cy="404"/>
          </a:xfrm>
        </p:grpSpPr>
        <p:sp>
          <p:nvSpPr>
            <p:cNvPr id="24611" name="Text Box 5"/>
            <p:cNvSpPr txBox="1"/>
            <p:nvPr/>
          </p:nvSpPr>
          <p:spPr>
            <a:xfrm>
              <a:off x="1247" y="845"/>
              <a:ext cx="1406" cy="404"/>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ND      N</a:t>
              </a:r>
              <a:r>
                <a:rPr lang="en-US" altLang="zh-CN" dirty="0">
                  <a:solidFill>
                    <a:srgbClr val="FF0000"/>
                  </a:solidFill>
                  <a:latin typeface="Arial" panose="020B0604020202020204" pitchFamily="34" charset="0"/>
                  <a:ea typeface="幼圆" panose="02010509060101010101" pitchFamily="49" charset="-122"/>
                </a:rPr>
                <a:t>L</a:t>
              </a:r>
              <a:endParaRPr lang="en-US" altLang="zh-CN" dirty="0">
                <a:solidFill>
                  <a:srgbClr val="FF0000"/>
                </a:solidFill>
                <a:latin typeface="Arial" panose="020B0604020202020204" pitchFamily="34" charset="0"/>
                <a:ea typeface="幼圆" panose="02010509060101010101" pitchFamily="49" charset="-122"/>
              </a:endParaRPr>
            </a:p>
          </p:txBody>
        </p:sp>
        <p:grpSp>
          <p:nvGrpSpPr>
            <p:cNvPr id="24612" name="Group 6"/>
            <p:cNvGrpSpPr/>
            <p:nvPr/>
          </p:nvGrpSpPr>
          <p:grpSpPr>
            <a:xfrm>
              <a:off x="1792" y="935"/>
              <a:ext cx="317" cy="198"/>
              <a:chOff x="4320" y="2256"/>
              <a:chExt cx="240" cy="144"/>
            </a:xfrm>
          </p:grpSpPr>
          <p:sp>
            <p:nvSpPr>
              <p:cNvPr id="24613" name="Line 7"/>
              <p:cNvSpPr/>
              <p:nvPr/>
            </p:nvSpPr>
            <p:spPr>
              <a:xfrm>
                <a:off x="4320" y="2256"/>
                <a:ext cx="0" cy="144"/>
              </a:xfrm>
              <a:prstGeom prst="line">
                <a:avLst/>
              </a:prstGeom>
              <a:ln w="57150" cap="flat" cmpd="sng">
                <a:solidFill>
                  <a:srgbClr val="FF0000"/>
                </a:solidFill>
                <a:prstDash val="solid"/>
                <a:headEnd type="none" w="med" len="med"/>
                <a:tailEnd type="none" w="med" len="med"/>
              </a:ln>
            </p:spPr>
          </p:sp>
          <p:sp>
            <p:nvSpPr>
              <p:cNvPr id="24614" name="Line 8"/>
              <p:cNvSpPr/>
              <p:nvPr/>
            </p:nvSpPr>
            <p:spPr>
              <a:xfrm>
                <a:off x="4560" y="2256"/>
                <a:ext cx="0" cy="144"/>
              </a:xfrm>
              <a:prstGeom prst="line">
                <a:avLst/>
              </a:prstGeom>
              <a:ln w="57150" cap="flat" cmpd="sng">
                <a:solidFill>
                  <a:srgbClr val="FF0000"/>
                </a:solidFill>
                <a:prstDash val="solid"/>
                <a:headEnd type="none" w="med" len="med"/>
                <a:tailEnd type="none" w="med" len="med"/>
              </a:ln>
            </p:spPr>
          </p:sp>
          <p:sp>
            <p:nvSpPr>
              <p:cNvPr id="24615" name="Line 9"/>
              <p:cNvSpPr/>
              <p:nvPr/>
            </p:nvSpPr>
            <p:spPr>
              <a:xfrm>
                <a:off x="4320" y="2256"/>
                <a:ext cx="240" cy="144"/>
              </a:xfrm>
              <a:prstGeom prst="line">
                <a:avLst/>
              </a:prstGeom>
              <a:ln w="57150" cap="flat" cmpd="sng">
                <a:solidFill>
                  <a:srgbClr val="FF0000"/>
                </a:solidFill>
                <a:prstDash val="solid"/>
                <a:headEnd type="none" w="med" len="med"/>
                <a:tailEnd type="none" w="med" len="med"/>
              </a:ln>
            </p:spPr>
          </p:sp>
          <p:sp>
            <p:nvSpPr>
              <p:cNvPr id="24616" name="Line 10"/>
              <p:cNvSpPr/>
              <p:nvPr/>
            </p:nvSpPr>
            <p:spPr>
              <a:xfrm flipV="1">
                <a:off x="4320" y="2256"/>
                <a:ext cx="240" cy="144"/>
              </a:xfrm>
              <a:prstGeom prst="line">
                <a:avLst/>
              </a:prstGeom>
              <a:ln w="57150" cap="flat" cmpd="sng">
                <a:solidFill>
                  <a:srgbClr val="FF0000"/>
                </a:solidFill>
                <a:prstDash val="solid"/>
                <a:headEnd type="none" w="med" len="med"/>
                <a:tailEnd type="none" w="med" len="med"/>
              </a:ln>
            </p:spPr>
          </p:sp>
        </p:grpSp>
      </p:grpSp>
      <p:graphicFrame>
        <p:nvGraphicFramePr>
          <p:cNvPr id="333835" name="Group 11"/>
          <p:cNvGraphicFramePr>
            <a:graphicFrameLocks noGrp="1"/>
          </p:cNvGraphicFramePr>
          <p:nvPr>
            <p:ph sz="half" idx="1"/>
          </p:nvPr>
        </p:nvGraphicFramePr>
        <p:xfrm>
          <a:off x="4643438" y="2168525"/>
          <a:ext cx="3987800" cy="3492502"/>
        </p:xfrm>
        <a:graphic>
          <a:graphicData uri="http://schemas.openxmlformats.org/drawingml/2006/table">
            <a:tbl>
              <a:tblPr/>
              <a:tblGrid>
                <a:gridCol w="1439862"/>
                <a:gridCol w="1368425"/>
                <a:gridCol w="1179513"/>
              </a:tblGrid>
              <a:tr h="58261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10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261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8261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810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82613">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3827">
                                            <p:txEl>
                                              <p:charRg st="0"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4"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具有无损连接性的模式分解</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6627" name="Rectangle 3"/>
          <p:cNvSpPr>
            <a:spLocks noGrp="1"/>
          </p:cNvSpPr>
          <p:nvPr>
            <p:ph type="body" sz="half" idx="1"/>
          </p:nvPr>
        </p:nvSpPr>
        <p:spPr>
          <a:xfrm>
            <a:off x="152400" y="981075"/>
            <a:ext cx="8812213" cy="5473700"/>
          </a:xfrm>
        </p:spPr>
        <p:txBody>
          <a:bodyPr vert="horz" wrap="square" lIns="91440" tIns="45720" rIns="91440" bIns="45720" anchor="t" anchorCtr="0"/>
          <a:p>
            <a:pPr marL="265430" indent="-265430" eaLnBrk="1" hangingPunct="1">
              <a:buClr>
                <a:srgbClr val="FF0000"/>
              </a:buClr>
              <a:buSzPct val="65000"/>
              <a:buFont typeface="Wingdings" panose="05000000000000000000" pitchFamily="2" charset="2"/>
            </a:pPr>
            <a:r>
              <a:rPr lang="zh-CN" altLang="en-US" dirty="0">
                <a:latin typeface="Arial" panose="020B0604020202020204" pitchFamily="34" charset="0"/>
              </a:rPr>
              <a:t>定义</a:t>
            </a:r>
            <a:endParaRPr lang="zh-CN" altLang="en-US" dirty="0">
              <a:latin typeface="Arial" panose="020B0604020202020204" pitchFamily="34" charset="0"/>
            </a:endParaRPr>
          </a:p>
          <a:p>
            <a:pPr marL="265430" indent="-265430" eaLnBrk="1" hangingPunct="1">
              <a:lnSpc>
                <a:spcPct val="105000"/>
              </a:lnSpc>
              <a:buClr>
                <a:srgbClr val="FF0000"/>
              </a:buClr>
              <a:buSzPct val="65000"/>
              <a:buFont typeface="Wingdings" panose="05000000000000000000" pitchFamily="2" charset="2"/>
              <a:buNone/>
            </a:pPr>
            <a:r>
              <a:rPr lang="zh-CN" altLang="en-US" dirty="0">
                <a:latin typeface="Arial" panose="020B0604020202020204" pitchFamily="34" charset="0"/>
              </a:rPr>
              <a:t>       设 </a:t>
            </a:r>
            <a:r>
              <a:rPr lang="zh-CN" altLang="en-US" dirty="0">
                <a:latin typeface="Arial" panose="020B0604020202020204" pitchFamily="34" charset="0"/>
                <a:ea typeface="Arial Unicode MS" pitchFamily="34" charset="-122"/>
                <a:sym typeface="Symbol" panose="05050102010706020507" pitchFamily="18" charset="2"/>
              </a:rPr>
              <a:t> </a:t>
            </a:r>
            <a:r>
              <a:rPr lang="en-US" altLang="zh-CN" dirty="0">
                <a:latin typeface="Arial" panose="020B0604020202020204" pitchFamily="34" charset="0"/>
                <a:ea typeface="Arial Unicode MS" pitchFamily="34" charset="-122"/>
              </a:rPr>
              <a:t>= { R</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&gt;</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 </a:t>
            </a:r>
            <a:r>
              <a:rPr lang="en-US" altLang="zh-CN" dirty="0">
                <a:latin typeface="Arial" panose="020B0604020202020204" pitchFamily="34" charset="0"/>
              </a:rPr>
              <a:t>… , </a:t>
            </a:r>
            <a:r>
              <a:rPr lang="en-US" altLang="zh-CN" dirty="0">
                <a:latin typeface="Arial" panose="020B0604020202020204" pitchFamily="34" charset="0"/>
                <a:ea typeface="Arial Unicode MS" pitchFamily="34" charset="-122"/>
              </a:rPr>
              <a:t>R</a:t>
            </a:r>
            <a:r>
              <a:rPr lang="en-US" altLang="zh-CN" baseline="-25000" dirty="0">
                <a:latin typeface="Arial" panose="020B0604020202020204" pitchFamily="34" charset="0"/>
                <a:ea typeface="Arial Unicode MS" pitchFamily="34" charset="-122"/>
              </a:rPr>
              <a:t>n</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n</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n</a:t>
            </a:r>
            <a:r>
              <a:rPr lang="en-US" altLang="zh-CN" dirty="0">
                <a:latin typeface="Arial" panose="020B0604020202020204" pitchFamily="34" charset="0"/>
                <a:ea typeface="Arial Unicode MS" pitchFamily="34" charset="-122"/>
              </a:rPr>
              <a:t>&gt;} </a:t>
            </a:r>
            <a:r>
              <a:rPr lang="zh-CN" altLang="en-US" dirty="0">
                <a:latin typeface="Arial" panose="020B0604020202020204" pitchFamily="34" charset="0"/>
              </a:rPr>
              <a:t>是</a:t>
            </a:r>
            <a:r>
              <a:rPr lang="en-US" altLang="zh-CN" dirty="0">
                <a:latin typeface="Arial" panose="020B0604020202020204" pitchFamily="34" charset="0"/>
                <a:ea typeface="Arial Unicode MS" pitchFamily="34" charset="-122"/>
              </a:rPr>
              <a:t>R&lt;U, F&gt; </a:t>
            </a:r>
            <a:r>
              <a:rPr lang="zh-CN" altLang="en-US" dirty="0">
                <a:latin typeface="Arial" panose="020B0604020202020204" pitchFamily="34" charset="0"/>
              </a:rPr>
              <a:t>的一个</a:t>
            </a:r>
            <a:r>
              <a:rPr lang="zh-CN" altLang="en-US" dirty="0">
                <a:solidFill>
                  <a:srgbClr val="0000CC"/>
                </a:solidFill>
                <a:latin typeface="Arial" panose="020B0604020202020204" pitchFamily="34" charset="0"/>
              </a:rPr>
              <a:t>分解</a:t>
            </a:r>
            <a:r>
              <a:rPr lang="zh-CN" altLang="en-US" dirty="0">
                <a:latin typeface="Arial" panose="020B0604020202020204" pitchFamily="34" charset="0"/>
              </a:rPr>
              <a:t>，若 </a:t>
            </a:r>
            <a:r>
              <a:rPr lang="en-US" altLang="zh-CN" dirty="0">
                <a:latin typeface="Arial" panose="020B0604020202020204" pitchFamily="34" charset="0"/>
              </a:rPr>
              <a:t>R </a:t>
            </a:r>
            <a:r>
              <a:rPr lang="zh-CN" altLang="en-US" dirty="0">
                <a:latin typeface="Arial" panose="020B0604020202020204" pitchFamily="34" charset="0"/>
              </a:rPr>
              <a:t>与</a:t>
            </a:r>
            <a:r>
              <a:rPr lang="en-US" altLang="zh-CN" dirty="0">
                <a:latin typeface="Arial" panose="020B0604020202020204" pitchFamily="34" charset="0"/>
              </a:rPr>
              <a:t>R</a:t>
            </a:r>
            <a:r>
              <a:rPr lang="en-US" altLang="zh-CN" baseline="-25000"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R</a:t>
            </a:r>
            <a:r>
              <a:rPr lang="en-US" altLang="zh-CN" baseline="-25000" dirty="0">
                <a:latin typeface="Arial" panose="020B0604020202020204" pitchFamily="34" charset="0"/>
              </a:rPr>
              <a:t>2</a:t>
            </a:r>
            <a:r>
              <a:rPr lang="zh-CN" altLang="en-US" dirty="0">
                <a:latin typeface="Arial" panose="020B0604020202020204" pitchFamily="34" charset="0"/>
              </a:rPr>
              <a:t>、</a:t>
            </a:r>
            <a:r>
              <a:rPr lang="en-US" altLang="zh-CN" dirty="0">
                <a:latin typeface="Arial" panose="020B0604020202020204" pitchFamily="34" charset="0"/>
              </a:rPr>
              <a:t>…</a:t>
            </a:r>
            <a:r>
              <a:rPr lang="zh-CN" altLang="en-US" dirty="0">
                <a:latin typeface="Arial" panose="020B0604020202020204" pitchFamily="34" charset="0"/>
              </a:rPr>
              <a:t>、</a:t>
            </a:r>
            <a:r>
              <a:rPr lang="en-US" altLang="zh-CN" dirty="0">
                <a:latin typeface="Arial" panose="020B0604020202020204" pitchFamily="34" charset="0"/>
              </a:rPr>
              <a:t>R</a:t>
            </a:r>
            <a:r>
              <a:rPr lang="en-US" altLang="zh-CN" baseline="-25000" dirty="0">
                <a:latin typeface="Arial" panose="020B0604020202020204" pitchFamily="34" charset="0"/>
              </a:rPr>
              <a:t>n </a:t>
            </a:r>
            <a:r>
              <a:rPr lang="zh-CN" altLang="en-US" dirty="0">
                <a:solidFill>
                  <a:srgbClr val="0000CC"/>
                </a:solidFill>
                <a:latin typeface="Arial" panose="020B0604020202020204" pitchFamily="34" charset="0"/>
              </a:rPr>
              <a:t>自然连接</a:t>
            </a:r>
            <a:r>
              <a:rPr lang="zh-CN" altLang="en-US" dirty="0">
                <a:latin typeface="Arial" panose="020B0604020202020204" pitchFamily="34" charset="0"/>
              </a:rPr>
              <a:t>的结果相等，则称关系模式 </a:t>
            </a:r>
            <a:r>
              <a:rPr lang="en-US" altLang="zh-CN" dirty="0">
                <a:latin typeface="Arial" panose="020B0604020202020204" pitchFamily="34" charset="0"/>
              </a:rPr>
              <a:t>R </a:t>
            </a:r>
            <a:r>
              <a:rPr lang="zh-CN" altLang="en-US" dirty="0">
                <a:latin typeface="Arial" panose="020B0604020202020204" pitchFamily="34" charset="0"/>
              </a:rPr>
              <a:t>的这个分解 </a:t>
            </a:r>
            <a:r>
              <a:rPr lang="zh-CN" altLang="en-US" dirty="0">
                <a:latin typeface="Arial" panose="020B0604020202020204" pitchFamily="34" charset="0"/>
                <a:ea typeface="Arial Unicode MS" pitchFamily="34" charset="-122"/>
                <a:sym typeface="Symbol" panose="05050102010706020507" pitchFamily="18" charset="2"/>
              </a:rPr>
              <a:t> </a:t>
            </a:r>
            <a:r>
              <a:rPr lang="zh-CN" altLang="en-US" dirty="0">
                <a:solidFill>
                  <a:srgbClr val="FF0000"/>
                </a:solidFill>
                <a:latin typeface="Arial" panose="020B0604020202020204" pitchFamily="34" charset="0"/>
              </a:rPr>
              <a:t>具有无损连接性 </a:t>
            </a:r>
            <a:r>
              <a:rPr lang="en-US" altLang="zh-CN" dirty="0">
                <a:latin typeface="Arial" panose="020B0604020202020204" pitchFamily="34" charset="0"/>
              </a:rPr>
              <a:t>(Lossless join)</a:t>
            </a:r>
            <a:r>
              <a:rPr lang="zh-CN" altLang="en-US" dirty="0">
                <a:latin typeface="Arial" panose="020B0604020202020204" pitchFamily="34" charset="0"/>
              </a:rPr>
              <a:t>，简称</a:t>
            </a:r>
            <a:r>
              <a:rPr lang="zh-CN" altLang="en-US" dirty="0">
                <a:latin typeface="Arial" panose="020B0604020202020204" pitchFamily="34" charset="0"/>
                <a:ea typeface="Arial Unicode MS" pitchFamily="34" charset="-122"/>
                <a:sym typeface="Symbol" panose="05050102010706020507" pitchFamily="18" charset="2"/>
              </a:rPr>
              <a:t></a:t>
            </a:r>
            <a:r>
              <a:rPr lang="zh-CN" altLang="en-US" dirty="0">
                <a:latin typeface="Arial" panose="020B0604020202020204" pitchFamily="34" charset="0"/>
                <a:sym typeface="Symbol" panose="05050102010706020507" pitchFamily="18" charset="2"/>
              </a:rPr>
              <a:t>为</a:t>
            </a:r>
            <a:r>
              <a:rPr lang="zh-CN" altLang="en-US" dirty="0">
                <a:solidFill>
                  <a:srgbClr val="FF0000"/>
                </a:solidFill>
                <a:latin typeface="Arial" panose="020B0604020202020204" pitchFamily="34" charset="0"/>
                <a:sym typeface="Symbol" panose="05050102010706020507" pitchFamily="18" charset="2"/>
              </a:rPr>
              <a:t>无损分解</a:t>
            </a:r>
            <a:r>
              <a:rPr lang="zh-CN" altLang="en-US" dirty="0">
                <a:latin typeface="Arial" panose="020B0604020202020204" pitchFamily="34" charset="0"/>
                <a:ea typeface="Arial Unicode MS" pitchFamily="34" charset="-122"/>
                <a:sym typeface="Symbol" panose="05050102010706020507" pitchFamily="18" charset="2"/>
              </a:rPr>
              <a:t>。 </a:t>
            </a:r>
            <a:endParaRPr lang="zh-CN" altLang="en-US" dirty="0">
              <a:latin typeface="Arial" panose="020B0604020202020204" pitchFamily="34" charset="0"/>
            </a:endParaRPr>
          </a:p>
          <a:p>
            <a:pPr marL="722630" lvl="1" indent="-278130" eaLnBrk="1" hangingPunct="1">
              <a:buClr>
                <a:srgbClr val="3333CC"/>
              </a:buClr>
              <a:buSzPct val="65000"/>
              <a:buFont typeface="Wingdings" panose="05000000000000000000" pitchFamily="2" charset="2"/>
            </a:pPr>
            <a:r>
              <a:rPr lang="zh-CN" altLang="en-US" dirty="0">
                <a:latin typeface="Arial" panose="020B0604020202020204" pitchFamily="34" charset="0"/>
              </a:rPr>
              <a:t>具有无损连接性的分解保证不丢失信息</a:t>
            </a:r>
            <a:endParaRPr lang="zh-CN" altLang="en-US" dirty="0">
              <a:latin typeface="Arial" panose="020B0604020202020204" pitchFamily="34" charset="0"/>
            </a:endParaRPr>
          </a:p>
          <a:p>
            <a:pPr marL="722630" lvl="1" indent="-278130" eaLnBrk="1" hangingPunct="1">
              <a:buClr>
                <a:srgbClr val="3333CC"/>
              </a:buClr>
              <a:buSzPct val="65000"/>
              <a:buFont typeface="Wingdings" panose="05000000000000000000" pitchFamily="2" charset="2"/>
            </a:pPr>
            <a:r>
              <a:rPr lang="zh-CN" altLang="en-US" dirty="0">
                <a:latin typeface="Arial" panose="020B0604020202020204" pitchFamily="34" charset="0"/>
              </a:rPr>
              <a:t>但不一定能解决插入异常、删除异常、修改复杂、数据冗余等问题。</a:t>
            </a:r>
            <a:endParaRPr lang="en-US" altLang="el-GR"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2"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具有无损连接性的模式分解</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8675" name="Rectangle 3"/>
          <p:cNvSpPr>
            <a:spLocks noGrp="1"/>
          </p:cNvSpPr>
          <p:nvPr>
            <p:ph type="body" sz="half" idx="1"/>
          </p:nvPr>
        </p:nvSpPr>
        <p:spPr>
          <a:xfrm>
            <a:off x="152400" y="981075"/>
            <a:ext cx="8812213" cy="5473700"/>
          </a:xfrm>
        </p:spPr>
        <p:txBody>
          <a:bodyPr vert="horz" wrap="square" lIns="91440" tIns="45720" rIns="91440" bIns="45720" anchor="t" anchorCtr="0"/>
          <a:p>
            <a:pPr marL="365125" indent="-365125" eaLnBrk="1" hangingPunct="1">
              <a:buClr>
                <a:srgbClr val="FF0000"/>
              </a:buClr>
              <a:buSzPct val="65000"/>
              <a:buFont typeface="Wingdings" panose="05000000000000000000" pitchFamily="2" charset="2"/>
            </a:pPr>
            <a:r>
              <a:rPr lang="zh-CN" altLang="en-US" dirty="0">
                <a:latin typeface="Arial" panose="020B0604020202020204" pitchFamily="34" charset="0"/>
              </a:rPr>
              <a:t>前例的分解：</a:t>
            </a:r>
            <a:r>
              <a:rPr lang="en-US" altLang="zh-CN" dirty="0">
                <a:latin typeface="Arial" panose="020B0604020202020204" pitchFamily="34" charset="0"/>
              </a:rPr>
              <a:t>ND ( Sno, Sdept )</a:t>
            </a:r>
            <a:endParaRPr lang="en-US" altLang="zh-CN" dirty="0">
              <a:latin typeface="Arial" panose="020B0604020202020204" pitchFamily="34" charset="0"/>
            </a:endParaRPr>
          </a:p>
          <a:p>
            <a:pPr marL="365125" indent="-365125" algn="just" eaLnBrk="1" hangingPunct="1">
              <a:buClr>
                <a:srgbClr val="FF0000"/>
              </a:buClr>
              <a:buSzPct val="65000"/>
              <a:buFont typeface="Wingdings" panose="05000000000000000000" pitchFamily="2" charset="2"/>
              <a:buNone/>
            </a:pPr>
            <a:r>
              <a:rPr lang="en-US" altLang="zh-CN" dirty="0">
                <a:latin typeface="Arial" panose="020B0604020202020204" pitchFamily="34" charset="0"/>
              </a:rPr>
              <a:t>	                      NL ( Sno, Sloc )</a:t>
            </a:r>
            <a:endParaRPr lang="en-US" altLang="zh-CN" dirty="0">
              <a:latin typeface="Arial" panose="020B0604020202020204" pitchFamily="34" charset="0"/>
            </a:endParaRPr>
          </a:p>
          <a:p>
            <a:pPr marL="365125" indent="-365125" algn="just" eaLnBrk="1" hangingPunct="1">
              <a:buClr>
                <a:srgbClr val="FF0000"/>
              </a:buClr>
              <a:buSzPct val="65000"/>
              <a:buFont typeface="Wingdings" panose="05000000000000000000" pitchFamily="2" charset="2"/>
              <a:buNone/>
            </a:pPr>
            <a:r>
              <a:rPr lang="zh-CN" altLang="en-US" dirty="0">
                <a:latin typeface="Arial" panose="020B0604020202020204" pitchFamily="34" charset="0"/>
              </a:rPr>
              <a:t>分解具有无损连接性</a:t>
            </a:r>
            <a:endParaRPr lang="zh-CN" altLang="en-US" dirty="0">
              <a:latin typeface="Arial" panose="020B0604020202020204" pitchFamily="34" charset="0"/>
            </a:endParaRPr>
          </a:p>
          <a:p>
            <a:pPr marL="365125" indent="-365125" algn="just" eaLnBrk="1" hangingPunct="1">
              <a:buClr>
                <a:srgbClr val="FF0000"/>
              </a:buClr>
              <a:buSzPct val="65000"/>
              <a:buFont typeface="Wingdings" panose="05000000000000000000" pitchFamily="2" charset="2"/>
              <a:buNone/>
            </a:pPr>
            <a:r>
              <a:rPr lang="zh-CN" altLang="en-US" dirty="0">
                <a:latin typeface="Arial" panose="020B0604020202020204" pitchFamily="34" charset="0"/>
              </a:rPr>
              <a:t>但仍存在插入和删除异常</a:t>
            </a:r>
            <a:endParaRPr lang="zh-CN" altLang="en-US" dirty="0">
              <a:latin typeface="Arial" panose="020B0604020202020204" pitchFamily="34" charset="0"/>
            </a:endParaRPr>
          </a:p>
        </p:txBody>
      </p:sp>
      <p:sp>
        <p:nvSpPr>
          <p:cNvPr id="28676" name="Text Box 4"/>
          <p:cNvSpPr txBox="1"/>
          <p:nvPr/>
        </p:nvSpPr>
        <p:spPr>
          <a:xfrm>
            <a:off x="5097463" y="3246438"/>
            <a:ext cx="698500" cy="519112"/>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sz="2800" dirty="0">
                <a:solidFill>
                  <a:srgbClr val="FF0000"/>
                </a:solidFill>
                <a:latin typeface="Arial" panose="020B0604020202020204" pitchFamily="34" charset="0"/>
                <a:ea typeface="宋体" panose="02010600030101010101" pitchFamily="2" charset="-122"/>
              </a:rPr>
              <a:t>ND</a:t>
            </a:r>
            <a:endParaRPr lang="en-US" altLang="zh-CN" sz="2800" dirty="0">
              <a:solidFill>
                <a:srgbClr val="FF0000"/>
              </a:solidFill>
              <a:latin typeface="Arial" panose="020B0604020202020204" pitchFamily="34" charset="0"/>
              <a:ea typeface="宋体" panose="02010600030101010101" pitchFamily="2" charset="-122"/>
            </a:endParaRPr>
          </a:p>
        </p:txBody>
      </p:sp>
      <p:graphicFrame>
        <p:nvGraphicFramePr>
          <p:cNvPr id="337974" name="Group 54"/>
          <p:cNvGraphicFramePr>
            <a:graphicFrameLocks noGrp="1"/>
          </p:cNvGraphicFramePr>
          <p:nvPr/>
        </p:nvGraphicFramePr>
        <p:xfrm>
          <a:off x="3203575" y="3849688"/>
          <a:ext cx="2881313" cy="2755900"/>
        </p:xfrm>
        <a:graphic>
          <a:graphicData uri="http://schemas.openxmlformats.org/drawingml/2006/table">
            <a:tbl>
              <a:tblPr/>
              <a:tblGrid>
                <a:gridCol w="1368425"/>
                <a:gridCol w="1512888"/>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5877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6990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28700" name="Text Box 28"/>
          <p:cNvSpPr txBox="1"/>
          <p:nvPr/>
        </p:nvSpPr>
        <p:spPr>
          <a:xfrm>
            <a:off x="7945438" y="3246438"/>
            <a:ext cx="658812" cy="519112"/>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sz="2800" dirty="0">
                <a:solidFill>
                  <a:srgbClr val="FF0000"/>
                </a:solidFill>
                <a:latin typeface="Arial" panose="020B0604020202020204" pitchFamily="34" charset="0"/>
                <a:ea typeface="宋体" panose="02010600030101010101" pitchFamily="2" charset="-122"/>
              </a:rPr>
              <a:t>NL</a:t>
            </a:r>
            <a:endParaRPr lang="en-US" altLang="zh-CN" sz="2800" dirty="0">
              <a:solidFill>
                <a:srgbClr val="FF0000"/>
              </a:solidFill>
              <a:latin typeface="Arial" panose="020B0604020202020204" pitchFamily="34" charset="0"/>
              <a:ea typeface="宋体" panose="02010600030101010101" pitchFamily="2" charset="-122"/>
            </a:endParaRPr>
          </a:p>
        </p:txBody>
      </p:sp>
      <p:graphicFrame>
        <p:nvGraphicFramePr>
          <p:cNvPr id="337983" name="Group 63"/>
          <p:cNvGraphicFramePr>
            <a:graphicFrameLocks noGrp="1"/>
          </p:cNvGraphicFramePr>
          <p:nvPr>
            <p:ph sz="quarter" idx="1"/>
          </p:nvPr>
        </p:nvGraphicFramePr>
        <p:xfrm>
          <a:off x="6372225" y="3863975"/>
          <a:ext cx="2447925" cy="2743200"/>
        </p:xfrm>
        <a:graphic>
          <a:graphicData uri="http://schemas.openxmlformats.org/drawingml/2006/table">
            <a:tbl>
              <a:tblPr/>
              <a:tblGrid>
                <a:gridCol w="1366838"/>
                <a:gridCol w="1081087"/>
              </a:tblGrid>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24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32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4524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43497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24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3938"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具有无损连接性的模式分解</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0723" name="Rectangle 3"/>
          <p:cNvSpPr>
            <a:spLocks noGrp="1"/>
          </p:cNvSpPr>
          <p:nvPr>
            <p:ph type="body" sz="half" idx="1"/>
          </p:nvPr>
        </p:nvSpPr>
        <p:spPr>
          <a:xfrm>
            <a:off x="152400" y="981075"/>
            <a:ext cx="8812213" cy="5473700"/>
          </a:xfrm>
        </p:spPr>
        <p:txBody>
          <a:bodyPr vert="horz" wrap="square" lIns="91440" tIns="45720" rIns="91440" bIns="45720" anchor="t" anchorCtr="0"/>
          <a:p>
            <a:pPr marL="365125" indent="-365125" eaLnBrk="1" hangingPunct="1">
              <a:buClr>
                <a:srgbClr val="FF0000"/>
              </a:buClr>
              <a:buSzPct val="65000"/>
              <a:buFont typeface="Wingdings" panose="05000000000000000000" pitchFamily="2" charset="2"/>
            </a:pPr>
            <a:r>
              <a:rPr lang="zh-CN" altLang="en-US" dirty="0">
                <a:latin typeface="Arial" panose="020B0604020202020204" pitchFamily="34" charset="0"/>
              </a:rPr>
              <a:t>前例的分解：</a:t>
            </a:r>
            <a:r>
              <a:rPr lang="en-US" altLang="zh-CN" dirty="0">
                <a:latin typeface="Arial" panose="020B0604020202020204" pitchFamily="34" charset="0"/>
              </a:rPr>
              <a:t>ND ( Sno, Sdept )</a:t>
            </a:r>
            <a:endParaRPr lang="en-US" altLang="zh-CN" dirty="0">
              <a:latin typeface="Arial" panose="020B0604020202020204" pitchFamily="34" charset="0"/>
            </a:endParaRPr>
          </a:p>
          <a:p>
            <a:pPr marL="365125" indent="-365125" algn="just" eaLnBrk="1" hangingPunct="1">
              <a:buClr>
                <a:srgbClr val="FF0000"/>
              </a:buClr>
              <a:buSzPct val="65000"/>
              <a:buFont typeface="Wingdings" panose="05000000000000000000" pitchFamily="2" charset="2"/>
              <a:buNone/>
            </a:pPr>
            <a:r>
              <a:rPr lang="en-US" altLang="zh-CN" dirty="0">
                <a:latin typeface="Arial" panose="020B0604020202020204" pitchFamily="34" charset="0"/>
              </a:rPr>
              <a:t>	                      NL ( Sno, Sloc )</a:t>
            </a:r>
            <a:endParaRPr lang="en-US" altLang="zh-CN" dirty="0">
              <a:latin typeface="Arial" panose="020B0604020202020204" pitchFamily="34" charset="0"/>
            </a:endParaRPr>
          </a:p>
          <a:p>
            <a:pPr marL="365125" indent="-365125" algn="just" eaLnBrk="1" hangingPunct="1">
              <a:buClr>
                <a:srgbClr val="FF0000"/>
              </a:buClr>
              <a:buSzPct val="65000"/>
              <a:buFont typeface="Wingdings" panose="05000000000000000000" pitchFamily="2" charset="2"/>
              <a:buNone/>
            </a:pPr>
            <a:r>
              <a:rPr lang="zh-CN" altLang="en-US" dirty="0">
                <a:latin typeface="Arial" panose="020B0604020202020204" pitchFamily="34" charset="0"/>
              </a:rPr>
              <a:t>分解具有无损连接性</a:t>
            </a:r>
            <a:endParaRPr lang="zh-CN" altLang="en-US" dirty="0">
              <a:latin typeface="Arial" panose="020B0604020202020204" pitchFamily="34" charset="0"/>
            </a:endParaRPr>
          </a:p>
          <a:p>
            <a:pPr marL="365125" indent="-365125" algn="just" eaLnBrk="1" hangingPunct="1">
              <a:buClr>
                <a:srgbClr val="FF0000"/>
              </a:buClr>
              <a:buSzPct val="65000"/>
              <a:buFont typeface="Wingdings" panose="05000000000000000000" pitchFamily="2" charset="2"/>
              <a:buNone/>
            </a:pPr>
            <a:r>
              <a:rPr lang="zh-CN" altLang="en-US" dirty="0">
                <a:latin typeface="Arial" panose="020B0604020202020204" pitchFamily="34" charset="0"/>
              </a:rPr>
              <a:t>但仍存在插入和删除异常</a:t>
            </a:r>
            <a:endParaRPr lang="zh-CN" altLang="en-US" dirty="0">
              <a:latin typeface="Arial" panose="020B0604020202020204" pitchFamily="34" charset="0"/>
            </a:endParaRPr>
          </a:p>
          <a:p>
            <a:pPr marL="365125" indent="-365125" eaLnBrk="1" hangingPunct="1">
              <a:lnSpc>
                <a:spcPct val="110000"/>
              </a:lnSpc>
              <a:spcBef>
                <a:spcPts val="2400"/>
              </a:spcBef>
              <a:buClr>
                <a:srgbClr val="FF0000"/>
              </a:buClr>
              <a:buSzPct val="65000"/>
              <a:buFont typeface="Wingdings" panose="05000000000000000000" pitchFamily="2" charset="2"/>
            </a:pPr>
            <a:r>
              <a:rPr lang="zh-CN" altLang="en-US" i="1" dirty="0">
                <a:solidFill>
                  <a:srgbClr val="CC3300"/>
                </a:solidFill>
                <a:latin typeface="Arial" panose="020B0604020202020204" pitchFamily="34" charset="0"/>
              </a:rPr>
              <a:t>问题</a:t>
            </a:r>
            <a:r>
              <a:rPr lang="zh-CN" altLang="en-US" dirty="0">
                <a:latin typeface="Arial" panose="020B0604020202020204" pitchFamily="34" charset="0"/>
              </a:rPr>
              <a:t>：</a:t>
            </a:r>
            <a:endParaRPr lang="zh-CN" altLang="en-US" dirty="0">
              <a:latin typeface="Arial" panose="020B0604020202020204" pitchFamily="34" charset="0"/>
            </a:endParaRPr>
          </a:p>
          <a:p>
            <a:pPr marL="365125" indent="-365125" eaLnBrk="1" hangingPunct="1">
              <a:spcBef>
                <a:spcPct val="15000"/>
              </a:spcBef>
              <a:buClr>
                <a:srgbClr val="FF0000"/>
              </a:buClr>
              <a:buSzPct val="65000"/>
              <a:buFont typeface="Wingdings" panose="05000000000000000000" pitchFamily="2" charset="2"/>
              <a:buNone/>
            </a:pPr>
            <a:r>
              <a:rPr lang="zh-CN" altLang="en-US" dirty="0">
                <a:latin typeface="Arial" panose="020B0604020202020204" pitchFamily="34" charset="0"/>
              </a:rPr>
              <a:t>    该分解没有保持原关系中的函数依赖</a:t>
            </a:r>
            <a:endParaRPr lang="zh-CN" altLang="en-US" dirty="0">
              <a:latin typeface="Arial" panose="020B0604020202020204" pitchFamily="34" charset="0"/>
            </a:endParaRPr>
          </a:p>
          <a:p>
            <a:pPr marL="365125" indent="-365125"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SDL </a:t>
            </a:r>
            <a:r>
              <a:rPr lang="zh-CN" altLang="en-US" dirty="0">
                <a:latin typeface="Arial" panose="020B0604020202020204" pitchFamily="34" charset="0"/>
              </a:rPr>
              <a:t>中的函数依赖 </a:t>
            </a:r>
            <a:r>
              <a:rPr lang="en-US" altLang="zh-CN" dirty="0">
                <a:solidFill>
                  <a:srgbClr val="0033CC"/>
                </a:solidFill>
                <a:latin typeface="Arial" panose="020B0604020202020204" pitchFamily="34" charset="0"/>
              </a:rPr>
              <a:t>Sdept→Sloc</a:t>
            </a:r>
            <a:endParaRPr lang="en-US" altLang="zh-CN" dirty="0">
              <a:solidFill>
                <a:srgbClr val="0033CC"/>
              </a:solidFill>
              <a:latin typeface="Arial" panose="020B0604020202020204" pitchFamily="34" charset="0"/>
            </a:endParaRPr>
          </a:p>
          <a:p>
            <a:pPr marL="365125" indent="-365125"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        </a:t>
            </a:r>
            <a:r>
              <a:rPr lang="zh-CN" altLang="en-US" dirty="0">
                <a:latin typeface="Arial" panose="020B0604020202020204" pitchFamily="34" charset="0"/>
              </a:rPr>
              <a:t>没有投影到关系模式 </a:t>
            </a:r>
            <a:r>
              <a:rPr lang="en-US" altLang="zh-CN" dirty="0">
                <a:latin typeface="Arial" panose="020B0604020202020204" pitchFamily="34" charset="0"/>
              </a:rPr>
              <a:t>ND</a:t>
            </a:r>
            <a:r>
              <a:rPr lang="zh-CN" altLang="en-US" dirty="0">
                <a:latin typeface="Arial" panose="020B0604020202020204" pitchFamily="34" charset="0"/>
              </a:rPr>
              <a:t>、</a:t>
            </a:r>
            <a:r>
              <a:rPr lang="en-US" altLang="zh-CN" dirty="0">
                <a:latin typeface="Arial" panose="020B0604020202020204" pitchFamily="34" charset="0"/>
              </a:rPr>
              <a:t>NL </a:t>
            </a:r>
            <a:r>
              <a:rPr lang="zh-CN" altLang="en-US" dirty="0">
                <a:latin typeface="Arial" panose="020B0604020202020204" pitchFamily="34" charset="0"/>
              </a:rPr>
              <a:t>上</a:t>
            </a:r>
            <a:endParaRPr lang="en-US" altLang="el-GR" dirty="0">
              <a:latin typeface="Arial" panose="020B0604020202020204" pitchFamily="34" charset="0"/>
            </a:endParaRPr>
          </a:p>
          <a:p>
            <a:pPr marL="365125" indent="-365125" algn="just" eaLnBrk="1" hangingPunct="1">
              <a:buClr>
                <a:srgbClr val="FF0000"/>
              </a:buClr>
              <a:buSzPct val="65000"/>
              <a:buFont typeface="Wingdings" panose="05000000000000000000" pitchFamily="2" charset="2"/>
              <a:buNone/>
            </a:pPr>
            <a:endParaRPr lang="en-US" altLang="zh-CN"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9970"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保持函数依赖的模式分解</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2771" name="Rectangle 3"/>
          <p:cNvSpPr>
            <a:spLocks noGrp="1"/>
          </p:cNvSpPr>
          <p:nvPr>
            <p:ph type="body" sz="half" idx="1"/>
          </p:nvPr>
        </p:nvSpPr>
        <p:spPr>
          <a:xfrm>
            <a:off x="152400" y="1052513"/>
            <a:ext cx="8740775" cy="5473700"/>
          </a:xfrm>
        </p:spPr>
        <p:txBody>
          <a:bodyPr vert="horz" wrap="square" lIns="91440" tIns="45720" rIns="91440" bIns="45720" anchor="t" anchorCtr="0"/>
          <a:p>
            <a:pPr marL="354330" indent="-354330" eaLnBrk="1" hangingPunct="1">
              <a:lnSpc>
                <a:spcPct val="110000"/>
              </a:lnSpc>
              <a:buClr>
                <a:srgbClr val="FF0000"/>
              </a:buClr>
              <a:buSzPct val="65000"/>
              <a:buFont typeface="Wingdings" panose="05000000000000000000" pitchFamily="2" charset="2"/>
            </a:pPr>
            <a:r>
              <a:rPr lang="zh-CN" altLang="en-US" dirty="0">
                <a:latin typeface="Arial" panose="020B0604020202020204" pitchFamily="34" charset="0"/>
              </a:rPr>
              <a:t>定义</a:t>
            </a:r>
            <a:endParaRPr lang="zh-CN" altLang="en-US" dirty="0">
              <a:latin typeface="Arial" panose="020B0604020202020204" pitchFamily="34" charset="0"/>
            </a:endParaRPr>
          </a:p>
          <a:p>
            <a:pPr marL="354330" indent="-354330" eaLnBrk="1" hangingPunct="1">
              <a:lnSpc>
                <a:spcPct val="130000"/>
              </a:lnSpc>
              <a:buClr>
                <a:srgbClr val="FF0000"/>
              </a:buClr>
              <a:buSzPct val="65000"/>
              <a:buFont typeface="Wingdings" panose="05000000000000000000" pitchFamily="2" charset="2"/>
              <a:buNone/>
            </a:pPr>
            <a:r>
              <a:rPr lang="zh-CN" altLang="en-US" dirty="0">
                <a:latin typeface="Arial" panose="020B0604020202020204" pitchFamily="34" charset="0"/>
              </a:rPr>
              <a:t>        设 </a:t>
            </a:r>
            <a:r>
              <a:rPr lang="zh-CN" altLang="en-US" dirty="0">
                <a:latin typeface="Arial" panose="020B0604020202020204" pitchFamily="34" charset="0"/>
                <a:ea typeface="Arial Unicode MS" pitchFamily="34" charset="-122"/>
                <a:sym typeface="Symbol" panose="05050102010706020507" pitchFamily="18" charset="2"/>
              </a:rPr>
              <a:t> </a:t>
            </a:r>
            <a:r>
              <a:rPr lang="en-US" altLang="zh-CN" dirty="0">
                <a:latin typeface="Arial" panose="020B0604020202020204" pitchFamily="34" charset="0"/>
                <a:ea typeface="Arial Unicode MS" pitchFamily="34" charset="-122"/>
              </a:rPr>
              <a:t>= { R</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&gt;</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 </a:t>
            </a:r>
            <a:r>
              <a:rPr lang="en-US" altLang="zh-CN" dirty="0">
                <a:latin typeface="Arial" panose="020B0604020202020204" pitchFamily="34" charset="0"/>
              </a:rPr>
              <a:t>… ,</a:t>
            </a:r>
            <a:r>
              <a:rPr lang="en-US" altLang="zh-CN" dirty="0">
                <a:latin typeface="Arial" panose="020B0604020202020204" pitchFamily="34" charset="0"/>
                <a:ea typeface="Arial Unicode MS" pitchFamily="34" charset="-122"/>
              </a:rPr>
              <a:t>R</a:t>
            </a:r>
            <a:r>
              <a:rPr lang="en-US" altLang="zh-CN" baseline="-25000" dirty="0">
                <a:latin typeface="Arial" panose="020B0604020202020204" pitchFamily="34" charset="0"/>
                <a:ea typeface="Arial Unicode MS" pitchFamily="34" charset="-122"/>
              </a:rPr>
              <a:t>n</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n</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n</a:t>
            </a:r>
            <a:r>
              <a:rPr lang="en-US" altLang="zh-CN" dirty="0">
                <a:latin typeface="Arial" panose="020B0604020202020204" pitchFamily="34" charset="0"/>
                <a:ea typeface="Arial Unicode MS" pitchFamily="34" charset="-122"/>
              </a:rPr>
              <a:t>&gt; } </a:t>
            </a:r>
            <a:r>
              <a:rPr lang="zh-CN" altLang="en-US" dirty="0">
                <a:latin typeface="Arial" panose="020B0604020202020204" pitchFamily="34" charset="0"/>
              </a:rPr>
              <a:t>是关系模式 </a:t>
            </a:r>
            <a:r>
              <a:rPr lang="en-US" altLang="zh-CN" dirty="0">
                <a:latin typeface="Arial" panose="020B0604020202020204" pitchFamily="34" charset="0"/>
                <a:ea typeface="Arial Unicode MS" pitchFamily="34" charset="-122"/>
              </a:rPr>
              <a:t>R &lt;U, F&gt; </a:t>
            </a:r>
            <a:r>
              <a:rPr lang="zh-CN" altLang="en-US" dirty="0">
                <a:latin typeface="Arial" panose="020B0604020202020204" pitchFamily="34" charset="0"/>
              </a:rPr>
              <a:t>的一个</a:t>
            </a:r>
            <a:r>
              <a:rPr lang="zh-CN" altLang="en-US" dirty="0">
                <a:solidFill>
                  <a:srgbClr val="0000CC"/>
                </a:solidFill>
                <a:latin typeface="Arial" panose="020B0604020202020204" pitchFamily="34" charset="0"/>
              </a:rPr>
              <a:t>分解</a:t>
            </a:r>
            <a:r>
              <a:rPr lang="zh-CN" altLang="en-US" dirty="0">
                <a:latin typeface="Arial" panose="020B0604020202020204" pitchFamily="34" charset="0"/>
              </a:rPr>
              <a:t>，若</a:t>
            </a:r>
            <a:endParaRPr lang="zh-CN" altLang="en-US" dirty="0">
              <a:latin typeface="Arial" panose="020B0604020202020204" pitchFamily="34" charset="0"/>
            </a:endParaRPr>
          </a:p>
          <a:p>
            <a:pPr marL="354330" indent="-354330" eaLnBrk="1" hangingPunct="1">
              <a:lnSpc>
                <a:spcPct val="13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F</a:t>
            </a:r>
            <a:r>
              <a:rPr lang="en-US" altLang="zh-CN" baseline="30000" dirty="0">
                <a:solidFill>
                  <a:srgbClr val="FF0000"/>
                </a:solidFill>
                <a:latin typeface="Arial" panose="020B0604020202020204" pitchFamily="34" charset="0"/>
              </a:rPr>
              <a:t>+</a:t>
            </a:r>
            <a:r>
              <a:rPr lang="en-US" altLang="zh-CN" baseline="30000" dirty="0">
                <a:latin typeface="Arial" panose="020B0604020202020204" pitchFamily="34" charset="0"/>
              </a:rPr>
              <a:t> </a:t>
            </a:r>
            <a:r>
              <a:rPr lang="en-US" altLang="zh-CN" dirty="0">
                <a:latin typeface="Arial" panose="020B0604020202020204" pitchFamily="34" charset="0"/>
              </a:rPr>
              <a:t>= (    F</a:t>
            </a:r>
            <a:r>
              <a:rPr lang="en-US" altLang="zh-CN" i="1" baseline="-25000" dirty="0"/>
              <a:t>i </a:t>
            </a:r>
            <a:r>
              <a:rPr lang="en-US" altLang="zh-CN" dirty="0">
                <a:latin typeface="Arial" panose="020B0604020202020204" pitchFamily="34" charset="0"/>
              </a:rPr>
              <a:t>)</a:t>
            </a:r>
            <a:r>
              <a:rPr lang="en-US" altLang="zh-CN" baseline="30000" dirty="0">
                <a:solidFill>
                  <a:srgbClr val="FF0000"/>
                </a:solidFill>
                <a:latin typeface="Arial" panose="020B0604020202020204" pitchFamily="34" charset="0"/>
              </a:rPr>
              <a:t>+</a:t>
            </a:r>
            <a:r>
              <a:rPr lang="en-US" altLang="zh-CN" baseline="30000" dirty="0">
                <a:latin typeface="Arial" panose="020B0604020202020204" pitchFamily="34" charset="0"/>
              </a:rPr>
              <a:t> </a:t>
            </a:r>
            <a:r>
              <a:rPr lang="zh-CN" altLang="en-US" dirty="0">
                <a:latin typeface="Arial" panose="020B0604020202020204" pitchFamily="34" charset="0"/>
              </a:rPr>
              <a:t>，则称分解 </a:t>
            </a:r>
            <a:r>
              <a:rPr lang="zh-CN" altLang="en-US" dirty="0">
                <a:latin typeface="Arial" panose="020B0604020202020204" pitchFamily="34" charset="0"/>
                <a:ea typeface="Arial Unicode MS" pitchFamily="34" charset="-122"/>
                <a:sym typeface="Symbol" panose="05050102010706020507" pitchFamily="18" charset="2"/>
              </a:rPr>
              <a:t> </a:t>
            </a:r>
            <a:r>
              <a:rPr lang="zh-CN" altLang="en-US" dirty="0">
                <a:latin typeface="Arial" panose="020B0604020202020204" pitchFamily="34" charset="0"/>
              </a:rPr>
              <a:t>为</a:t>
            </a:r>
            <a:r>
              <a:rPr lang="zh-CN" altLang="en-US" dirty="0">
                <a:solidFill>
                  <a:srgbClr val="FF0000"/>
                </a:solidFill>
                <a:latin typeface="Arial" panose="020B0604020202020204" pitchFamily="34" charset="0"/>
              </a:rPr>
              <a:t>保持函数依赖的 </a:t>
            </a:r>
            <a:r>
              <a:rPr lang="en-US" altLang="zh-CN" dirty="0">
                <a:latin typeface="Arial" panose="020B0604020202020204" pitchFamily="34" charset="0"/>
              </a:rPr>
              <a:t>(Preserve dependency)</a:t>
            </a:r>
            <a:r>
              <a:rPr lang="en-US" altLang="zh-CN" dirty="0">
                <a:solidFill>
                  <a:srgbClr val="0000CC"/>
                </a:solidFill>
                <a:latin typeface="Arial" panose="020B0604020202020204" pitchFamily="34" charset="0"/>
              </a:rPr>
              <a:t> </a:t>
            </a:r>
            <a:r>
              <a:rPr lang="zh-CN" altLang="en-US" dirty="0">
                <a:latin typeface="Arial" panose="020B0604020202020204" pitchFamily="34" charset="0"/>
              </a:rPr>
              <a:t>。</a:t>
            </a:r>
            <a:endParaRPr lang="zh-CN" altLang="en-US" dirty="0">
              <a:latin typeface="Arial" panose="020B0604020202020204" pitchFamily="34" charset="0"/>
            </a:endParaRPr>
          </a:p>
        </p:txBody>
      </p:sp>
      <p:graphicFrame>
        <p:nvGraphicFramePr>
          <p:cNvPr id="32772" name="Object 4"/>
          <p:cNvGraphicFramePr>
            <a:graphicFrameLocks noChangeAspect="1"/>
          </p:cNvGraphicFramePr>
          <p:nvPr>
            <p:ph sz="half" idx="2"/>
          </p:nvPr>
        </p:nvGraphicFramePr>
        <p:xfrm>
          <a:off x="2051050" y="3068638"/>
          <a:ext cx="558800" cy="863600"/>
        </p:xfrm>
        <a:graphic>
          <a:graphicData uri="http://schemas.openxmlformats.org/presentationml/2006/ole">
            <mc:AlternateContent xmlns:mc="http://schemas.openxmlformats.org/markup-compatibility/2006">
              <mc:Choice xmlns:v="urn:schemas-microsoft-com:vml" Requires="v">
                <p:oleObj spid="_x0000_s3076" name="" r:id="rId1" imgW="279400" imgH="431800" progId="Equation.3">
                  <p:embed/>
                </p:oleObj>
              </mc:Choice>
              <mc:Fallback>
                <p:oleObj name="" r:id="rId1" imgW="279400" imgH="431800" progId="Equation.3">
                  <p:embed/>
                  <p:pic>
                    <p:nvPicPr>
                      <p:cNvPr id="0" name="图片 3075"/>
                      <p:cNvPicPr/>
                      <p:nvPr/>
                    </p:nvPicPr>
                    <p:blipFill>
                      <a:blip r:embed="rId2"/>
                      <a:srcRect/>
                      <a:stretch>
                        <a:fillRect/>
                      </a:stretch>
                    </p:blipFill>
                    <p:spPr>
                      <a:xfrm>
                        <a:off x="2051050" y="3068638"/>
                        <a:ext cx="558800" cy="863600"/>
                      </a:xfrm>
                      <a:prstGeom prst="rect">
                        <a:avLst/>
                      </a:prstGeom>
                      <a:noFill/>
                      <a:ln w="38100">
                        <a:miter/>
                      </a:ln>
                    </p:spPr>
                  </p:pic>
                </p:oleObj>
              </mc:Fallback>
            </mc:AlternateContent>
          </a:graphicData>
        </a:graphic>
      </p:graphicFrame>
    </p:spTree>
  </p:cSld>
  <p:clrMapOvr>
    <a:masterClrMapping/>
  </p:clrMapOvr>
  <p:transition>
    <p:random/>
    <p:sndAc>
      <p:stSnd>
        <p:snd r:embed="rId3"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8"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4819" name="Rectangle 3"/>
          <p:cNvSpPr>
            <a:spLocks noGrp="1"/>
          </p:cNvSpPr>
          <p:nvPr>
            <p:ph type="body" sz="half" idx="1"/>
          </p:nvPr>
        </p:nvSpPr>
        <p:spPr>
          <a:xfrm>
            <a:off x="152400" y="979488"/>
            <a:ext cx="8596313" cy="2162175"/>
          </a:xfrm>
        </p:spPr>
        <p:txBody>
          <a:bodyPr vert="horz" wrap="square" lIns="91440" tIns="45720" rIns="91440" bIns="45720" anchor="t" anchorCtr="0"/>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4</a:t>
            </a:r>
            <a:r>
              <a:rPr lang="zh-CN" altLang="en-US" dirty="0">
                <a:latin typeface="Arial" panose="020B0604020202020204" pitchFamily="34" charset="0"/>
              </a:rPr>
              <a:t>、</a:t>
            </a:r>
            <a:r>
              <a:rPr lang="en-US" altLang="zh-CN" dirty="0">
                <a:latin typeface="Arial" panose="020B0604020202020204" pitchFamily="34" charset="0"/>
              </a:rPr>
              <a:t>SDL </a:t>
            </a:r>
            <a:r>
              <a:rPr lang="zh-CN" altLang="en-US" dirty="0">
                <a:latin typeface="Arial" panose="020B0604020202020204" pitchFamily="34" charset="0"/>
              </a:rPr>
              <a:t>分解为下面两个关系模式：</a:t>
            </a:r>
            <a:endParaRPr lang="zh-CN" altLang="en-US"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ND ( Sno, Sdept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	DL ( Sdept, Sloc )</a:t>
            </a: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latin typeface="Arial" panose="020B0604020202020204" pitchFamily="34" charset="0"/>
            </a:endParaRPr>
          </a:p>
          <a:p>
            <a:pPr algn="just" eaLnBrk="1" hangingPunct="1">
              <a:lnSpc>
                <a:spcPct val="110000"/>
              </a:lnSpc>
              <a:buClr>
                <a:srgbClr val="FF0000"/>
              </a:buClr>
              <a:buSzPct val="65000"/>
              <a:buFont typeface="Wingdings" panose="05000000000000000000" pitchFamily="2" charset="2"/>
              <a:buNone/>
            </a:pPr>
            <a:endParaRPr lang="en-US" altLang="zh-CN" dirty="0">
              <a:latin typeface="Arial" panose="020B0604020202020204" pitchFamily="34" charset="0"/>
            </a:endParaRPr>
          </a:p>
        </p:txBody>
      </p:sp>
      <p:graphicFrame>
        <p:nvGraphicFramePr>
          <p:cNvPr id="342020" name="Group 4"/>
          <p:cNvGraphicFramePr>
            <a:graphicFrameLocks noGrp="1"/>
          </p:cNvGraphicFramePr>
          <p:nvPr>
            <p:ph sz="quarter" idx="1"/>
          </p:nvPr>
        </p:nvGraphicFramePr>
        <p:xfrm>
          <a:off x="6588125" y="2997200"/>
          <a:ext cx="2447925" cy="2895600"/>
        </p:xfrm>
        <a:graphic>
          <a:graphicData uri="http://schemas.openxmlformats.org/drawingml/2006/table">
            <a:tbl>
              <a:tblPr/>
              <a:tblGrid>
                <a:gridCol w="1366838"/>
                <a:gridCol w="1081087"/>
              </a:tblGrid>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Sloc</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3225">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401638">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7850">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lvl1pPr algn="l" eaLnBrk="0" hangingPunct="0">
                        <a:spcBef>
                          <a:spcPct val="0"/>
                        </a:spcBef>
                        <a:buClr>
                          <a:srgbClr val="FF0000"/>
                        </a:buClr>
                        <a:buSzPct val="65000"/>
                        <a:buFont typeface="Wingdings" panose="05000000000000000000" pitchFamily="2" charset="2"/>
                        <a:defRPr sz="3200" b="1">
                          <a:solidFill>
                            <a:srgbClr val="000000"/>
                          </a:solidFill>
                          <a:latin typeface="Times New Roman" panose="02020603050405020304" pitchFamily="18" charset="0"/>
                          <a:ea typeface="黑体" panose="02010609060101010101" pitchFamily="2" charset="-122"/>
                        </a:defRPr>
                      </a:lvl1pPr>
                      <a:lvl2pPr marL="742950" indent="-285750" algn="l" eaLnBrk="0" hangingPunct="0">
                        <a:spcBef>
                          <a:spcPct val="20000"/>
                        </a:spcBef>
                        <a:buClr>
                          <a:srgbClr val="3333CC"/>
                        </a:buClr>
                        <a:buSzPct val="65000"/>
                        <a:buFont typeface="Wingdings" panose="05000000000000000000" pitchFamily="2" charset="2"/>
                        <a:defRPr sz="2800" b="1">
                          <a:solidFill>
                            <a:srgbClr val="000000"/>
                          </a:solidFill>
                          <a:latin typeface="Times New Roman" panose="02020603050405020304" pitchFamily="18" charset="0"/>
                          <a:ea typeface="黑体" panose="02010609060101010101" pitchFamily="2" charset="-122"/>
                        </a:defRPr>
                      </a:lvl2pPr>
                      <a:lvl3pPr marL="1143000" indent="-228600" algn="l" eaLnBrk="0" hangingPunct="0">
                        <a:spcBef>
                          <a:spcPct val="20000"/>
                        </a:spcBef>
                        <a:buClr>
                          <a:srgbClr val="996633"/>
                        </a:buClr>
                        <a:buSzPct val="65000"/>
                        <a:buFont typeface="Wingdings" panose="05000000000000000000" pitchFamily="2" charset="2"/>
                        <a:defRPr sz="2400" b="1">
                          <a:solidFill>
                            <a:srgbClr val="000000"/>
                          </a:solidFill>
                          <a:latin typeface="Times New Roman" panose="02020603050405020304" pitchFamily="18" charset="0"/>
                          <a:ea typeface="黑体" panose="02010609060101010101" pitchFamily="2" charset="-122"/>
                        </a:defRPr>
                      </a:lvl3pPr>
                      <a:lvl4pPr marL="16002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4pPr>
                      <a:lvl5pPr marL="2057400" indent="-228600" algn="l" eaLnBrk="0" hangingPunct="0">
                        <a:spcBef>
                          <a:spcPct val="20000"/>
                        </a:spcBef>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5pPr>
                      <a:lvl6pPr marL="25146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6pPr>
                      <a:lvl7pPr marL="29718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7pPr>
                      <a:lvl8pPr marL="34290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8pPr>
                      <a:lvl9pPr marL="3886200" indent="-228600" eaLnBrk="0" fontAlgn="base" hangingPunct="0">
                        <a:spcBef>
                          <a:spcPct val="20000"/>
                        </a:spcBef>
                        <a:spcAft>
                          <a:spcPct val="0"/>
                        </a:spcAft>
                        <a:buClr>
                          <a:srgbClr val="996633"/>
                        </a:buClr>
                        <a:buSzPct val="65000"/>
                        <a:buFont typeface="Wingdings" panose="05000000000000000000" pitchFamily="2" charset="2"/>
                        <a:defRPr sz="2000" b="1">
                          <a:solidFill>
                            <a:srgbClr val="000000"/>
                          </a:solidFill>
                          <a:latin typeface="Times New Roman" panose="02020603050405020304" pitchFamily="18" charset="0"/>
                          <a:ea typeface="黑体" panose="0201060906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B</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34840" name="Text Box 24"/>
          <p:cNvSpPr txBox="1"/>
          <p:nvPr/>
        </p:nvSpPr>
        <p:spPr>
          <a:xfrm>
            <a:off x="5003800" y="2349500"/>
            <a:ext cx="8445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ND</a:t>
            </a:r>
            <a:endParaRPr lang="en-US" altLang="zh-CN" dirty="0">
              <a:solidFill>
                <a:srgbClr val="FF0000"/>
              </a:solidFill>
              <a:latin typeface="Arial" panose="020B0604020202020204" pitchFamily="34" charset="0"/>
              <a:ea typeface="宋体" panose="02010600030101010101" pitchFamily="2" charset="-122"/>
            </a:endParaRPr>
          </a:p>
        </p:txBody>
      </p:sp>
      <p:graphicFrame>
        <p:nvGraphicFramePr>
          <p:cNvPr id="342041" name="Group 25"/>
          <p:cNvGraphicFramePr>
            <a:graphicFrameLocks noGrp="1"/>
          </p:cNvGraphicFramePr>
          <p:nvPr/>
        </p:nvGraphicFramePr>
        <p:xfrm>
          <a:off x="3708400" y="2997200"/>
          <a:ext cx="2736850" cy="3475038"/>
        </p:xfrm>
        <a:graphic>
          <a:graphicData uri="http://schemas.openxmlformats.org/drawingml/2006/table">
            <a:tbl>
              <a:tblPr/>
              <a:tblGrid>
                <a:gridCol w="1295400"/>
                <a:gridCol w="1441450"/>
              </a:tblGrid>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a:ln>
                          <a:noFill/>
                        </a:ln>
                        <a:solidFill>
                          <a:srgbClr val="0000FF"/>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CS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sm" len="sm"/>
                      <a:tailEnd type="none" w="sm" len="sm"/>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MA</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sm" len="sm"/>
                      <a:tailEnd type="none" w="sm" len="sm"/>
                    </a:lnT>
                    <a:lnB w="38100" cap="flat" cmpd="sng" algn="ctr">
                      <a:solidFill>
                        <a:schemeClr val="bg2"/>
                      </a:solidFill>
                      <a:prstDash val="solid"/>
                      <a:round/>
                      <a:headEnd type="none" w="med" len="med"/>
                      <a:tailEnd type="none" w="med" len="med"/>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S4</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IS</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57917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S5</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sm" len="sm"/>
                      <a:tailEnd type="none" w="sm" len="sm"/>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rPr>
                        <a:t>PH</a:t>
                      </a:r>
                      <a:endParaRPr kumimoji="0" lang="en-US" altLang="zh-CN" sz="3200" b="1" i="0" u="none" strike="noStrike" cap="none" normalizeH="0" baseline="0">
                        <a:ln>
                          <a:noFill/>
                        </a:ln>
                        <a:solidFill>
                          <a:srgbClr val="000000"/>
                        </a:solidFill>
                        <a:effectLst/>
                        <a:latin typeface="Arial" panose="020B0604020202020204" pitchFamily="34" charset="0"/>
                        <a:ea typeface="黑体" panose="02010609060101010101" pitchFamily="2" charset="-122"/>
                      </a:endParaRPr>
                    </a:p>
                  </a:txBody>
                  <a:tcPr marT="45724" marB="45724"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sm" len="sm"/>
                      <a:tailEnd type="none" w="sm" len="sm"/>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sm" len="sm"/>
                      <a:tailEnd type="none" w="sm" len="sm"/>
                    </a:lnB>
                    <a:lnTlToBr>
                      <a:noFill/>
                    </a:lnTlToBr>
                    <a:lnBlToTr>
                      <a:noFill/>
                    </a:lnBlToTr>
                    <a:noFill/>
                  </a:tcPr>
                </a:tc>
              </a:tr>
            </a:tbl>
          </a:graphicData>
        </a:graphic>
      </p:graphicFrame>
      <p:sp>
        <p:nvSpPr>
          <p:cNvPr id="34864" name="Text Box 48"/>
          <p:cNvSpPr txBox="1"/>
          <p:nvPr/>
        </p:nvSpPr>
        <p:spPr>
          <a:xfrm>
            <a:off x="7858125" y="2349500"/>
            <a:ext cx="793750" cy="641350"/>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en-US" altLang="zh-CN" dirty="0">
                <a:solidFill>
                  <a:srgbClr val="FF0000"/>
                </a:solidFill>
                <a:latin typeface="Arial" panose="020B0604020202020204" pitchFamily="34" charset="0"/>
                <a:ea typeface="宋体" panose="02010600030101010101" pitchFamily="2" charset="-122"/>
              </a:rPr>
              <a:t>DL</a:t>
            </a:r>
            <a:endParaRPr lang="en-US" altLang="zh-CN" dirty="0">
              <a:solidFill>
                <a:srgbClr val="FF0000"/>
              </a:solidFill>
              <a:latin typeface="Arial" panose="020B0604020202020204" pitchFamily="34" charset="0"/>
              <a:ea typeface="宋体" panose="02010600030101010101" pitchFamily="2" charset="-122"/>
            </a:endParaRPr>
          </a:p>
        </p:txBody>
      </p:sp>
      <p:sp>
        <p:nvSpPr>
          <p:cNvPr id="342065" name="Rectangle 49"/>
          <p:cNvSpPr/>
          <p:nvPr/>
        </p:nvSpPr>
        <p:spPr>
          <a:xfrm>
            <a:off x="179388" y="3573463"/>
            <a:ext cx="3673475" cy="1066800"/>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zh-CN" altLang="en-US" sz="3200" dirty="0">
                <a:solidFill>
                  <a:srgbClr val="0000CC"/>
                </a:solidFill>
                <a:latin typeface="Arial" panose="020B0604020202020204" pitchFamily="34" charset="0"/>
              </a:rPr>
              <a:t>这种分解方法</a:t>
            </a:r>
            <a:endParaRPr lang="zh-CN" altLang="en-US" sz="3200" dirty="0">
              <a:solidFill>
                <a:srgbClr val="0000CC"/>
              </a:solidFill>
              <a:latin typeface="Arial" panose="020B0604020202020204" pitchFamily="34" charset="0"/>
            </a:endParaRPr>
          </a:p>
          <a:p>
            <a:pPr marL="0" lvl="0" indent="0" eaLnBrk="1" hangingPunct="1">
              <a:buClrTx/>
              <a:buSzTx/>
              <a:buFontTx/>
              <a:buNone/>
            </a:pPr>
            <a:r>
              <a:rPr lang="zh-CN" altLang="en-US" sz="3200" dirty="0">
                <a:solidFill>
                  <a:srgbClr val="0000CC"/>
                </a:solidFill>
                <a:latin typeface="Arial" panose="020B0604020202020204" pitchFamily="34" charset="0"/>
              </a:rPr>
              <a:t>保持了函数依赖</a:t>
            </a:r>
            <a:endParaRPr lang="zh-CN" altLang="en-US" sz="3200"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20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6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6"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7.4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关系模式的分解</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6867" name="Rectangle 3"/>
          <p:cNvSpPr>
            <a:spLocks noGrp="1"/>
          </p:cNvSpPr>
          <p:nvPr>
            <p:ph type="body" sz="half" idx="1"/>
          </p:nvPr>
        </p:nvSpPr>
        <p:spPr>
          <a:xfrm>
            <a:off x="152400" y="1052513"/>
            <a:ext cx="8812213" cy="5616575"/>
          </a:xfrm>
        </p:spPr>
        <p:txBody>
          <a:bodyPr vert="horz" wrap="square" lIns="91440" tIns="45720" rIns="91440" bIns="45720" anchor="t" anchorCtr="0"/>
          <a:p>
            <a:pPr algn="just" eaLnBrk="1" hangingPunct="1">
              <a:lnSpc>
                <a:spcPct val="90000"/>
              </a:lnSpc>
              <a:spcBef>
                <a:spcPct val="15000"/>
              </a:spcBef>
              <a:buClr>
                <a:srgbClr val="FF0000"/>
              </a:buClr>
              <a:buSzPct val="65000"/>
              <a:buFont typeface="Wingdings" panose="05000000000000000000" pitchFamily="2" charset="2"/>
            </a:pPr>
            <a:r>
              <a:rPr lang="zh-CN" altLang="en-US" dirty="0"/>
              <a:t>如果一个分解</a:t>
            </a:r>
            <a:r>
              <a:rPr lang="zh-CN" altLang="en-US" dirty="0">
                <a:solidFill>
                  <a:srgbClr val="0000CC"/>
                </a:solidFill>
              </a:rPr>
              <a:t>具有无损连接性</a:t>
            </a:r>
            <a:r>
              <a:rPr lang="zh-CN" altLang="en-US" dirty="0"/>
              <a:t>，则它能够保证不丢失信息。</a:t>
            </a:r>
            <a:endParaRPr lang="zh-CN" altLang="en-US" dirty="0"/>
          </a:p>
          <a:p>
            <a:pPr eaLnBrk="1" hangingPunct="1">
              <a:lnSpc>
                <a:spcPct val="90000"/>
              </a:lnSpc>
              <a:spcBef>
                <a:spcPct val="15000"/>
              </a:spcBef>
              <a:buClr>
                <a:srgbClr val="FF0000"/>
              </a:buClr>
              <a:buSzPct val="65000"/>
              <a:buFont typeface="Wingdings" panose="05000000000000000000" pitchFamily="2" charset="2"/>
            </a:pPr>
            <a:r>
              <a:rPr lang="zh-CN" altLang="en-US" dirty="0"/>
              <a:t>如果一个分解</a:t>
            </a:r>
            <a:r>
              <a:rPr lang="zh-CN" altLang="en-US" dirty="0">
                <a:solidFill>
                  <a:srgbClr val="0000CC"/>
                </a:solidFill>
              </a:rPr>
              <a:t>保持了函数依赖</a:t>
            </a:r>
            <a:r>
              <a:rPr lang="zh-CN" altLang="en-US" dirty="0"/>
              <a:t>，则它可以减轻或解决各种异常情况。</a:t>
            </a:r>
            <a:endParaRPr lang="zh-CN" altLang="en-US" dirty="0"/>
          </a:p>
          <a:p>
            <a:pPr eaLnBrk="1" hangingPunct="1">
              <a:lnSpc>
                <a:spcPct val="90000"/>
              </a:lnSpc>
              <a:spcBef>
                <a:spcPct val="50000"/>
              </a:spcBef>
              <a:buClr>
                <a:srgbClr val="FF0000"/>
              </a:buClr>
              <a:buSzPct val="65000"/>
              <a:buFont typeface="Wingdings" panose="05000000000000000000" pitchFamily="2" charset="2"/>
            </a:pPr>
            <a:r>
              <a:rPr lang="zh-CN" altLang="en-US" dirty="0"/>
              <a:t>分解具有无损连接性和分解保持函数依赖是两个</a:t>
            </a:r>
            <a:r>
              <a:rPr lang="zh-CN" altLang="en-US" dirty="0">
                <a:solidFill>
                  <a:srgbClr val="0000CC"/>
                </a:solidFill>
              </a:rPr>
              <a:t>互相独立的标准</a:t>
            </a:r>
            <a:endParaRPr lang="zh-CN" altLang="en-US" dirty="0"/>
          </a:p>
          <a:p>
            <a:pPr lvl="1" eaLnBrk="1" hangingPunct="1">
              <a:lnSpc>
                <a:spcPct val="90000"/>
              </a:lnSpc>
              <a:buClr>
                <a:srgbClr val="3333CC"/>
              </a:buClr>
              <a:buSzPct val="65000"/>
              <a:buFont typeface="Wingdings" panose="05000000000000000000" pitchFamily="2" charset="2"/>
            </a:pPr>
            <a:r>
              <a:rPr lang="zh-CN" altLang="en-US" dirty="0"/>
              <a:t>具有无损连接性的分解不一定能够保持函数依赖</a:t>
            </a:r>
            <a:endParaRPr lang="zh-CN" altLang="en-US" dirty="0"/>
          </a:p>
          <a:p>
            <a:pPr lvl="1" eaLnBrk="1" hangingPunct="1">
              <a:lnSpc>
                <a:spcPct val="90000"/>
              </a:lnSpc>
              <a:buClr>
                <a:srgbClr val="3333CC"/>
              </a:buClr>
              <a:buSzPct val="65000"/>
              <a:buFont typeface="Wingdings" panose="05000000000000000000" pitchFamily="2" charset="2"/>
            </a:pPr>
            <a:r>
              <a:rPr lang="zh-CN" altLang="en-US" dirty="0"/>
              <a:t>保持函数依赖的分解也不一定具有无损连接性</a:t>
            </a:r>
            <a:endParaRPr lang="zh-CN" altLang="en-US" dirty="0"/>
          </a:p>
        </p:txBody>
      </p:sp>
    </p:spTree>
  </p:cSld>
  <p:clrMapOvr>
    <a:masterClrMapping/>
  </p:clrMapOvr>
  <p:transition>
    <p:random/>
    <p:sndAc>
      <p:stSnd>
        <p:snd r:embed="rId1"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0210"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验证无损分解的充分必要条件</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8915" name="Rectangle 3"/>
          <p:cNvSpPr>
            <a:spLocks noGrp="1"/>
          </p:cNvSpPr>
          <p:nvPr>
            <p:ph type="body" sz="half" idx="1"/>
          </p:nvPr>
        </p:nvSpPr>
        <p:spPr>
          <a:xfrm>
            <a:off x="285750" y="1123950"/>
            <a:ext cx="8678863" cy="5473700"/>
          </a:xfrm>
        </p:spPr>
        <p:txBody>
          <a:bodyPr vert="horz" wrap="square" lIns="91440" tIns="45720" rIns="91440" bIns="45720" anchor="t" anchorCtr="0"/>
          <a:p>
            <a:pPr marL="0" indent="0"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ea typeface="Arial Unicode MS" pitchFamily="34" charset="-122"/>
                <a:sym typeface="Symbol" panose="05050102010706020507" pitchFamily="18" charset="2"/>
              </a:rPr>
              <a:t>    </a:t>
            </a:r>
            <a:r>
              <a:rPr lang="zh-CN" altLang="en-US" dirty="0">
                <a:latin typeface="Arial" panose="020B0604020202020204" pitchFamily="34" charset="0"/>
                <a:sym typeface="Symbol" panose="05050102010706020507" pitchFamily="18" charset="2"/>
              </a:rPr>
              <a:t>当关系模式分解为</a:t>
            </a:r>
            <a:r>
              <a:rPr lang="zh-CN" altLang="en-US" dirty="0">
                <a:solidFill>
                  <a:srgbClr val="FF0000"/>
                </a:solidFill>
                <a:latin typeface="Arial" panose="020B0604020202020204" pitchFamily="34" charset="0"/>
                <a:sym typeface="Symbol" panose="05050102010706020507" pitchFamily="18" charset="2"/>
              </a:rPr>
              <a:t>两个</a:t>
            </a:r>
            <a:r>
              <a:rPr lang="zh-CN" altLang="en-US" dirty="0">
                <a:latin typeface="Arial" panose="020B0604020202020204" pitchFamily="34" charset="0"/>
                <a:sym typeface="Symbol" panose="05050102010706020507" pitchFamily="18" charset="2"/>
              </a:rPr>
              <a:t>关系模式时：</a:t>
            </a:r>
            <a:endParaRPr lang="zh-CN" altLang="en-US" dirty="0">
              <a:latin typeface="Arial" panose="020B0604020202020204" pitchFamily="34" charset="0"/>
              <a:sym typeface="Symbol" panose="05050102010706020507" pitchFamily="18" charset="2"/>
            </a:endParaRPr>
          </a:p>
          <a:p>
            <a:pPr marL="0" indent="0"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ea typeface="Arial Unicode MS" pitchFamily="34" charset="-122"/>
                <a:sym typeface="Symbol" panose="05050102010706020507" pitchFamily="18" charset="2"/>
              </a:rPr>
              <a:t>  </a:t>
            </a:r>
            <a:r>
              <a:rPr lang="en-US" altLang="zh-CN" dirty="0">
                <a:latin typeface="Arial" panose="020B0604020202020204" pitchFamily="34" charset="0"/>
                <a:ea typeface="Arial Unicode MS" pitchFamily="34" charset="-122"/>
              </a:rPr>
              <a:t>= { R</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&gt;</a:t>
            </a:r>
            <a:r>
              <a:rPr lang="en-US" altLang="zh-CN" dirty="0">
                <a:latin typeface="Arial" panose="020B0604020202020204" pitchFamily="34" charset="0"/>
              </a:rPr>
              <a:t>,  </a:t>
            </a:r>
            <a:r>
              <a:rPr lang="en-US" altLang="zh-CN" dirty="0">
                <a:latin typeface="Arial" panose="020B0604020202020204" pitchFamily="34" charset="0"/>
                <a:ea typeface="Arial Unicode MS" pitchFamily="34" charset="-122"/>
              </a:rPr>
              <a:t>R</a:t>
            </a:r>
            <a:r>
              <a:rPr lang="en-US" altLang="zh-CN" baseline="-25000" dirty="0">
                <a:latin typeface="Arial" panose="020B0604020202020204" pitchFamily="34" charset="0"/>
                <a:ea typeface="Arial Unicode MS" pitchFamily="34" charset="-122"/>
              </a:rPr>
              <a:t>2</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2</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2</a:t>
            </a:r>
            <a:r>
              <a:rPr lang="en-US" altLang="zh-CN" dirty="0">
                <a:latin typeface="Arial" panose="020B0604020202020204" pitchFamily="34" charset="0"/>
                <a:ea typeface="Arial Unicode MS" pitchFamily="34" charset="-122"/>
              </a:rPr>
              <a:t>&gt; } </a:t>
            </a:r>
            <a:r>
              <a:rPr lang="zh-CN" altLang="en-US" dirty="0">
                <a:latin typeface="Arial" panose="020B0604020202020204" pitchFamily="34" charset="0"/>
              </a:rPr>
              <a:t>是 </a:t>
            </a:r>
            <a:r>
              <a:rPr lang="en-US" altLang="zh-CN" dirty="0">
                <a:latin typeface="Arial" panose="020B0604020202020204" pitchFamily="34" charset="0"/>
              </a:rPr>
              <a:t>R</a:t>
            </a:r>
            <a:r>
              <a:rPr lang="en-US" altLang="zh-CN" dirty="0">
                <a:latin typeface="Arial" panose="020B0604020202020204" pitchFamily="34" charset="0"/>
                <a:ea typeface="Arial Unicode MS" pitchFamily="34" charset="-122"/>
              </a:rPr>
              <a:t>&lt;U,F&gt; </a:t>
            </a:r>
            <a:r>
              <a:rPr lang="zh-CN" altLang="en-US" dirty="0">
                <a:latin typeface="Arial" panose="020B0604020202020204" pitchFamily="34" charset="0"/>
              </a:rPr>
              <a:t>的一个分解，</a:t>
            </a:r>
            <a:r>
              <a:rPr lang="zh-CN" altLang="en-US" dirty="0">
                <a:latin typeface="Arial" panose="020B0604020202020204" pitchFamily="34" charset="0"/>
                <a:sym typeface="Symbol" panose="05050102010706020507" pitchFamily="18" charset="2"/>
              </a:rPr>
              <a:t> </a:t>
            </a:r>
            <a:r>
              <a:rPr lang="zh-CN" altLang="en-US" dirty="0">
                <a:solidFill>
                  <a:srgbClr val="FF0000"/>
                </a:solidFill>
                <a:latin typeface="Arial" panose="020B0604020202020204" pitchFamily="34" charset="0"/>
              </a:rPr>
              <a:t>具有无损连接性</a:t>
            </a:r>
            <a:r>
              <a:rPr lang="zh-CN" altLang="en-US" dirty="0">
                <a:latin typeface="Arial" panose="020B0604020202020204" pitchFamily="34" charset="0"/>
              </a:rPr>
              <a:t>的</a:t>
            </a:r>
            <a:r>
              <a:rPr lang="zh-CN" altLang="en-US" dirty="0">
                <a:solidFill>
                  <a:srgbClr val="FF0000"/>
                </a:solidFill>
                <a:latin typeface="Arial" panose="020B0604020202020204" pitchFamily="34" charset="0"/>
              </a:rPr>
              <a:t>充分必要条件</a:t>
            </a:r>
            <a:r>
              <a:rPr lang="zh-CN" altLang="en-US" dirty="0">
                <a:latin typeface="Arial" panose="020B0604020202020204" pitchFamily="34" charset="0"/>
              </a:rPr>
              <a:t>是：</a:t>
            </a:r>
            <a:endParaRPr lang="zh-CN" altLang="en-US" dirty="0">
              <a:latin typeface="Arial" panose="020B0604020202020204" pitchFamily="34" charset="0"/>
            </a:endParaRPr>
          </a:p>
          <a:p>
            <a:pPr marL="0" indent="0"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U</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U</a:t>
            </a:r>
            <a:r>
              <a:rPr lang="en-US" altLang="zh-CN" baseline="-25000" dirty="0">
                <a:latin typeface="Arial" panose="020B0604020202020204" pitchFamily="34" charset="0"/>
                <a:ea typeface="Arial Unicode MS" pitchFamily="34" charset="-122"/>
              </a:rPr>
              <a:t>2</a:t>
            </a:r>
            <a:r>
              <a:rPr lang="en-US" altLang="zh-CN" dirty="0">
                <a:latin typeface="Arial" panose="020B0604020202020204" pitchFamily="34" charset="0"/>
              </a:rPr>
              <a:t>) → </a:t>
            </a:r>
            <a:r>
              <a:rPr lang="en-US" altLang="zh-CN" dirty="0">
                <a:latin typeface="Arial" panose="020B0604020202020204" pitchFamily="34" charset="0"/>
                <a:ea typeface="Arial Unicode MS" pitchFamily="34" charset="-122"/>
              </a:rPr>
              <a:t>U</a:t>
            </a:r>
            <a:r>
              <a:rPr lang="en-US" altLang="zh-CN" baseline="-25000" dirty="0">
                <a:latin typeface="Arial" panose="020B0604020202020204" pitchFamily="34" charset="0"/>
                <a:ea typeface="Arial Unicode MS" pitchFamily="34" charset="-122"/>
              </a:rPr>
              <a:t>1 </a:t>
            </a:r>
            <a:r>
              <a:rPr lang="en-US" altLang="zh-CN" dirty="0">
                <a:latin typeface="Arial" panose="020B0604020202020204" pitchFamily="34" charset="0"/>
              </a:rPr>
              <a:t>∈F</a:t>
            </a:r>
            <a:r>
              <a:rPr lang="en-US" altLang="zh-CN" baseline="30000" dirty="0">
                <a:latin typeface="Arial" panose="020B0604020202020204" pitchFamily="34" charset="0"/>
              </a:rPr>
              <a:t>+</a:t>
            </a:r>
            <a:endParaRPr lang="en-US" altLang="zh-CN" baseline="30000" dirty="0">
              <a:latin typeface="Arial" panose="020B0604020202020204" pitchFamily="34" charset="0"/>
            </a:endParaRPr>
          </a:p>
          <a:p>
            <a:pPr marL="0" indent="0" eaLnBrk="1" hangingPunct="1">
              <a:lnSpc>
                <a:spcPct val="110000"/>
              </a:lnSpc>
              <a:buClr>
                <a:srgbClr val="FF0000"/>
              </a:buClr>
              <a:buSzPct val="65000"/>
              <a:buFont typeface="Wingdings" panose="05000000000000000000" pitchFamily="2" charset="2"/>
              <a:buNone/>
            </a:pPr>
            <a:r>
              <a:rPr lang="en-US" altLang="zh-CN" dirty="0">
                <a:latin typeface="Arial" panose="020B0604020202020204" pitchFamily="34" charset="0"/>
              </a:rPr>
              <a:t>   </a:t>
            </a:r>
            <a:r>
              <a:rPr lang="zh-CN" altLang="en-US" dirty="0">
                <a:latin typeface="Arial" panose="020B0604020202020204" pitchFamily="34" charset="0"/>
              </a:rPr>
              <a:t>或</a:t>
            </a:r>
            <a:endParaRPr lang="zh-CN" altLang="en-US" dirty="0">
              <a:latin typeface="Arial" panose="020B0604020202020204" pitchFamily="34" charset="0"/>
            </a:endParaRPr>
          </a:p>
          <a:p>
            <a:pPr marL="0" indent="0" eaLnBrk="1" hangingPunct="1">
              <a:lnSpc>
                <a:spcPct val="110000"/>
              </a:lnSpc>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U</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U</a:t>
            </a:r>
            <a:r>
              <a:rPr lang="en-US" altLang="zh-CN" baseline="-25000" dirty="0">
                <a:latin typeface="Arial" panose="020B0604020202020204" pitchFamily="34" charset="0"/>
                <a:ea typeface="Arial Unicode MS" pitchFamily="34" charset="-122"/>
              </a:rPr>
              <a:t>2</a:t>
            </a:r>
            <a:r>
              <a:rPr lang="en-US" altLang="zh-CN" dirty="0">
                <a:latin typeface="Arial" panose="020B0604020202020204" pitchFamily="34" charset="0"/>
              </a:rPr>
              <a:t>) → </a:t>
            </a:r>
            <a:r>
              <a:rPr lang="en-US" altLang="zh-CN" dirty="0">
                <a:latin typeface="Arial" panose="020B0604020202020204" pitchFamily="34" charset="0"/>
                <a:ea typeface="Arial Unicode MS" pitchFamily="34" charset="-122"/>
              </a:rPr>
              <a:t>U</a:t>
            </a:r>
            <a:r>
              <a:rPr lang="en-US" altLang="zh-CN" baseline="-25000" dirty="0">
                <a:latin typeface="Arial" panose="020B0604020202020204" pitchFamily="34" charset="0"/>
                <a:ea typeface="Arial Unicode MS" pitchFamily="34" charset="-122"/>
              </a:rPr>
              <a:t>2 </a:t>
            </a:r>
            <a:r>
              <a:rPr lang="en-US" altLang="zh-CN" dirty="0">
                <a:latin typeface="Arial" panose="020B0604020202020204" pitchFamily="34" charset="0"/>
              </a:rPr>
              <a:t>∈F</a:t>
            </a:r>
            <a:r>
              <a:rPr lang="en-US" altLang="zh-CN" baseline="30000" dirty="0">
                <a:latin typeface="Arial" panose="020B0604020202020204" pitchFamily="34" charset="0"/>
              </a:rPr>
              <a:t>+</a:t>
            </a:r>
            <a:endParaRPr lang="en-US" altLang="zh-CN"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1234"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无损分解的充分必要条件</a:t>
            </a:r>
            <a:r>
              <a:rPr kumimoji="0" lang="zh-CN" altLang="en-US" sz="4000" b="1" i="0" u="none" strike="noStrike" kern="0" cap="none" spc="0" normalizeH="0" baseline="0" noProof="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000" b="1" i="0" u="none" strike="noStrike" kern="0" cap="none" spc="0" normalizeH="0" baseline="0" noProof="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51235" name="Rectangle 3"/>
          <p:cNvSpPr>
            <a:spLocks noGrp="1"/>
          </p:cNvSpPr>
          <p:nvPr>
            <p:ph type="body" sz="half" idx="1"/>
          </p:nvPr>
        </p:nvSpPr>
        <p:spPr>
          <a:xfrm>
            <a:off x="331788" y="1016000"/>
            <a:ext cx="8526462" cy="5473700"/>
          </a:xfrm>
        </p:spPr>
        <p:txBody>
          <a:bodyPr vert="horz" wrap="square" lIns="91440" tIns="45720" rIns="91440" bIns="45720" anchor="t" anchorCtr="0"/>
          <a:p>
            <a:pPr marL="0" indent="0" eaLnBrk="1" hangingPunct="1">
              <a:buClr>
                <a:srgbClr val="FF0000"/>
              </a:buClr>
              <a:buSzPct val="65000"/>
              <a:buFont typeface="Wingdings" panose="05000000000000000000" pitchFamily="2" charset="2"/>
              <a:buNone/>
            </a:pPr>
            <a:r>
              <a:rPr lang="zh-CN" altLang="en-US" dirty="0">
                <a:solidFill>
                  <a:srgbClr val="FF0000"/>
                </a:solidFill>
                <a:latin typeface="Arial" panose="020B0604020202020204" pitchFamily="34" charset="0"/>
              </a:rPr>
              <a:t>例</a:t>
            </a:r>
            <a:r>
              <a:rPr lang="zh-CN" altLang="en-US" dirty="0">
                <a:latin typeface="Arial" panose="020B0604020202020204" pitchFamily="34" charset="0"/>
              </a:rPr>
              <a:t>：设关系模式</a:t>
            </a:r>
            <a:r>
              <a:rPr lang="en-US" altLang="zh-CN" dirty="0">
                <a:latin typeface="Arial" panose="020B0604020202020204" pitchFamily="34" charset="0"/>
              </a:rPr>
              <a:t>R</a:t>
            </a:r>
            <a:r>
              <a:rPr lang="en-US" altLang="zh-CN" dirty="0">
                <a:latin typeface="Arial" panose="020B0604020202020204" pitchFamily="34" charset="0"/>
                <a:ea typeface="Arial Unicode MS" pitchFamily="34" charset="-122"/>
              </a:rPr>
              <a:t>&lt;U,F&gt;</a:t>
            </a:r>
            <a:r>
              <a:rPr lang="zh-CN" altLang="en-US" dirty="0">
                <a:latin typeface="Arial" panose="020B0604020202020204" pitchFamily="34" charset="0"/>
                <a:ea typeface="Arial Unicode MS" pitchFamily="34" charset="-122"/>
              </a:rPr>
              <a:t>，</a:t>
            </a:r>
            <a:r>
              <a:rPr lang="en-US" altLang="zh-CN" dirty="0">
                <a:latin typeface="Arial" panose="020B0604020202020204" pitchFamily="34" charset="0"/>
              </a:rPr>
              <a:t>U={A,B,C}</a:t>
            </a:r>
            <a:r>
              <a:rPr lang="zh-CN" altLang="en-US" dirty="0">
                <a:latin typeface="Arial" panose="020B0604020202020204" pitchFamily="34" charset="0"/>
              </a:rPr>
              <a:t>，</a:t>
            </a:r>
            <a:r>
              <a:rPr lang="en-US" altLang="zh-CN" dirty="0">
                <a:latin typeface="Arial" panose="020B0604020202020204" pitchFamily="34" charset="0"/>
              </a:rPr>
              <a:t>F={AB→C,C→A}</a:t>
            </a:r>
            <a:r>
              <a:rPr lang="zh-CN" altLang="en-US" dirty="0">
                <a:latin typeface="Arial" panose="020B0604020202020204" pitchFamily="34" charset="0"/>
              </a:rPr>
              <a:t>，</a:t>
            </a:r>
            <a:r>
              <a:rPr lang="en-US" altLang="zh-CN" dirty="0">
                <a:latin typeface="Arial" panose="020B0604020202020204" pitchFamily="34" charset="0"/>
              </a:rPr>
              <a:t>R</a:t>
            </a:r>
            <a:r>
              <a:rPr lang="zh-CN" altLang="en-US" dirty="0">
                <a:latin typeface="Arial" panose="020B0604020202020204" pitchFamily="34" charset="0"/>
              </a:rPr>
              <a:t>的分解</a:t>
            </a:r>
            <a:r>
              <a:rPr lang="zh-CN" altLang="en-US" dirty="0">
                <a:latin typeface="Arial" panose="020B0604020202020204" pitchFamily="34" charset="0"/>
                <a:sym typeface="Symbol" panose="05050102010706020507" pitchFamily="18" charset="2"/>
              </a:rPr>
              <a:t> </a:t>
            </a:r>
            <a:r>
              <a:rPr lang="en-US" altLang="zh-CN" dirty="0">
                <a:latin typeface="Arial" panose="020B0604020202020204" pitchFamily="34" charset="0"/>
              </a:rPr>
              <a:t>={R</a:t>
            </a:r>
            <a:r>
              <a:rPr lang="en-US" altLang="zh-CN" baseline="-25000" dirty="0">
                <a:latin typeface="Arial" panose="020B0604020202020204" pitchFamily="34" charset="0"/>
              </a:rPr>
              <a:t>1</a:t>
            </a:r>
            <a:r>
              <a:rPr lang="en-US" altLang="zh-CN" dirty="0">
                <a:latin typeface="Arial" panose="020B0604020202020204" pitchFamily="34" charset="0"/>
              </a:rPr>
              <a:t>,R</a:t>
            </a:r>
            <a:r>
              <a:rPr lang="en-US" altLang="zh-CN" baseline="-25000" dirty="0">
                <a:latin typeface="Arial" panose="020B0604020202020204" pitchFamily="34" charset="0"/>
              </a:rPr>
              <a:t>2</a:t>
            </a:r>
            <a:r>
              <a:rPr lang="en-US" altLang="zh-CN" dirty="0">
                <a:latin typeface="Arial" panose="020B0604020202020204" pitchFamily="34" charset="0"/>
              </a:rPr>
              <a:t>}</a:t>
            </a:r>
            <a:r>
              <a:rPr lang="zh-CN" altLang="en-US" dirty="0">
                <a:latin typeface="Arial" panose="020B0604020202020204" pitchFamily="34" charset="0"/>
              </a:rPr>
              <a:t>，</a:t>
            </a:r>
            <a:endParaRPr lang="zh-CN" altLang="en-US" dirty="0">
              <a:latin typeface="Arial" panose="020B0604020202020204" pitchFamily="34" charset="0"/>
            </a:endParaRPr>
          </a:p>
          <a:p>
            <a:pPr marL="0" indent="0" algn="just" eaLnBrk="1" hangingPunct="1">
              <a:buClr>
                <a:srgbClr val="FF0000"/>
              </a:buClr>
              <a:buSzPct val="65000"/>
              <a:buFont typeface="Wingdings" panose="05000000000000000000" pitchFamily="2" charset="2"/>
              <a:buNone/>
            </a:pPr>
            <a:r>
              <a:rPr lang="zh-CN" altLang="en-US" dirty="0">
                <a:latin typeface="Arial" panose="020B0604020202020204" pitchFamily="34" charset="0"/>
              </a:rPr>
              <a:t>其中：</a:t>
            </a:r>
            <a:r>
              <a:rPr lang="en-US" altLang="zh-CN" dirty="0">
                <a:latin typeface="Arial" panose="020B0604020202020204" pitchFamily="34" charset="0"/>
              </a:rPr>
              <a:t>R</a:t>
            </a:r>
            <a:r>
              <a:rPr lang="en-US" altLang="zh-CN" baseline="-25000" dirty="0">
                <a:latin typeface="Arial" panose="020B0604020202020204" pitchFamily="34" charset="0"/>
              </a:rPr>
              <a:t>1</a:t>
            </a:r>
            <a:r>
              <a:rPr lang="en-US" altLang="zh-CN" dirty="0">
                <a:latin typeface="Arial" panose="020B0604020202020204" pitchFamily="34" charset="0"/>
              </a:rPr>
              <a:t>={A, C},  R</a:t>
            </a:r>
            <a:r>
              <a:rPr lang="en-US" altLang="zh-CN" baseline="-25000" dirty="0">
                <a:latin typeface="Arial" panose="020B0604020202020204" pitchFamily="34" charset="0"/>
              </a:rPr>
              <a:t>2</a:t>
            </a:r>
            <a:r>
              <a:rPr lang="en-US" altLang="zh-CN" dirty="0">
                <a:latin typeface="Arial" panose="020B0604020202020204" pitchFamily="34" charset="0"/>
              </a:rPr>
              <a:t>={B, C}</a:t>
            </a:r>
            <a:r>
              <a:rPr lang="zh-CN" altLang="en-US" dirty="0">
                <a:latin typeface="Arial" panose="020B0604020202020204" pitchFamily="34" charset="0"/>
              </a:rPr>
              <a:t>。</a:t>
            </a:r>
            <a:endParaRPr lang="zh-CN" altLang="en-US" dirty="0">
              <a:latin typeface="Arial" panose="020B0604020202020204" pitchFamily="34" charset="0"/>
            </a:endParaRPr>
          </a:p>
          <a:p>
            <a:pPr marL="0" indent="0" algn="just" eaLnBrk="1" hangingPunct="1">
              <a:spcBef>
                <a:spcPct val="40000"/>
              </a:spcBef>
              <a:buClr>
                <a:srgbClr val="FF0000"/>
              </a:buClr>
              <a:buSzPct val="65000"/>
              <a:buFont typeface="Wingdings" panose="05000000000000000000" pitchFamily="2" charset="2"/>
              <a:buNone/>
            </a:pPr>
            <a:r>
              <a:rPr lang="zh-CN" altLang="en-US" dirty="0">
                <a:latin typeface="Arial" panose="020B0604020202020204" pitchFamily="34" charset="0"/>
              </a:rPr>
              <a:t>因为  </a:t>
            </a:r>
            <a:r>
              <a:rPr lang="en-US" altLang="zh-CN" dirty="0">
                <a:latin typeface="Arial" panose="020B0604020202020204" pitchFamily="34" charset="0"/>
              </a:rPr>
              <a:t>(R</a:t>
            </a:r>
            <a:r>
              <a:rPr lang="en-US" altLang="zh-CN" baseline="-25000" dirty="0">
                <a:latin typeface="Arial" panose="020B0604020202020204" pitchFamily="34" charset="0"/>
              </a:rPr>
              <a:t>1</a:t>
            </a:r>
            <a:r>
              <a:rPr lang="en-US" altLang="zh-CN" dirty="0">
                <a:latin typeface="Arial" panose="020B0604020202020204" pitchFamily="34" charset="0"/>
              </a:rPr>
              <a:t>∩R</a:t>
            </a:r>
            <a:r>
              <a:rPr lang="en-US" altLang="zh-CN" baseline="-25000" dirty="0">
                <a:latin typeface="Arial" panose="020B0604020202020204" pitchFamily="34" charset="0"/>
              </a:rPr>
              <a:t>2</a:t>
            </a:r>
            <a:r>
              <a:rPr lang="en-US" altLang="zh-CN" dirty="0">
                <a:latin typeface="Arial" panose="020B0604020202020204" pitchFamily="34" charset="0"/>
              </a:rPr>
              <a:t>)=C,  </a:t>
            </a:r>
            <a:r>
              <a:rPr lang="zh-CN" altLang="en-US" dirty="0">
                <a:latin typeface="Arial" panose="020B0604020202020204" pitchFamily="34" charset="0"/>
              </a:rPr>
              <a:t>有 </a:t>
            </a:r>
            <a:r>
              <a:rPr lang="en-US" altLang="zh-CN" dirty="0">
                <a:latin typeface="Arial" panose="020B0604020202020204" pitchFamily="34" charset="0"/>
              </a:rPr>
              <a:t>C→A</a:t>
            </a:r>
            <a:endParaRPr lang="en-US" altLang="zh-CN" dirty="0">
              <a:latin typeface="Arial" panose="020B0604020202020204" pitchFamily="34" charset="0"/>
            </a:endParaRPr>
          </a:p>
          <a:p>
            <a:pPr marL="0" indent="0" algn="just" eaLnBrk="1" hangingPunct="1">
              <a:spcBef>
                <a:spcPct val="40000"/>
              </a:spcBef>
              <a:buClr>
                <a:srgbClr val="FF0000"/>
              </a:buClr>
              <a:buSzPct val="65000"/>
              <a:buFont typeface="Wingdings" panose="05000000000000000000" pitchFamily="2" charset="2"/>
              <a:buNone/>
            </a:pPr>
            <a:r>
              <a:rPr lang="zh-CN" altLang="en-US" dirty="0">
                <a:latin typeface="Arial" panose="020B0604020202020204" pitchFamily="34" charset="0"/>
              </a:rPr>
              <a:t>所以      </a:t>
            </a:r>
            <a:r>
              <a:rPr lang="en-US" altLang="zh-CN" dirty="0">
                <a:latin typeface="Arial" panose="020B0604020202020204" pitchFamily="34" charset="0"/>
              </a:rPr>
              <a:t>C→AC</a:t>
            </a:r>
            <a:endParaRPr lang="en-US" altLang="zh-CN" dirty="0">
              <a:latin typeface="Arial" panose="020B0604020202020204" pitchFamily="34" charset="0"/>
            </a:endParaRPr>
          </a:p>
          <a:p>
            <a:pPr marL="0" indent="0" algn="just" eaLnBrk="1" hangingPunct="1">
              <a:spcBef>
                <a:spcPct val="20000"/>
              </a:spcBef>
              <a:buClr>
                <a:srgbClr val="FF0000"/>
              </a:buClr>
              <a:buSzPct val="65000"/>
              <a:buFont typeface="Wingdings" panose="05000000000000000000" pitchFamily="2" charset="2"/>
              <a:buNone/>
            </a:pPr>
            <a:r>
              <a:rPr lang="en-US" altLang="zh-CN" dirty="0">
                <a:latin typeface="Arial" panose="020B0604020202020204" pitchFamily="34" charset="0"/>
              </a:rPr>
              <a:t>    </a:t>
            </a:r>
            <a:r>
              <a:rPr lang="zh-CN" altLang="en-US" dirty="0">
                <a:latin typeface="Arial" panose="020B0604020202020204" pitchFamily="34" charset="0"/>
              </a:rPr>
              <a:t>有    </a:t>
            </a:r>
            <a:r>
              <a:rPr lang="en-US" altLang="zh-CN" dirty="0">
                <a:latin typeface="Arial" panose="020B0604020202020204" pitchFamily="34" charset="0"/>
              </a:rPr>
              <a:t>(R</a:t>
            </a:r>
            <a:r>
              <a:rPr lang="en-US" altLang="zh-CN" baseline="-25000" dirty="0">
                <a:latin typeface="Arial" panose="020B0604020202020204" pitchFamily="34" charset="0"/>
              </a:rPr>
              <a:t>1</a:t>
            </a:r>
            <a:r>
              <a:rPr lang="en-US" altLang="zh-CN" dirty="0">
                <a:latin typeface="Arial" panose="020B0604020202020204" pitchFamily="34" charset="0"/>
              </a:rPr>
              <a:t>∩R</a:t>
            </a:r>
            <a:r>
              <a:rPr lang="en-US" altLang="zh-CN" baseline="-25000" dirty="0">
                <a:latin typeface="Arial" panose="020B0604020202020204" pitchFamily="34" charset="0"/>
              </a:rPr>
              <a:t>2</a:t>
            </a:r>
            <a:r>
              <a:rPr lang="en-US" altLang="zh-CN" dirty="0">
                <a:latin typeface="Arial" panose="020B0604020202020204" pitchFamily="34" charset="0"/>
              </a:rPr>
              <a:t>)</a:t>
            </a:r>
            <a:r>
              <a:rPr lang="en-US" altLang="zh-CN" dirty="0">
                <a:latin typeface="Arial" panose="020B0604020202020204" pitchFamily="34" charset="0"/>
                <a:sym typeface="Symbol" panose="05050102010706020507" pitchFamily="18" charset="2"/>
              </a:rPr>
              <a:t></a:t>
            </a:r>
            <a:r>
              <a:rPr lang="en-US" altLang="zh-CN" dirty="0">
                <a:latin typeface="Arial" panose="020B0604020202020204" pitchFamily="34" charset="0"/>
              </a:rPr>
              <a:t>R</a:t>
            </a:r>
            <a:r>
              <a:rPr lang="en-US" altLang="zh-CN" baseline="-25000" dirty="0">
                <a:latin typeface="Arial" panose="020B0604020202020204" pitchFamily="34" charset="0"/>
              </a:rPr>
              <a:t>1</a:t>
            </a:r>
            <a:endParaRPr lang="en-US" altLang="zh-CN" dirty="0">
              <a:latin typeface="Arial" panose="020B0604020202020204" pitchFamily="34" charset="0"/>
            </a:endParaRPr>
          </a:p>
          <a:p>
            <a:pPr marL="0" indent="0" eaLnBrk="1" hangingPunct="1">
              <a:spcBef>
                <a:spcPct val="5000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sym typeface="Symbol" panose="05050102010706020507" pitchFamily="18" charset="2"/>
              </a:rPr>
              <a:t>      </a:t>
            </a:r>
            <a:r>
              <a:rPr lang="zh-CN" altLang="en-US" dirty="0">
                <a:solidFill>
                  <a:srgbClr val="0000CC"/>
                </a:solidFill>
                <a:latin typeface="Arial" panose="020B0604020202020204" pitchFamily="34" charset="0"/>
              </a:rPr>
              <a:t>是无损分解</a:t>
            </a:r>
            <a:r>
              <a:rPr lang="en-US" altLang="zh-CN" dirty="0">
                <a:latin typeface="Arial" panose="020B0604020202020204" pitchFamily="34" charset="0"/>
              </a:rPr>
              <a:t>(</a:t>
            </a:r>
            <a:r>
              <a:rPr lang="en-US" altLang="zh-CN" dirty="0">
                <a:solidFill>
                  <a:srgbClr val="0000CC"/>
                </a:solidFill>
                <a:latin typeface="Arial" panose="020B0604020202020204" pitchFamily="34" charset="0"/>
              </a:rPr>
              <a:t> </a:t>
            </a:r>
            <a:r>
              <a:rPr lang="en-US" altLang="zh-CN" dirty="0">
                <a:latin typeface="Arial" panose="020B0604020202020204" pitchFamily="34" charset="0"/>
                <a:ea typeface="Arial Unicode MS" pitchFamily="34" charset="-122"/>
                <a:sym typeface="Symbol" panose="05050102010706020507" pitchFamily="18" charset="2"/>
              </a:rPr>
              <a:t> </a:t>
            </a:r>
            <a:r>
              <a:rPr lang="zh-CN" altLang="en-US" dirty="0">
                <a:latin typeface="Arial" panose="020B0604020202020204" pitchFamily="34" charset="0"/>
              </a:rPr>
              <a:t>具有无损连接性</a:t>
            </a:r>
            <a:r>
              <a:rPr lang="en-US" altLang="zh-CN" dirty="0">
                <a:latin typeface="Arial" panose="020B0604020202020204" pitchFamily="34" charset="0"/>
              </a:rPr>
              <a:t>)</a:t>
            </a:r>
            <a:endParaRPr lang="en-US" altLang="zh-CN" dirty="0">
              <a:latin typeface="Arial" panose="020B0604020202020204" pitchFamily="34" charset="0"/>
            </a:endParaRPr>
          </a:p>
          <a:p>
            <a:pPr marL="0" indent="0" eaLnBrk="1" hangingPunct="1">
              <a:spcBef>
                <a:spcPct val="20000"/>
              </a:spcBef>
              <a:buClr>
                <a:srgbClr val="FF0000"/>
              </a:buClr>
              <a:buSzPct val="65000"/>
              <a:buFont typeface="Wingdings" panose="05000000000000000000" pitchFamily="2" charset="2"/>
              <a:buNone/>
            </a:pPr>
            <a:endParaRPr lang="en-US" altLang="zh-CN" dirty="0">
              <a:latin typeface="Arial" panose="020B0604020202020204" pitchFamily="34" charset="0"/>
              <a:sym typeface="Symbol" panose="05050102010706020507" pitchFamily="18" charset="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5">
                                            <p:txEl>
                                              <p:charRg st="79" end="10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5">
                                            <p:txEl>
                                              <p:charRg st="101" end="11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1235">
                                            <p:txEl>
                                              <p:charRg st="114" end="13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1235">
                                            <p:txEl>
                                              <p:charRg st="134" end="15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6" name="Picture 2" descr="paint"/>
          <p:cNvPicPr>
            <a:picLocks noChangeAspect="1"/>
          </p:cNvPicPr>
          <p:nvPr/>
        </p:nvPicPr>
        <p:blipFill>
          <a:blip r:embed="rId1">
            <a:clrChange>
              <a:clrFrom>
                <a:srgbClr val="C0C0C0"/>
              </a:clrFrom>
              <a:clrTo>
                <a:srgbClr val="C0C0C0">
                  <a:alpha val="0"/>
                </a:srgbClr>
              </a:clrTo>
            </a:clrChange>
          </a:blip>
          <a:stretch>
            <a:fillRect/>
          </a:stretch>
        </p:blipFill>
        <p:spPr>
          <a:xfrm>
            <a:off x="0" y="838200"/>
            <a:ext cx="4716463" cy="142875"/>
          </a:xfrm>
          <a:prstGeom prst="rect">
            <a:avLst/>
          </a:prstGeom>
          <a:noFill/>
          <a:ln w="9525">
            <a:noFill/>
          </a:ln>
        </p:spPr>
      </p:pic>
      <p:sp>
        <p:nvSpPr>
          <p:cNvPr id="353283" name="Rectangle 3"/>
          <p:cNvSpPr>
            <a:spLocks noGrp="1" noChangeArrowheads="1"/>
          </p:cNvSpPr>
          <p:nvPr>
            <p:ph type="title"/>
          </p:nvPr>
        </p:nvSpPr>
        <p:spPr>
          <a:xfrm>
            <a:off x="179388" y="0"/>
            <a:ext cx="8964613" cy="8382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无损分解的测试算法</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53284" name="Rectangle 4"/>
          <p:cNvSpPr>
            <a:spLocks noGrp="1"/>
          </p:cNvSpPr>
          <p:nvPr>
            <p:ph type="body" sz="half" idx="1"/>
          </p:nvPr>
        </p:nvSpPr>
        <p:spPr>
          <a:xfrm>
            <a:off x="395288" y="981075"/>
            <a:ext cx="8596312" cy="5662613"/>
          </a:xfrm>
        </p:spPr>
        <p:txBody>
          <a:bodyPr vert="horz" wrap="square" lIns="91440" tIns="45720" rIns="91440" bIns="45720" anchor="t" anchorCtr="0"/>
          <a:p>
            <a:pPr marL="0" indent="0" eaLnBrk="1" hangingPunct="1">
              <a:buClr>
                <a:srgbClr val="FF0000"/>
              </a:buClr>
              <a:buSzPct val="65000"/>
              <a:buFont typeface="Wingdings" panose="05000000000000000000" pitchFamily="2" charset="2"/>
              <a:buNone/>
            </a:pPr>
            <a:r>
              <a:rPr lang="en-US" altLang="zh-CN" dirty="0">
                <a:latin typeface="Arial" panose="020B0604020202020204" pitchFamily="34" charset="0"/>
              </a:rPr>
              <a:t>    </a:t>
            </a:r>
            <a:r>
              <a:rPr lang="zh-CN" altLang="en-US" dirty="0">
                <a:latin typeface="Arial" panose="020B0604020202020204" pitchFamily="34" charset="0"/>
              </a:rPr>
              <a:t>已知 </a:t>
            </a:r>
            <a:r>
              <a:rPr lang="zh-CN" altLang="en-US" dirty="0">
                <a:latin typeface="Arial" panose="020B0604020202020204" pitchFamily="34" charset="0"/>
                <a:ea typeface="Arial Unicode MS" pitchFamily="34" charset="-122"/>
                <a:sym typeface="Symbol" panose="05050102010706020507" pitchFamily="18" charset="2"/>
              </a:rPr>
              <a:t> </a:t>
            </a:r>
            <a:r>
              <a:rPr lang="en-US" altLang="zh-CN" dirty="0">
                <a:latin typeface="Arial" panose="020B0604020202020204" pitchFamily="34" charset="0"/>
                <a:ea typeface="Arial Unicode MS" pitchFamily="34" charset="-122"/>
              </a:rPr>
              <a:t>= { R</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1</a:t>
            </a:r>
            <a:r>
              <a:rPr lang="en-US" altLang="zh-CN" dirty="0">
                <a:latin typeface="Arial" panose="020B0604020202020204" pitchFamily="34" charset="0"/>
                <a:ea typeface="Arial Unicode MS" pitchFamily="34" charset="-122"/>
              </a:rPr>
              <a:t>&gt;</a:t>
            </a:r>
            <a:r>
              <a:rPr lang="en-US" altLang="zh-CN" dirty="0">
                <a:latin typeface="Arial" panose="020B0604020202020204" pitchFamily="34" charset="0"/>
              </a:rPr>
              <a:t>,…, </a:t>
            </a:r>
            <a:r>
              <a:rPr lang="en-US" altLang="zh-CN" dirty="0">
                <a:latin typeface="Arial" panose="020B0604020202020204" pitchFamily="34" charset="0"/>
                <a:ea typeface="Arial Unicode MS" pitchFamily="34" charset="-122"/>
              </a:rPr>
              <a:t>R</a:t>
            </a:r>
            <a:r>
              <a:rPr lang="en-US" altLang="zh-CN" baseline="-25000" dirty="0">
                <a:latin typeface="Arial" panose="020B0604020202020204" pitchFamily="34" charset="0"/>
                <a:ea typeface="Arial Unicode MS" pitchFamily="34" charset="-122"/>
              </a:rPr>
              <a:t>k</a:t>
            </a:r>
            <a:r>
              <a:rPr lang="en-US" altLang="zh-CN" dirty="0">
                <a:latin typeface="Arial" panose="020B0604020202020204" pitchFamily="34" charset="0"/>
                <a:ea typeface="Arial Unicode MS" pitchFamily="34" charset="-122"/>
              </a:rPr>
              <a:t>&lt;U</a:t>
            </a:r>
            <a:r>
              <a:rPr lang="en-US" altLang="zh-CN" baseline="-25000" dirty="0">
                <a:latin typeface="Arial" panose="020B0604020202020204" pitchFamily="34" charset="0"/>
                <a:ea typeface="Arial Unicode MS" pitchFamily="34" charset="-122"/>
              </a:rPr>
              <a:t>k</a:t>
            </a:r>
            <a:r>
              <a:rPr lang="en-US" altLang="zh-CN" dirty="0">
                <a:latin typeface="Arial" panose="020B0604020202020204" pitchFamily="34" charset="0"/>
                <a:ea typeface="Arial Unicode MS" pitchFamily="34" charset="-122"/>
              </a:rPr>
              <a:t>,F</a:t>
            </a:r>
            <a:r>
              <a:rPr lang="en-US" altLang="zh-CN" baseline="-25000" dirty="0">
                <a:latin typeface="Arial" panose="020B0604020202020204" pitchFamily="34" charset="0"/>
                <a:ea typeface="Arial Unicode MS" pitchFamily="34" charset="-122"/>
              </a:rPr>
              <a:t>k</a:t>
            </a:r>
            <a:r>
              <a:rPr lang="en-US" altLang="zh-CN" dirty="0">
                <a:latin typeface="Arial" panose="020B0604020202020204" pitchFamily="34" charset="0"/>
                <a:ea typeface="Arial Unicode MS" pitchFamily="34" charset="-122"/>
              </a:rPr>
              <a:t>&gt; } </a:t>
            </a:r>
            <a:r>
              <a:rPr lang="zh-CN" altLang="en-US" dirty="0">
                <a:latin typeface="Arial" panose="020B0604020202020204" pitchFamily="34" charset="0"/>
              </a:rPr>
              <a:t>是  </a:t>
            </a:r>
            <a:r>
              <a:rPr lang="en-US" altLang="zh-CN" dirty="0">
                <a:latin typeface="Arial" panose="020B0604020202020204" pitchFamily="34" charset="0"/>
              </a:rPr>
              <a:t>R</a:t>
            </a:r>
            <a:r>
              <a:rPr lang="en-US" altLang="zh-CN" dirty="0">
                <a:latin typeface="Arial" panose="020B0604020202020204" pitchFamily="34" charset="0"/>
                <a:ea typeface="Arial Unicode MS" pitchFamily="34" charset="-122"/>
              </a:rPr>
              <a:t>&lt;U,F&gt; </a:t>
            </a:r>
            <a:r>
              <a:rPr lang="zh-CN" altLang="en-US" dirty="0">
                <a:latin typeface="Arial" panose="020B0604020202020204" pitchFamily="34" charset="0"/>
              </a:rPr>
              <a:t>的一个分解</a:t>
            </a:r>
            <a:r>
              <a:rPr lang="zh-CN" altLang="en-US" dirty="0">
                <a:latin typeface="Arial" panose="020B0604020202020204" pitchFamily="34" charset="0"/>
                <a:ea typeface="Arial Unicode MS" pitchFamily="34" charset="-122"/>
              </a:rPr>
              <a:t>，</a:t>
            </a:r>
            <a:r>
              <a:rPr lang="en-US" altLang="zh-CN" dirty="0">
                <a:latin typeface="Arial" panose="020B0604020202020204" pitchFamily="34" charset="0"/>
              </a:rPr>
              <a:t>U = {A</a:t>
            </a:r>
            <a:r>
              <a:rPr lang="en-US" altLang="zh-CN" baseline="-25000" dirty="0">
                <a:latin typeface="Arial" panose="020B0604020202020204" pitchFamily="34" charset="0"/>
              </a:rPr>
              <a:t>1</a:t>
            </a:r>
            <a:r>
              <a:rPr lang="en-US" altLang="zh-CN" dirty="0">
                <a:latin typeface="Arial" panose="020B0604020202020204" pitchFamily="34" charset="0"/>
              </a:rPr>
              <a:t>,A</a:t>
            </a:r>
            <a:r>
              <a:rPr lang="en-US" altLang="zh-CN" baseline="-25000" dirty="0">
                <a:latin typeface="Arial" panose="020B0604020202020204" pitchFamily="34" charset="0"/>
              </a:rPr>
              <a:t>2</a:t>
            </a:r>
            <a:r>
              <a:rPr lang="en-US" altLang="zh-CN" dirty="0">
                <a:latin typeface="Arial" panose="020B0604020202020204" pitchFamily="34" charset="0"/>
              </a:rPr>
              <a:t>, …,A</a:t>
            </a:r>
            <a:r>
              <a:rPr lang="en-US" altLang="zh-CN" baseline="-25000" dirty="0">
                <a:latin typeface="Arial" panose="020B0604020202020204" pitchFamily="34" charset="0"/>
              </a:rPr>
              <a:t>n</a:t>
            </a:r>
            <a:r>
              <a:rPr lang="en-US" altLang="zh-CN" dirty="0">
                <a:latin typeface="Arial" panose="020B0604020202020204" pitchFamily="34" charset="0"/>
              </a:rPr>
              <a:t>}</a:t>
            </a:r>
            <a:r>
              <a:rPr lang="zh-CN" altLang="en-US" dirty="0">
                <a:latin typeface="Arial" panose="020B0604020202020204" pitchFamily="34" charset="0"/>
              </a:rPr>
              <a:t>，</a:t>
            </a:r>
            <a:r>
              <a:rPr lang="en-US" altLang="zh-CN" dirty="0">
                <a:latin typeface="Arial" panose="020B0604020202020204" pitchFamily="34" charset="0"/>
              </a:rPr>
              <a:t>F </a:t>
            </a:r>
            <a:r>
              <a:rPr lang="zh-CN" altLang="en-US" dirty="0">
                <a:latin typeface="Arial" panose="020B0604020202020204" pitchFamily="34" charset="0"/>
              </a:rPr>
              <a:t>是 </a:t>
            </a:r>
            <a:r>
              <a:rPr lang="en-US" altLang="zh-CN" dirty="0">
                <a:latin typeface="Arial" panose="020B0604020202020204" pitchFamily="34" charset="0"/>
              </a:rPr>
              <a:t>R </a:t>
            </a:r>
            <a:r>
              <a:rPr lang="zh-CN" altLang="en-US" dirty="0">
                <a:latin typeface="Arial" panose="020B0604020202020204" pitchFamily="34" charset="0"/>
              </a:rPr>
              <a:t>上的函数依赖集。</a:t>
            </a:r>
            <a:endParaRPr lang="zh-CN" altLang="en-US" dirty="0">
              <a:latin typeface="Arial" panose="020B0604020202020204" pitchFamily="34" charset="0"/>
            </a:endParaRPr>
          </a:p>
          <a:p>
            <a:pPr marL="0" indent="0" eaLnBrk="1" hangingPunct="1">
              <a:buClr>
                <a:srgbClr val="FF0000"/>
              </a:buClr>
              <a:buSzPct val="65000"/>
              <a:buFont typeface="Wingdings" panose="05000000000000000000" pitchFamily="2" charset="2"/>
              <a:buNone/>
            </a:pPr>
            <a:endParaRPr lang="zh-CN" altLang="en-US" dirty="0">
              <a:latin typeface="Arial" panose="020B0604020202020204" pitchFamily="34" charset="0"/>
            </a:endParaRPr>
          </a:p>
          <a:p>
            <a:pPr marL="0" indent="0" eaLnBrk="1" hangingPunct="1">
              <a:buClr>
                <a:srgbClr val="FF0000"/>
              </a:buClr>
              <a:buSzPct val="65000"/>
              <a:buFont typeface="Wingdings" panose="05000000000000000000" pitchFamily="2" charset="2"/>
              <a:buNone/>
            </a:pPr>
            <a:r>
              <a:rPr lang="zh-CN" altLang="en-US" dirty="0">
                <a:solidFill>
                  <a:srgbClr val="0000CC"/>
                </a:solidFill>
                <a:latin typeface="Arial" panose="020B0604020202020204" pitchFamily="34" charset="0"/>
              </a:rPr>
              <a:t>    算法描述如下：</a:t>
            </a:r>
            <a:endParaRPr lang="zh-CN" altLang="en-US" dirty="0">
              <a:solidFill>
                <a:srgbClr val="0000CC"/>
              </a:solidFill>
              <a:latin typeface="Arial" panose="020B0604020202020204" pitchFamily="34" charset="0"/>
            </a:endParaRPr>
          </a:p>
          <a:p>
            <a:pPr marL="0" indent="0" eaLnBrk="1" hangingPunct="1">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1.  </a:t>
            </a:r>
            <a:r>
              <a:rPr lang="zh-CN" altLang="en-US" dirty="0">
                <a:latin typeface="Arial" panose="020B0604020202020204" pitchFamily="34" charset="0"/>
              </a:rPr>
              <a:t>建立一张 </a:t>
            </a:r>
            <a:r>
              <a:rPr lang="en-US" altLang="zh-CN" dirty="0">
                <a:solidFill>
                  <a:srgbClr val="FF0000"/>
                </a:solidFill>
                <a:latin typeface="Arial" panose="020B0604020202020204" pitchFamily="34" charset="0"/>
              </a:rPr>
              <a:t>k</a:t>
            </a:r>
            <a:r>
              <a:rPr lang="zh-CN" altLang="en-US" dirty="0">
                <a:solidFill>
                  <a:srgbClr val="FF0000"/>
                </a:solidFill>
                <a:latin typeface="Arial" panose="020B0604020202020204" pitchFamily="34" charset="0"/>
              </a:rPr>
              <a:t>行</a:t>
            </a:r>
            <a:r>
              <a:rPr lang="zh-CN" altLang="en-US" dirty="0">
                <a:latin typeface="Arial" panose="020B0604020202020204" pitchFamily="34" charset="0"/>
              </a:rPr>
              <a:t> </a:t>
            </a:r>
            <a:r>
              <a:rPr lang="en-US" altLang="zh-CN" dirty="0">
                <a:solidFill>
                  <a:srgbClr val="FF0000"/>
                </a:solidFill>
                <a:latin typeface="Arial" panose="020B0604020202020204" pitchFamily="34" charset="0"/>
                <a:ea typeface="Arial Unicode MS" pitchFamily="34" charset="-122"/>
              </a:rPr>
              <a:t>n</a:t>
            </a:r>
            <a:r>
              <a:rPr lang="zh-CN" altLang="en-US" dirty="0">
                <a:solidFill>
                  <a:srgbClr val="FF0000"/>
                </a:solidFill>
                <a:latin typeface="Arial" panose="020B0604020202020204" pitchFamily="34" charset="0"/>
              </a:rPr>
              <a:t>列</a:t>
            </a:r>
            <a:r>
              <a:rPr lang="zh-CN" altLang="en-US" dirty="0">
                <a:latin typeface="Arial" panose="020B0604020202020204" pitchFamily="34" charset="0"/>
              </a:rPr>
              <a:t>的表，第 </a:t>
            </a:r>
            <a:r>
              <a:rPr lang="en-US" altLang="zh-CN" i="1" dirty="0"/>
              <a:t>i</a:t>
            </a:r>
            <a:r>
              <a:rPr lang="en-US" altLang="zh-CN" dirty="0">
                <a:latin typeface="Arial" panose="020B0604020202020204" pitchFamily="34" charset="0"/>
              </a:rPr>
              <a:t> </a:t>
            </a:r>
            <a:r>
              <a:rPr lang="zh-CN" altLang="en-US" dirty="0">
                <a:latin typeface="Arial" panose="020B0604020202020204" pitchFamily="34" charset="0"/>
              </a:rPr>
              <a:t>行对应</a:t>
            </a:r>
            <a:r>
              <a:rPr lang="zh-CN" altLang="en-US" dirty="0">
                <a:latin typeface="Arial" panose="020B0604020202020204" pitchFamily="34" charset="0"/>
                <a:ea typeface="Arial Unicode MS" pitchFamily="34" charset="-122"/>
                <a:sym typeface="Symbol" panose="05050102010706020507" pitchFamily="18" charset="2"/>
              </a:rPr>
              <a:t></a:t>
            </a:r>
            <a:r>
              <a:rPr lang="zh-CN" altLang="en-US" dirty="0">
                <a:latin typeface="Arial" panose="020B0604020202020204" pitchFamily="34" charset="0"/>
              </a:rPr>
              <a:t>中的一个关系模式</a:t>
            </a:r>
            <a:r>
              <a:rPr lang="en-US" altLang="zh-CN" dirty="0">
                <a:latin typeface="Arial" panose="020B0604020202020204" pitchFamily="34" charset="0"/>
                <a:ea typeface="Arial Unicode MS" pitchFamily="34" charset="-122"/>
              </a:rPr>
              <a:t>R</a:t>
            </a:r>
            <a:r>
              <a:rPr lang="en-US" altLang="zh-CN" i="1" baseline="-25000" dirty="0">
                <a:ea typeface="Arial Unicode MS" pitchFamily="34" charset="-122"/>
              </a:rPr>
              <a:t>i</a:t>
            </a:r>
            <a:r>
              <a:rPr lang="en-US" altLang="zh-CN" baseline="-18000" dirty="0">
                <a:ea typeface="Arial Unicode MS" pitchFamily="34" charset="-122"/>
              </a:rPr>
              <a:t> </a:t>
            </a:r>
            <a:r>
              <a:rPr lang="zh-CN" altLang="en-US" dirty="0">
                <a:latin typeface="Arial" panose="020B0604020202020204" pitchFamily="34" charset="0"/>
              </a:rPr>
              <a:t>，第 </a:t>
            </a:r>
            <a:r>
              <a:rPr lang="en-US" altLang="zh-CN" i="1" dirty="0"/>
              <a:t>j </a:t>
            </a:r>
            <a:r>
              <a:rPr lang="zh-CN" altLang="en-US" dirty="0">
                <a:latin typeface="Arial" panose="020B0604020202020204" pitchFamily="34" charset="0"/>
              </a:rPr>
              <a:t>列对应</a:t>
            </a:r>
            <a:r>
              <a:rPr lang="en-US" altLang="zh-CN" dirty="0">
                <a:latin typeface="Arial" panose="020B0604020202020204" pitchFamily="34" charset="0"/>
                <a:ea typeface="Arial Unicode MS" pitchFamily="34" charset="-122"/>
              </a:rPr>
              <a:t>R</a:t>
            </a:r>
            <a:r>
              <a:rPr lang="zh-CN" altLang="en-US" dirty="0">
                <a:latin typeface="Arial" panose="020B0604020202020204" pitchFamily="34" charset="0"/>
                <a:ea typeface="Arial Unicode MS" pitchFamily="34" charset="-122"/>
              </a:rPr>
              <a:t>的</a:t>
            </a:r>
            <a:r>
              <a:rPr lang="zh-CN" altLang="en-US" dirty="0">
                <a:latin typeface="Arial" panose="020B0604020202020204" pitchFamily="34" charset="0"/>
              </a:rPr>
              <a:t>一个属性</a:t>
            </a:r>
            <a:r>
              <a:rPr lang="en-US" altLang="zh-CN" dirty="0">
                <a:latin typeface="Arial" panose="020B0604020202020204" pitchFamily="34" charset="0"/>
              </a:rPr>
              <a:t>A</a:t>
            </a:r>
            <a:r>
              <a:rPr lang="en-US" altLang="zh-CN" i="1" baseline="-14000" dirty="0">
                <a:ea typeface="Arial Unicode MS" pitchFamily="34" charset="-122"/>
              </a:rPr>
              <a:t>j</a:t>
            </a:r>
            <a:r>
              <a:rPr lang="zh-CN" altLang="en-US" dirty="0">
                <a:latin typeface="Arial" panose="020B0604020202020204" pitchFamily="34" charset="0"/>
              </a:rPr>
              <a:t>。表中元素</a:t>
            </a:r>
            <a:r>
              <a:rPr lang="en-US" altLang="zh-CN" dirty="0">
                <a:latin typeface="Arial" panose="020B0604020202020204" pitchFamily="34" charset="0"/>
                <a:ea typeface="Arial Unicode MS" pitchFamily="34" charset="-122"/>
              </a:rPr>
              <a:t>m[ </a:t>
            </a:r>
            <a:r>
              <a:rPr lang="en-US" altLang="zh-CN" i="1" dirty="0"/>
              <a:t>i</a:t>
            </a:r>
            <a:r>
              <a:rPr lang="en-US" altLang="zh-CN" dirty="0">
                <a:latin typeface="Arial" panose="020B0604020202020204" pitchFamily="34" charset="0"/>
                <a:ea typeface="Arial Unicode MS" pitchFamily="34" charset="-122"/>
              </a:rPr>
              <a:t>, </a:t>
            </a:r>
            <a:r>
              <a:rPr lang="en-US" altLang="zh-CN" i="1" dirty="0"/>
              <a:t>j </a:t>
            </a:r>
            <a:r>
              <a:rPr lang="en-US" altLang="zh-CN" dirty="0">
                <a:latin typeface="Arial" panose="020B0604020202020204" pitchFamily="34" charset="0"/>
                <a:ea typeface="Arial Unicode MS" pitchFamily="34" charset="-122"/>
              </a:rPr>
              <a:t>]</a:t>
            </a:r>
            <a:r>
              <a:rPr lang="zh-CN" altLang="en-US" dirty="0">
                <a:latin typeface="Arial" panose="020B0604020202020204" pitchFamily="34" charset="0"/>
              </a:rPr>
              <a:t>的取值为：</a:t>
            </a:r>
            <a:endParaRPr lang="zh-CN" altLang="en-US" dirty="0">
              <a:latin typeface="Arial" panose="020B0604020202020204" pitchFamily="34" charset="0"/>
            </a:endParaRPr>
          </a:p>
          <a:p>
            <a:pPr marL="0" indent="0" eaLnBrk="1" hangingPunct="1">
              <a:buClr>
                <a:srgbClr val="FF0000"/>
              </a:buClr>
              <a:buSzPct val="65000"/>
              <a:buFont typeface="Wingdings" panose="05000000000000000000" pitchFamily="2" charset="2"/>
              <a:buNone/>
            </a:pPr>
            <a:r>
              <a:rPr lang="zh-CN" altLang="en-US" dirty="0">
                <a:latin typeface="Arial" panose="020B0604020202020204" pitchFamily="34" charset="0"/>
              </a:rPr>
              <a:t>       如果</a:t>
            </a:r>
            <a:r>
              <a:rPr lang="en-US" altLang="zh-CN" dirty="0">
                <a:latin typeface="Arial" panose="020B0604020202020204" pitchFamily="34" charset="0"/>
                <a:ea typeface="Arial Unicode MS" pitchFamily="34" charset="-122"/>
              </a:rPr>
              <a:t>A</a:t>
            </a:r>
            <a:r>
              <a:rPr lang="en-US" altLang="zh-CN" i="1" baseline="-14000" dirty="0">
                <a:ea typeface="Arial Unicode MS" pitchFamily="34" charset="-122"/>
              </a:rPr>
              <a:t>j</a:t>
            </a:r>
            <a:r>
              <a:rPr lang="en-US" altLang="zh-CN" dirty="0">
                <a:latin typeface="Arial" panose="020B0604020202020204" pitchFamily="34" charset="0"/>
                <a:ea typeface="Arial Unicode MS" pitchFamily="34" charset="-122"/>
                <a:sym typeface="Symbol" panose="05050102010706020507" pitchFamily="18" charset="2"/>
              </a:rPr>
              <a:t></a:t>
            </a:r>
            <a:r>
              <a:rPr lang="en-US" altLang="zh-CN" dirty="0">
                <a:latin typeface="Arial" panose="020B0604020202020204" pitchFamily="34" charset="0"/>
                <a:ea typeface="Arial Unicode MS" pitchFamily="34" charset="-122"/>
              </a:rPr>
              <a:t>U</a:t>
            </a:r>
            <a:r>
              <a:rPr lang="en-US" altLang="zh-CN" i="1" baseline="-14000" dirty="0">
                <a:ea typeface="Arial Unicode MS" pitchFamily="34" charset="-122"/>
              </a:rPr>
              <a:t>i</a:t>
            </a:r>
            <a:r>
              <a:rPr lang="zh-CN" altLang="en-US" dirty="0">
                <a:latin typeface="Arial" panose="020B0604020202020204" pitchFamily="34" charset="0"/>
              </a:rPr>
              <a:t>，则在第 </a:t>
            </a:r>
            <a:r>
              <a:rPr lang="en-US" altLang="zh-CN" i="1" dirty="0"/>
              <a:t>i </a:t>
            </a:r>
            <a:r>
              <a:rPr lang="zh-CN" altLang="en-US" dirty="0">
                <a:latin typeface="Arial" panose="020B0604020202020204" pitchFamily="34" charset="0"/>
              </a:rPr>
              <a:t>行第 </a:t>
            </a:r>
            <a:r>
              <a:rPr lang="en-US" altLang="zh-CN" i="1" dirty="0"/>
              <a:t>j </a:t>
            </a:r>
            <a:r>
              <a:rPr lang="zh-CN" altLang="en-US" dirty="0">
                <a:latin typeface="Arial" panose="020B0604020202020204" pitchFamily="34" charset="0"/>
              </a:rPr>
              <a:t>列上填上</a:t>
            </a:r>
            <a:endParaRPr lang="zh-CN" altLang="en-US" dirty="0">
              <a:latin typeface="Arial" panose="020B0604020202020204" pitchFamily="34" charset="0"/>
            </a:endParaRPr>
          </a:p>
          <a:p>
            <a:pPr marL="0" indent="0" eaLnBrk="1" hangingPunct="1">
              <a:spcAft>
                <a:spcPts val="600"/>
              </a:spcAft>
              <a:buClr>
                <a:srgbClr val="FF0000"/>
              </a:buClr>
              <a:buSzPct val="65000"/>
              <a:buFont typeface="Wingdings" panose="05000000000000000000" pitchFamily="2" charset="2"/>
              <a:buNone/>
            </a:pPr>
            <a:r>
              <a:rPr lang="zh-CN" altLang="en-US" dirty="0">
                <a:latin typeface="Arial" panose="020B0604020202020204" pitchFamily="34" charset="0"/>
              </a:rPr>
              <a:t>   </a:t>
            </a:r>
            <a:r>
              <a:rPr lang="en-US" altLang="zh-CN" dirty="0">
                <a:latin typeface="Arial" panose="020B0604020202020204" pitchFamily="34" charset="0"/>
                <a:ea typeface="Arial Unicode MS" pitchFamily="34" charset="-122"/>
              </a:rPr>
              <a:t>a</a:t>
            </a:r>
            <a:r>
              <a:rPr lang="en-US" altLang="zh-CN" i="1" baseline="-14000" dirty="0">
                <a:ea typeface="Arial Unicode MS" pitchFamily="34" charset="-122"/>
              </a:rPr>
              <a:t>j</a:t>
            </a:r>
            <a:r>
              <a:rPr lang="zh-CN" altLang="en-US" dirty="0">
                <a:latin typeface="Arial" panose="020B0604020202020204" pitchFamily="34" charset="0"/>
              </a:rPr>
              <a:t>，否则填上</a:t>
            </a:r>
            <a:r>
              <a:rPr lang="en-US" altLang="zh-CN" dirty="0">
                <a:latin typeface="Arial" panose="020B0604020202020204" pitchFamily="34" charset="0"/>
                <a:ea typeface="Arial Unicode MS" pitchFamily="34" charset="-122"/>
              </a:rPr>
              <a:t>b</a:t>
            </a:r>
            <a:r>
              <a:rPr lang="en-US" altLang="zh-CN" i="1" baseline="-14000" dirty="0">
                <a:ea typeface="Arial Unicode MS" pitchFamily="34" charset="-122"/>
              </a:rPr>
              <a:t>ij</a:t>
            </a:r>
            <a:r>
              <a:rPr lang="zh-CN" altLang="en-US" dirty="0">
                <a:latin typeface="Arial" panose="020B0604020202020204" pitchFamily="34" charset="0"/>
              </a:rPr>
              <a:t>。</a:t>
            </a:r>
            <a:endParaRPr lang="zh-CN" altLang="en-US" dirty="0">
              <a:latin typeface="Arial" panose="020B0604020202020204" pitchFamily="34" charset="0"/>
            </a:endParaRPr>
          </a:p>
        </p:txBody>
      </p:sp>
      <p:graphicFrame>
        <p:nvGraphicFramePr>
          <p:cNvPr id="353337" name="Group 57"/>
          <p:cNvGraphicFramePr>
            <a:graphicFrameLocks noGrp="1"/>
          </p:cNvGraphicFramePr>
          <p:nvPr>
            <p:ph sz="half" idx="1"/>
          </p:nvPr>
        </p:nvGraphicFramePr>
        <p:xfrm>
          <a:off x="2014538" y="177800"/>
          <a:ext cx="6950075" cy="3108325"/>
        </p:xfrm>
        <a:graphic>
          <a:graphicData uri="http://schemas.openxmlformats.org/drawingml/2006/table">
            <a:tbl>
              <a:tblPr/>
              <a:tblGrid>
                <a:gridCol w="1158875"/>
                <a:gridCol w="1158875"/>
                <a:gridCol w="1157287"/>
                <a:gridCol w="1243013"/>
                <a:gridCol w="1073150"/>
                <a:gridCol w="1158875"/>
              </a:tblGrid>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rPr>
                        <a:t>A</a:t>
                      </a:r>
                      <a:r>
                        <a:rPr kumimoji="0" lang="en-US" altLang="zh-CN" sz="2800" b="1" i="0" u="none" strike="noStrike" cap="none" normalizeH="0" baseline="-25000" dirty="0">
                          <a:ln>
                            <a:noFill/>
                          </a:ln>
                          <a:solidFill>
                            <a:srgbClr val="0000CC"/>
                          </a:solidFill>
                          <a:effectLst/>
                          <a:latin typeface="Arial" panose="020B0604020202020204" pitchFamily="34" charset="0"/>
                          <a:ea typeface="黑体" panose="02010609060101010101" pitchFamily="2" charset="-122"/>
                        </a:rPr>
                        <a:t>1</a:t>
                      </a:r>
                      <a:endParaRPr kumimoji="0" lang="en-US" altLang="zh-CN" sz="2800" b="1" i="0" u="none" strike="noStrike" cap="none" normalizeH="0" baseline="-2500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a:t>
                      </a:r>
                      <a:r>
                        <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rPr>
                        <a:t>j</a:t>
                      </a:r>
                      <a:endPar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n</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1</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rPr>
                        <a:t>i</a:t>
                      </a:r>
                      <a:endPar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m[</a:t>
                      </a:r>
                      <a:r>
                        <a:rPr kumimoji="0" lang="en-US" altLang="zh-CN" sz="2800" b="1" i="1" u="none" strike="noStrike" cap="none" normalizeH="0" baseline="0">
                          <a:ln>
                            <a:noFill/>
                          </a:ln>
                          <a:solidFill>
                            <a:srgbClr val="0000CC"/>
                          </a:solidFill>
                          <a:effectLst/>
                          <a:latin typeface="Times New Roman" panose="02020603050405020304" pitchFamily="18" charset="0"/>
                          <a:ea typeface="黑体" panose="02010609060101010101" pitchFamily="2" charset="-122"/>
                        </a:rPr>
                        <a:t>i</a:t>
                      </a: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 </a:t>
                      </a:r>
                      <a:r>
                        <a:rPr kumimoji="0" lang="en-US" altLang="zh-CN" sz="2800" b="1" i="1" u="none" strike="noStrike" cap="none" normalizeH="0" baseline="0">
                          <a:ln>
                            <a:noFill/>
                          </a:ln>
                          <a:solidFill>
                            <a:srgbClr val="0000CC"/>
                          </a:solidFill>
                          <a:effectLst/>
                          <a:latin typeface="Times New Roman" panose="02020603050405020304" pitchFamily="18" charset="0"/>
                          <a:ea typeface="黑体" panose="02010609060101010101" pitchFamily="2" charset="-122"/>
                        </a:rPr>
                        <a:t>j</a:t>
                      </a: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k</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bl>
          </a:graphicData>
        </a:graphic>
      </p:graphicFrame>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3284">
                                            <p:txEl>
                                              <p:charRg st="88" end="10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3284">
                                            <p:txEl>
                                              <p:charRg st="100" end="17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3284">
                                            <p:txEl>
                                              <p:charRg st="172" end="20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3284">
                                            <p:txEl>
                                              <p:charRg st="203" end="21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353337"/>
                                        </p:tgtEl>
                                        <p:attrNameLst>
                                          <p:attrName>style.visibility</p:attrName>
                                        </p:attrNameLst>
                                      </p:cBhvr>
                                      <p:to>
                                        <p:strVal val="visible"/>
                                      </p:to>
                                    </p:set>
                                    <p:animEffect transition="in" filter="box(in)">
                                      <p:cBhvr>
                                        <p:cTn id="19" dur="500"/>
                                        <p:tgtEl>
                                          <p:spTgt spid="353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body" sz="half" idx="1"/>
          </p:nvPr>
        </p:nvSpPr>
        <p:spPr>
          <a:xfrm>
            <a:off x="223838" y="857250"/>
            <a:ext cx="8812212" cy="5454650"/>
          </a:xfrm>
        </p:spPr>
        <p:txBody>
          <a:bodyPr vert="horz" wrap="square" lIns="91440" tIns="45720" rIns="91440" bIns="45720" anchor="t" anchorCtr="0"/>
          <a:p>
            <a:pPr marL="530225" indent="-530225" eaLnBrk="1" hangingPunct="1">
              <a:lnSpc>
                <a:spcPct val="110000"/>
              </a:lnSpc>
              <a:buClr>
                <a:srgbClr val="FF0000"/>
              </a:buClr>
              <a:buSzPct val="65000"/>
              <a:buFont typeface="Wingdings" panose="05000000000000000000" pitchFamily="2" charset="2"/>
              <a:buNone/>
            </a:pPr>
            <a:endParaRPr lang="en-US" altLang="zh-CN" sz="3200" dirty="0">
              <a:solidFill>
                <a:srgbClr val="0000CC"/>
              </a:solidFill>
              <a:latin typeface="Arial" panose="020B0604020202020204" pitchFamily="34" charset="0"/>
            </a:endParaRPr>
          </a:p>
          <a:p>
            <a:pPr marL="530225" indent="-530225" eaLnBrk="1" hangingPunct="1">
              <a:lnSpc>
                <a:spcPct val="110000"/>
              </a:lnSpc>
              <a:buClr>
                <a:srgbClr val="FF0000"/>
              </a:buClr>
              <a:buSzPct val="65000"/>
              <a:buFont typeface="Wingdings" panose="05000000000000000000" pitchFamily="2" charset="2"/>
              <a:buNone/>
            </a:pPr>
            <a:endParaRPr lang="en-US" altLang="zh-CN" sz="3200" dirty="0">
              <a:solidFill>
                <a:srgbClr val="0000CC"/>
              </a:solidFill>
              <a:latin typeface="Arial" panose="020B0604020202020204" pitchFamily="34" charset="0"/>
            </a:endParaRPr>
          </a:p>
          <a:p>
            <a:pPr marL="530225" indent="-530225" eaLnBrk="1" hangingPunct="1">
              <a:lnSpc>
                <a:spcPct val="110000"/>
              </a:lnSpc>
              <a:buClr>
                <a:srgbClr val="FF0000"/>
              </a:buClr>
              <a:buSzPct val="65000"/>
              <a:buFont typeface="Wingdings" panose="05000000000000000000" pitchFamily="2" charset="2"/>
              <a:buNone/>
            </a:pPr>
            <a:endParaRPr lang="en-US" altLang="zh-CN" sz="3200" dirty="0">
              <a:solidFill>
                <a:srgbClr val="0000CC"/>
              </a:solidFill>
              <a:latin typeface="Arial" panose="020B0604020202020204" pitchFamily="34" charset="0"/>
            </a:endParaRPr>
          </a:p>
          <a:p>
            <a:pPr marL="530225" indent="-530225" eaLnBrk="1" hangingPunct="1">
              <a:lnSpc>
                <a:spcPct val="110000"/>
              </a:lnSpc>
              <a:buClr>
                <a:srgbClr val="FF0000"/>
              </a:buClr>
              <a:buSzPct val="65000"/>
              <a:buFont typeface="Wingdings" panose="05000000000000000000" pitchFamily="2" charset="2"/>
              <a:buNone/>
            </a:pPr>
            <a:endParaRPr lang="en-US" altLang="zh-CN" sz="3200" dirty="0">
              <a:solidFill>
                <a:srgbClr val="0000CC"/>
              </a:solidFill>
              <a:latin typeface="Arial" panose="020B0604020202020204" pitchFamily="34" charset="0"/>
            </a:endParaRPr>
          </a:p>
          <a:p>
            <a:pPr marL="530225" indent="-530225" eaLnBrk="1" hangingPunct="1">
              <a:lnSpc>
                <a:spcPct val="110000"/>
              </a:lnSpc>
              <a:buClr>
                <a:srgbClr val="FF0000"/>
              </a:buClr>
              <a:buSzPct val="65000"/>
              <a:buFont typeface="Wingdings" panose="05000000000000000000" pitchFamily="2" charset="2"/>
              <a:buNone/>
            </a:pPr>
            <a:endParaRPr lang="en-US" altLang="zh-CN" sz="3200" dirty="0">
              <a:solidFill>
                <a:srgbClr val="0000CC"/>
              </a:solidFill>
              <a:latin typeface="Arial" panose="020B0604020202020204" pitchFamily="34" charset="0"/>
            </a:endParaRPr>
          </a:p>
          <a:p>
            <a:pPr marL="530225" indent="-530225" eaLnBrk="1" hangingPunct="1">
              <a:lnSpc>
                <a:spcPct val="110000"/>
              </a:lnSpc>
              <a:buClr>
                <a:srgbClr val="FF0000"/>
              </a:buClr>
              <a:buSzPct val="65000"/>
              <a:buFont typeface="Wingdings" panose="05000000000000000000" pitchFamily="2" charset="2"/>
              <a:buNone/>
            </a:pPr>
            <a:r>
              <a:rPr lang="en-US" altLang="zh-CN" sz="3200" dirty="0">
                <a:solidFill>
                  <a:srgbClr val="0000CC"/>
                </a:solidFill>
                <a:latin typeface="Arial" panose="020B0604020202020204" pitchFamily="34" charset="0"/>
              </a:rPr>
              <a:t>2.  </a:t>
            </a:r>
            <a:r>
              <a:rPr lang="zh-CN" altLang="en-US" sz="3200" dirty="0">
                <a:latin typeface="Arial" panose="020B0604020202020204" pitchFamily="34" charset="0"/>
              </a:rPr>
              <a:t>依次检查</a:t>
            </a:r>
            <a:r>
              <a:rPr lang="en-US" altLang="zh-CN" sz="3200" dirty="0">
                <a:latin typeface="Arial" panose="020B0604020202020204" pitchFamily="34" charset="0"/>
                <a:ea typeface="Arial Unicode MS" pitchFamily="34" charset="-122"/>
              </a:rPr>
              <a:t>F</a:t>
            </a:r>
            <a:r>
              <a:rPr lang="zh-CN" altLang="en-US" sz="3200" dirty="0">
                <a:latin typeface="Arial" panose="020B0604020202020204" pitchFamily="34" charset="0"/>
              </a:rPr>
              <a:t>中的每一个函数依赖，并修改表中元素，其方法为：取</a:t>
            </a:r>
            <a:r>
              <a:rPr lang="en-US" altLang="zh-CN" sz="3200" dirty="0">
                <a:latin typeface="Arial" panose="020B0604020202020204" pitchFamily="34" charset="0"/>
                <a:ea typeface="Arial Unicode MS" pitchFamily="34" charset="-122"/>
              </a:rPr>
              <a:t>F</a:t>
            </a:r>
            <a:r>
              <a:rPr lang="zh-CN" altLang="en-US" sz="3200" dirty="0">
                <a:latin typeface="Arial" panose="020B0604020202020204" pitchFamily="34" charset="0"/>
              </a:rPr>
              <a:t>中一个函数依赖</a:t>
            </a:r>
            <a:r>
              <a:rPr lang="en-US" altLang="zh-CN" sz="3200" dirty="0">
                <a:latin typeface="Arial" panose="020B0604020202020204" pitchFamily="34" charset="0"/>
                <a:ea typeface="Arial Unicode MS" pitchFamily="34" charset="-122"/>
              </a:rPr>
              <a:t>X</a:t>
            </a:r>
            <a:r>
              <a:rPr lang="en-US" altLang="zh-CN" sz="3200" dirty="0">
                <a:latin typeface="Arial" panose="020B0604020202020204" pitchFamily="34" charset="0"/>
              </a:rPr>
              <a:t>→</a:t>
            </a:r>
            <a:r>
              <a:rPr lang="en-US" altLang="zh-CN" sz="3200" dirty="0">
                <a:latin typeface="Arial" panose="020B0604020202020204" pitchFamily="34" charset="0"/>
                <a:ea typeface="Arial Unicode MS" pitchFamily="34" charset="-122"/>
              </a:rPr>
              <a:t>Y</a:t>
            </a:r>
            <a:r>
              <a:rPr lang="zh-CN" altLang="en-US" sz="3200" dirty="0">
                <a:latin typeface="Arial" panose="020B0604020202020204" pitchFamily="34" charset="0"/>
              </a:rPr>
              <a:t>，在</a:t>
            </a:r>
            <a:r>
              <a:rPr lang="en-US" altLang="zh-CN" sz="3200" u="sng" dirty="0">
                <a:latin typeface="Arial" panose="020B0604020202020204" pitchFamily="34" charset="0"/>
                <a:ea typeface="Arial Unicode MS" pitchFamily="34" charset="-122"/>
              </a:rPr>
              <a:t>X</a:t>
            </a:r>
            <a:r>
              <a:rPr lang="zh-CN" altLang="en-US" sz="3200" u="sng" dirty="0">
                <a:latin typeface="Arial" panose="020B0604020202020204" pitchFamily="34" charset="0"/>
              </a:rPr>
              <a:t>的分量中寻找相同的行</a:t>
            </a:r>
            <a:r>
              <a:rPr lang="zh-CN" altLang="en-US" sz="3200" dirty="0">
                <a:latin typeface="Arial" panose="020B0604020202020204" pitchFamily="34" charset="0"/>
              </a:rPr>
              <a:t>，然后</a:t>
            </a:r>
            <a:r>
              <a:rPr lang="zh-CN" altLang="en-US" sz="3200" u="sng" dirty="0">
                <a:latin typeface="Arial" panose="020B0604020202020204" pitchFamily="34" charset="0"/>
              </a:rPr>
              <a:t>将这些行中</a:t>
            </a:r>
            <a:r>
              <a:rPr lang="en-US" altLang="zh-CN" sz="3200" u="sng" dirty="0">
                <a:latin typeface="Arial" panose="020B0604020202020204" pitchFamily="34" charset="0"/>
                <a:ea typeface="Arial Unicode MS" pitchFamily="34" charset="-122"/>
              </a:rPr>
              <a:t>Y</a:t>
            </a:r>
            <a:r>
              <a:rPr lang="zh-CN" altLang="en-US" sz="3200" u="sng" dirty="0">
                <a:latin typeface="Arial" panose="020B0604020202020204" pitchFamily="34" charset="0"/>
              </a:rPr>
              <a:t>的分量改为相同的符号</a:t>
            </a:r>
            <a:r>
              <a:rPr lang="zh-CN" altLang="en-US" sz="3200" dirty="0">
                <a:latin typeface="Arial" panose="020B0604020202020204" pitchFamily="34" charset="0"/>
              </a:rPr>
              <a:t>。若其中有</a:t>
            </a:r>
            <a:r>
              <a:rPr lang="en-US" altLang="zh-CN" sz="3200" dirty="0">
                <a:latin typeface="Arial" panose="020B0604020202020204" pitchFamily="34" charset="0"/>
                <a:ea typeface="Arial Unicode MS" pitchFamily="34" charset="-122"/>
              </a:rPr>
              <a:t>a</a:t>
            </a:r>
            <a:r>
              <a:rPr lang="en-US" altLang="zh-CN" sz="3200" i="1" baseline="-25000" dirty="0">
                <a:ea typeface="Arial Unicode MS" pitchFamily="34" charset="-122"/>
              </a:rPr>
              <a:t>j</a:t>
            </a:r>
            <a:r>
              <a:rPr lang="en-US" altLang="zh-CN" sz="3200" dirty="0">
                <a:latin typeface="Arial" panose="020B0604020202020204" pitchFamily="34" charset="0"/>
                <a:ea typeface="Arial Unicode MS" pitchFamily="34" charset="-122"/>
              </a:rPr>
              <a:t> ,</a:t>
            </a:r>
            <a:r>
              <a:rPr lang="zh-CN" altLang="en-US" sz="3200" dirty="0">
                <a:latin typeface="Arial" panose="020B0604020202020204" pitchFamily="34" charset="0"/>
              </a:rPr>
              <a:t>则将</a:t>
            </a:r>
            <a:r>
              <a:rPr lang="en-US" altLang="zh-CN" sz="3200" dirty="0">
                <a:latin typeface="Arial" panose="020B0604020202020204" pitchFamily="34" charset="0"/>
                <a:ea typeface="Arial Unicode MS" pitchFamily="34" charset="-122"/>
              </a:rPr>
              <a:t>b</a:t>
            </a:r>
            <a:r>
              <a:rPr lang="en-US" altLang="zh-CN" sz="3200" i="1" baseline="-25000" dirty="0">
                <a:ea typeface="Arial Unicode MS" pitchFamily="34" charset="-122"/>
              </a:rPr>
              <a:t>ij</a:t>
            </a:r>
            <a:r>
              <a:rPr lang="zh-CN" altLang="en-US" sz="3200" dirty="0">
                <a:latin typeface="Arial" panose="020B0604020202020204" pitchFamily="34" charset="0"/>
              </a:rPr>
              <a:t>改为</a:t>
            </a:r>
            <a:r>
              <a:rPr lang="en-US" altLang="zh-CN" sz="3200" dirty="0">
                <a:latin typeface="Arial" panose="020B0604020202020204" pitchFamily="34" charset="0"/>
                <a:ea typeface="Arial Unicode MS" pitchFamily="34" charset="-122"/>
              </a:rPr>
              <a:t>a</a:t>
            </a:r>
            <a:r>
              <a:rPr lang="en-US" altLang="zh-CN" sz="3200" i="1" baseline="-25000" dirty="0">
                <a:ea typeface="Arial Unicode MS" pitchFamily="34" charset="-122"/>
              </a:rPr>
              <a:t>j</a:t>
            </a:r>
            <a:r>
              <a:rPr lang="zh-CN" altLang="en-US" sz="3200" dirty="0">
                <a:latin typeface="Arial" panose="020B0604020202020204" pitchFamily="34" charset="0"/>
              </a:rPr>
              <a:t>；若其中无</a:t>
            </a:r>
            <a:r>
              <a:rPr lang="en-US" altLang="zh-CN" sz="3200" dirty="0">
                <a:latin typeface="Arial" panose="020B0604020202020204" pitchFamily="34" charset="0"/>
                <a:ea typeface="Arial Unicode MS" pitchFamily="34" charset="-122"/>
              </a:rPr>
              <a:t>a</a:t>
            </a:r>
            <a:r>
              <a:rPr lang="en-US" altLang="zh-CN" sz="3200" i="1" baseline="-25000" dirty="0">
                <a:ea typeface="Arial Unicode MS" pitchFamily="34" charset="-122"/>
              </a:rPr>
              <a:t>j</a:t>
            </a:r>
            <a:r>
              <a:rPr lang="zh-CN" altLang="en-US" sz="3200" dirty="0">
                <a:latin typeface="Arial" panose="020B0604020202020204" pitchFamily="34" charset="0"/>
              </a:rPr>
              <a:t>，则改为行号较小的</a:t>
            </a:r>
            <a:r>
              <a:rPr lang="en-US" altLang="zh-CN" sz="3200" dirty="0">
                <a:latin typeface="Arial" panose="020B0604020202020204" pitchFamily="34" charset="0"/>
                <a:ea typeface="Arial Unicode MS" pitchFamily="34" charset="-122"/>
              </a:rPr>
              <a:t>b</a:t>
            </a:r>
            <a:r>
              <a:rPr lang="en-US" altLang="zh-CN" sz="3200" i="1" baseline="-25000" dirty="0">
                <a:ea typeface="Arial Unicode MS" pitchFamily="34" charset="-122"/>
              </a:rPr>
              <a:t>ij</a:t>
            </a:r>
            <a:r>
              <a:rPr lang="zh-CN" altLang="en-US" sz="3200" dirty="0">
                <a:latin typeface="Arial" panose="020B0604020202020204" pitchFamily="34" charset="0"/>
              </a:rPr>
              <a:t>。</a:t>
            </a:r>
            <a:endParaRPr lang="zh-CN" altLang="en-US" sz="3200" dirty="0">
              <a:latin typeface="Arial" panose="020B0604020202020204" pitchFamily="34" charset="0"/>
            </a:endParaRPr>
          </a:p>
        </p:txBody>
      </p:sp>
      <p:sp>
        <p:nvSpPr>
          <p:cNvPr id="355331" name="Rectangle 3"/>
          <p:cNvSpPr>
            <a:spLocks noGrp="1" noChangeArrowheads="1"/>
          </p:cNvSpPr>
          <p:nvPr>
            <p:ph type="title"/>
          </p:nvPr>
        </p:nvSpPr>
        <p:spPr>
          <a:xfrm>
            <a:off x="179388" y="73025"/>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无损分解的测试算法</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8" name="Group 57"/>
          <p:cNvGraphicFramePr>
            <a:graphicFrameLocks noGrp="1"/>
          </p:cNvGraphicFramePr>
          <p:nvPr>
            <p:ph sz="half" idx="1"/>
          </p:nvPr>
        </p:nvGraphicFramePr>
        <p:xfrm>
          <a:off x="2014538" y="177800"/>
          <a:ext cx="6950075" cy="3108325"/>
        </p:xfrm>
        <a:graphic>
          <a:graphicData uri="http://schemas.openxmlformats.org/drawingml/2006/table">
            <a:tbl>
              <a:tblPr/>
              <a:tblGrid>
                <a:gridCol w="1158875"/>
                <a:gridCol w="1158875"/>
                <a:gridCol w="1157287"/>
                <a:gridCol w="1243013"/>
                <a:gridCol w="1073150"/>
                <a:gridCol w="1158875"/>
              </a:tblGrid>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rPr>
                        <a:t>A</a:t>
                      </a:r>
                      <a:r>
                        <a:rPr kumimoji="0" lang="en-US" altLang="zh-CN" sz="2800" b="1" i="0" u="none" strike="noStrike" cap="none" normalizeH="0" baseline="-25000" dirty="0">
                          <a:ln>
                            <a:noFill/>
                          </a:ln>
                          <a:solidFill>
                            <a:srgbClr val="0000CC"/>
                          </a:solidFill>
                          <a:effectLst/>
                          <a:latin typeface="Arial" panose="020B0604020202020204" pitchFamily="34" charset="0"/>
                          <a:ea typeface="黑体" panose="02010609060101010101" pitchFamily="2" charset="-122"/>
                        </a:rPr>
                        <a:t>1</a:t>
                      </a:r>
                      <a:endParaRPr kumimoji="0" lang="en-US" altLang="zh-CN" sz="2800" b="1" i="0" u="none" strike="noStrike" cap="none" normalizeH="0" baseline="-2500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a:t>
                      </a:r>
                      <a:r>
                        <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rPr>
                        <a:t>j</a:t>
                      </a:r>
                      <a:endPar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n</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1</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rPr>
                        <a:t>i</a:t>
                      </a:r>
                      <a:endPar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m[</a:t>
                      </a:r>
                      <a:r>
                        <a:rPr kumimoji="0" lang="en-US" altLang="zh-CN" sz="2800" b="1" i="1" u="none" strike="noStrike" cap="none" normalizeH="0" baseline="0">
                          <a:ln>
                            <a:noFill/>
                          </a:ln>
                          <a:solidFill>
                            <a:srgbClr val="0000CC"/>
                          </a:solidFill>
                          <a:effectLst/>
                          <a:latin typeface="Times New Roman" panose="02020603050405020304" pitchFamily="18" charset="0"/>
                          <a:ea typeface="黑体" panose="02010609060101010101" pitchFamily="2" charset="-122"/>
                        </a:rPr>
                        <a:t>i</a:t>
                      </a: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 </a:t>
                      </a:r>
                      <a:r>
                        <a:rPr kumimoji="0" lang="en-US" altLang="zh-CN" sz="2800" b="1" i="1" u="none" strike="noStrike" cap="none" normalizeH="0" baseline="0">
                          <a:ln>
                            <a:noFill/>
                          </a:ln>
                          <a:solidFill>
                            <a:srgbClr val="0000CC"/>
                          </a:solidFill>
                          <a:effectLst/>
                          <a:latin typeface="Times New Roman" panose="02020603050405020304" pitchFamily="18" charset="0"/>
                          <a:ea typeface="黑体" panose="02010609060101010101" pitchFamily="2" charset="-122"/>
                        </a:rPr>
                        <a:t>j</a:t>
                      </a: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k</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0" name="Rectangle 2"/>
          <p:cNvSpPr>
            <a:spLocks noGrp="1"/>
          </p:cNvSpPr>
          <p:nvPr>
            <p:ph type="body" sz="half" idx="1"/>
          </p:nvPr>
        </p:nvSpPr>
        <p:spPr>
          <a:xfrm>
            <a:off x="223838" y="3571875"/>
            <a:ext cx="8812212" cy="2740025"/>
          </a:xfrm>
        </p:spPr>
        <p:txBody>
          <a:bodyPr vert="horz" wrap="square" lIns="91440" tIns="45720" rIns="91440" bIns="45720" anchor="t" anchorCtr="0"/>
          <a:p>
            <a:pPr marL="530225" indent="-530225" eaLnBrk="1" hangingPunct="1">
              <a:lnSpc>
                <a:spcPct val="110000"/>
              </a:lnSpc>
              <a:spcBef>
                <a:spcPct val="25000"/>
              </a:spcBef>
              <a:buClr>
                <a:srgbClr val="FF0000"/>
              </a:buClr>
              <a:buSzPct val="65000"/>
              <a:buFont typeface="Wingdings" panose="05000000000000000000" pitchFamily="2" charset="2"/>
              <a:buNone/>
            </a:pPr>
            <a:r>
              <a:rPr lang="en-US" altLang="zh-CN" sz="3200" dirty="0">
                <a:solidFill>
                  <a:srgbClr val="0000CC"/>
                </a:solidFill>
                <a:latin typeface="Arial" panose="020B0604020202020204" pitchFamily="34" charset="0"/>
              </a:rPr>
              <a:t>3.  </a:t>
            </a:r>
            <a:r>
              <a:rPr lang="zh-CN" altLang="en-US" sz="3200" dirty="0">
                <a:latin typeface="Arial" panose="020B0604020202020204" pitchFamily="34" charset="0"/>
              </a:rPr>
              <a:t>这样反复进行，直到发现</a:t>
            </a:r>
            <a:r>
              <a:rPr lang="zh-CN" altLang="en-US" sz="3200" u="sng" dirty="0">
                <a:latin typeface="Arial" panose="020B0604020202020204" pitchFamily="34" charset="0"/>
              </a:rPr>
              <a:t>表中有一行变为</a:t>
            </a:r>
            <a:r>
              <a:rPr lang="en-US" altLang="zh-CN" sz="3200" u="sng" dirty="0">
                <a:latin typeface="Arial" panose="020B0604020202020204" pitchFamily="34" charset="0"/>
                <a:ea typeface="Arial Unicode MS" pitchFamily="34" charset="-122"/>
              </a:rPr>
              <a:t>a</a:t>
            </a:r>
            <a:r>
              <a:rPr lang="en-US" altLang="zh-CN" sz="3200" u="sng" baseline="-25000" dirty="0">
                <a:latin typeface="Arial" panose="020B0604020202020204" pitchFamily="34" charset="0"/>
                <a:ea typeface="Arial Unicode MS" pitchFamily="34" charset="-122"/>
              </a:rPr>
              <a:t>1</a:t>
            </a:r>
            <a:r>
              <a:rPr lang="zh-CN" altLang="en-US" sz="3200" u="sng" dirty="0">
                <a:latin typeface="Arial" panose="020B0604020202020204" pitchFamily="34" charset="0"/>
              </a:rPr>
              <a:t>，</a:t>
            </a:r>
            <a:r>
              <a:rPr lang="en-US" altLang="zh-CN" sz="3200" u="sng" dirty="0">
                <a:latin typeface="Arial" panose="020B0604020202020204" pitchFamily="34" charset="0"/>
                <a:ea typeface="Arial Unicode MS" pitchFamily="34" charset="-122"/>
              </a:rPr>
              <a:t>a</a:t>
            </a:r>
            <a:r>
              <a:rPr lang="en-US" altLang="zh-CN" sz="3200" u="sng" baseline="-25000" dirty="0">
                <a:latin typeface="Arial" panose="020B0604020202020204" pitchFamily="34" charset="0"/>
                <a:ea typeface="Arial Unicode MS" pitchFamily="34" charset="-122"/>
              </a:rPr>
              <a:t>2</a:t>
            </a:r>
            <a:r>
              <a:rPr lang="zh-CN" altLang="en-US" sz="3200" u="sng" dirty="0">
                <a:latin typeface="Arial" panose="020B0604020202020204" pitchFamily="34" charset="0"/>
              </a:rPr>
              <a:t>，</a:t>
            </a:r>
            <a:r>
              <a:rPr lang="en-US" altLang="zh-CN" sz="3200" u="sng" dirty="0">
                <a:latin typeface="Arial" panose="020B0604020202020204" pitchFamily="34" charset="0"/>
              </a:rPr>
              <a:t>…</a:t>
            </a:r>
            <a:r>
              <a:rPr lang="zh-CN" altLang="en-US" sz="3200" u="sng" dirty="0">
                <a:latin typeface="Arial" panose="020B0604020202020204" pitchFamily="34" charset="0"/>
              </a:rPr>
              <a:t>，</a:t>
            </a:r>
            <a:r>
              <a:rPr lang="en-US" altLang="zh-CN" sz="3200" u="sng" dirty="0">
                <a:latin typeface="Arial" panose="020B0604020202020204" pitchFamily="34" charset="0"/>
                <a:ea typeface="Arial Unicode MS" pitchFamily="34" charset="-122"/>
              </a:rPr>
              <a:t>a</a:t>
            </a:r>
            <a:r>
              <a:rPr lang="en-US" altLang="zh-CN" sz="3200" u="sng" baseline="-25000" dirty="0">
                <a:latin typeface="Arial" panose="020B0604020202020204" pitchFamily="34" charset="0"/>
                <a:ea typeface="Arial Unicode MS" pitchFamily="34" charset="-122"/>
              </a:rPr>
              <a:t>n</a:t>
            </a:r>
            <a:r>
              <a:rPr lang="zh-CN" altLang="en-US" sz="3200" u="sng" dirty="0">
                <a:latin typeface="Arial" panose="020B0604020202020204" pitchFamily="34" charset="0"/>
              </a:rPr>
              <a:t>，则</a:t>
            </a:r>
            <a:r>
              <a:rPr lang="zh-CN" altLang="en-US" sz="3200" u="sng" dirty="0">
                <a:latin typeface="Arial" panose="020B0604020202020204" pitchFamily="34" charset="0"/>
                <a:ea typeface="Arial Unicode MS" pitchFamily="34" charset="-122"/>
                <a:sym typeface="Symbol" panose="05050102010706020507" pitchFamily="18" charset="2"/>
              </a:rPr>
              <a:t></a:t>
            </a:r>
            <a:r>
              <a:rPr lang="zh-CN" altLang="en-US" sz="3200" u="sng" dirty="0">
                <a:latin typeface="Arial" panose="020B0604020202020204" pitchFamily="34" charset="0"/>
              </a:rPr>
              <a:t>是无损分解</a:t>
            </a:r>
            <a:r>
              <a:rPr lang="zh-CN" altLang="en-US" sz="3200" dirty="0">
                <a:latin typeface="Arial" panose="020B0604020202020204" pitchFamily="34" charset="0"/>
              </a:rPr>
              <a:t>；如果检验完</a:t>
            </a:r>
            <a:r>
              <a:rPr lang="en-US" altLang="zh-CN" sz="3200" dirty="0">
                <a:latin typeface="Arial" panose="020B0604020202020204" pitchFamily="34" charset="0"/>
                <a:ea typeface="Arial Unicode MS" pitchFamily="34" charset="-122"/>
              </a:rPr>
              <a:t>F</a:t>
            </a:r>
            <a:r>
              <a:rPr lang="zh-CN" altLang="en-US" sz="3200" dirty="0">
                <a:latin typeface="Arial" panose="020B0604020202020204" pitchFamily="34" charset="0"/>
              </a:rPr>
              <a:t>中的所有函数依赖也没有发现这样的行，则分解</a:t>
            </a:r>
            <a:r>
              <a:rPr lang="zh-CN" altLang="en-US" sz="3200" dirty="0">
                <a:latin typeface="Arial" panose="020B0604020202020204" pitchFamily="34" charset="0"/>
                <a:ea typeface="Arial Unicode MS" pitchFamily="34" charset="-122"/>
                <a:sym typeface="Symbol" panose="05050102010706020507" pitchFamily="18" charset="2"/>
              </a:rPr>
              <a:t></a:t>
            </a:r>
            <a:r>
              <a:rPr lang="zh-CN" altLang="en-US" sz="3200" dirty="0">
                <a:latin typeface="Arial" panose="020B0604020202020204" pitchFamily="34" charset="0"/>
              </a:rPr>
              <a:t>不是无损分解。</a:t>
            </a:r>
            <a:endParaRPr lang="zh-CN" altLang="en-US" sz="3200" dirty="0">
              <a:latin typeface="Arial" panose="020B0604020202020204" pitchFamily="34" charset="0"/>
            </a:endParaRPr>
          </a:p>
        </p:txBody>
      </p:sp>
      <p:sp>
        <p:nvSpPr>
          <p:cNvPr id="355331" name="Rectangle 3"/>
          <p:cNvSpPr>
            <a:spLocks noGrp="1" noChangeArrowheads="1"/>
          </p:cNvSpPr>
          <p:nvPr>
            <p:ph type="title"/>
          </p:nvPr>
        </p:nvSpPr>
        <p:spPr>
          <a:xfrm>
            <a:off x="179388" y="73025"/>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无损分解的测试算法</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4" name="Group 57"/>
          <p:cNvGraphicFramePr>
            <a:graphicFrameLocks noGrp="1"/>
          </p:cNvGraphicFramePr>
          <p:nvPr>
            <p:ph sz="half" idx="1"/>
          </p:nvPr>
        </p:nvGraphicFramePr>
        <p:xfrm>
          <a:off x="2014538" y="177800"/>
          <a:ext cx="6950075" cy="3108325"/>
        </p:xfrm>
        <a:graphic>
          <a:graphicData uri="http://schemas.openxmlformats.org/drawingml/2006/table">
            <a:tbl>
              <a:tblPr/>
              <a:tblGrid>
                <a:gridCol w="1158875"/>
                <a:gridCol w="1158875"/>
                <a:gridCol w="1157287"/>
                <a:gridCol w="1243013"/>
                <a:gridCol w="1073150"/>
                <a:gridCol w="1158875"/>
              </a:tblGrid>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rPr>
                        <a:t>A</a:t>
                      </a:r>
                      <a:r>
                        <a:rPr kumimoji="0" lang="en-US" altLang="zh-CN" sz="2800" b="1" i="0" u="none" strike="noStrike" cap="none" normalizeH="0" baseline="-25000" dirty="0">
                          <a:ln>
                            <a:noFill/>
                          </a:ln>
                          <a:solidFill>
                            <a:srgbClr val="0000CC"/>
                          </a:solidFill>
                          <a:effectLst/>
                          <a:latin typeface="Arial" panose="020B0604020202020204" pitchFamily="34" charset="0"/>
                          <a:ea typeface="黑体" panose="02010609060101010101" pitchFamily="2" charset="-122"/>
                        </a:rPr>
                        <a:t>1</a:t>
                      </a:r>
                      <a:endParaRPr kumimoji="0" lang="en-US" altLang="zh-CN" sz="2800" b="1" i="0" u="none" strike="noStrike" cap="none" normalizeH="0" baseline="-2500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a:t>
                      </a:r>
                      <a:r>
                        <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rPr>
                        <a:t>j</a:t>
                      </a:r>
                      <a:endPar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n</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1</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rPr>
                        <a:t>i</a:t>
                      </a:r>
                      <a:endParaRPr kumimoji="0" lang="en-US" altLang="zh-CN" sz="2800" b="1" i="1" u="none" strike="noStrike" cap="none" normalizeH="0" baseline="-25000">
                        <a:ln>
                          <a:noFill/>
                        </a:ln>
                        <a:solidFill>
                          <a:srgbClr val="0000CC"/>
                        </a:solidFill>
                        <a:effectLst/>
                        <a:latin typeface="Times New Roman" panose="02020603050405020304" pitchFamily="18"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m[</a:t>
                      </a:r>
                      <a:r>
                        <a:rPr kumimoji="0" lang="en-US" altLang="zh-CN" sz="2800" b="1" i="1" u="none" strike="noStrike" cap="none" normalizeH="0" baseline="0">
                          <a:ln>
                            <a:noFill/>
                          </a:ln>
                          <a:solidFill>
                            <a:srgbClr val="0000CC"/>
                          </a:solidFill>
                          <a:effectLst/>
                          <a:latin typeface="Times New Roman" panose="02020603050405020304" pitchFamily="18" charset="0"/>
                          <a:ea typeface="黑体" panose="02010609060101010101" pitchFamily="2" charset="-122"/>
                        </a:rPr>
                        <a:t>i</a:t>
                      </a: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 </a:t>
                      </a:r>
                      <a:r>
                        <a:rPr kumimoji="0" lang="en-US" altLang="zh-CN" sz="2800" b="1" i="1" u="none" strike="noStrike" cap="none" normalizeH="0" baseline="0">
                          <a:ln>
                            <a:noFill/>
                          </a:ln>
                          <a:solidFill>
                            <a:srgbClr val="0000CC"/>
                          </a:solidFill>
                          <a:effectLst/>
                          <a:latin typeface="Times New Roman" panose="02020603050405020304" pitchFamily="18" charset="0"/>
                          <a:ea typeface="黑体" panose="02010609060101010101" pitchFamily="2" charset="-122"/>
                        </a:rPr>
                        <a:t>j</a:t>
                      </a: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r h="518054">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rPr>
                        <a:t>R</a:t>
                      </a:r>
                      <a:r>
                        <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rPr>
                        <a:t>k</a:t>
                      </a:r>
                      <a:endParaRPr kumimoji="0" lang="en-US" altLang="zh-CN" sz="2800" b="1" i="0" u="none" strike="noStrike" cap="none" normalizeH="0" baseline="-2500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800" b="1" i="0" u="none" strike="noStrike" cap="none" normalizeH="0" baseline="0" dirty="0">
                        <a:ln>
                          <a:noFill/>
                        </a:ln>
                        <a:solidFill>
                          <a:srgbClr val="0000CC"/>
                        </a:solidFill>
                        <a:effectLst/>
                        <a:latin typeface="Arial" panose="020B0604020202020204" pitchFamily="34" charset="0"/>
                        <a:ea typeface="黑体" panose="02010609060101010101" pitchFamily="2" charset="-122"/>
                      </a:endParaRPr>
                    </a:p>
                  </a:txBody>
                  <a:tcPr marT="45711" marB="45711" horzOverflow="overflow">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a:noFill/>
                    </a:lnTlToBr>
                    <a:lnBlToTr>
                      <a:noFill/>
                    </a:lnBlToTr>
                    <a:solidFill>
                      <a:srgbClr val="FFE1FF"/>
                    </a:solidFill>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5330">
                                            <p:txEl>
                                              <p:charRg st="0" end="7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ox(in)">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8578"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8131" name="Rectangle 3"/>
          <p:cNvSpPr>
            <a:spLocks noGrp="1"/>
          </p:cNvSpPr>
          <p:nvPr>
            <p:ph idx="1"/>
          </p:nvPr>
        </p:nvSpPr>
        <p:spPr>
          <a:xfrm>
            <a:off x="1231900" y="1016000"/>
            <a:ext cx="7372350" cy="5365750"/>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7.1 </a:t>
            </a:r>
            <a:r>
              <a:rPr lang="zh-CN" altLang="en-US" dirty="0">
                <a:latin typeface="宋体" panose="02010600030101010101" pitchFamily="2" charset="-122"/>
              </a:rPr>
              <a:t>问题的提出</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7.2 </a:t>
            </a:r>
            <a:r>
              <a:rPr lang="zh-CN" altLang="en-US" dirty="0">
                <a:latin typeface="宋体" panose="02010600030101010101" pitchFamily="2" charset="-122"/>
              </a:rPr>
              <a:t>函数依赖</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7.3 </a:t>
            </a:r>
            <a:r>
              <a:rPr lang="zh-CN" altLang="en-US" dirty="0">
                <a:latin typeface="Arial" panose="020B0604020202020204" pitchFamily="34" charset="0"/>
              </a:rPr>
              <a:t>数据依赖的公理系统</a:t>
            </a:r>
            <a:endParaRPr lang="zh-CN" altLang="en-US" dirty="0">
              <a:solidFill>
                <a:srgbClr val="0033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7.4 </a:t>
            </a:r>
            <a:r>
              <a:rPr lang="zh-CN" altLang="en-US" dirty="0">
                <a:latin typeface="Arial" panose="020B0604020202020204" pitchFamily="34" charset="0"/>
              </a:rPr>
              <a:t>关系模式的分解</a:t>
            </a:r>
            <a:endParaRPr lang="zh-CN" altLang="en-US" dirty="0">
              <a:latin typeface="Arial" panose="020B0604020202020204" pitchFamily="34" charset="0"/>
            </a:endParaRPr>
          </a:p>
          <a:p>
            <a:pPr eaLnBrk="1" hangingPunct="1">
              <a:lnSpc>
                <a:spcPct val="140000"/>
              </a:lnSpc>
              <a:buNone/>
            </a:pPr>
            <a:r>
              <a:rPr lang="en-US" altLang="zh-CN" dirty="0">
                <a:solidFill>
                  <a:srgbClr val="0000CC"/>
                </a:solidFill>
                <a:latin typeface="Arial" panose="020B0604020202020204" pitchFamily="34" charset="0"/>
              </a:rPr>
              <a:t>7.5 </a:t>
            </a:r>
            <a:r>
              <a:rPr lang="zh-CN" altLang="en-US" dirty="0">
                <a:solidFill>
                  <a:srgbClr val="0000CC"/>
                </a:solidFill>
              </a:rPr>
              <a:t>范式及其规范化</a:t>
            </a:r>
            <a:endParaRPr lang="zh-CN" altLang="en-US" dirty="0">
              <a:solidFill>
                <a:srgbClr val="0000CC"/>
              </a:solidFill>
            </a:endParaRPr>
          </a:p>
        </p:txBody>
      </p:sp>
    </p:spTree>
  </p:cSld>
  <p:clrMapOvr>
    <a:masterClrMapping/>
  </p:clrMapOvr>
  <p:transition>
    <p:random/>
    <p:sndAc>
      <p:stSnd>
        <p:snd r:embed="rId1" name="CAMERA.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idx="1"/>
          </p:nvPr>
        </p:nvSpPr>
        <p:spPr>
          <a:xfrm>
            <a:off x="152400" y="1052513"/>
            <a:ext cx="8812213" cy="5545137"/>
          </a:xfrm>
        </p:spPr>
        <p:txBody>
          <a:bodyPr vert="horz" wrap="square" lIns="91440" tIns="45720" rIns="91440" bIns="45720" anchor="t" anchorCtr="0"/>
          <a:p>
            <a:pPr marL="449580" indent="-449580" eaLnBrk="1" hangingPunct="1"/>
            <a:r>
              <a:rPr lang="zh-CN" altLang="en-US" dirty="0"/>
              <a:t>关系满足不同程度要求的就称其为不同的范式。</a:t>
            </a:r>
            <a:endParaRPr lang="zh-CN" altLang="en-US" dirty="0"/>
          </a:p>
          <a:p>
            <a:pPr marL="449580" indent="-449580" eaLnBrk="1" hangingPunct="1">
              <a:spcBef>
                <a:spcPct val="25000"/>
              </a:spcBef>
            </a:pPr>
            <a:r>
              <a:rPr lang="zh-CN" altLang="en-US" dirty="0">
                <a:latin typeface="Arial" panose="020B0604020202020204" pitchFamily="34" charset="0"/>
              </a:rPr>
              <a:t>范式是表示关系的某种级别，</a:t>
            </a:r>
            <a:r>
              <a:rPr lang="en-US" altLang="zh-CN" dirty="0">
                <a:latin typeface="Arial" panose="020B0604020202020204" pitchFamily="34" charset="0"/>
                <a:ea typeface="Arial Unicode MS" pitchFamily="34" charset="-122"/>
              </a:rPr>
              <a:t>R</a:t>
            </a:r>
            <a:r>
              <a:rPr lang="zh-CN" altLang="en-US" dirty="0">
                <a:latin typeface="Arial" panose="020B0604020202020204" pitchFamily="34" charset="0"/>
              </a:rPr>
              <a:t>为第</a:t>
            </a:r>
            <a:r>
              <a:rPr lang="en-US" altLang="zh-CN" dirty="0">
                <a:latin typeface="Arial" panose="020B0604020202020204" pitchFamily="34" charset="0"/>
              </a:rPr>
              <a:t>n</a:t>
            </a:r>
            <a:r>
              <a:rPr lang="zh-CN" altLang="en-US" dirty="0">
                <a:latin typeface="Arial" panose="020B0604020202020204" pitchFamily="34" charset="0"/>
              </a:rPr>
              <a:t>范式可写成： </a:t>
            </a:r>
            <a:endParaRPr lang="zh-CN" altLang="en-US" dirty="0">
              <a:latin typeface="Arial" panose="020B0604020202020204" pitchFamily="34" charset="0"/>
            </a:endParaRPr>
          </a:p>
          <a:p>
            <a:pPr marL="449580" indent="-449580" eaLnBrk="1" hangingPunct="1">
              <a:buNone/>
            </a:pPr>
            <a:r>
              <a:rPr lang="zh-CN" altLang="en-US" dirty="0">
                <a:latin typeface="Arial" panose="020B0604020202020204" pitchFamily="34" charset="0"/>
                <a:ea typeface="Arial Unicode MS" pitchFamily="34" charset="-122"/>
              </a:rPr>
              <a:t>         </a:t>
            </a:r>
            <a:r>
              <a:rPr lang="en-US" altLang="zh-CN" dirty="0">
                <a:solidFill>
                  <a:srgbClr val="FF0000"/>
                </a:solidFill>
                <a:latin typeface="Arial" panose="020B0604020202020204" pitchFamily="34" charset="0"/>
                <a:ea typeface="Arial Unicode MS" pitchFamily="34" charset="-122"/>
              </a:rPr>
              <a:t>R</a:t>
            </a:r>
            <a:r>
              <a:rPr lang="en-US" altLang="zh-CN" dirty="0">
                <a:solidFill>
                  <a:srgbClr val="FF0000"/>
                </a:solidFill>
                <a:latin typeface="Arial" panose="020B0604020202020204" pitchFamily="34" charset="0"/>
                <a:ea typeface="Arial Unicode MS" pitchFamily="34" charset="-122"/>
                <a:sym typeface="Symbol" panose="05050102010706020507" pitchFamily="18" charset="2"/>
              </a:rPr>
              <a:t></a:t>
            </a:r>
            <a:r>
              <a:rPr lang="en-US" altLang="zh-CN" dirty="0">
                <a:solidFill>
                  <a:srgbClr val="FF0000"/>
                </a:solidFill>
                <a:latin typeface="Arial" panose="020B0604020202020204" pitchFamily="34" charset="0"/>
                <a:ea typeface="Arial Unicode MS" pitchFamily="34" charset="-122"/>
              </a:rPr>
              <a:t>nNF    </a:t>
            </a:r>
            <a:r>
              <a:rPr lang="en-US" altLang="zh-CN" dirty="0">
                <a:latin typeface="Arial" panose="020B0604020202020204" pitchFamily="34" charset="0"/>
                <a:ea typeface="Arial Unicode MS" pitchFamily="34" charset="-122"/>
              </a:rPr>
              <a:t>( n  Normal  Form )</a:t>
            </a:r>
            <a:endParaRPr lang="en-US" altLang="zh-CN" dirty="0"/>
          </a:p>
          <a:p>
            <a:pPr marL="449580" indent="-449580" eaLnBrk="1" hangingPunct="1">
              <a:spcBef>
                <a:spcPct val="30000"/>
              </a:spcBef>
            </a:pPr>
            <a:r>
              <a:rPr lang="zh-CN" altLang="en-US" dirty="0">
                <a:latin typeface="Arial" panose="020B0604020202020204" pitchFamily="34" charset="0"/>
              </a:rPr>
              <a:t>范式的等级越高，满足的条件越严格，各种范式之间的联系有：   </a:t>
            </a:r>
            <a:endParaRPr lang="zh-CN" altLang="en-US" dirty="0">
              <a:latin typeface="Arial" panose="020B0604020202020204" pitchFamily="34" charset="0"/>
            </a:endParaRPr>
          </a:p>
          <a:p>
            <a:pPr marL="449580" indent="-449580" eaLnBrk="1" hangingPunct="1">
              <a:spcBef>
                <a:spcPct val="10000"/>
              </a:spcBef>
              <a:buNone/>
            </a:pPr>
            <a:r>
              <a:rPr lang="zh-CN" altLang="en-US" dirty="0">
                <a:solidFill>
                  <a:srgbClr val="0000CC"/>
                </a:solidFill>
                <a:latin typeface="Arial" panose="020B0604020202020204" pitchFamily="34" charset="0"/>
                <a:ea typeface="Arial Unicode MS" pitchFamily="34" charset="-122"/>
              </a:rPr>
              <a:t>     </a:t>
            </a:r>
            <a:r>
              <a:rPr lang="en-US" altLang="zh-CN" dirty="0">
                <a:solidFill>
                  <a:srgbClr val="0000CC"/>
                </a:solidFill>
                <a:latin typeface="Arial" panose="020B0604020202020204" pitchFamily="34" charset="0"/>
                <a:ea typeface="Arial Unicode MS" pitchFamily="34" charset="-122"/>
              </a:rPr>
              <a:t>5NF</a:t>
            </a:r>
            <a:r>
              <a:rPr lang="en-US" altLang="zh-CN" dirty="0">
                <a:solidFill>
                  <a:srgbClr val="0000CC"/>
                </a:solidFill>
                <a:latin typeface="Arial" panose="020B0604020202020204" pitchFamily="34" charset="0"/>
                <a:ea typeface="Arial Unicode MS" pitchFamily="34" charset="-122"/>
                <a:sym typeface="Symbol" panose="05050102010706020507" pitchFamily="18" charset="2"/>
              </a:rPr>
              <a:t></a:t>
            </a:r>
            <a:r>
              <a:rPr lang="en-US" altLang="zh-CN" dirty="0">
                <a:solidFill>
                  <a:srgbClr val="0000CC"/>
                </a:solidFill>
                <a:latin typeface="Arial" panose="020B0604020202020204" pitchFamily="34" charset="0"/>
                <a:ea typeface="Arial Unicode MS" pitchFamily="34" charset="-122"/>
              </a:rPr>
              <a:t>4NF</a:t>
            </a:r>
            <a:r>
              <a:rPr lang="en-US" altLang="zh-CN" dirty="0">
                <a:solidFill>
                  <a:srgbClr val="0000CC"/>
                </a:solidFill>
                <a:latin typeface="Arial" panose="020B0604020202020204" pitchFamily="34" charset="0"/>
                <a:ea typeface="Arial Unicode MS" pitchFamily="34" charset="-122"/>
                <a:sym typeface="Symbol" panose="05050102010706020507" pitchFamily="18" charset="2"/>
              </a:rPr>
              <a:t></a:t>
            </a:r>
            <a:r>
              <a:rPr lang="en-US" altLang="zh-CN" dirty="0">
                <a:solidFill>
                  <a:srgbClr val="0000CC"/>
                </a:solidFill>
                <a:latin typeface="Arial" panose="020B0604020202020204" pitchFamily="34" charset="0"/>
                <a:ea typeface="Arial Unicode MS" pitchFamily="34" charset="-122"/>
              </a:rPr>
              <a:t>BCNF</a:t>
            </a:r>
            <a:r>
              <a:rPr lang="en-US" altLang="zh-CN" dirty="0">
                <a:solidFill>
                  <a:srgbClr val="0000CC"/>
                </a:solidFill>
                <a:latin typeface="Arial" panose="020B0604020202020204" pitchFamily="34" charset="0"/>
                <a:ea typeface="Arial Unicode MS" pitchFamily="34" charset="-122"/>
                <a:sym typeface="Symbol" panose="05050102010706020507" pitchFamily="18" charset="2"/>
              </a:rPr>
              <a:t></a:t>
            </a:r>
            <a:r>
              <a:rPr lang="en-US" altLang="zh-CN" dirty="0">
                <a:solidFill>
                  <a:srgbClr val="0000CC"/>
                </a:solidFill>
                <a:latin typeface="Arial" panose="020B0604020202020204" pitchFamily="34" charset="0"/>
                <a:ea typeface="Arial Unicode MS" pitchFamily="34" charset="-122"/>
              </a:rPr>
              <a:t>3NF</a:t>
            </a:r>
            <a:r>
              <a:rPr lang="en-US" altLang="zh-CN" dirty="0">
                <a:solidFill>
                  <a:srgbClr val="0000CC"/>
                </a:solidFill>
                <a:latin typeface="Arial" panose="020B0604020202020204" pitchFamily="34" charset="0"/>
                <a:ea typeface="Arial Unicode MS" pitchFamily="34" charset="-122"/>
                <a:sym typeface="Symbol" panose="05050102010706020507" pitchFamily="18" charset="2"/>
              </a:rPr>
              <a:t></a:t>
            </a:r>
            <a:r>
              <a:rPr lang="en-US" altLang="zh-CN" dirty="0">
                <a:solidFill>
                  <a:srgbClr val="0000CC"/>
                </a:solidFill>
                <a:latin typeface="Arial" panose="020B0604020202020204" pitchFamily="34" charset="0"/>
                <a:ea typeface="Arial Unicode MS" pitchFamily="34" charset="-122"/>
              </a:rPr>
              <a:t>2NF</a:t>
            </a:r>
            <a:r>
              <a:rPr lang="en-US" altLang="zh-CN" dirty="0">
                <a:solidFill>
                  <a:srgbClr val="0000CC"/>
                </a:solidFill>
                <a:latin typeface="Arial" panose="020B0604020202020204" pitchFamily="34" charset="0"/>
                <a:ea typeface="Arial Unicode MS" pitchFamily="34" charset="-122"/>
                <a:sym typeface="Symbol" panose="05050102010706020507" pitchFamily="18" charset="2"/>
              </a:rPr>
              <a:t></a:t>
            </a:r>
            <a:r>
              <a:rPr lang="en-US" altLang="zh-CN" dirty="0">
                <a:solidFill>
                  <a:srgbClr val="0000CC"/>
                </a:solidFill>
                <a:latin typeface="Arial" panose="020B0604020202020204" pitchFamily="34" charset="0"/>
                <a:ea typeface="Arial Unicode MS" pitchFamily="34" charset="-122"/>
              </a:rPr>
              <a:t>1NF</a:t>
            </a:r>
            <a:endParaRPr lang="en-US" altLang="zh-CN" dirty="0">
              <a:solidFill>
                <a:srgbClr val="0000CC"/>
              </a:solidFill>
              <a:latin typeface="Arial" panose="020B0604020202020204" pitchFamily="34" charset="0"/>
              <a:ea typeface="Arial Unicode MS" pitchFamily="34" charset="-122"/>
            </a:endParaRPr>
          </a:p>
        </p:txBody>
      </p:sp>
      <p:sp>
        <p:nvSpPr>
          <p:cNvPr id="36249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范式及其规范化</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idx="1"/>
          </p:nvPr>
        </p:nvSpPr>
        <p:spPr>
          <a:xfrm>
            <a:off x="152400" y="1052513"/>
            <a:ext cx="8812213" cy="5273675"/>
          </a:xfrm>
        </p:spPr>
        <p:txBody>
          <a:bodyPr vert="horz" wrap="square" lIns="91440" tIns="45720" rIns="91440" bIns="45720" anchor="t" anchorCtr="0"/>
          <a:p>
            <a:pPr marL="354330" indent="-354330" eaLnBrk="1" hangingPunct="1"/>
            <a:r>
              <a:rPr lang="zh-CN" altLang="en-US" dirty="0">
                <a:latin typeface="Arial" panose="020B0604020202020204" pitchFamily="34" charset="0"/>
              </a:rPr>
              <a:t>定义</a:t>
            </a:r>
            <a:endParaRPr lang="zh-CN" altLang="en-US" dirty="0">
              <a:latin typeface="Arial" panose="020B0604020202020204" pitchFamily="34" charset="0"/>
            </a:endParaRPr>
          </a:p>
          <a:p>
            <a:pPr marL="354330" indent="-354330" eaLnBrk="1" hangingPunct="1">
              <a:lnSpc>
                <a:spcPct val="105000"/>
              </a:lnSpc>
              <a:buNone/>
            </a:pPr>
            <a:r>
              <a:rPr lang="zh-CN" altLang="en-US" dirty="0">
                <a:latin typeface="Arial" panose="020B0604020202020204" pitchFamily="34" charset="0"/>
              </a:rPr>
              <a:t>        如果关系模式</a:t>
            </a:r>
            <a:r>
              <a:rPr lang="en-US" altLang="zh-CN" dirty="0">
                <a:latin typeface="Arial" panose="020B0604020202020204" pitchFamily="34" charset="0"/>
                <a:ea typeface="Arial Unicode MS" pitchFamily="34" charset="-122"/>
              </a:rPr>
              <a:t>R</a:t>
            </a:r>
            <a:r>
              <a:rPr lang="zh-CN" altLang="en-US" dirty="0">
                <a:latin typeface="Arial" panose="020B0604020202020204" pitchFamily="34" charset="0"/>
              </a:rPr>
              <a:t>，其每一属性都是原子的</a:t>
            </a:r>
            <a:r>
              <a:rPr lang="en-US" altLang="zh-CN" dirty="0">
                <a:latin typeface="Arial" panose="020B0604020202020204" pitchFamily="34" charset="0"/>
              </a:rPr>
              <a:t>(</a:t>
            </a:r>
            <a:r>
              <a:rPr lang="en-US" altLang="zh-CN" dirty="0">
                <a:latin typeface="Arial" panose="020B0604020202020204" pitchFamily="34" charset="0"/>
                <a:ea typeface="Arial Unicode MS" pitchFamily="34" charset="-122"/>
              </a:rPr>
              <a:t>atomic</a:t>
            </a:r>
            <a:r>
              <a:rPr lang="en-US" altLang="zh-CN" dirty="0">
                <a:latin typeface="Arial" panose="020B0604020202020204" pitchFamily="34" charset="0"/>
              </a:rPr>
              <a:t>)</a:t>
            </a:r>
            <a:r>
              <a:rPr lang="zh-CN" altLang="en-US" dirty="0">
                <a:latin typeface="Arial" panose="020B0604020202020204" pitchFamily="34" charset="0"/>
              </a:rPr>
              <a:t>，即每个属性都是不可再分的，则称</a:t>
            </a:r>
            <a:r>
              <a:rPr lang="en-US" altLang="zh-CN" dirty="0">
                <a:latin typeface="Arial" panose="020B0604020202020204" pitchFamily="34" charset="0"/>
                <a:ea typeface="Arial Unicode MS" pitchFamily="34" charset="-122"/>
              </a:rPr>
              <a:t>R</a:t>
            </a:r>
            <a:r>
              <a:rPr lang="zh-CN" altLang="en-US" dirty="0">
                <a:latin typeface="Arial" panose="020B0604020202020204" pitchFamily="34" charset="0"/>
              </a:rPr>
              <a:t>为</a:t>
            </a:r>
            <a:r>
              <a:rPr lang="zh-CN" altLang="en-US" dirty="0">
                <a:solidFill>
                  <a:srgbClr val="FF0000"/>
                </a:solidFill>
                <a:latin typeface="Arial" panose="020B0604020202020204" pitchFamily="34" charset="0"/>
              </a:rPr>
              <a:t>第一范式</a:t>
            </a:r>
            <a:r>
              <a:rPr lang="zh-CN" altLang="en-US" dirty="0">
                <a:latin typeface="Arial" panose="020B0604020202020204" pitchFamily="34" charset="0"/>
              </a:rPr>
              <a:t>或规范化关系，记作</a:t>
            </a:r>
            <a:r>
              <a:rPr lang="en-US" altLang="zh-CN" dirty="0">
                <a:solidFill>
                  <a:srgbClr val="FF0000"/>
                </a:solidFill>
                <a:latin typeface="Arial" panose="020B0604020202020204" pitchFamily="34" charset="0"/>
                <a:ea typeface="Arial Unicode MS" pitchFamily="34" charset="-122"/>
              </a:rPr>
              <a:t>R</a:t>
            </a:r>
            <a:r>
              <a:rPr lang="en-US" altLang="zh-CN" dirty="0">
                <a:solidFill>
                  <a:srgbClr val="FF0000"/>
                </a:solidFill>
                <a:latin typeface="Arial" panose="020B0604020202020204" pitchFamily="34" charset="0"/>
                <a:ea typeface="Arial Unicode MS" pitchFamily="34" charset="-122"/>
                <a:sym typeface="Symbol" panose="05050102010706020507" pitchFamily="18" charset="2"/>
              </a:rPr>
              <a:t></a:t>
            </a:r>
            <a:r>
              <a:rPr lang="en-US" altLang="zh-CN" dirty="0">
                <a:solidFill>
                  <a:srgbClr val="FF0000"/>
                </a:solidFill>
                <a:latin typeface="Arial" panose="020B0604020202020204" pitchFamily="34" charset="0"/>
                <a:ea typeface="Arial Unicode MS" pitchFamily="34" charset="-122"/>
              </a:rPr>
              <a:t>1NF</a:t>
            </a:r>
            <a:r>
              <a:rPr lang="zh-CN" altLang="en-US" dirty="0">
                <a:latin typeface="Arial" panose="020B0604020202020204" pitchFamily="34" charset="0"/>
              </a:rPr>
              <a:t>。</a:t>
            </a:r>
            <a:endParaRPr lang="zh-CN" altLang="en-US" dirty="0">
              <a:latin typeface="Arial" panose="020B0604020202020204" pitchFamily="34" charset="0"/>
            </a:endParaRPr>
          </a:p>
          <a:p>
            <a:pPr marL="354330" indent="-354330" eaLnBrk="1" hangingPunct="1">
              <a:buNone/>
            </a:pPr>
            <a:r>
              <a:rPr lang="zh-CN" altLang="en-US" dirty="0">
                <a:latin typeface="Arial" panose="020B0604020202020204" pitchFamily="34" charset="0"/>
              </a:rPr>
              <a:t>      </a:t>
            </a:r>
            <a:endParaRPr lang="zh-CN" altLang="en-US" dirty="0">
              <a:latin typeface="Arial" panose="020B0604020202020204" pitchFamily="34" charset="0"/>
            </a:endParaRPr>
          </a:p>
          <a:p>
            <a:pPr marL="354330" indent="-354330" eaLnBrk="1" hangingPunct="1">
              <a:buNone/>
            </a:pPr>
            <a:r>
              <a:rPr lang="zh-CN" altLang="en-US" dirty="0">
                <a:latin typeface="Arial" panose="020B0604020202020204" pitchFamily="34" charset="0"/>
              </a:rPr>
              <a:t>   不满足</a:t>
            </a:r>
            <a:r>
              <a:rPr lang="en-US" altLang="zh-CN" dirty="0">
                <a:latin typeface="Arial" panose="020B0604020202020204" pitchFamily="34" charset="0"/>
                <a:ea typeface="Arial Unicode MS" pitchFamily="34" charset="-122"/>
              </a:rPr>
              <a:t>1NF</a:t>
            </a:r>
            <a:r>
              <a:rPr lang="zh-CN" altLang="en-US" dirty="0">
                <a:latin typeface="Arial" panose="020B0604020202020204" pitchFamily="34" charset="0"/>
              </a:rPr>
              <a:t>的关系称为</a:t>
            </a:r>
            <a:r>
              <a:rPr lang="zh-CN" altLang="en-US" dirty="0">
                <a:solidFill>
                  <a:srgbClr val="0000CC"/>
                </a:solidFill>
                <a:latin typeface="Arial" panose="020B0604020202020204" pitchFamily="34" charset="0"/>
              </a:rPr>
              <a:t>非规范化关系</a:t>
            </a:r>
            <a:r>
              <a:rPr lang="zh-CN" altLang="en-US" dirty="0">
                <a:latin typeface="Arial" panose="020B0604020202020204" pitchFamily="34" charset="0"/>
              </a:rPr>
              <a:t>。</a:t>
            </a:r>
            <a:endParaRPr lang="zh-CN" altLang="en-US" dirty="0">
              <a:latin typeface="Arial" panose="020B0604020202020204" pitchFamily="34" charset="0"/>
            </a:endParaRPr>
          </a:p>
          <a:p>
            <a:pPr marL="354330" indent="-354330" eaLnBrk="1" hangingPunct="1"/>
            <a:endParaRPr lang="en-US" altLang="zh-CN" dirty="0">
              <a:latin typeface="Arial" panose="020B0604020202020204" pitchFamily="34" charset="0"/>
            </a:endParaRPr>
          </a:p>
        </p:txBody>
      </p:sp>
      <p:sp>
        <p:nvSpPr>
          <p:cNvPr id="36454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7.5.1  </a:t>
            </a: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rPr>
              <a:t>1NF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endParaRPr>
          </a:p>
        </p:txBody>
      </p:sp>
    </p:spTree>
  </p:cSld>
  <p:clrMapOvr>
    <a:masterClrMapping/>
  </p:clrMapOvr>
  <p:transition>
    <p:random/>
    <p:sndAc>
      <p:stSnd>
        <p:snd r:embed="rId1" name="CAMERA.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idx="1"/>
          </p:nvPr>
        </p:nvSpPr>
        <p:spPr>
          <a:xfrm>
            <a:off x="152400" y="908050"/>
            <a:ext cx="8740775" cy="5689600"/>
          </a:xfrm>
        </p:spPr>
        <p:txBody>
          <a:bodyPr vert="horz" wrap="square" lIns="91440" tIns="45720" rIns="91440" bIns="45720" anchor="t" anchorCtr="0"/>
          <a:p>
            <a:pPr marL="457200" indent="-457200" eaLnBrk="1" hangingPunct="1">
              <a:lnSpc>
                <a:spcPct val="110000"/>
              </a:lnSpc>
              <a:buNone/>
            </a:pPr>
            <a:r>
              <a:rPr lang="zh-CN" altLang="en-US" sz="3200" dirty="0">
                <a:latin typeface="Arial" panose="020B0604020202020204" pitchFamily="34" charset="0"/>
              </a:rPr>
              <a:t>例</a:t>
            </a:r>
            <a:r>
              <a:rPr lang="en-US" altLang="zh-CN" sz="3200" dirty="0">
                <a:latin typeface="Arial" panose="020B0604020202020204" pitchFamily="34" charset="0"/>
              </a:rPr>
              <a:t>: </a:t>
            </a:r>
            <a:r>
              <a:rPr lang="zh-CN" altLang="en-US" sz="3200" dirty="0">
                <a:latin typeface="Arial" panose="020B0604020202020204" pitchFamily="34" charset="0"/>
              </a:rPr>
              <a:t>关系模式</a:t>
            </a:r>
            <a:endParaRPr lang="zh-CN" altLang="en-US" sz="3200" dirty="0">
              <a:latin typeface="Arial" panose="020B0604020202020204" pitchFamily="34" charset="0"/>
            </a:endParaRPr>
          </a:p>
          <a:p>
            <a:pPr marL="457200" indent="-457200" eaLnBrk="1" hangingPunct="1">
              <a:lnSpc>
                <a:spcPct val="110000"/>
              </a:lnSpc>
              <a:buNone/>
            </a:pPr>
            <a:r>
              <a:rPr lang="zh-CN" altLang="en-US" sz="3200" dirty="0">
                <a:latin typeface="Arial" panose="020B0604020202020204" pitchFamily="34" charset="0"/>
              </a:rPr>
              <a:t>    </a:t>
            </a:r>
            <a:r>
              <a:rPr lang="en-US" altLang="zh-CN" sz="3200" dirty="0">
                <a:solidFill>
                  <a:srgbClr val="0000CC"/>
                </a:solidFill>
                <a:latin typeface="Arial" panose="020B0604020202020204" pitchFamily="34" charset="0"/>
              </a:rPr>
              <a:t>SLC </a:t>
            </a:r>
            <a:r>
              <a:rPr lang="en-US" altLang="zh-CN" sz="3200" dirty="0">
                <a:latin typeface="Arial" panose="020B0604020202020204" pitchFamily="34" charset="0"/>
              </a:rPr>
              <a:t>( Sno, Sdept, Sloc, Cno, Score )</a:t>
            </a:r>
            <a:endParaRPr lang="en-US" altLang="zh-CN" sz="3200" dirty="0">
              <a:latin typeface="Arial" panose="020B0604020202020204" pitchFamily="34" charset="0"/>
            </a:endParaRPr>
          </a:p>
          <a:p>
            <a:pPr marL="457200" indent="-457200" eaLnBrk="1" hangingPunct="1">
              <a:buNone/>
            </a:pPr>
            <a:r>
              <a:rPr lang="en-US" altLang="zh-CN" sz="3200" dirty="0">
                <a:latin typeface="Arial" panose="020B0604020202020204" pitchFamily="34" charset="0"/>
              </a:rPr>
              <a:t>    Sloc </a:t>
            </a:r>
            <a:r>
              <a:rPr lang="zh-CN" altLang="en-US" sz="3200" dirty="0">
                <a:latin typeface="Arial" panose="020B0604020202020204" pitchFamily="34" charset="0"/>
              </a:rPr>
              <a:t>为学生住处，假设每个系的学生住在同一个地方。</a:t>
            </a:r>
            <a:endParaRPr lang="zh-CN" altLang="en-US" sz="4000" dirty="0">
              <a:latin typeface="Arial" panose="020B0604020202020204" pitchFamily="34" charset="0"/>
            </a:endParaRPr>
          </a:p>
          <a:p>
            <a:pPr marL="457200" indent="-457200" eaLnBrk="1" hangingPunct="1">
              <a:lnSpc>
                <a:spcPct val="110000"/>
              </a:lnSpc>
              <a:spcBef>
                <a:spcPct val="35000"/>
              </a:spcBef>
            </a:pPr>
            <a:r>
              <a:rPr lang="zh-CN" altLang="en-US" sz="3200" dirty="0">
                <a:latin typeface="Arial" panose="020B0604020202020204" pitchFamily="34" charset="0"/>
              </a:rPr>
              <a:t>函数依赖包括：</a:t>
            </a:r>
            <a:endParaRPr lang="zh-CN" altLang="en-US" sz="3200" dirty="0">
              <a:latin typeface="Arial" panose="020B0604020202020204" pitchFamily="34" charset="0"/>
            </a:endParaRPr>
          </a:p>
          <a:p>
            <a:pPr marL="457200" indent="-457200" eaLnBrk="1" hangingPunct="1">
              <a:lnSpc>
                <a:spcPct val="110000"/>
              </a:lnSpc>
              <a:buNone/>
            </a:pPr>
            <a:r>
              <a:rPr lang="zh-CN" altLang="en-US" sz="3200" dirty="0">
                <a:latin typeface="Arial" panose="020B0604020202020204" pitchFamily="34" charset="0"/>
              </a:rPr>
              <a:t> </a:t>
            </a:r>
            <a:r>
              <a:rPr lang="en-US" altLang="zh-CN" sz="3200" dirty="0">
                <a:latin typeface="Arial" panose="020B0604020202020204" pitchFamily="34" charset="0"/>
              </a:rPr>
              <a:t>Sno → Sdept</a:t>
            </a:r>
            <a:endParaRPr lang="en-US" altLang="zh-CN" sz="3200" dirty="0">
              <a:latin typeface="Arial" panose="020B0604020202020204" pitchFamily="34" charset="0"/>
            </a:endParaRPr>
          </a:p>
          <a:p>
            <a:pPr marL="457200" indent="-457200" eaLnBrk="1" hangingPunct="1">
              <a:lnSpc>
                <a:spcPct val="110000"/>
              </a:lnSpc>
              <a:buNone/>
            </a:pPr>
            <a:r>
              <a:rPr lang="en-US" altLang="zh-CN" sz="3200" dirty="0">
                <a:latin typeface="Arial" panose="020B0604020202020204" pitchFamily="34" charset="0"/>
              </a:rPr>
              <a:t> Sdept → Sloc</a:t>
            </a:r>
            <a:endParaRPr lang="en-US" altLang="zh-CN" sz="3200" dirty="0">
              <a:latin typeface="Arial" panose="020B0604020202020204" pitchFamily="34" charset="0"/>
            </a:endParaRPr>
          </a:p>
          <a:p>
            <a:pPr marL="457200" indent="-457200" eaLnBrk="1" hangingPunct="1">
              <a:lnSpc>
                <a:spcPct val="110000"/>
              </a:lnSpc>
              <a:buNone/>
            </a:pPr>
            <a:r>
              <a:rPr lang="en-US" altLang="zh-CN" sz="3200" dirty="0">
                <a:latin typeface="Arial" panose="020B0604020202020204" pitchFamily="34" charset="0"/>
              </a:rPr>
              <a:t> Sno → Sloc</a:t>
            </a:r>
            <a:endParaRPr lang="en-US" altLang="zh-CN" sz="3200" dirty="0">
              <a:latin typeface="Arial" panose="020B0604020202020204" pitchFamily="34" charset="0"/>
            </a:endParaRPr>
          </a:p>
          <a:p>
            <a:pPr marL="457200" indent="-457200" eaLnBrk="1" hangingPunct="1">
              <a:lnSpc>
                <a:spcPct val="110000"/>
              </a:lnSpc>
              <a:buNone/>
            </a:pPr>
            <a:r>
              <a:rPr lang="en-US" altLang="zh-CN" sz="3200" dirty="0">
                <a:latin typeface="Arial" panose="020B0604020202020204" pitchFamily="34" charset="0"/>
              </a:rPr>
              <a:t> (Sno, Cno) → Score </a:t>
            </a:r>
            <a:endParaRPr lang="en-US" altLang="zh-CN" sz="3200" dirty="0">
              <a:latin typeface="Arial" panose="020B0604020202020204" pitchFamily="34" charset="0"/>
            </a:endParaRPr>
          </a:p>
          <a:p>
            <a:pPr marL="457200" indent="-457200" eaLnBrk="1" hangingPunct="1">
              <a:lnSpc>
                <a:spcPct val="110000"/>
              </a:lnSpc>
              <a:buNone/>
            </a:pPr>
            <a:r>
              <a:rPr lang="en-US" altLang="zh-CN" sz="3200" dirty="0">
                <a:latin typeface="Arial" panose="020B0604020202020204" pitchFamily="34" charset="0"/>
              </a:rPr>
              <a:t>        SLC </a:t>
            </a:r>
            <a:r>
              <a:rPr lang="zh-CN" altLang="en-US" sz="3200" dirty="0">
                <a:latin typeface="Arial" panose="020B0604020202020204" pitchFamily="34" charset="0"/>
              </a:rPr>
              <a:t>的</a:t>
            </a:r>
            <a:r>
              <a:rPr lang="zh-CN" altLang="en-US" sz="3200" dirty="0">
                <a:solidFill>
                  <a:srgbClr val="FF0000"/>
                </a:solidFill>
                <a:latin typeface="Arial" panose="020B0604020202020204" pitchFamily="34" charset="0"/>
              </a:rPr>
              <a:t>码</a:t>
            </a:r>
            <a:r>
              <a:rPr lang="zh-CN" altLang="en-US" sz="3200" dirty="0">
                <a:latin typeface="Arial" panose="020B0604020202020204" pitchFamily="34" charset="0"/>
              </a:rPr>
              <a:t>为 </a:t>
            </a:r>
            <a:r>
              <a:rPr lang="en-US" altLang="zh-CN" sz="3200" dirty="0">
                <a:latin typeface="Arial" panose="020B0604020202020204" pitchFamily="34" charset="0"/>
              </a:rPr>
              <a:t>( Sno, Cno )   </a:t>
            </a:r>
            <a:endParaRPr lang="en-US" altLang="zh-CN" sz="3200" dirty="0">
              <a:latin typeface="Arial" panose="020B0604020202020204" pitchFamily="34" charset="0"/>
            </a:endParaRPr>
          </a:p>
        </p:txBody>
      </p:sp>
      <p:sp>
        <p:nvSpPr>
          <p:cNvPr id="366595" name="Rectangle 3"/>
          <p:cNvSpPr>
            <a:spLocks noGrp="1" noChangeArrowheads="1"/>
          </p:cNvSpPr>
          <p:nvPr>
            <p:ph type="title"/>
          </p:nvPr>
        </p:nvSpPr>
        <p:spPr>
          <a:xfrm>
            <a:off x="179388" y="174625"/>
            <a:ext cx="8785225" cy="64928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7.5.1  </a:t>
            </a: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rPr>
              <a:t>1NF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endParaRPr>
          </a:p>
        </p:txBody>
      </p:sp>
      <p:grpSp>
        <p:nvGrpSpPr>
          <p:cNvPr id="54276" name="Group 28"/>
          <p:cNvGrpSpPr/>
          <p:nvPr/>
        </p:nvGrpSpPr>
        <p:grpSpPr>
          <a:xfrm>
            <a:off x="3779838" y="3213100"/>
            <a:ext cx="5019675" cy="2303463"/>
            <a:chOff x="2381" y="2024"/>
            <a:chExt cx="3162" cy="1451"/>
          </a:xfrm>
        </p:grpSpPr>
        <p:sp>
          <p:nvSpPr>
            <p:cNvPr id="54277" name="Text Box 8"/>
            <p:cNvSpPr txBox="1"/>
            <p:nvPr/>
          </p:nvSpPr>
          <p:spPr>
            <a:xfrm>
              <a:off x="4785" y="2232"/>
              <a:ext cx="694" cy="314"/>
            </a:xfrm>
            <a:prstGeom prst="rect">
              <a:avLst/>
            </a:prstGeom>
            <a:noFill/>
            <a:ln w="28575" cap="flat" cmpd="sng">
              <a:solidFill>
                <a:srgbClr val="000000"/>
              </a:solidFill>
              <a:prstDash val="solid"/>
              <a:miter/>
              <a:headEnd type="none" w="med" len="med"/>
              <a:tailEnd type="none" w="med" len="med"/>
            </a:ln>
          </p:spPr>
          <p:txBody>
            <a:bodyPr lIns="0" rIns="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Sdept</a:t>
              </a:r>
              <a:endParaRPr lang="en-US" altLang="zh-CN" sz="2400" b="0" dirty="0">
                <a:solidFill>
                  <a:srgbClr val="0000CC"/>
                </a:solidFill>
                <a:latin typeface="Arial" panose="020B0604020202020204" pitchFamily="34" charset="0"/>
                <a:ea typeface="宋体" panose="02010600030101010101" pitchFamily="2" charset="-122"/>
              </a:endParaRPr>
            </a:p>
          </p:txBody>
        </p:sp>
        <p:sp>
          <p:nvSpPr>
            <p:cNvPr id="54278" name="Text Box 9"/>
            <p:cNvSpPr txBox="1"/>
            <p:nvPr/>
          </p:nvSpPr>
          <p:spPr>
            <a:xfrm>
              <a:off x="4785" y="2976"/>
              <a:ext cx="758" cy="314"/>
            </a:xfrm>
            <a:prstGeom prst="rect">
              <a:avLst/>
            </a:prstGeom>
            <a:noFill/>
            <a:ln w="28575" cap="flat" cmpd="sng">
              <a:solidFill>
                <a:srgbClr val="000000"/>
              </a:solidFill>
              <a:prstDash val="solid"/>
              <a:miter/>
              <a:headEnd type="none" w="med" len="med"/>
              <a:tailEnd type="none" w="med" len="med"/>
            </a:ln>
          </p:spPr>
          <p:txBody>
            <a:bodyPr lIns="0" rIns="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Sloc</a:t>
              </a:r>
              <a:endParaRPr lang="en-US" altLang="zh-CN" sz="2400" b="0" dirty="0">
                <a:solidFill>
                  <a:srgbClr val="0000CC"/>
                </a:solidFill>
                <a:latin typeface="Arial" panose="020B0604020202020204" pitchFamily="34" charset="0"/>
                <a:ea typeface="宋体" panose="02010600030101010101" pitchFamily="2" charset="-122"/>
              </a:endParaRPr>
            </a:p>
          </p:txBody>
        </p:sp>
        <p:sp>
          <p:nvSpPr>
            <p:cNvPr id="54279" name="Text Box 12"/>
            <p:cNvSpPr txBox="1"/>
            <p:nvPr/>
          </p:nvSpPr>
          <p:spPr>
            <a:xfrm>
              <a:off x="2381" y="2432"/>
              <a:ext cx="758" cy="314"/>
            </a:xfrm>
            <a:prstGeom prst="rect">
              <a:avLst/>
            </a:prstGeom>
            <a:noFill/>
            <a:ln w="2857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Score</a:t>
              </a:r>
              <a:endParaRPr lang="en-US" altLang="zh-CN" sz="2400" b="0" dirty="0">
                <a:solidFill>
                  <a:srgbClr val="0000CC"/>
                </a:solidFill>
                <a:latin typeface="Arial" panose="020B0604020202020204" pitchFamily="34" charset="0"/>
                <a:ea typeface="宋体" panose="02010600030101010101" pitchFamily="2" charset="-122"/>
              </a:endParaRPr>
            </a:p>
          </p:txBody>
        </p:sp>
        <p:sp>
          <p:nvSpPr>
            <p:cNvPr id="54280" name="Rectangle 16"/>
            <p:cNvSpPr/>
            <p:nvPr/>
          </p:nvSpPr>
          <p:spPr>
            <a:xfrm>
              <a:off x="3388" y="2024"/>
              <a:ext cx="1089" cy="1451"/>
            </a:xfrm>
            <a:prstGeom prst="rect">
              <a:avLst/>
            </a:prstGeom>
            <a:noFill/>
            <a:ln w="28575" cap="flat" cmpd="sng">
              <a:solidFill>
                <a:srgbClr val="000000"/>
              </a:solidFill>
              <a:prstDash val="dash"/>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endParaRPr lang="zh-CN" altLang="zh-CN" dirty="0">
                <a:latin typeface="Arial" panose="020B0604020202020204" pitchFamily="34" charset="0"/>
                <a:ea typeface="幼圆" panose="02010509060101010101" pitchFamily="49" charset="-122"/>
              </a:endParaRPr>
            </a:p>
          </p:txBody>
        </p:sp>
        <p:sp>
          <p:nvSpPr>
            <p:cNvPr id="54281" name="Text Box 17"/>
            <p:cNvSpPr txBox="1"/>
            <p:nvPr/>
          </p:nvSpPr>
          <p:spPr>
            <a:xfrm>
              <a:off x="3560" y="2251"/>
              <a:ext cx="740" cy="313"/>
            </a:xfrm>
            <a:prstGeom prst="rect">
              <a:avLst/>
            </a:prstGeom>
            <a:noFill/>
            <a:ln w="2857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Sno</a:t>
              </a:r>
              <a:endParaRPr lang="en-US" altLang="zh-CN" sz="2400" b="0" dirty="0">
                <a:solidFill>
                  <a:srgbClr val="0000CC"/>
                </a:solidFill>
                <a:latin typeface="Arial" panose="020B0604020202020204" pitchFamily="34" charset="0"/>
                <a:ea typeface="宋体" panose="02010600030101010101" pitchFamily="2" charset="-122"/>
              </a:endParaRPr>
            </a:p>
          </p:txBody>
        </p:sp>
        <p:sp>
          <p:nvSpPr>
            <p:cNvPr id="54282" name="Text Box 18"/>
            <p:cNvSpPr txBox="1"/>
            <p:nvPr/>
          </p:nvSpPr>
          <p:spPr>
            <a:xfrm>
              <a:off x="3560" y="2976"/>
              <a:ext cx="758" cy="313"/>
            </a:xfrm>
            <a:prstGeom prst="rect">
              <a:avLst/>
            </a:prstGeom>
            <a:noFill/>
            <a:ln w="2857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Cno</a:t>
              </a:r>
              <a:endParaRPr lang="en-US" altLang="zh-CN" sz="2400" dirty="0">
                <a:solidFill>
                  <a:srgbClr val="0000CC"/>
                </a:solidFill>
                <a:latin typeface="Arial" panose="020B0604020202020204" pitchFamily="34" charset="0"/>
                <a:ea typeface="宋体" panose="02010600030101010101" pitchFamily="2" charset="-122"/>
              </a:endParaRPr>
            </a:p>
          </p:txBody>
        </p:sp>
        <p:sp>
          <p:nvSpPr>
            <p:cNvPr id="54283" name="Line 20"/>
            <p:cNvSpPr/>
            <p:nvPr/>
          </p:nvSpPr>
          <p:spPr>
            <a:xfrm>
              <a:off x="4286" y="2387"/>
              <a:ext cx="499" cy="0"/>
            </a:xfrm>
            <a:prstGeom prst="line">
              <a:avLst/>
            </a:prstGeom>
            <a:ln w="38100" cap="flat" cmpd="sng">
              <a:solidFill>
                <a:srgbClr val="000000"/>
              </a:solidFill>
              <a:prstDash val="solid"/>
              <a:headEnd type="none" w="med" len="med"/>
              <a:tailEnd type="triangle" w="med" len="med"/>
            </a:ln>
          </p:spPr>
        </p:sp>
        <p:sp>
          <p:nvSpPr>
            <p:cNvPr id="54284" name="Line 22"/>
            <p:cNvSpPr/>
            <p:nvPr/>
          </p:nvSpPr>
          <p:spPr>
            <a:xfrm flipH="1">
              <a:off x="3152" y="2614"/>
              <a:ext cx="227" cy="0"/>
            </a:xfrm>
            <a:prstGeom prst="line">
              <a:avLst/>
            </a:prstGeom>
            <a:ln w="38100" cap="flat" cmpd="sng">
              <a:solidFill>
                <a:srgbClr val="000000"/>
              </a:solidFill>
              <a:prstDash val="solid"/>
              <a:headEnd type="none" w="med" len="med"/>
              <a:tailEnd type="triangle" w="med" len="med"/>
            </a:ln>
          </p:spPr>
        </p:sp>
        <p:sp>
          <p:nvSpPr>
            <p:cNvPr id="54285" name="Line 23"/>
            <p:cNvSpPr/>
            <p:nvPr/>
          </p:nvSpPr>
          <p:spPr>
            <a:xfrm>
              <a:off x="4468" y="3158"/>
              <a:ext cx="317" cy="0"/>
            </a:xfrm>
            <a:prstGeom prst="line">
              <a:avLst/>
            </a:prstGeom>
            <a:ln w="38100" cap="flat" cmpd="sng">
              <a:solidFill>
                <a:srgbClr val="000000"/>
              </a:solidFill>
              <a:prstDash val="sysDot"/>
              <a:headEnd type="none" w="med" len="med"/>
              <a:tailEnd type="triangle" w="med" len="med"/>
            </a:ln>
          </p:spPr>
        </p:sp>
        <p:sp>
          <p:nvSpPr>
            <p:cNvPr id="54286" name="Line 24"/>
            <p:cNvSpPr/>
            <p:nvPr/>
          </p:nvSpPr>
          <p:spPr>
            <a:xfrm flipV="1">
              <a:off x="4468" y="2478"/>
              <a:ext cx="317" cy="680"/>
            </a:xfrm>
            <a:prstGeom prst="line">
              <a:avLst/>
            </a:prstGeom>
            <a:ln w="38100" cap="flat" cmpd="sng">
              <a:solidFill>
                <a:srgbClr val="000000"/>
              </a:solidFill>
              <a:prstDash val="sysDot"/>
              <a:headEnd type="none" w="med" len="med"/>
              <a:tailEnd type="triangle" w="med" len="med"/>
            </a:ln>
          </p:spPr>
        </p:sp>
        <p:sp>
          <p:nvSpPr>
            <p:cNvPr id="54287" name="Line 26"/>
            <p:cNvSpPr/>
            <p:nvPr/>
          </p:nvSpPr>
          <p:spPr>
            <a:xfrm>
              <a:off x="5103" y="2568"/>
              <a:ext cx="0" cy="408"/>
            </a:xfrm>
            <a:prstGeom prst="line">
              <a:avLst/>
            </a:prstGeom>
            <a:ln w="38100" cap="flat" cmpd="sng">
              <a:solidFill>
                <a:srgbClr val="000000"/>
              </a:solidFill>
              <a:prstDash val="solid"/>
              <a:headEnd type="none" w="med" len="med"/>
              <a:tailEnd type="triangle" w="med" len="med"/>
            </a:ln>
          </p:spPr>
        </p:sp>
        <p:sp>
          <p:nvSpPr>
            <p:cNvPr id="54288" name="Line 27"/>
            <p:cNvSpPr/>
            <p:nvPr/>
          </p:nvSpPr>
          <p:spPr>
            <a:xfrm>
              <a:off x="4286" y="2387"/>
              <a:ext cx="681" cy="589"/>
            </a:xfrm>
            <a:prstGeom prst="line">
              <a:avLst/>
            </a:prstGeom>
            <a:ln w="38100" cap="flat" cmpd="sng">
              <a:solidFill>
                <a:srgbClr val="000000"/>
              </a:solidFill>
              <a:prstDash val="solid"/>
              <a:headEnd type="none" w="med" len="med"/>
              <a:tailEnd type="triangle" w="med" len="med"/>
            </a:ln>
          </p:spPr>
        </p:sp>
      </p:grpSp>
    </p:spTree>
  </p:cSld>
  <p:clrMapOvr>
    <a:masterClrMapping/>
  </p:clrMapOvr>
  <p:transition>
    <p:random/>
    <p:sndAc>
      <p:stSnd>
        <p:snd r:embed="rId1" name="CAMERA.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7.5.1  </a:t>
            </a: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rPr>
              <a:t>1NF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endParaRPr>
          </a:p>
        </p:txBody>
      </p:sp>
      <p:sp>
        <p:nvSpPr>
          <p:cNvPr id="56323" name="Rectangle 3"/>
          <p:cNvSpPr>
            <a:spLocks noGrp="1"/>
          </p:cNvSpPr>
          <p:nvPr>
            <p:ph idx="1"/>
          </p:nvPr>
        </p:nvSpPr>
        <p:spPr/>
        <p:txBody>
          <a:bodyPr vert="horz" wrap="square" lIns="91440" tIns="45720" rIns="91440" bIns="45720" anchor="t" anchorCtr="0"/>
          <a:p>
            <a:pPr marL="354330" indent="-354330" defTabSz="1163955" eaLnBrk="1" hangingPunct="1">
              <a:buNone/>
            </a:pPr>
            <a:r>
              <a:rPr lang="en-US" altLang="zh-CN" dirty="0">
                <a:solidFill>
                  <a:srgbClr val="0000CC"/>
                </a:solidFill>
                <a:latin typeface="Arial" panose="020B0604020202020204" pitchFamily="34" charset="0"/>
              </a:rPr>
              <a:t>   </a:t>
            </a:r>
            <a:r>
              <a:rPr lang="en-US" altLang="zh-CN" dirty="0">
                <a:latin typeface="Arial" panose="020B0604020202020204" pitchFamily="34" charset="0"/>
              </a:rPr>
              <a:t>SLC</a:t>
            </a:r>
            <a:r>
              <a:rPr lang="en-US" altLang="zh-CN" dirty="0">
                <a:solidFill>
                  <a:srgbClr val="0000CC"/>
                </a:solidFill>
                <a:latin typeface="Arial" panose="020B0604020202020204" pitchFamily="34" charset="0"/>
              </a:rPr>
              <a:t> </a:t>
            </a:r>
            <a:r>
              <a:rPr lang="en-US" altLang="zh-CN" dirty="0">
                <a:latin typeface="Arial" panose="020B0604020202020204" pitchFamily="34" charset="0"/>
              </a:rPr>
              <a:t>( Sno, Sdept, Sloc, Cno, Score )</a:t>
            </a:r>
            <a:endParaRPr lang="en-US" altLang="zh-CN" dirty="0">
              <a:latin typeface="Arial" panose="020B0604020202020204" pitchFamily="34" charset="0"/>
            </a:endParaRPr>
          </a:p>
          <a:p>
            <a:pPr marL="354330" indent="-354330" defTabSz="1163955" eaLnBrk="1" hangingPunct="1">
              <a:buNone/>
            </a:pPr>
            <a:r>
              <a:rPr lang="en-US" altLang="zh-CN" dirty="0">
                <a:latin typeface="Arial" panose="020B0604020202020204" pitchFamily="34" charset="0"/>
              </a:rPr>
              <a:t>   SLC </a:t>
            </a:r>
            <a:r>
              <a:rPr lang="zh-CN" altLang="en-US" dirty="0">
                <a:latin typeface="Arial" panose="020B0604020202020204" pitchFamily="34" charset="0"/>
              </a:rPr>
              <a:t>满足第一范式</a:t>
            </a:r>
            <a:endParaRPr lang="zh-CN" altLang="en-US" dirty="0">
              <a:latin typeface="Arial" panose="020B0604020202020204" pitchFamily="34" charset="0"/>
            </a:endParaRPr>
          </a:p>
          <a:p>
            <a:pPr marL="354330" indent="-354330" defTabSz="1163955" eaLnBrk="1" hangingPunct="1">
              <a:buNone/>
            </a:pPr>
            <a:r>
              <a:rPr lang="zh-CN" altLang="en-US" dirty="0">
                <a:latin typeface="Arial" panose="020B0604020202020204" pitchFamily="34" charset="0"/>
              </a:rPr>
              <a:t>   </a:t>
            </a:r>
            <a:r>
              <a:rPr lang="en-US" altLang="zh-CN" dirty="0">
                <a:latin typeface="Arial" panose="020B0604020202020204" pitchFamily="34" charset="0"/>
              </a:rPr>
              <a:t>SLC </a:t>
            </a:r>
            <a:r>
              <a:rPr lang="zh-CN" altLang="en-US" dirty="0">
                <a:latin typeface="Arial" panose="020B0604020202020204" pitchFamily="34" charset="0"/>
              </a:rPr>
              <a:t>的</a:t>
            </a:r>
            <a:r>
              <a:rPr lang="zh-CN" altLang="en-US" dirty="0">
                <a:solidFill>
                  <a:srgbClr val="FF0000"/>
                </a:solidFill>
                <a:latin typeface="Arial" panose="020B0604020202020204" pitchFamily="34" charset="0"/>
              </a:rPr>
              <a:t>码</a:t>
            </a:r>
            <a:r>
              <a:rPr lang="zh-CN" altLang="en-US" dirty="0">
                <a:latin typeface="Arial" panose="020B0604020202020204" pitchFamily="34" charset="0"/>
              </a:rPr>
              <a:t>为 </a:t>
            </a:r>
            <a:r>
              <a:rPr lang="en-US" altLang="zh-CN" dirty="0">
                <a:latin typeface="Arial" panose="020B0604020202020204" pitchFamily="34" charset="0"/>
              </a:rPr>
              <a:t>( Sno, Cno )</a:t>
            </a:r>
            <a:endParaRPr lang="en-US" altLang="zh-CN" dirty="0">
              <a:latin typeface="Arial" panose="020B0604020202020204" pitchFamily="34" charset="0"/>
            </a:endParaRPr>
          </a:p>
          <a:p>
            <a:pPr marL="354330" indent="-354330" defTabSz="1163955" eaLnBrk="1" hangingPunct="1">
              <a:spcBef>
                <a:spcPct val="30000"/>
              </a:spcBef>
              <a:buNone/>
            </a:pPr>
            <a:r>
              <a:rPr lang="en-US" altLang="zh-CN" dirty="0">
                <a:latin typeface="Arial" panose="020B0604020202020204" pitchFamily="34" charset="0"/>
              </a:rPr>
              <a:t>   SLC</a:t>
            </a:r>
            <a:r>
              <a:rPr lang="zh-CN" altLang="en-US" dirty="0">
                <a:latin typeface="Arial" panose="020B0604020202020204" pitchFamily="34" charset="0"/>
              </a:rPr>
              <a:t>存在的问题</a:t>
            </a:r>
            <a:endParaRPr lang="zh-CN" altLang="en-US" dirty="0">
              <a:latin typeface="Arial" panose="020B0604020202020204" pitchFamily="34" charset="0"/>
            </a:endParaRPr>
          </a:p>
          <a:p>
            <a:pPr marL="894080" lvl="1" indent="-360680" defTabSz="1163955" eaLnBrk="1" hangingPunct="1">
              <a:spcBef>
                <a:spcPct val="0"/>
              </a:spcBef>
            </a:pPr>
            <a:r>
              <a:rPr lang="zh-CN" altLang="en-US" dirty="0">
                <a:latin typeface="Arial" panose="020B0604020202020204" pitchFamily="34" charset="0"/>
              </a:rPr>
              <a:t>数据冗余度大</a:t>
            </a:r>
            <a:endParaRPr lang="zh-CN" altLang="en-US" dirty="0">
              <a:latin typeface="Arial" panose="020B0604020202020204" pitchFamily="34" charset="0"/>
            </a:endParaRPr>
          </a:p>
          <a:p>
            <a:pPr marL="894080" lvl="1" indent="-360680" defTabSz="1163955" eaLnBrk="1" hangingPunct="1">
              <a:spcBef>
                <a:spcPct val="5000"/>
              </a:spcBef>
            </a:pPr>
            <a:r>
              <a:rPr lang="zh-CN" altLang="en-US" dirty="0">
                <a:latin typeface="Arial" panose="020B0604020202020204" pitchFamily="34" charset="0"/>
              </a:rPr>
              <a:t>修改复杂</a:t>
            </a:r>
            <a:endParaRPr lang="zh-CN" altLang="en-US" dirty="0">
              <a:latin typeface="Arial" panose="020B0604020202020204" pitchFamily="34" charset="0"/>
            </a:endParaRPr>
          </a:p>
          <a:p>
            <a:pPr marL="894080" lvl="1" indent="-360680" defTabSz="1163955" eaLnBrk="1" hangingPunct="1">
              <a:spcBef>
                <a:spcPct val="5000"/>
              </a:spcBef>
            </a:pPr>
            <a:r>
              <a:rPr lang="zh-CN" altLang="en-US" dirty="0">
                <a:latin typeface="Arial" panose="020B0604020202020204" pitchFamily="34" charset="0"/>
              </a:rPr>
              <a:t>插入异常</a:t>
            </a:r>
            <a:endParaRPr lang="zh-CN" altLang="en-US" dirty="0">
              <a:latin typeface="Arial" panose="020B0604020202020204" pitchFamily="34" charset="0"/>
            </a:endParaRPr>
          </a:p>
          <a:p>
            <a:pPr marL="894080" lvl="1" indent="-360680" defTabSz="1163955" eaLnBrk="1" hangingPunct="1">
              <a:spcBef>
                <a:spcPct val="5000"/>
              </a:spcBef>
            </a:pPr>
            <a:r>
              <a:rPr lang="zh-CN" altLang="en-US" dirty="0">
                <a:latin typeface="Arial" panose="020B0604020202020204" pitchFamily="34" charset="0"/>
              </a:rPr>
              <a:t>删除异常</a:t>
            </a:r>
            <a:endParaRPr lang="zh-CN" altLang="en-US" dirty="0">
              <a:latin typeface="Arial" panose="020B0604020202020204" pitchFamily="34" charset="0"/>
            </a:endParaRPr>
          </a:p>
          <a:p>
            <a:pPr marL="354330" indent="-354330" defTabSz="1163955" eaLnBrk="1" hangingPunct="1">
              <a:spcBef>
                <a:spcPct val="25000"/>
              </a:spcBef>
              <a:buClrTx/>
              <a:buFontTx/>
              <a:buNone/>
            </a:pPr>
            <a:r>
              <a:rPr lang="zh-CN" altLang="en-US" dirty="0"/>
              <a:t>    </a:t>
            </a:r>
            <a:r>
              <a:rPr lang="en-US" altLang="zh-CN" dirty="0">
                <a:latin typeface="Arial" panose="020B0604020202020204" pitchFamily="34" charset="0"/>
              </a:rPr>
              <a:t>SLC</a:t>
            </a:r>
            <a:r>
              <a:rPr lang="zh-CN" altLang="en-US" dirty="0"/>
              <a:t>不是一个好的关系模式</a:t>
            </a:r>
            <a:endParaRPr lang="zh-CN" altLang="en-US" dirty="0"/>
          </a:p>
        </p:txBody>
      </p:sp>
    </p:spTree>
  </p:cSld>
  <p:clrMapOvr>
    <a:masterClrMapping/>
  </p:clrMapOvr>
  <p:transition>
    <p:random/>
    <p:sndAc>
      <p:stSnd>
        <p:snd r:embed="rId1" name="CAMERA.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069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7.5.1  </a:t>
            </a: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rPr>
              <a:t>1NF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endParaRPr>
          </a:p>
        </p:txBody>
      </p:sp>
      <p:sp>
        <p:nvSpPr>
          <p:cNvPr id="370691" name="Rectangle 3"/>
          <p:cNvSpPr>
            <a:spLocks noGrp="1"/>
          </p:cNvSpPr>
          <p:nvPr>
            <p:ph idx="1"/>
          </p:nvPr>
        </p:nvSpPr>
        <p:spPr>
          <a:xfrm>
            <a:off x="179388" y="3357563"/>
            <a:ext cx="8569325" cy="3097212"/>
          </a:xfrm>
        </p:spPr>
        <p:txBody>
          <a:bodyPr vert="horz" wrap="square" lIns="91440" tIns="45720" rIns="91440" bIns="45720" anchor="t" anchorCtr="0"/>
          <a:p>
            <a:pPr eaLnBrk="1" hangingPunct="1"/>
            <a:r>
              <a:rPr lang="zh-CN" altLang="en-US" dirty="0">
                <a:solidFill>
                  <a:srgbClr val="0000CC"/>
                </a:solidFill>
                <a:latin typeface="Arial" panose="020B0604020202020204" pitchFamily="34" charset="0"/>
              </a:rPr>
              <a:t>原因</a:t>
            </a:r>
            <a:endParaRPr lang="zh-CN" altLang="en-US" dirty="0">
              <a:solidFill>
                <a:srgbClr val="0000CC"/>
              </a:solidFill>
              <a:latin typeface="Arial" panose="020B0604020202020204" pitchFamily="34" charset="0"/>
            </a:endParaRPr>
          </a:p>
          <a:p>
            <a:pPr eaLnBrk="1" hangingPunct="1">
              <a:spcBef>
                <a:spcPct val="20000"/>
              </a:spcBef>
              <a:buNone/>
            </a:pPr>
            <a:r>
              <a:rPr lang="zh-CN" altLang="en-US" sz="3200" dirty="0">
                <a:latin typeface="Arial" panose="020B0604020202020204" pitchFamily="34" charset="0"/>
              </a:rPr>
              <a:t>   </a:t>
            </a:r>
            <a:r>
              <a:rPr lang="en-US" altLang="zh-CN" sz="3200" dirty="0">
                <a:latin typeface="Arial" panose="020B0604020202020204" pitchFamily="34" charset="0"/>
              </a:rPr>
              <a:t>SLC </a:t>
            </a:r>
            <a:r>
              <a:rPr lang="zh-CN" altLang="en-US" sz="3200" dirty="0">
                <a:latin typeface="Arial" panose="020B0604020202020204" pitchFamily="34" charset="0"/>
              </a:rPr>
              <a:t>的码为 </a:t>
            </a:r>
            <a:r>
              <a:rPr lang="en-US" altLang="zh-CN" sz="3200" dirty="0">
                <a:latin typeface="Arial" panose="020B0604020202020204" pitchFamily="34" charset="0"/>
              </a:rPr>
              <a:t>( Sno, Cno )</a:t>
            </a:r>
            <a:endParaRPr lang="en-US" altLang="zh-CN" sz="3200" dirty="0">
              <a:latin typeface="Arial" panose="020B0604020202020204" pitchFamily="34" charset="0"/>
            </a:endParaRPr>
          </a:p>
          <a:p>
            <a:pPr eaLnBrk="1" hangingPunct="1">
              <a:spcBef>
                <a:spcPct val="50000"/>
              </a:spcBef>
              <a:buNone/>
            </a:pPr>
            <a:r>
              <a:rPr lang="en-US" altLang="zh-CN" sz="3200" dirty="0">
                <a:latin typeface="Arial" panose="020B0604020202020204" pitchFamily="34" charset="0"/>
              </a:rPr>
              <a:t>   (Sno, Cno) → Sdept, (Sno, Cno) → Sloc, </a:t>
            </a:r>
            <a:endParaRPr lang="en-US" altLang="zh-CN" sz="3200" dirty="0">
              <a:latin typeface="Arial" panose="020B0604020202020204" pitchFamily="34" charset="0"/>
            </a:endParaRPr>
          </a:p>
          <a:p>
            <a:pPr eaLnBrk="1" hangingPunct="1">
              <a:spcBef>
                <a:spcPct val="25000"/>
              </a:spcBef>
              <a:buNone/>
            </a:pPr>
            <a:r>
              <a:rPr lang="en-US" altLang="zh-CN" sz="3200" dirty="0">
                <a:latin typeface="Arial" panose="020B0604020202020204" pitchFamily="34" charset="0"/>
              </a:rPr>
              <a:t>   </a:t>
            </a:r>
            <a:r>
              <a:rPr lang="zh-CN" altLang="en-US" sz="3200" dirty="0">
                <a:latin typeface="Arial" panose="020B0604020202020204" pitchFamily="34" charset="0"/>
              </a:rPr>
              <a:t>即</a:t>
            </a:r>
            <a:r>
              <a:rPr lang="zh-CN" altLang="en-US" sz="3200" dirty="0">
                <a:solidFill>
                  <a:srgbClr val="0000CC"/>
                </a:solidFill>
                <a:latin typeface="Arial" panose="020B0604020202020204" pitchFamily="34" charset="0"/>
              </a:rPr>
              <a:t>非主属性</a:t>
            </a:r>
            <a:r>
              <a:rPr lang="zh-CN" altLang="en-US" sz="3200" dirty="0">
                <a:latin typeface="Arial" panose="020B0604020202020204" pitchFamily="34" charset="0"/>
              </a:rPr>
              <a:t> </a:t>
            </a:r>
            <a:r>
              <a:rPr lang="en-US" altLang="zh-CN" sz="3200" dirty="0">
                <a:latin typeface="Arial" panose="020B0604020202020204" pitchFamily="34" charset="0"/>
              </a:rPr>
              <a:t>Sdept </a:t>
            </a:r>
            <a:r>
              <a:rPr lang="zh-CN" altLang="en-US" sz="3200" dirty="0">
                <a:latin typeface="Arial" panose="020B0604020202020204" pitchFamily="34" charset="0"/>
              </a:rPr>
              <a:t>和 </a:t>
            </a:r>
            <a:r>
              <a:rPr lang="en-US" altLang="zh-CN" sz="3200" dirty="0">
                <a:latin typeface="Arial" panose="020B0604020202020204" pitchFamily="34" charset="0"/>
              </a:rPr>
              <a:t>Sloc </a:t>
            </a:r>
            <a:r>
              <a:rPr lang="zh-CN" altLang="en-US" sz="3200" dirty="0">
                <a:latin typeface="Arial" panose="020B0604020202020204" pitchFamily="34" charset="0"/>
              </a:rPr>
              <a:t>部分函数依赖于码 </a:t>
            </a:r>
            <a:r>
              <a:rPr lang="en-US" altLang="zh-CN" sz="3200" dirty="0">
                <a:latin typeface="Arial" panose="020B0604020202020204" pitchFamily="34" charset="0"/>
              </a:rPr>
              <a:t>( Sno, Cno )</a:t>
            </a:r>
            <a:endParaRPr lang="en-US" altLang="zh-CN" sz="3200" dirty="0">
              <a:latin typeface="Arial" panose="020B0604020202020204" pitchFamily="34" charset="0"/>
            </a:endParaRPr>
          </a:p>
        </p:txBody>
      </p:sp>
      <p:grpSp>
        <p:nvGrpSpPr>
          <p:cNvPr id="58372" name="Group 4"/>
          <p:cNvGrpSpPr/>
          <p:nvPr/>
        </p:nvGrpSpPr>
        <p:grpSpPr>
          <a:xfrm>
            <a:off x="2339975" y="765175"/>
            <a:ext cx="6224588" cy="2876550"/>
            <a:chOff x="783" y="711"/>
            <a:chExt cx="3921" cy="1812"/>
          </a:xfrm>
        </p:grpSpPr>
        <p:sp>
          <p:nvSpPr>
            <p:cNvPr id="58377" name="Rectangle 5"/>
            <p:cNvSpPr/>
            <p:nvPr/>
          </p:nvSpPr>
          <p:spPr>
            <a:xfrm>
              <a:off x="2154" y="711"/>
              <a:ext cx="1183" cy="1812"/>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endParaRPr lang="zh-CN" altLang="en-US" dirty="0">
                <a:latin typeface="Arial" panose="020B0604020202020204" pitchFamily="34" charset="0"/>
                <a:ea typeface="幼圆" panose="02010509060101010101" pitchFamily="49" charset="-122"/>
              </a:endParaRPr>
            </a:p>
          </p:txBody>
        </p:sp>
        <p:sp>
          <p:nvSpPr>
            <p:cNvPr id="58378" name="Text Box 6"/>
            <p:cNvSpPr txBox="1"/>
            <p:nvPr/>
          </p:nvSpPr>
          <p:spPr>
            <a:xfrm>
              <a:off x="2405" y="989"/>
              <a:ext cx="747" cy="418"/>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Sno</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58379" name="Text Box 7"/>
            <p:cNvSpPr txBox="1"/>
            <p:nvPr/>
          </p:nvSpPr>
          <p:spPr>
            <a:xfrm>
              <a:off x="2381" y="1797"/>
              <a:ext cx="747" cy="418"/>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Cno</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58380" name="Text Box 8"/>
            <p:cNvSpPr txBox="1"/>
            <p:nvPr/>
          </p:nvSpPr>
          <p:spPr>
            <a:xfrm>
              <a:off x="783" y="1371"/>
              <a:ext cx="896" cy="417"/>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Score</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58381" name="Text Box 9"/>
            <p:cNvSpPr txBox="1"/>
            <p:nvPr/>
          </p:nvSpPr>
          <p:spPr>
            <a:xfrm>
              <a:off x="3808" y="989"/>
              <a:ext cx="896" cy="418"/>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Sdept</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58382" name="Text Box 10"/>
            <p:cNvSpPr txBox="1"/>
            <p:nvPr/>
          </p:nvSpPr>
          <p:spPr>
            <a:xfrm>
              <a:off x="3808" y="1963"/>
              <a:ext cx="896" cy="418"/>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Sloc</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58383" name="Line 11"/>
            <p:cNvSpPr/>
            <p:nvPr/>
          </p:nvSpPr>
          <p:spPr>
            <a:xfrm flipH="1">
              <a:off x="1679" y="1573"/>
              <a:ext cx="448" cy="0"/>
            </a:xfrm>
            <a:prstGeom prst="line">
              <a:avLst/>
            </a:prstGeom>
            <a:ln w="38100" cap="flat" cmpd="sng">
              <a:solidFill>
                <a:srgbClr val="000000"/>
              </a:solidFill>
              <a:prstDash val="solid"/>
              <a:headEnd type="none" w="med" len="med"/>
              <a:tailEnd type="triangle" w="med" len="med"/>
            </a:ln>
          </p:spPr>
        </p:sp>
        <p:sp>
          <p:nvSpPr>
            <p:cNvPr id="58384" name="Line 12"/>
            <p:cNvSpPr/>
            <p:nvPr/>
          </p:nvSpPr>
          <p:spPr>
            <a:xfrm>
              <a:off x="3152" y="1117"/>
              <a:ext cx="656" cy="12"/>
            </a:xfrm>
            <a:prstGeom prst="line">
              <a:avLst/>
            </a:prstGeom>
            <a:ln w="38100" cap="flat" cmpd="sng">
              <a:solidFill>
                <a:srgbClr val="000000"/>
              </a:solidFill>
              <a:prstDash val="solid"/>
              <a:headEnd type="none" w="med" len="med"/>
              <a:tailEnd type="triangle" w="med" len="med"/>
            </a:ln>
          </p:spPr>
        </p:sp>
        <p:sp>
          <p:nvSpPr>
            <p:cNvPr id="58385" name="Line 13"/>
            <p:cNvSpPr/>
            <p:nvPr/>
          </p:nvSpPr>
          <p:spPr>
            <a:xfrm>
              <a:off x="3152" y="1253"/>
              <a:ext cx="656" cy="849"/>
            </a:xfrm>
            <a:prstGeom prst="line">
              <a:avLst/>
            </a:prstGeom>
            <a:ln w="38100" cap="flat" cmpd="sng">
              <a:solidFill>
                <a:srgbClr val="000000"/>
              </a:solidFill>
              <a:prstDash val="solid"/>
              <a:headEnd type="none" w="med" len="med"/>
              <a:tailEnd type="triangle" w="med" len="med"/>
            </a:ln>
          </p:spPr>
        </p:sp>
        <p:sp>
          <p:nvSpPr>
            <p:cNvPr id="58386" name="Line 14"/>
            <p:cNvSpPr/>
            <p:nvPr/>
          </p:nvSpPr>
          <p:spPr>
            <a:xfrm flipV="1">
              <a:off x="3360" y="1268"/>
              <a:ext cx="448" cy="695"/>
            </a:xfrm>
            <a:prstGeom prst="line">
              <a:avLst/>
            </a:prstGeom>
            <a:ln w="38100" cap="flat" cmpd="sng">
              <a:solidFill>
                <a:srgbClr val="000000"/>
              </a:solidFill>
              <a:prstDash val="sysDot"/>
              <a:headEnd type="none" w="med" len="med"/>
              <a:tailEnd type="triangle" w="med" len="med"/>
            </a:ln>
          </p:spPr>
        </p:sp>
        <p:sp>
          <p:nvSpPr>
            <p:cNvPr id="58387" name="Line 15"/>
            <p:cNvSpPr/>
            <p:nvPr/>
          </p:nvSpPr>
          <p:spPr>
            <a:xfrm>
              <a:off x="3360" y="1963"/>
              <a:ext cx="448" cy="279"/>
            </a:xfrm>
            <a:prstGeom prst="line">
              <a:avLst/>
            </a:prstGeom>
            <a:ln w="38100" cap="rnd" cmpd="sng">
              <a:solidFill>
                <a:srgbClr val="000000"/>
              </a:solidFill>
              <a:prstDash val="sysDot"/>
              <a:headEnd type="none" w="med" len="med"/>
              <a:tailEnd type="triangle" w="med" len="med"/>
            </a:ln>
          </p:spPr>
        </p:sp>
        <p:sp>
          <p:nvSpPr>
            <p:cNvPr id="58388" name="Line 16"/>
            <p:cNvSpPr/>
            <p:nvPr/>
          </p:nvSpPr>
          <p:spPr>
            <a:xfrm>
              <a:off x="4255" y="1407"/>
              <a:ext cx="0" cy="556"/>
            </a:xfrm>
            <a:prstGeom prst="line">
              <a:avLst/>
            </a:prstGeom>
            <a:ln w="38100" cap="flat" cmpd="sng">
              <a:solidFill>
                <a:srgbClr val="000000"/>
              </a:solidFill>
              <a:prstDash val="solid"/>
              <a:headEnd type="none" w="med" len="med"/>
              <a:tailEnd type="triangle" w="med" len="med"/>
            </a:ln>
          </p:spPr>
        </p:sp>
      </p:grpSp>
      <p:sp>
        <p:nvSpPr>
          <p:cNvPr id="58373" name="Text Box 17"/>
          <p:cNvSpPr txBox="1"/>
          <p:nvPr/>
        </p:nvSpPr>
        <p:spPr>
          <a:xfrm>
            <a:off x="2484438" y="981075"/>
            <a:ext cx="1422400" cy="661988"/>
          </a:xfrm>
          <a:prstGeom prst="rect">
            <a:avLst/>
          </a:prstGeom>
          <a:noFill/>
          <a:ln w="38100">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just">
              <a:buClrTx/>
              <a:buSzTx/>
              <a:buFontTx/>
              <a:buNone/>
            </a:pPr>
            <a:r>
              <a:rPr lang="en-US" altLang="zh-CN" sz="4000" dirty="0">
                <a:solidFill>
                  <a:srgbClr val="FF0000"/>
                </a:solidFill>
                <a:latin typeface="Arial" panose="020B0604020202020204" pitchFamily="34" charset="0"/>
                <a:ea typeface="宋体" panose="02010600030101010101" pitchFamily="2" charset="-122"/>
              </a:rPr>
              <a:t>SLC</a:t>
            </a:r>
            <a:endParaRPr lang="en-US" altLang="zh-CN" sz="4000" dirty="0">
              <a:solidFill>
                <a:srgbClr val="FF0000"/>
              </a:solidFill>
              <a:latin typeface="Arial" panose="020B0604020202020204" pitchFamily="34" charset="0"/>
              <a:ea typeface="宋体" panose="02010600030101010101" pitchFamily="2" charset="-122"/>
            </a:endParaRPr>
          </a:p>
        </p:txBody>
      </p:sp>
      <p:grpSp>
        <p:nvGrpSpPr>
          <p:cNvPr id="58374" name="Group 18"/>
          <p:cNvGrpSpPr/>
          <p:nvPr/>
        </p:nvGrpSpPr>
        <p:grpSpPr>
          <a:xfrm>
            <a:off x="2843213" y="4437063"/>
            <a:ext cx="4321175" cy="579437"/>
            <a:chOff x="1791" y="2614"/>
            <a:chExt cx="2722" cy="365"/>
          </a:xfrm>
        </p:grpSpPr>
        <p:sp>
          <p:nvSpPr>
            <p:cNvPr id="58375" name="Text Box 19"/>
            <p:cNvSpPr txBox="1"/>
            <p:nvPr/>
          </p:nvSpPr>
          <p:spPr>
            <a:xfrm>
              <a:off x="1791" y="2614"/>
              <a:ext cx="227" cy="365"/>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3200" dirty="0">
                  <a:latin typeface="Arial" panose="020B0604020202020204" pitchFamily="34" charset="0"/>
                  <a:ea typeface="宋体" panose="02010600030101010101" pitchFamily="2" charset="-122"/>
                </a:rPr>
                <a:t>p</a:t>
              </a:r>
              <a:endParaRPr lang="en-US" altLang="zh-CN" sz="3200" dirty="0">
                <a:latin typeface="Arial" panose="020B0604020202020204" pitchFamily="34" charset="0"/>
                <a:ea typeface="宋体" panose="02010600030101010101" pitchFamily="2" charset="-122"/>
              </a:endParaRPr>
            </a:p>
          </p:txBody>
        </p:sp>
        <p:sp>
          <p:nvSpPr>
            <p:cNvPr id="58376" name="Text Box 20"/>
            <p:cNvSpPr txBox="1"/>
            <p:nvPr/>
          </p:nvSpPr>
          <p:spPr>
            <a:xfrm>
              <a:off x="4286" y="2614"/>
              <a:ext cx="227" cy="365"/>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3200" dirty="0">
                  <a:latin typeface="Arial" panose="020B0604020202020204" pitchFamily="34" charset="0"/>
                  <a:ea typeface="宋体" panose="02010600030101010101" pitchFamily="2" charset="-122"/>
                </a:rPr>
                <a:t>p</a:t>
              </a:r>
              <a:endParaRPr lang="en-US" altLang="zh-CN" sz="3200" dirty="0">
                <a:latin typeface="Arial" panose="020B0604020202020204" pitchFamily="34" charset="0"/>
                <a:ea typeface="宋体" panose="02010600030101010101" pitchFamily="2" charset="-122"/>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0691">
                                            <p:txEl>
                                              <p:charRg st="70" end="1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8"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7.5.1  </a:t>
            </a: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rPr>
              <a:t>1NF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endParaRPr>
          </a:p>
        </p:txBody>
      </p:sp>
      <p:sp>
        <p:nvSpPr>
          <p:cNvPr id="372739" name="Rectangle 3"/>
          <p:cNvSpPr>
            <a:spLocks noGrp="1"/>
          </p:cNvSpPr>
          <p:nvPr>
            <p:ph idx="1"/>
          </p:nvPr>
        </p:nvSpPr>
        <p:spPr>
          <a:xfrm>
            <a:off x="152400" y="981075"/>
            <a:ext cx="8848725" cy="5473700"/>
          </a:xfrm>
        </p:spPr>
        <p:txBody>
          <a:bodyPr vert="horz" wrap="square" lIns="91440" tIns="45720" rIns="91440" bIns="45720" anchor="t" anchorCtr="0"/>
          <a:p>
            <a:pPr eaLnBrk="1" hangingPunct="1">
              <a:lnSpc>
                <a:spcPct val="95000"/>
              </a:lnSpc>
              <a:spcBef>
                <a:spcPct val="40000"/>
              </a:spcBef>
            </a:pPr>
            <a:r>
              <a:rPr lang="zh-CN" altLang="en-US" dirty="0">
                <a:solidFill>
                  <a:srgbClr val="0000CC"/>
                </a:solidFill>
                <a:latin typeface="Arial" panose="020B0604020202020204" pitchFamily="34" charset="0"/>
              </a:rPr>
              <a:t>解决方法</a:t>
            </a:r>
            <a:endParaRPr lang="zh-CN" altLang="en-US" dirty="0">
              <a:solidFill>
                <a:srgbClr val="0000CC"/>
              </a:solidFill>
              <a:latin typeface="Arial" panose="020B0604020202020204" pitchFamily="34" charset="0"/>
            </a:endParaRPr>
          </a:p>
          <a:p>
            <a:pPr eaLnBrk="1" hangingPunct="1">
              <a:lnSpc>
                <a:spcPct val="95000"/>
              </a:lnSpc>
              <a:buNone/>
            </a:pPr>
            <a:r>
              <a:rPr lang="zh-CN" altLang="en-US" dirty="0">
                <a:latin typeface="Arial" panose="020B0604020202020204" pitchFamily="34" charset="0"/>
              </a:rPr>
              <a:t>   </a:t>
            </a:r>
            <a:r>
              <a:rPr lang="en-US" altLang="zh-CN" dirty="0">
                <a:latin typeface="Arial" panose="020B0604020202020204" pitchFamily="34" charset="0"/>
              </a:rPr>
              <a:t>SLC </a:t>
            </a:r>
            <a:r>
              <a:rPr lang="zh-CN" altLang="en-US" dirty="0">
                <a:solidFill>
                  <a:srgbClr val="FF0000"/>
                </a:solidFill>
                <a:latin typeface="Arial" panose="020B0604020202020204" pitchFamily="34" charset="0"/>
              </a:rPr>
              <a:t>分解</a:t>
            </a:r>
            <a:r>
              <a:rPr lang="zh-CN" altLang="en-US" dirty="0">
                <a:latin typeface="Arial" panose="020B0604020202020204" pitchFamily="34" charset="0"/>
              </a:rPr>
              <a:t>为两个关系模式，以消除这些部分函数依赖。</a:t>
            </a:r>
            <a:endParaRPr lang="zh-CN" altLang="en-US" dirty="0">
              <a:latin typeface="Arial" panose="020B0604020202020204" pitchFamily="34" charset="0"/>
            </a:endParaRPr>
          </a:p>
          <a:p>
            <a:pPr eaLnBrk="1" hangingPunct="1">
              <a:buNone/>
            </a:pPr>
            <a:r>
              <a:rPr lang="zh-CN" altLang="en-US" dirty="0">
                <a:latin typeface="Arial" panose="020B0604020202020204" pitchFamily="34" charset="0"/>
              </a:rPr>
              <a:t>		</a:t>
            </a:r>
            <a:r>
              <a:rPr lang="en-US" altLang="zh-CN" dirty="0">
                <a:latin typeface="Arial" panose="020B0604020202020204" pitchFamily="34" charset="0"/>
              </a:rPr>
              <a:t>SC ( Sno, Cno, Score )</a:t>
            </a:r>
            <a:endParaRPr lang="en-US" altLang="zh-CN" dirty="0">
              <a:latin typeface="Arial" panose="020B0604020202020204" pitchFamily="34" charset="0"/>
            </a:endParaRPr>
          </a:p>
          <a:p>
            <a:pPr eaLnBrk="1" hangingPunct="1">
              <a:buNone/>
            </a:pPr>
            <a:r>
              <a:rPr lang="en-US" altLang="zh-CN" dirty="0">
                <a:latin typeface="Arial" panose="020B0604020202020204" pitchFamily="34" charset="0"/>
              </a:rPr>
              <a:t>		SL ( Sno, Sdept, Sloc )</a:t>
            </a:r>
            <a:endParaRPr lang="en-US" altLang="zh-CN" dirty="0">
              <a:latin typeface="Arial" panose="020B0604020202020204" pitchFamily="34" charset="0"/>
            </a:endParaRPr>
          </a:p>
          <a:p>
            <a:pPr eaLnBrk="1" hangingPunct="1">
              <a:buNone/>
            </a:pPr>
            <a:r>
              <a:rPr lang="zh-CN" altLang="en-US" dirty="0">
                <a:latin typeface="Arial" panose="020B0604020202020204" pitchFamily="34" charset="0"/>
              </a:rPr>
              <a:t>函数依赖图：</a:t>
            </a:r>
            <a:endParaRPr lang="zh-CN" altLang="en-US" dirty="0">
              <a:latin typeface="Arial" panose="020B0604020202020204" pitchFamily="34" charset="0"/>
            </a:endParaRPr>
          </a:p>
        </p:txBody>
      </p:sp>
      <p:grpSp>
        <p:nvGrpSpPr>
          <p:cNvPr id="2" name="Group 4"/>
          <p:cNvGrpSpPr/>
          <p:nvPr/>
        </p:nvGrpSpPr>
        <p:grpSpPr>
          <a:xfrm>
            <a:off x="1014413" y="4403725"/>
            <a:ext cx="3600450" cy="2232025"/>
            <a:chOff x="720" y="2112"/>
            <a:chExt cx="2112" cy="1248"/>
          </a:xfrm>
        </p:grpSpPr>
        <p:sp>
          <p:nvSpPr>
            <p:cNvPr id="60430" name="Rectangle 5"/>
            <p:cNvSpPr/>
            <p:nvPr/>
          </p:nvSpPr>
          <p:spPr>
            <a:xfrm>
              <a:off x="1831" y="2112"/>
              <a:ext cx="1001" cy="1248"/>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endParaRPr lang="zh-CN" altLang="en-US" dirty="0">
                <a:latin typeface="Arial" panose="020B0604020202020204" pitchFamily="34" charset="0"/>
                <a:ea typeface="幼圆" panose="02010509060101010101" pitchFamily="49" charset="-122"/>
              </a:endParaRPr>
            </a:p>
          </p:txBody>
        </p:sp>
        <p:sp>
          <p:nvSpPr>
            <p:cNvPr id="60431" name="Text Box 6"/>
            <p:cNvSpPr txBox="1"/>
            <p:nvPr/>
          </p:nvSpPr>
          <p:spPr>
            <a:xfrm>
              <a:off x="2054" y="2290"/>
              <a:ext cx="556" cy="268"/>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Sno</a:t>
              </a:r>
              <a:endParaRPr lang="en-US" altLang="zh-CN" sz="2400" dirty="0">
                <a:solidFill>
                  <a:srgbClr val="0000CC"/>
                </a:solidFill>
                <a:latin typeface="Arial" panose="020B0604020202020204" pitchFamily="34" charset="0"/>
                <a:ea typeface="宋体" panose="02010600030101010101" pitchFamily="2" charset="-122"/>
              </a:endParaRPr>
            </a:p>
          </p:txBody>
        </p:sp>
        <p:sp>
          <p:nvSpPr>
            <p:cNvPr id="60432" name="Text Box 7"/>
            <p:cNvSpPr txBox="1"/>
            <p:nvPr/>
          </p:nvSpPr>
          <p:spPr>
            <a:xfrm>
              <a:off x="2054" y="2914"/>
              <a:ext cx="556" cy="268"/>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Cno</a:t>
              </a:r>
              <a:endParaRPr lang="en-US" altLang="zh-CN" sz="2400" dirty="0">
                <a:solidFill>
                  <a:srgbClr val="0000CC"/>
                </a:solidFill>
                <a:latin typeface="Arial" panose="020B0604020202020204" pitchFamily="34" charset="0"/>
                <a:ea typeface="宋体" panose="02010600030101010101" pitchFamily="2" charset="-122"/>
              </a:endParaRPr>
            </a:p>
          </p:txBody>
        </p:sp>
        <p:sp>
          <p:nvSpPr>
            <p:cNvPr id="60433" name="Text Box 8"/>
            <p:cNvSpPr txBox="1"/>
            <p:nvPr/>
          </p:nvSpPr>
          <p:spPr>
            <a:xfrm>
              <a:off x="832" y="2647"/>
              <a:ext cx="666" cy="267"/>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Tx/>
                <a:buSzTx/>
                <a:buFontTx/>
                <a:buNone/>
              </a:pPr>
              <a:r>
                <a:rPr lang="en-US" altLang="zh-CN" sz="2400" dirty="0">
                  <a:solidFill>
                    <a:srgbClr val="0000CC"/>
                  </a:solidFill>
                  <a:latin typeface="Arial" panose="020B0604020202020204" pitchFamily="34" charset="0"/>
                  <a:ea typeface="宋体" panose="02010600030101010101" pitchFamily="2" charset="-122"/>
                </a:rPr>
                <a:t>Score</a:t>
              </a:r>
              <a:endParaRPr lang="en-US" altLang="zh-CN" sz="2400" dirty="0">
                <a:solidFill>
                  <a:srgbClr val="0000CC"/>
                </a:solidFill>
                <a:latin typeface="Arial" panose="020B0604020202020204" pitchFamily="34" charset="0"/>
                <a:ea typeface="宋体" panose="02010600030101010101" pitchFamily="2" charset="-122"/>
              </a:endParaRPr>
            </a:p>
          </p:txBody>
        </p:sp>
        <p:sp>
          <p:nvSpPr>
            <p:cNvPr id="60434" name="Line 9"/>
            <p:cNvSpPr/>
            <p:nvPr/>
          </p:nvSpPr>
          <p:spPr>
            <a:xfrm flipH="1">
              <a:off x="1498" y="2736"/>
              <a:ext cx="333" cy="0"/>
            </a:xfrm>
            <a:prstGeom prst="line">
              <a:avLst/>
            </a:prstGeom>
            <a:ln w="38100" cap="flat" cmpd="sng">
              <a:solidFill>
                <a:srgbClr val="000000"/>
              </a:solidFill>
              <a:prstDash val="solid"/>
              <a:headEnd type="none" w="med" len="med"/>
              <a:tailEnd type="triangle" w="med" len="med"/>
            </a:ln>
          </p:spPr>
        </p:sp>
        <p:sp>
          <p:nvSpPr>
            <p:cNvPr id="60435" name="Text Box 10"/>
            <p:cNvSpPr txBox="1"/>
            <p:nvPr/>
          </p:nvSpPr>
          <p:spPr>
            <a:xfrm>
              <a:off x="720" y="2112"/>
              <a:ext cx="556" cy="267"/>
            </a:xfrm>
            <a:prstGeom prst="rect">
              <a:avLst/>
            </a:prstGeom>
            <a:noFill/>
            <a:ln w="38100">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FF0000"/>
                  </a:solidFill>
                  <a:latin typeface="Arial" panose="020B0604020202020204" pitchFamily="34" charset="0"/>
                  <a:ea typeface="宋体" panose="02010600030101010101" pitchFamily="2" charset="-122"/>
                </a:rPr>
                <a:t>SC</a:t>
              </a:r>
              <a:endParaRPr lang="en-US" altLang="zh-CN" sz="3200" dirty="0">
                <a:solidFill>
                  <a:srgbClr val="FF0000"/>
                </a:solidFill>
                <a:latin typeface="Arial" panose="020B0604020202020204" pitchFamily="34" charset="0"/>
                <a:ea typeface="宋体" panose="02010600030101010101" pitchFamily="2" charset="-122"/>
              </a:endParaRPr>
            </a:p>
          </p:txBody>
        </p:sp>
      </p:grpSp>
      <p:grpSp>
        <p:nvGrpSpPr>
          <p:cNvPr id="3" name="Group 11"/>
          <p:cNvGrpSpPr/>
          <p:nvPr/>
        </p:nvGrpSpPr>
        <p:grpSpPr>
          <a:xfrm>
            <a:off x="5407025" y="4365625"/>
            <a:ext cx="3125788" cy="2125663"/>
            <a:chOff x="2958" y="1525"/>
            <a:chExt cx="2598" cy="1883"/>
          </a:xfrm>
        </p:grpSpPr>
        <p:grpSp>
          <p:nvGrpSpPr>
            <p:cNvPr id="60422" name="Group 12"/>
            <p:cNvGrpSpPr/>
            <p:nvPr/>
          </p:nvGrpSpPr>
          <p:grpSpPr>
            <a:xfrm>
              <a:off x="2958" y="1525"/>
              <a:ext cx="2598" cy="1883"/>
              <a:chOff x="3312" y="1920"/>
              <a:chExt cx="1968" cy="1488"/>
            </a:xfrm>
          </p:grpSpPr>
          <p:sp>
            <p:nvSpPr>
              <p:cNvPr id="60424" name="Text Box 13"/>
              <p:cNvSpPr txBox="1"/>
              <p:nvPr/>
            </p:nvSpPr>
            <p:spPr>
              <a:xfrm>
                <a:off x="3312" y="1920"/>
                <a:ext cx="695" cy="372"/>
              </a:xfrm>
              <a:prstGeom prst="rect">
                <a:avLst/>
              </a:prstGeom>
              <a:noFill/>
              <a:ln w="38100">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FF0000"/>
                    </a:solidFill>
                    <a:latin typeface="Arial" panose="020B0604020202020204" pitchFamily="34" charset="0"/>
                    <a:ea typeface="宋体" panose="02010600030101010101" pitchFamily="2" charset="-122"/>
                  </a:rPr>
                  <a:t>SL</a:t>
                </a:r>
                <a:endParaRPr lang="en-US" altLang="zh-CN" sz="3200" dirty="0">
                  <a:solidFill>
                    <a:srgbClr val="FF0000"/>
                  </a:solidFill>
                  <a:latin typeface="Arial" panose="020B0604020202020204" pitchFamily="34" charset="0"/>
                  <a:ea typeface="宋体" panose="02010600030101010101" pitchFamily="2" charset="-122"/>
                </a:endParaRPr>
              </a:p>
            </p:txBody>
          </p:sp>
          <p:sp>
            <p:nvSpPr>
              <p:cNvPr id="60425" name="Text Box 14"/>
              <p:cNvSpPr txBox="1"/>
              <p:nvPr/>
            </p:nvSpPr>
            <p:spPr>
              <a:xfrm>
                <a:off x="3428" y="2540"/>
                <a:ext cx="579" cy="372"/>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Sno</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60426" name="Text Box 15"/>
              <p:cNvSpPr txBox="1"/>
              <p:nvPr/>
            </p:nvSpPr>
            <p:spPr>
              <a:xfrm>
                <a:off x="4585" y="2168"/>
                <a:ext cx="695" cy="372"/>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400" dirty="0">
                    <a:solidFill>
                      <a:srgbClr val="0000CC"/>
                    </a:solidFill>
                    <a:latin typeface="Arial" panose="020B0604020202020204" pitchFamily="34" charset="0"/>
                    <a:ea typeface="宋体" panose="02010600030101010101" pitchFamily="2" charset="-122"/>
                  </a:rPr>
                  <a:t>Sdept</a:t>
                </a:r>
                <a:endParaRPr lang="en-US" altLang="zh-CN" sz="2400" dirty="0">
                  <a:solidFill>
                    <a:srgbClr val="0000CC"/>
                  </a:solidFill>
                  <a:latin typeface="Arial" panose="020B0604020202020204" pitchFamily="34" charset="0"/>
                  <a:ea typeface="宋体" panose="02010600030101010101" pitchFamily="2" charset="-122"/>
                </a:endParaRPr>
              </a:p>
            </p:txBody>
          </p:sp>
          <p:sp>
            <p:nvSpPr>
              <p:cNvPr id="60427" name="Text Box 16"/>
              <p:cNvSpPr txBox="1"/>
              <p:nvPr/>
            </p:nvSpPr>
            <p:spPr>
              <a:xfrm>
                <a:off x="4585" y="3036"/>
                <a:ext cx="695" cy="372"/>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Sloc</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60428" name="Line 17"/>
              <p:cNvSpPr/>
              <p:nvPr/>
            </p:nvSpPr>
            <p:spPr>
              <a:xfrm flipV="1">
                <a:off x="4007" y="2292"/>
                <a:ext cx="578" cy="372"/>
              </a:xfrm>
              <a:prstGeom prst="line">
                <a:avLst/>
              </a:prstGeom>
              <a:ln w="38100" cap="flat" cmpd="sng">
                <a:solidFill>
                  <a:srgbClr val="000000"/>
                </a:solidFill>
                <a:prstDash val="solid"/>
                <a:headEnd type="none" w="med" len="med"/>
                <a:tailEnd type="triangle" w="med" len="med"/>
              </a:ln>
            </p:spPr>
          </p:sp>
          <p:sp>
            <p:nvSpPr>
              <p:cNvPr id="60429" name="Line 18"/>
              <p:cNvSpPr/>
              <p:nvPr/>
            </p:nvSpPr>
            <p:spPr>
              <a:xfrm>
                <a:off x="4007" y="2788"/>
                <a:ext cx="578" cy="372"/>
              </a:xfrm>
              <a:prstGeom prst="line">
                <a:avLst/>
              </a:prstGeom>
              <a:ln w="38100" cap="flat" cmpd="sng">
                <a:solidFill>
                  <a:srgbClr val="000000"/>
                </a:solidFill>
                <a:prstDash val="solid"/>
                <a:headEnd type="none" w="med" len="med"/>
                <a:tailEnd type="triangle" w="med" len="med"/>
              </a:ln>
            </p:spPr>
          </p:sp>
        </p:grpSp>
        <p:sp>
          <p:nvSpPr>
            <p:cNvPr id="60423" name="Line 19"/>
            <p:cNvSpPr/>
            <p:nvPr/>
          </p:nvSpPr>
          <p:spPr>
            <a:xfrm>
              <a:off x="5103" y="2341"/>
              <a:ext cx="0" cy="590"/>
            </a:xfrm>
            <a:prstGeom prst="line">
              <a:avLst/>
            </a:prstGeom>
            <a:ln w="38100" cap="flat" cmpd="sng">
              <a:solidFill>
                <a:srgbClr val="000000"/>
              </a:solidFill>
              <a:prstDash val="solid"/>
              <a:headEnd type="none" w="med" len="med"/>
              <a:tailEnd type="triangle"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2739">
                                            <p:txEl>
                                              <p:charRg st="35" end="6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2739">
                                            <p:txEl>
                                              <p:charRg st="60" end="8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2739">
                                            <p:txEl>
                                              <p:charRg st="86" end="9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idx="1"/>
          </p:nvPr>
        </p:nvSpPr>
        <p:spPr>
          <a:xfrm>
            <a:off x="107950" y="981075"/>
            <a:ext cx="8991600" cy="5435600"/>
          </a:xfrm>
        </p:spPr>
        <p:txBody>
          <a:bodyPr vert="horz" wrap="square" lIns="91440" tIns="45720" rIns="91440" bIns="45720" anchor="t" anchorCtr="0"/>
          <a:p>
            <a:pPr marL="354330" indent="-354330" eaLnBrk="1" hangingPunct="1">
              <a:lnSpc>
                <a:spcPct val="90000"/>
              </a:lnSpc>
            </a:pPr>
            <a:r>
              <a:rPr lang="zh-CN" altLang="en-US" dirty="0">
                <a:latin typeface="Arial" panose="020B0604020202020204" pitchFamily="34" charset="0"/>
              </a:rPr>
              <a:t>定义</a:t>
            </a:r>
            <a:endParaRPr lang="zh-CN" altLang="en-US" dirty="0">
              <a:latin typeface="Arial" panose="020B0604020202020204" pitchFamily="34" charset="0"/>
              <a:ea typeface="Arial Unicode MS" pitchFamily="34" charset="-122"/>
            </a:endParaRPr>
          </a:p>
          <a:p>
            <a:pPr marL="354330" indent="-354330" eaLnBrk="1" hangingPunct="1">
              <a:buNone/>
            </a:pPr>
            <a:r>
              <a:rPr lang="zh-CN" altLang="en-US" dirty="0">
                <a:latin typeface="Arial" panose="020B0604020202020204" pitchFamily="34" charset="0"/>
              </a:rPr>
              <a:t>          若关系模式 </a:t>
            </a:r>
            <a:r>
              <a:rPr lang="en-US" altLang="zh-CN" dirty="0">
                <a:latin typeface="Arial" panose="020B0604020202020204" pitchFamily="34" charset="0"/>
                <a:ea typeface="Arial Unicode MS" pitchFamily="34" charset="-122"/>
              </a:rPr>
              <a:t>R</a:t>
            </a:r>
            <a:r>
              <a:rPr lang="en-US" altLang="zh-CN" dirty="0">
                <a:latin typeface="Arial" panose="020B0604020202020204" pitchFamily="34" charset="0"/>
                <a:ea typeface="Arial Unicode MS" pitchFamily="34" charset="-122"/>
                <a:sym typeface="Symbol" panose="05050102010706020507" pitchFamily="18" charset="2"/>
              </a:rPr>
              <a:t></a:t>
            </a:r>
            <a:r>
              <a:rPr lang="en-US" altLang="zh-CN" dirty="0">
                <a:latin typeface="Arial" panose="020B0604020202020204" pitchFamily="34" charset="0"/>
                <a:ea typeface="Arial Unicode MS" pitchFamily="34" charset="-122"/>
              </a:rPr>
              <a:t>1NF</a:t>
            </a:r>
            <a:r>
              <a:rPr lang="en-US" altLang="zh-CN" dirty="0">
                <a:latin typeface="Arial" panose="020B0604020202020204" pitchFamily="34" charset="0"/>
              </a:rPr>
              <a:t> </a:t>
            </a:r>
            <a:r>
              <a:rPr lang="zh-CN" altLang="en-US" dirty="0">
                <a:latin typeface="Arial" panose="020B0604020202020204" pitchFamily="34" charset="0"/>
              </a:rPr>
              <a:t>，且每一个</a:t>
            </a:r>
            <a:r>
              <a:rPr lang="zh-CN" altLang="en-US" dirty="0">
                <a:solidFill>
                  <a:srgbClr val="FF0000"/>
                </a:solidFill>
                <a:latin typeface="Arial" panose="020B0604020202020204" pitchFamily="34" charset="0"/>
              </a:rPr>
              <a:t>非主</a:t>
            </a:r>
            <a:r>
              <a:rPr lang="zh-CN" altLang="en-US" dirty="0">
                <a:latin typeface="Arial" panose="020B0604020202020204" pitchFamily="34" charset="0"/>
              </a:rPr>
              <a:t>属性</a:t>
            </a:r>
            <a:r>
              <a:rPr lang="zh-CN" altLang="en-US" dirty="0">
                <a:solidFill>
                  <a:srgbClr val="FF0000"/>
                </a:solidFill>
                <a:latin typeface="Arial" panose="020B0604020202020204" pitchFamily="34" charset="0"/>
              </a:rPr>
              <a:t>完全</a:t>
            </a:r>
            <a:r>
              <a:rPr lang="zh-CN" altLang="en-US" dirty="0">
                <a:latin typeface="Arial" panose="020B0604020202020204" pitchFamily="34" charset="0"/>
              </a:rPr>
              <a:t>函数依赖于码，则称 </a:t>
            </a:r>
            <a:r>
              <a:rPr lang="en-US" altLang="zh-CN" dirty="0">
                <a:latin typeface="Arial" panose="020B0604020202020204" pitchFamily="34" charset="0"/>
                <a:ea typeface="Arial Unicode MS" pitchFamily="34" charset="-122"/>
              </a:rPr>
              <a:t>R </a:t>
            </a:r>
            <a:r>
              <a:rPr lang="zh-CN" altLang="en-US" dirty="0">
                <a:latin typeface="Arial" panose="020B0604020202020204" pitchFamily="34" charset="0"/>
              </a:rPr>
              <a:t>是</a:t>
            </a:r>
            <a:r>
              <a:rPr lang="zh-CN" altLang="en-US" dirty="0">
                <a:solidFill>
                  <a:srgbClr val="FF0000"/>
                </a:solidFill>
                <a:latin typeface="Arial" panose="020B0604020202020204" pitchFamily="34" charset="0"/>
              </a:rPr>
              <a:t>第二范式</a:t>
            </a:r>
            <a:r>
              <a:rPr lang="zh-CN" altLang="en-US" dirty="0">
                <a:latin typeface="Arial" panose="020B0604020202020204" pitchFamily="34" charset="0"/>
              </a:rPr>
              <a:t>，记作 </a:t>
            </a:r>
            <a:r>
              <a:rPr lang="en-US" altLang="zh-CN" dirty="0">
                <a:solidFill>
                  <a:srgbClr val="FF0000"/>
                </a:solidFill>
                <a:latin typeface="Arial" panose="020B0604020202020204" pitchFamily="34" charset="0"/>
                <a:ea typeface="Arial Unicode MS" pitchFamily="34" charset="-122"/>
              </a:rPr>
              <a:t>R</a:t>
            </a:r>
            <a:r>
              <a:rPr lang="en-US" altLang="zh-CN" dirty="0">
                <a:solidFill>
                  <a:srgbClr val="FF0000"/>
                </a:solidFill>
                <a:latin typeface="Arial" panose="020B0604020202020204" pitchFamily="34" charset="0"/>
                <a:ea typeface="Arial Unicode MS" pitchFamily="34" charset="-122"/>
                <a:sym typeface="Symbol" panose="05050102010706020507" pitchFamily="18" charset="2"/>
              </a:rPr>
              <a:t></a:t>
            </a:r>
            <a:r>
              <a:rPr lang="en-US" altLang="zh-CN" dirty="0">
                <a:solidFill>
                  <a:srgbClr val="FF0000"/>
                </a:solidFill>
                <a:latin typeface="Arial" panose="020B0604020202020204" pitchFamily="34" charset="0"/>
                <a:ea typeface="Arial Unicode MS" pitchFamily="34" charset="-122"/>
              </a:rPr>
              <a:t>2NF</a:t>
            </a:r>
            <a:r>
              <a:rPr lang="zh-CN" altLang="en-US" dirty="0">
                <a:latin typeface="Arial" panose="020B0604020202020204" pitchFamily="34" charset="0"/>
              </a:rPr>
              <a:t>。</a:t>
            </a:r>
            <a:endParaRPr lang="zh-CN" altLang="en-US" dirty="0">
              <a:latin typeface="Arial" panose="020B0604020202020204" pitchFamily="34" charset="0"/>
            </a:endParaRPr>
          </a:p>
          <a:p>
            <a:pPr marL="354330" indent="-354330" eaLnBrk="1" hangingPunct="1">
              <a:lnSpc>
                <a:spcPct val="105000"/>
              </a:lnSpc>
              <a:spcBef>
                <a:spcPct val="25000"/>
              </a:spcBef>
            </a:pPr>
            <a:r>
              <a:rPr lang="zh-CN" altLang="en-US" dirty="0">
                <a:latin typeface="Arial" panose="020B0604020202020204" pitchFamily="34" charset="0"/>
              </a:rPr>
              <a:t>例如</a:t>
            </a:r>
            <a:endParaRPr lang="zh-CN" altLang="en-US" dirty="0">
              <a:latin typeface="Arial" panose="020B0604020202020204" pitchFamily="34" charset="0"/>
            </a:endParaRPr>
          </a:p>
          <a:p>
            <a:pPr marL="354330" indent="-354330" eaLnBrk="1" hangingPunct="1">
              <a:lnSpc>
                <a:spcPct val="105000"/>
              </a:lnSpc>
              <a:spcBef>
                <a:spcPct val="25000"/>
              </a:spcBef>
              <a:buNone/>
            </a:pPr>
            <a:r>
              <a:rPr lang="zh-CN" altLang="en-US" dirty="0">
                <a:solidFill>
                  <a:srgbClr val="0000CC"/>
                </a:solidFill>
                <a:latin typeface="Arial" panose="020B0604020202020204" pitchFamily="34" charset="0"/>
              </a:rPr>
              <a:t>  </a:t>
            </a:r>
            <a:r>
              <a:rPr lang="en-US" altLang="zh-CN" dirty="0">
                <a:solidFill>
                  <a:srgbClr val="0000CC"/>
                </a:solidFill>
                <a:latin typeface="Arial" panose="020B0604020202020204" pitchFamily="34" charset="0"/>
              </a:rPr>
              <a:t>SLC(Sno,Sdept,Sloc,Cno,Score)∈1NF</a:t>
            </a:r>
            <a:endParaRPr lang="en-US" altLang="zh-CN" dirty="0">
              <a:solidFill>
                <a:srgbClr val="0000CC"/>
              </a:solidFill>
              <a:latin typeface="Arial" panose="020B0604020202020204" pitchFamily="34" charset="0"/>
            </a:endParaRPr>
          </a:p>
          <a:p>
            <a:pPr marL="354330" indent="-354330" eaLnBrk="1" hangingPunct="1">
              <a:lnSpc>
                <a:spcPct val="105000"/>
              </a:lnSpc>
              <a:buNone/>
            </a:pPr>
            <a:r>
              <a:rPr lang="en-US" altLang="zh-CN" dirty="0">
                <a:solidFill>
                  <a:srgbClr val="0000CC"/>
                </a:solidFill>
                <a:latin typeface="Arial" panose="020B0604020202020204" pitchFamily="34" charset="0"/>
              </a:rPr>
              <a:t>  SLC(Sno,Sdept,Sloc,Cno,Score)∈2NF</a:t>
            </a:r>
            <a:endParaRPr lang="en-US" altLang="zh-CN" dirty="0">
              <a:solidFill>
                <a:srgbClr val="0000CC"/>
              </a:solidFill>
              <a:latin typeface="Arial" panose="020B0604020202020204" pitchFamily="34" charset="0"/>
            </a:endParaRPr>
          </a:p>
          <a:p>
            <a:pPr marL="354330" indent="-354330" eaLnBrk="1" hangingPunct="1">
              <a:lnSpc>
                <a:spcPct val="105000"/>
              </a:lnSpc>
              <a:buNone/>
            </a:pPr>
            <a:r>
              <a:rPr lang="en-US" altLang="zh-CN" dirty="0">
                <a:solidFill>
                  <a:srgbClr val="0000CC"/>
                </a:solidFill>
                <a:latin typeface="Arial" panose="020B0604020202020204" pitchFamily="34" charset="0"/>
              </a:rPr>
              <a:t>	    SC(Sno, Cno, Score) ∈ 2NF</a:t>
            </a:r>
            <a:endParaRPr lang="en-US" altLang="zh-CN" dirty="0">
              <a:solidFill>
                <a:srgbClr val="0000CC"/>
              </a:solidFill>
              <a:latin typeface="Arial" panose="020B0604020202020204" pitchFamily="34" charset="0"/>
            </a:endParaRPr>
          </a:p>
          <a:p>
            <a:pPr marL="354330" indent="-354330" eaLnBrk="1" hangingPunct="1">
              <a:lnSpc>
                <a:spcPct val="105000"/>
              </a:lnSpc>
              <a:buNone/>
            </a:pPr>
            <a:r>
              <a:rPr lang="en-US" altLang="zh-CN" dirty="0">
                <a:solidFill>
                  <a:srgbClr val="0000CC"/>
                </a:solidFill>
                <a:latin typeface="Arial" panose="020B0604020202020204" pitchFamily="34" charset="0"/>
              </a:rPr>
              <a:t>	    SL(Sno, Sdept, Sloc) ∈ 2NF</a:t>
            </a:r>
            <a:endParaRPr lang="en-US" altLang="zh-CN" dirty="0">
              <a:solidFill>
                <a:srgbClr val="0000CC"/>
              </a:solidFill>
              <a:latin typeface="Arial" panose="020B0604020202020204" pitchFamily="34" charset="0"/>
            </a:endParaRPr>
          </a:p>
        </p:txBody>
      </p:sp>
      <p:sp>
        <p:nvSpPr>
          <p:cNvPr id="373763" name="Rectangle 3"/>
          <p:cNvSpPr>
            <a:spLocks noGrp="1" noChangeArrowheads="1"/>
          </p:cNvSpPr>
          <p:nvPr>
            <p:ph type="title"/>
          </p:nvPr>
        </p:nvSpPr>
        <p:spPr>
          <a:xfrm>
            <a:off x="250825" y="115888"/>
            <a:ext cx="8713788" cy="649288"/>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7.5.2  </a:t>
            </a: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rPr>
              <a:t>2NF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Arial Unicode MS" pitchFamily="34" charset="-122"/>
              <a:cs typeface="Arial Unicode MS" pitchFamily="34" charset="-122"/>
            </a:endParaRPr>
          </a:p>
        </p:txBody>
      </p:sp>
      <p:sp>
        <p:nvSpPr>
          <p:cNvPr id="61444" name="Line 4"/>
          <p:cNvSpPr/>
          <p:nvPr/>
        </p:nvSpPr>
        <p:spPr>
          <a:xfrm flipH="1">
            <a:off x="7419975" y="4706938"/>
            <a:ext cx="288925" cy="360362"/>
          </a:xfrm>
          <a:prstGeom prst="line">
            <a:avLst/>
          </a:prstGeom>
          <a:ln w="38100" cap="flat" cmpd="sng">
            <a:solidFill>
              <a:srgbClr val="0000CC"/>
            </a:solidFill>
            <a:prstDash val="solid"/>
            <a:headEnd type="none" w="med" len="med"/>
            <a:tailEnd type="none" w="med" len="med"/>
          </a:ln>
        </p:spPr>
      </p:sp>
    </p:spTree>
  </p:cSld>
  <p:clrMapOvr>
    <a:masterClrMapping/>
  </p:clrMapOvr>
  <p:transition>
    <p:random/>
    <p:sndAc>
      <p:stSnd>
        <p:snd r:embed="rId1"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581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7.5.2  2NF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3491" name="Rectangle 3"/>
          <p:cNvSpPr>
            <a:spLocks noGrp="1"/>
          </p:cNvSpPr>
          <p:nvPr>
            <p:ph idx="1"/>
          </p:nvPr>
        </p:nvSpPr>
        <p:spPr/>
        <p:txBody>
          <a:bodyPr vert="horz" wrap="square" lIns="91440" tIns="45720" rIns="91440" bIns="45720" anchor="t" anchorCtr="0"/>
          <a:p>
            <a:pPr eaLnBrk="1" hangingPunct="1">
              <a:buNone/>
            </a:pPr>
            <a:r>
              <a:rPr lang="zh-CN" altLang="en-US" dirty="0">
                <a:latin typeface="Arial" panose="020B0604020202020204" pitchFamily="34" charset="0"/>
              </a:rPr>
              <a:t>例：关系模式</a:t>
            </a:r>
            <a:r>
              <a:rPr lang="en-US" altLang="zh-CN" dirty="0">
                <a:latin typeface="Arial" panose="020B0604020202020204" pitchFamily="34" charset="0"/>
              </a:rPr>
              <a:t>SL(Sno, Sdept, Sloc)</a:t>
            </a:r>
            <a:endParaRPr lang="en-US" altLang="zh-CN" dirty="0">
              <a:latin typeface="Arial" panose="020B0604020202020204" pitchFamily="34" charset="0"/>
            </a:endParaRPr>
          </a:p>
          <a:p>
            <a:pPr eaLnBrk="1" hangingPunct="1">
              <a:spcBef>
                <a:spcPct val="25000"/>
              </a:spcBef>
              <a:buNone/>
            </a:pPr>
            <a:r>
              <a:rPr lang="en-US" altLang="zh-CN" dirty="0">
                <a:latin typeface="Arial" panose="020B0604020202020204" pitchFamily="34" charset="0"/>
              </a:rPr>
              <a:t>      SL </a:t>
            </a:r>
            <a:r>
              <a:rPr lang="zh-CN" altLang="en-US" dirty="0">
                <a:latin typeface="Arial" panose="020B0604020202020204" pitchFamily="34" charset="0"/>
              </a:rPr>
              <a:t>满足第二范式</a:t>
            </a:r>
            <a:endParaRPr lang="zh-CN" altLang="en-US" dirty="0">
              <a:latin typeface="Arial" panose="020B0604020202020204" pitchFamily="34" charset="0"/>
            </a:endParaRPr>
          </a:p>
          <a:p>
            <a:pPr eaLnBrk="1" hangingPunct="1">
              <a:buNone/>
            </a:pPr>
            <a:r>
              <a:rPr lang="zh-CN" altLang="en-US" dirty="0">
                <a:latin typeface="Arial" panose="020B0604020202020204" pitchFamily="34" charset="0"/>
              </a:rPr>
              <a:t>      </a:t>
            </a:r>
            <a:r>
              <a:rPr lang="en-US" altLang="zh-CN" dirty="0">
                <a:latin typeface="Arial" panose="020B0604020202020204" pitchFamily="34" charset="0"/>
              </a:rPr>
              <a:t>SL </a:t>
            </a:r>
            <a:r>
              <a:rPr lang="zh-CN" altLang="en-US" dirty="0">
                <a:latin typeface="Arial" panose="020B0604020202020204" pitchFamily="34" charset="0"/>
              </a:rPr>
              <a:t>的</a:t>
            </a:r>
            <a:r>
              <a:rPr lang="zh-CN" altLang="en-US" dirty="0">
                <a:solidFill>
                  <a:srgbClr val="FF0000"/>
                </a:solidFill>
                <a:latin typeface="Arial" panose="020B0604020202020204" pitchFamily="34" charset="0"/>
              </a:rPr>
              <a:t>码</a:t>
            </a:r>
            <a:r>
              <a:rPr lang="zh-CN" altLang="en-US" dirty="0">
                <a:latin typeface="Arial" panose="020B0604020202020204" pitchFamily="34" charset="0"/>
              </a:rPr>
              <a:t>为 </a:t>
            </a:r>
            <a:r>
              <a:rPr lang="en-US" altLang="zh-CN" dirty="0">
                <a:latin typeface="Arial" panose="020B0604020202020204" pitchFamily="34" charset="0"/>
              </a:rPr>
              <a:t>Sno</a:t>
            </a:r>
            <a:endParaRPr lang="en-US" altLang="zh-CN" dirty="0">
              <a:latin typeface="Arial" panose="020B0604020202020204" pitchFamily="34" charset="0"/>
            </a:endParaRPr>
          </a:p>
          <a:p>
            <a:pPr eaLnBrk="1" hangingPunct="1">
              <a:spcBef>
                <a:spcPct val="30000"/>
              </a:spcBef>
              <a:buNone/>
            </a:pPr>
            <a:r>
              <a:rPr lang="en-US" altLang="zh-CN" dirty="0">
                <a:latin typeface="Arial" panose="020B0604020202020204" pitchFamily="34" charset="0"/>
              </a:rPr>
              <a:t>  (1)</a:t>
            </a:r>
            <a:r>
              <a:rPr lang="zh-CN" altLang="en-US" dirty="0">
                <a:solidFill>
                  <a:srgbClr val="0000CC"/>
                </a:solidFill>
                <a:latin typeface="Arial" panose="020B0604020202020204" pitchFamily="34" charset="0"/>
              </a:rPr>
              <a:t>数据冗余度较大</a:t>
            </a:r>
            <a:endParaRPr lang="zh-CN" altLang="en-US" dirty="0">
              <a:solidFill>
                <a:srgbClr val="0000CC"/>
              </a:solidFill>
              <a:latin typeface="Arial" panose="020B0604020202020204" pitchFamily="34" charset="0"/>
            </a:endParaRPr>
          </a:p>
          <a:p>
            <a:pPr eaLnBrk="1" hangingPunct="1">
              <a:spcBef>
                <a:spcPct val="5000"/>
              </a:spcBef>
              <a:buNone/>
            </a:pPr>
            <a:r>
              <a:rPr lang="zh-CN" altLang="en-US" dirty="0">
                <a:latin typeface="Arial" panose="020B0604020202020204" pitchFamily="34" charset="0"/>
              </a:rPr>
              <a:t>  </a:t>
            </a:r>
            <a:r>
              <a:rPr lang="en-US" altLang="zh-CN" dirty="0">
                <a:latin typeface="Arial" panose="020B0604020202020204" pitchFamily="34" charset="0"/>
              </a:rPr>
              <a:t>(2)</a:t>
            </a:r>
            <a:r>
              <a:rPr lang="zh-CN" altLang="en-US" dirty="0">
                <a:solidFill>
                  <a:srgbClr val="0000CC"/>
                </a:solidFill>
                <a:latin typeface="Arial" panose="020B0604020202020204" pitchFamily="34" charset="0"/>
              </a:rPr>
              <a:t>修改复杂</a:t>
            </a:r>
            <a:endParaRPr lang="zh-CN" altLang="en-US" dirty="0">
              <a:solidFill>
                <a:srgbClr val="0000CC"/>
              </a:solidFill>
              <a:latin typeface="Arial" panose="020B0604020202020204" pitchFamily="34" charset="0"/>
            </a:endParaRPr>
          </a:p>
          <a:p>
            <a:pPr eaLnBrk="1" hangingPunct="1">
              <a:spcBef>
                <a:spcPct val="5000"/>
              </a:spcBef>
              <a:buNone/>
            </a:pPr>
            <a:r>
              <a:rPr lang="zh-CN" altLang="en-US" dirty="0">
                <a:latin typeface="Arial" panose="020B0604020202020204" pitchFamily="34" charset="0"/>
              </a:rPr>
              <a:t>  </a:t>
            </a:r>
            <a:r>
              <a:rPr lang="en-US" altLang="zh-CN" dirty="0">
                <a:latin typeface="Arial" panose="020B0604020202020204" pitchFamily="34" charset="0"/>
              </a:rPr>
              <a:t>(3)</a:t>
            </a:r>
            <a:r>
              <a:rPr lang="zh-CN" altLang="en-US" dirty="0">
                <a:solidFill>
                  <a:srgbClr val="0000CC"/>
                </a:solidFill>
                <a:latin typeface="Arial" panose="020B0604020202020204" pitchFamily="34" charset="0"/>
              </a:rPr>
              <a:t>插入异常</a:t>
            </a:r>
            <a:endParaRPr lang="zh-CN" altLang="en-US" dirty="0">
              <a:solidFill>
                <a:srgbClr val="0000CC"/>
              </a:solidFill>
              <a:latin typeface="Arial" panose="020B0604020202020204" pitchFamily="34" charset="0"/>
            </a:endParaRPr>
          </a:p>
          <a:p>
            <a:pPr eaLnBrk="1" hangingPunct="1">
              <a:spcBef>
                <a:spcPct val="5000"/>
              </a:spcBef>
              <a:buNone/>
            </a:pPr>
            <a:r>
              <a:rPr lang="zh-CN" altLang="en-US" dirty="0">
                <a:latin typeface="Arial" panose="020B0604020202020204" pitchFamily="34" charset="0"/>
              </a:rPr>
              <a:t>  </a:t>
            </a:r>
            <a:r>
              <a:rPr lang="en-US" altLang="zh-CN" dirty="0">
                <a:latin typeface="Arial" panose="020B0604020202020204" pitchFamily="34" charset="0"/>
              </a:rPr>
              <a:t>(4)</a:t>
            </a:r>
            <a:r>
              <a:rPr lang="zh-CN" altLang="en-US" dirty="0">
                <a:solidFill>
                  <a:srgbClr val="0000CC"/>
                </a:solidFill>
                <a:latin typeface="Arial" panose="020B0604020202020204" pitchFamily="34" charset="0"/>
              </a:rPr>
              <a:t>删除异常</a:t>
            </a:r>
            <a:endParaRPr lang="zh-CN" altLang="en-US" dirty="0">
              <a:solidFill>
                <a:srgbClr val="0000CC"/>
              </a:solidFill>
              <a:latin typeface="Arial" panose="020B0604020202020204" pitchFamily="34" charset="0"/>
            </a:endParaRPr>
          </a:p>
          <a:p>
            <a:pPr eaLnBrk="1" hangingPunct="1">
              <a:buClrTx/>
              <a:buFontTx/>
              <a:buNone/>
            </a:pPr>
            <a:endParaRPr lang="zh-CN" altLang="en-US" sz="2000" dirty="0">
              <a:solidFill>
                <a:srgbClr val="0000CC"/>
              </a:solidFill>
              <a:latin typeface="Arial" panose="020B0604020202020204" pitchFamily="34" charset="0"/>
            </a:endParaRPr>
          </a:p>
          <a:p>
            <a:pPr eaLnBrk="1" hangingPunct="1">
              <a:buClrTx/>
              <a:buFontTx/>
              <a:buNone/>
            </a:pPr>
            <a:r>
              <a:rPr lang="zh-CN" altLang="en-US" dirty="0"/>
              <a:t>       </a:t>
            </a:r>
            <a:r>
              <a:rPr lang="en-US" altLang="zh-CN" dirty="0">
                <a:latin typeface="Arial" panose="020B0604020202020204" pitchFamily="34" charset="0"/>
              </a:rPr>
              <a:t>SL</a:t>
            </a:r>
            <a:r>
              <a:rPr lang="zh-CN" altLang="en-US" dirty="0"/>
              <a:t>不是一个好的关系模式。</a:t>
            </a:r>
            <a:endParaRPr lang="zh-CN" altLang="en-US" dirty="0"/>
          </a:p>
        </p:txBody>
      </p:sp>
    </p:spTree>
  </p:cSld>
  <p:clrMapOvr>
    <a:masterClrMapping/>
  </p:clrMapOvr>
  <p:transition>
    <p:random/>
    <p:sndAc>
      <p:stSnd>
        <p:snd r:embed="rId1" name="CAMERA.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785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7.5.2  2NF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5539" name="Rectangle 3"/>
          <p:cNvSpPr>
            <a:spLocks noGrp="1"/>
          </p:cNvSpPr>
          <p:nvPr>
            <p:ph idx="1"/>
          </p:nvPr>
        </p:nvSpPr>
        <p:spPr/>
        <p:txBody>
          <a:bodyPr vert="horz" wrap="square" lIns="91440" tIns="45720" rIns="91440" bIns="45720" anchor="t" anchorCtr="0"/>
          <a:p>
            <a:pPr eaLnBrk="1" hangingPunct="1">
              <a:buNone/>
            </a:pPr>
            <a:r>
              <a:rPr lang="zh-CN" altLang="en-US" dirty="0">
                <a:latin typeface="Arial" panose="020B0604020202020204" pitchFamily="34" charset="0"/>
              </a:rPr>
              <a:t>有函数依赖：</a:t>
            </a:r>
            <a:endParaRPr lang="zh-CN" altLang="en-US" dirty="0">
              <a:latin typeface="Arial" panose="020B0604020202020204" pitchFamily="34" charset="0"/>
            </a:endParaRPr>
          </a:p>
          <a:p>
            <a:pPr eaLnBrk="1" hangingPunct="1">
              <a:buNone/>
            </a:pPr>
            <a:r>
              <a:rPr lang="zh-CN" altLang="en-US" dirty="0">
                <a:latin typeface="Arial" panose="020B0604020202020204" pitchFamily="34" charset="0"/>
              </a:rPr>
              <a:t>        </a:t>
            </a:r>
            <a:r>
              <a:rPr lang="en-US" altLang="zh-CN" dirty="0">
                <a:latin typeface="Arial" panose="020B0604020202020204" pitchFamily="34" charset="0"/>
              </a:rPr>
              <a:t>Sno→Sdept</a:t>
            </a:r>
            <a:endParaRPr lang="en-US" altLang="zh-CN" dirty="0">
              <a:latin typeface="Arial" panose="020B0604020202020204" pitchFamily="34" charset="0"/>
            </a:endParaRPr>
          </a:p>
          <a:p>
            <a:pPr eaLnBrk="1" hangingPunct="1">
              <a:buNone/>
            </a:pPr>
            <a:r>
              <a:rPr lang="en-US" altLang="zh-CN" dirty="0">
                <a:latin typeface="Arial" panose="020B0604020202020204" pitchFamily="34" charset="0"/>
              </a:rPr>
              <a:t>        Sdept→Sloc</a:t>
            </a:r>
            <a:endParaRPr lang="en-US" altLang="zh-CN" dirty="0">
              <a:latin typeface="Arial" panose="020B0604020202020204" pitchFamily="34" charset="0"/>
            </a:endParaRPr>
          </a:p>
          <a:p>
            <a:pPr eaLnBrk="1" hangingPunct="1">
              <a:buNone/>
            </a:pPr>
            <a:r>
              <a:rPr lang="en-US" altLang="zh-CN" dirty="0">
                <a:latin typeface="Arial" panose="020B0604020202020204" pitchFamily="34" charset="0"/>
              </a:rPr>
              <a:t>        Sno→Sloc</a:t>
            </a:r>
            <a:endParaRPr lang="en-US" altLang="zh-CN" dirty="0">
              <a:latin typeface="Arial" panose="020B0604020202020204" pitchFamily="34" charset="0"/>
            </a:endParaRPr>
          </a:p>
          <a:p>
            <a:pPr eaLnBrk="1" hangingPunct="1">
              <a:spcBef>
                <a:spcPct val="15000"/>
              </a:spcBef>
              <a:buNone/>
            </a:pPr>
            <a:r>
              <a:rPr lang="en-US" altLang="zh-CN" dirty="0">
                <a:latin typeface="Arial" panose="020B0604020202020204" pitchFamily="34" charset="0"/>
              </a:rPr>
              <a:t>  SL </a:t>
            </a:r>
            <a:r>
              <a:rPr lang="zh-CN" altLang="en-US" dirty="0">
                <a:latin typeface="Arial" panose="020B0604020202020204" pitchFamily="34" charset="0"/>
              </a:rPr>
              <a:t>的</a:t>
            </a:r>
            <a:r>
              <a:rPr lang="zh-CN" altLang="en-US" dirty="0">
                <a:solidFill>
                  <a:srgbClr val="FF0000"/>
                </a:solidFill>
                <a:latin typeface="Arial" panose="020B0604020202020204" pitchFamily="34" charset="0"/>
              </a:rPr>
              <a:t>码</a:t>
            </a:r>
            <a:r>
              <a:rPr lang="zh-CN" altLang="en-US" dirty="0">
                <a:latin typeface="Arial" panose="020B0604020202020204" pitchFamily="34" charset="0"/>
              </a:rPr>
              <a:t>为 </a:t>
            </a:r>
            <a:r>
              <a:rPr lang="en-US" altLang="zh-CN" dirty="0">
                <a:latin typeface="Arial" panose="020B0604020202020204" pitchFamily="34" charset="0"/>
              </a:rPr>
              <a:t>Sno</a:t>
            </a:r>
            <a:endParaRPr lang="en-US" altLang="zh-CN" dirty="0">
              <a:latin typeface="Arial" panose="020B0604020202020204" pitchFamily="34" charset="0"/>
            </a:endParaRPr>
          </a:p>
          <a:p>
            <a:pPr eaLnBrk="1" hangingPunct="1">
              <a:spcBef>
                <a:spcPct val="20000"/>
              </a:spcBef>
            </a:pPr>
            <a:r>
              <a:rPr lang="zh-CN" altLang="en-US" dirty="0">
                <a:solidFill>
                  <a:srgbClr val="0000CC"/>
                </a:solidFill>
              </a:rPr>
              <a:t>原因：</a:t>
            </a:r>
            <a:endParaRPr lang="zh-CN" altLang="en-US" dirty="0">
              <a:solidFill>
                <a:srgbClr val="0000CC"/>
              </a:solidFill>
            </a:endParaRPr>
          </a:p>
          <a:p>
            <a:pPr eaLnBrk="1" hangingPunct="1">
              <a:spcBef>
                <a:spcPct val="20000"/>
              </a:spcBef>
              <a:buNone/>
            </a:pPr>
            <a:r>
              <a:rPr lang="zh-CN" altLang="en-US" dirty="0"/>
              <a:t>         </a:t>
            </a:r>
            <a:r>
              <a:rPr lang="en-US" altLang="zh-CN" dirty="0">
                <a:latin typeface="Arial" panose="020B0604020202020204" pitchFamily="34" charset="0"/>
              </a:rPr>
              <a:t>Sloc </a:t>
            </a:r>
            <a:r>
              <a:rPr lang="zh-CN" altLang="en-US" dirty="0">
                <a:latin typeface="Arial" panose="020B0604020202020204" pitchFamily="34" charset="0"/>
              </a:rPr>
              <a:t>传递函数依赖于 </a:t>
            </a:r>
            <a:r>
              <a:rPr lang="en-US" altLang="zh-CN" dirty="0">
                <a:latin typeface="Arial" panose="020B0604020202020204" pitchFamily="34" charset="0"/>
              </a:rPr>
              <a:t>Sno</a:t>
            </a:r>
            <a:r>
              <a:rPr lang="zh-CN" altLang="en-US" dirty="0">
                <a:latin typeface="Arial" panose="020B0604020202020204" pitchFamily="34" charset="0"/>
              </a:rPr>
              <a:t>，即 </a:t>
            </a:r>
            <a:r>
              <a:rPr lang="en-US" altLang="zh-CN" dirty="0">
                <a:latin typeface="Arial" panose="020B0604020202020204" pitchFamily="34" charset="0"/>
              </a:rPr>
              <a:t>SL </a:t>
            </a:r>
            <a:r>
              <a:rPr lang="zh-CN" altLang="en-US" dirty="0">
                <a:latin typeface="Arial" panose="020B0604020202020204" pitchFamily="34" charset="0"/>
              </a:rPr>
              <a:t>中存在</a:t>
            </a:r>
            <a:r>
              <a:rPr lang="zh-CN" altLang="en-US" dirty="0">
                <a:solidFill>
                  <a:srgbClr val="0000CC"/>
                </a:solidFill>
                <a:latin typeface="Arial" panose="020B0604020202020204" pitchFamily="34" charset="0"/>
              </a:rPr>
              <a:t>非主属性</a:t>
            </a:r>
            <a:r>
              <a:rPr lang="zh-CN" altLang="en-US" dirty="0">
                <a:latin typeface="Arial" panose="020B0604020202020204" pitchFamily="34" charset="0"/>
              </a:rPr>
              <a:t>对码的传递函数依赖。</a:t>
            </a:r>
            <a:endParaRPr lang="zh-CN" altLang="en-US" dirty="0">
              <a:latin typeface="Arial" panose="020B0604020202020204" pitchFamily="34" charset="0"/>
            </a:endParaRPr>
          </a:p>
        </p:txBody>
      </p:sp>
      <p:grpSp>
        <p:nvGrpSpPr>
          <p:cNvPr id="65540" name="Group 4"/>
          <p:cNvGrpSpPr/>
          <p:nvPr/>
        </p:nvGrpSpPr>
        <p:grpSpPr>
          <a:xfrm>
            <a:off x="4356100" y="1087438"/>
            <a:ext cx="4264025" cy="2486025"/>
            <a:chOff x="1056" y="1842"/>
            <a:chExt cx="2686" cy="1566"/>
          </a:xfrm>
        </p:grpSpPr>
        <p:grpSp>
          <p:nvGrpSpPr>
            <p:cNvPr id="65541" name="Group 5"/>
            <p:cNvGrpSpPr/>
            <p:nvPr/>
          </p:nvGrpSpPr>
          <p:grpSpPr>
            <a:xfrm>
              <a:off x="1056" y="1842"/>
              <a:ext cx="2686" cy="1566"/>
              <a:chOff x="3312" y="1920"/>
              <a:chExt cx="1968" cy="1488"/>
            </a:xfrm>
          </p:grpSpPr>
          <p:sp>
            <p:nvSpPr>
              <p:cNvPr id="65543" name="Text Box 6"/>
              <p:cNvSpPr txBox="1"/>
              <p:nvPr/>
            </p:nvSpPr>
            <p:spPr>
              <a:xfrm>
                <a:off x="3312" y="1920"/>
                <a:ext cx="695" cy="372"/>
              </a:xfrm>
              <a:prstGeom prst="rect">
                <a:avLst/>
              </a:prstGeom>
              <a:noFill/>
              <a:ln w="38100">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4000" dirty="0">
                    <a:solidFill>
                      <a:srgbClr val="FF0000"/>
                    </a:solidFill>
                    <a:latin typeface="Arial" panose="020B0604020202020204" pitchFamily="34" charset="0"/>
                    <a:ea typeface="宋体" panose="02010600030101010101" pitchFamily="2" charset="-122"/>
                  </a:rPr>
                  <a:t>SL</a:t>
                </a:r>
                <a:endParaRPr lang="en-US" altLang="zh-CN" sz="4000" dirty="0">
                  <a:solidFill>
                    <a:srgbClr val="FF0000"/>
                  </a:solidFill>
                  <a:latin typeface="Arial" panose="020B0604020202020204" pitchFamily="34" charset="0"/>
                  <a:ea typeface="宋体" panose="02010600030101010101" pitchFamily="2" charset="-122"/>
                </a:endParaRPr>
              </a:p>
            </p:txBody>
          </p:sp>
          <p:sp>
            <p:nvSpPr>
              <p:cNvPr id="65544" name="Text Box 7"/>
              <p:cNvSpPr txBox="1"/>
              <p:nvPr/>
            </p:nvSpPr>
            <p:spPr>
              <a:xfrm>
                <a:off x="3428" y="2540"/>
                <a:ext cx="579" cy="372"/>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Sno</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65545" name="Text Box 8"/>
              <p:cNvSpPr txBox="1"/>
              <p:nvPr/>
            </p:nvSpPr>
            <p:spPr>
              <a:xfrm>
                <a:off x="4585" y="2168"/>
                <a:ext cx="695" cy="372"/>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Sdept</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65546" name="Text Box 9"/>
              <p:cNvSpPr txBox="1"/>
              <p:nvPr/>
            </p:nvSpPr>
            <p:spPr>
              <a:xfrm>
                <a:off x="4585" y="3036"/>
                <a:ext cx="695" cy="372"/>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Sloc</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65547" name="Line 10"/>
              <p:cNvSpPr/>
              <p:nvPr/>
            </p:nvSpPr>
            <p:spPr>
              <a:xfrm flipV="1">
                <a:off x="4007" y="2292"/>
                <a:ext cx="578" cy="372"/>
              </a:xfrm>
              <a:prstGeom prst="line">
                <a:avLst/>
              </a:prstGeom>
              <a:ln w="38100" cap="flat" cmpd="sng">
                <a:solidFill>
                  <a:srgbClr val="000000"/>
                </a:solidFill>
                <a:prstDash val="solid"/>
                <a:headEnd type="none" w="med" len="med"/>
                <a:tailEnd type="triangle" w="med" len="med"/>
              </a:ln>
            </p:spPr>
          </p:sp>
          <p:sp>
            <p:nvSpPr>
              <p:cNvPr id="65548" name="Line 11"/>
              <p:cNvSpPr/>
              <p:nvPr/>
            </p:nvSpPr>
            <p:spPr>
              <a:xfrm>
                <a:off x="4007" y="2788"/>
                <a:ext cx="578" cy="372"/>
              </a:xfrm>
              <a:prstGeom prst="line">
                <a:avLst/>
              </a:prstGeom>
              <a:ln w="38100" cap="flat" cmpd="sng">
                <a:solidFill>
                  <a:srgbClr val="000000"/>
                </a:solidFill>
                <a:prstDash val="solid"/>
                <a:headEnd type="none" w="med" len="med"/>
                <a:tailEnd type="triangle" w="med" len="med"/>
              </a:ln>
            </p:spPr>
          </p:sp>
        </p:grpSp>
        <p:sp>
          <p:nvSpPr>
            <p:cNvPr id="65542" name="Line 12"/>
            <p:cNvSpPr/>
            <p:nvPr/>
          </p:nvSpPr>
          <p:spPr>
            <a:xfrm>
              <a:off x="3243" y="2523"/>
              <a:ext cx="0" cy="496"/>
            </a:xfrm>
            <a:prstGeom prst="line">
              <a:avLst/>
            </a:prstGeom>
            <a:ln w="38100" cap="flat" cmpd="sng">
              <a:solidFill>
                <a:srgbClr val="000000"/>
              </a:solidFill>
              <a:prstDash val="solid"/>
              <a:headEnd type="none" w="med" len="med"/>
              <a:tailEnd type="triangle" w="med" len="med"/>
            </a:ln>
          </p:spPr>
        </p:sp>
      </p:grpSp>
    </p:spTree>
  </p:cSld>
  <p:clrMapOvr>
    <a:masterClrMapping/>
  </p:clrMapOvr>
  <p:transition>
    <p:random/>
    <p:sndAc>
      <p:stSnd>
        <p:snd r:embed="rId1"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990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7.5.2  2NF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7587" name="Rectangle 3"/>
          <p:cNvSpPr>
            <a:spLocks noGrp="1"/>
          </p:cNvSpPr>
          <p:nvPr>
            <p:ph idx="1"/>
          </p:nvPr>
        </p:nvSpPr>
        <p:spPr/>
        <p:txBody>
          <a:bodyPr vert="horz" wrap="square" lIns="91440" tIns="45720" rIns="91440" bIns="45720" anchor="t" anchorCtr="0"/>
          <a:p>
            <a:pPr eaLnBrk="1" hangingPunct="1"/>
            <a:r>
              <a:rPr lang="zh-CN" altLang="en-US" dirty="0">
                <a:solidFill>
                  <a:srgbClr val="0000CC"/>
                </a:solidFill>
                <a:latin typeface="Arial" panose="020B0604020202020204" pitchFamily="34" charset="0"/>
              </a:rPr>
              <a:t>解决方法</a:t>
            </a:r>
            <a:endParaRPr lang="zh-CN" altLang="en-US" dirty="0">
              <a:solidFill>
                <a:srgbClr val="0000CC"/>
              </a:solidFill>
              <a:latin typeface="Arial" panose="020B0604020202020204" pitchFamily="34" charset="0"/>
            </a:endParaRPr>
          </a:p>
          <a:p>
            <a:pPr eaLnBrk="1" hangingPunct="1">
              <a:buNone/>
            </a:pPr>
            <a:r>
              <a:rPr lang="zh-CN" altLang="en-US" dirty="0">
                <a:latin typeface="Arial" panose="020B0604020202020204" pitchFamily="34" charset="0"/>
              </a:rPr>
              <a:t>          把 </a:t>
            </a:r>
            <a:r>
              <a:rPr lang="en-US" altLang="zh-CN" dirty="0">
                <a:latin typeface="Arial" panose="020B0604020202020204" pitchFamily="34" charset="0"/>
              </a:rPr>
              <a:t>SL </a:t>
            </a:r>
            <a:r>
              <a:rPr lang="zh-CN" altLang="en-US" dirty="0">
                <a:solidFill>
                  <a:srgbClr val="FF0000"/>
                </a:solidFill>
                <a:latin typeface="Arial" panose="020B0604020202020204" pitchFamily="34" charset="0"/>
              </a:rPr>
              <a:t>分解</a:t>
            </a:r>
            <a:r>
              <a:rPr lang="zh-CN" altLang="en-US" dirty="0">
                <a:latin typeface="Arial" panose="020B0604020202020204" pitchFamily="34" charset="0"/>
              </a:rPr>
              <a:t>为两个关系模式，以消除传递函数依赖：</a:t>
            </a:r>
            <a:endParaRPr lang="zh-CN" altLang="en-US" dirty="0">
              <a:latin typeface="Arial" panose="020B0604020202020204" pitchFamily="34" charset="0"/>
            </a:endParaRPr>
          </a:p>
          <a:p>
            <a:pPr eaLnBrk="1" hangingPunct="1">
              <a:spcBef>
                <a:spcPct val="25000"/>
              </a:spcBef>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rPr>
              <a:t>SD ( Sno,  Sdept )</a:t>
            </a:r>
            <a:endParaRPr lang="en-US" altLang="zh-CN" dirty="0">
              <a:solidFill>
                <a:srgbClr val="0000CC"/>
              </a:solidFill>
              <a:latin typeface="Arial" panose="020B0604020202020204" pitchFamily="34" charset="0"/>
            </a:endParaRPr>
          </a:p>
          <a:p>
            <a:pPr eaLnBrk="1" hangingPunct="1">
              <a:buNone/>
            </a:pPr>
            <a:r>
              <a:rPr lang="en-US" altLang="zh-CN" dirty="0">
                <a:solidFill>
                  <a:srgbClr val="0000CC"/>
                </a:solidFill>
                <a:latin typeface="Arial" panose="020B0604020202020204" pitchFamily="34" charset="0"/>
              </a:rPr>
              <a:t>		DL ( Sdept, Sloc )</a:t>
            </a:r>
            <a:endParaRPr lang="en-US" altLang="zh-CN" dirty="0">
              <a:solidFill>
                <a:srgbClr val="0000CC"/>
              </a:solidFill>
              <a:latin typeface="Arial" panose="020B0604020202020204" pitchFamily="34" charset="0"/>
            </a:endParaRPr>
          </a:p>
          <a:p>
            <a:pPr eaLnBrk="1" hangingPunct="1">
              <a:buNone/>
            </a:pPr>
            <a:r>
              <a:rPr lang="en-US" altLang="zh-CN" dirty="0">
                <a:latin typeface="Arial" panose="020B0604020202020204" pitchFamily="34" charset="0"/>
              </a:rPr>
              <a:t>    SD </a:t>
            </a:r>
            <a:r>
              <a:rPr lang="zh-CN" altLang="en-US" dirty="0">
                <a:latin typeface="Arial" panose="020B0604020202020204" pitchFamily="34" charset="0"/>
              </a:rPr>
              <a:t>的码为 </a:t>
            </a:r>
            <a:r>
              <a:rPr lang="en-US" altLang="zh-CN" dirty="0">
                <a:latin typeface="Arial" panose="020B0604020202020204" pitchFamily="34" charset="0"/>
              </a:rPr>
              <a:t>Sno</a:t>
            </a:r>
            <a:r>
              <a:rPr lang="zh-CN" altLang="en-US" dirty="0">
                <a:latin typeface="Arial" panose="020B0604020202020204" pitchFamily="34" charset="0"/>
              </a:rPr>
              <a:t>， </a:t>
            </a:r>
            <a:r>
              <a:rPr lang="en-US" altLang="zh-CN" dirty="0">
                <a:latin typeface="Arial" panose="020B0604020202020204" pitchFamily="34" charset="0"/>
              </a:rPr>
              <a:t>DL </a:t>
            </a:r>
            <a:r>
              <a:rPr lang="zh-CN" altLang="en-US" dirty="0">
                <a:latin typeface="Arial" panose="020B0604020202020204" pitchFamily="34" charset="0"/>
              </a:rPr>
              <a:t>的码为 </a:t>
            </a:r>
            <a:r>
              <a:rPr lang="en-US" altLang="zh-CN" dirty="0">
                <a:latin typeface="Arial" panose="020B0604020202020204" pitchFamily="34" charset="0"/>
              </a:rPr>
              <a:t>Sdept</a:t>
            </a:r>
            <a:r>
              <a:rPr lang="zh-CN" altLang="en-US" sz="4000" dirty="0">
                <a:latin typeface="Arial" panose="020B0604020202020204" pitchFamily="34" charset="0"/>
              </a:rPr>
              <a:t>。</a:t>
            </a:r>
            <a:endParaRPr lang="zh-CN" altLang="en-US" sz="4000" dirty="0">
              <a:latin typeface="Arial" panose="020B0604020202020204" pitchFamily="34" charset="0"/>
            </a:endParaRPr>
          </a:p>
        </p:txBody>
      </p:sp>
      <p:grpSp>
        <p:nvGrpSpPr>
          <p:cNvPr id="2" name="Group 4"/>
          <p:cNvGrpSpPr/>
          <p:nvPr/>
        </p:nvGrpSpPr>
        <p:grpSpPr>
          <a:xfrm>
            <a:off x="468313" y="5032375"/>
            <a:ext cx="8351837" cy="1420813"/>
            <a:chOff x="340" y="2976"/>
            <a:chExt cx="5261" cy="895"/>
          </a:xfrm>
        </p:grpSpPr>
        <p:sp>
          <p:nvSpPr>
            <p:cNvPr id="67589" name="Text Box 5"/>
            <p:cNvSpPr txBox="1"/>
            <p:nvPr/>
          </p:nvSpPr>
          <p:spPr>
            <a:xfrm>
              <a:off x="340" y="2976"/>
              <a:ext cx="732" cy="396"/>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Sno</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67590" name="Text Box 6"/>
            <p:cNvSpPr txBox="1"/>
            <p:nvPr/>
          </p:nvSpPr>
          <p:spPr>
            <a:xfrm>
              <a:off x="1655" y="2976"/>
              <a:ext cx="877" cy="396"/>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Sdept</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67591" name="Line 7"/>
            <p:cNvSpPr/>
            <p:nvPr/>
          </p:nvSpPr>
          <p:spPr>
            <a:xfrm>
              <a:off x="1072" y="3108"/>
              <a:ext cx="583" cy="0"/>
            </a:xfrm>
            <a:prstGeom prst="line">
              <a:avLst/>
            </a:prstGeom>
            <a:ln w="38100" cap="flat" cmpd="sng">
              <a:solidFill>
                <a:srgbClr val="000000"/>
              </a:solidFill>
              <a:prstDash val="solid"/>
              <a:headEnd type="none" w="med" len="med"/>
              <a:tailEnd type="triangle" w="med" len="med"/>
            </a:ln>
          </p:spPr>
        </p:sp>
        <p:sp>
          <p:nvSpPr>
            <p:cNvPr id="67592" name="Text Box 8"/>
            <p:cNvSpPr txBox="1"/>
            <p:nvPr/>
          </p:nvSpPr>
          <p:spPr>
            <a:xfrm>
              <a:off x="1072" y="3475"/>
              <a:ext cx="583" cy="396"/>
            </a:xfrm>
            <a:prstGeom prst="rect">
              <a:avLst/>
            </a:prstGeom>
            <a:noFill/>
            <a:ln w="2857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4000" dirty="0">
                  <a:solidFill>
                    <a:srgbClr val="FF0000"/>
                  </a:solidFill>
                  <a:latin typeface="Arial" panose="020B0604020202020204" pitchFamily="34" charset="0"/>
                  <a:ea typeface="宋体" panose="02010600030101010101" pitchFamily="2" charset="-122"/>
                </a:rPr>
                <a:t>SD</a:t>
              </a:r>
              <a:endParaRPr lang="en-US" altLang="zh-CN" sz="4000" dirty="0">
                <a:solidFill>
                  <a:srgbClr val="FF0000"/>
                </a:solidFill>
                <a:latin typeface="Arial" panose="020B0604020202020204" pitchFamily="34" charset="0"/>
                <a:ea typeface="宋体" panose="02010600030101010101" pitchFamily="2" charset="-122"/>
              </a:endParaRPr>
            </a:p>
          </p:txBody>
        </p:sp>
        <p:sp>
          <p:nvSpPr>
            <p:cNvPr id="67593" name="Text Box 9"/>
            <p:cNvSpPr txBox="1"/>
            <p:nvPr/>
          </p:nvSpPr>
          <p:spPr>
            <a:xfrm>
              <a:off x="3264" y="2976"/>
              <a:ext cx="876" cy="396"/>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Sdept</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67594" name="Text Box 10"/>
            <p:cNvSpPr txBox="1"/>
            <p:nvPr/>
          </p:nvSpPr>
          <p:spPr>
            <a:xfrm>
              <a:off x="4869" y="2976"/>
              <a:ext cx="732" cy="396"/>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0000CC"/>
                  </a:solidFill>
                  <a:latin typeface="Arial" panose="020B0604020202020204" pitchFamily="34" charset="0"/>
                  <a:ea typeface="宋体" panose="02010600030101010101" pitchFamily="2" charset="-122"/>
                </a:rPr>
                <a:t>Sloc</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67595" name="Line 11"/>
            <p:cNvSpPr/>
            <p:nvPr/>
          </p:nvSpPr>
          <p:spPr>
            <a:xfrm>
              <a:off x="4140" y="3108"/>
              <a:ext cx="729" cy="0"/>
            </a:xfrm>
            <a:prstGeom prst="line">
              <a:avLst/>
            </a:prstGeom>
            <a:ln w="38100" cap="flat" cmpd="sng">
              <a:solidFill>
                <a:srgbClr val="000000"/>
              </a:solidFill>
              <a:prstDash val="solid"/>
              <a:headEnd type="none" w="med" len="med"/>
              <a:tailEnd type="triangle" w="med" len="med"/>
            </a:ln>
          </p:spPr>
        </p:sp>
        <p:sp>
          <p:nvSpPr>
            <p:cNvPr id="67596" name="Text Box 12"/>
            <p:cNvSpPr txBox="1"/>
            <p:nvPr/>
          </p:nvSpPr>
          <p:spPr>
            <a:xfrm>
              <a:off x="4286" y="3475"/>
              <a:ext cx="583" cy="396"/>
            </a:xfrm>
            <a:prstGeom prst="rect">
              <a:avLst/>
            </a:prstGeom>
            <a:noFill/>
            <a:ln w="2857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4000" dirty="0">
                  <a:solidFill>
                    <a:srgbClr val="FF0000"/>
                  </a:solidFill>
                  <a:latin typeface="Arial" panose="020B0604020202020204" pitchFamily="34" charset="0"/>
                  <a:ea typeface="宋体" panose="02010600030101010101" pitchFamily="2" charset="-122"/>
                </a:rPr>
                <a:t>DL</a:t>
              </a:r>
              <a:endParaRPr lang="en-US" altLang="zh-CN" sz="4000" dirty="0">
                <a:solidFill>
                  <a:srgbClr val="FF0000"/>
                </a:solidFill>
                <a:latin typeface="Arial" panose="020B0604020202020204" pitchFamily="34" charset="0"/>
                <a:ea typeface="宋体" panose="02010600030101010101" pitchFamily="2" charset="-122"/>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idx="1"/>
          </p:nvPr>
        </p:nvSpPr>
        <p:spPr>
          <a:xfrm>
            <a:off x="223838" y="1035050"/>
            <a:ext cx="8740775" cy="5273675"/>
          </a:xfrm>
        </p:spPr>
        <p:txBody>
          <a:bodyPr vert="horz" wrap="square" lIns="91440" tIns="45720" rIns="91440" bIns="45720" anchor="t" anchorCtr="0"/>
          <a:p>
            <a:pPr eaLnBrk="1" hangingPunct="1"/>
            <a:r>
              <a:rPr lang="zh-CN" altLang="en-US" dirty="0">
                <a:latin typeface="Arial" panose="020B0604020202020204" pitchFamily="34" charset="0"/>
              </a:rPr>
              <a:t>定义</a:t>
            </a:r>
            <a:endParaRPr lang="zh-CN" altLang="en-US" dirty="0">
              <a:latin typeface="Arial" panose="020B0604020202020204" pitchFamily="34" charset="0"/>
              <a:ea typeface="Arial Unicode MS" pitchFamily="34" charset="-122"/>
            </a:endParaRPr>
          </a:p>
          <a:p>
            <a:pPr eaLnBrk="1" hangingPunct="1">
              <a:buNone/>
            </a:pPr>
            <a:r>
              <a:rPr lang="zh-CN" altLang="en-US" dirty="0">
                <a:latin typeface="Arial" panose="020B0604020202020204" pitchFamily="34" charset="0"/>
              </a:rPr>
              <a:t>          关系模式 </a:t>
            </a:r>
            <a:r>
              <a:rPr lang="en-US" altLang="zh-CN" dirty="0">
                <a:latin typeface="Arial" panose="020B0604020202020204" pitchFamily="34" charset="0"/>
              </a:rPr>
              <a:t>R&lt;U,F&gt; </a:t>
            </a:r>
            <a:r>
              <a:rPr lang="zh-CN" altLang="en-US" dirty="0">
                <a:latin typeface="Arial" panose="020B0604020202020204" pitchFamily="34" charset="0"/>
              </a:rPr>
              <a:t>中</a:t>
            </a:r>
            <a:r>
              <a:rPr lang="zh-CN" altLang="en-US" dirty="0">
                <a:solidFill>
                  <a:srgbClr val="FF0000"/>
                </a:solidFill>
                <a:latin typeface="Arial" panose="020B0604020202020204" pitchFamily="34" charset="0"/>
              </a:rPr>
              <a:t>不</a:t>
            </a:r>
            <a:r>
              <a:rPr lang="zh-CN" altLang="en-US" dirty="0">
                <a:latin typeface="Arial" panose="020B0604020202020204" pitchFamily="34" charset="0"/>
              </a:rPr>
              <a:t>存在</a:t>
            </a:r>
            <a:r>
              <a:rPr lang="zh-CN" altLang="en-US" dirty="0">
                <a:solidFill>
                  <a:srgbClr val="FF0000"/>
                </a:solidFill>
                <a:latin typeface="Arial" panose="020B0604020202020204" pitchFamily="34" charset="0"/>
              </a:rPr>
              <a:t>非主</a:t>
            </a:r>
            <a:r>
              <a:rPr lang="zh-CN" altLang="en-US" dirty="0">
                <a:latin typeface="Arial" panose="020B0604020202020204" pitchFamily="34" charset="0"/>
              </a:rPr>
              <a:t>属性对码的</a:t>
            </a:r>
            <a:r>
              <a:rPr lang="zh-CN" altLang="en-US" dirty="0">
                <a:solidFill>
                  <a:srgbClr val="FF0000"/>
                </a:solidFill>
                <a:latin typeface="Arial" panose="020B0604020202020204" pitchFamily="34" charset="0"/>
              </a:rPr>
              <a:t>部分</a:t>
            </a:r>
            <a:r>
              <a:rPr lang="zh-CN" altLang="en-US" dirty="0">
                <a:latin typeface="Arial" panose="020B0604020202020204" pitchFamily="34" charset="0"/>
              </a:rPr>
              <a:t>函数依赖和</a:t>
            </a:r>
            <a:r>
              <a:rPr lang="zh-CN" altLang="en-US" dirty="0">
                <a:solidFill>
                  <a:srgbClr val="FF0000"/>
                </a:solidFill>
                <a:latin typeface="Arial" panose="020B0604020202020204" pitchFamily="34" charset="0"/>
              </a:rPr>
              <a:t>传递</a:t>
            </a:r>
            <a:r>
              <a:rPr lang="zh-CN" altLang="en-US" dirty="0">
                <a:latin typeface="Arial" panose="020B0604020202020204" pitchFamily="34" charset="0"/>
              </a:rPr>
              <a:t>函数依赖，则称 </a:t>
            </a:r>
            <a:r>
              <a:rPr lang="en-US" altLang="zh-CN" dirty="0">
                <a:latin typeface="Arial" panose="020B0604020202020204" pitchFamily="34" charset="0"/>
              </a:rPr>
              <a:t>R </a:t>
            </a:r>
            <a:r>
              <a:rPr lang="zh-CN" altLang="en-US" dirty="0">
                <a:latin typeface="Arial" panose="020B0604020202020204" pitchFamily="34" charset="0"/>
              </a:rPr>
              <a:t>是</a:t>
            </a:r>
            <a:r>
              <a:rPr lang="zh-CN" altLang="en-US" dirty="0">
                <a:solidFill>
                  <a:srgbClr val="0000CC"/>
                </a:solidFill>
                <a:latin typeface="Arial" panose="020B0604020202020204" pitchFamily="34" charset="0"/>
              </a:rPr>
              <a:t>第三范式</a:t>
            </a:r>
            <a:r>
              <a:rPr lang="zh-CN" altLang="en-US" dirty="0">
                <a:latin typeface="Arial" panose="020B0604020202020204" pitchFamily="34" charset="0"/>
              </a:rPr>
              <a:t>的，记作 </a:t>
            </a:r>
            <a:r>
              <a:rPr lang="en-US" altLang="zh-CN" dirty="0">
                <a:latin typeface="Arial" panose="020B0604020202020204" pitchFamily="34" charset="0"/>
                <a:ea typeface="Arial Unicode MS" pitchFamily="34" charset="-122"/>
              </a:rPr>
              <a:t>R</a:t>
            </a:r>
            <a:r>
              <a:rPr lang="en-US" altLang="zh-CN" dirty="0">
                <a:latin typeface="Arial" panose="020B0604020202020204" pitchFamily="34" charset="0"/>
                <a:ea typeface="Arial Unicode MS" pitchFamily="34" charset="-122"/>
                <a:sym typeface="Symbol" panose="05050102010706020507" pitchFamily="18" charset="2"/>
              </a:rPr>
              <a:t></a:t>
            </a:r>
            <a:r>
              <a:rPr lang="en-US" altLang="zh-CN" dirty="0">
                <a:latin typeface="Arial" panose="020B0604020202020204" pitchFamily="34" charset="0"/>
                <a:ea typeface="Arial Unicode MS" pitchFamily="34" charset="-122"/>
              </a:rPr>
              <a:t>3NF</a:t>
            </a:r>
            <a:r>
              <a:rPr lang="zh-CN" altLang="en-US" dirty="0">
                <a:latin typeface="Arial" panose="020B0604020202020204" pitchFamily="34" charset="0"/>
              </a:rPr>
              <a:t>。</a:t>
            </a:r>
            <a:endParaRPr lang="zh-CN" altLang="en-US" dirty="0">
              <a:latin typeface="Arial" panose="020B0604020202020204" pitchFamily="34" charset="0"/>
            </a:endParaRPr>
          </a:p>
          <a:p>
            <a:pPr eaLnBrk="1" hangingPunct="1">
              <a:spcBef>
                <a:spcPct val="20000"/>
              </a:spcBef>
            </a:pPr>
            <a:r>
              <a:rPr lang="zh-CN" altLang="en-US" dirty="0">
                <a:latin typeface="Arial" panose="020B0604020202020204" pitchFamily="34" charset="0"/>
              </a:rPr>
              <a:t>例如</a:t>
            </a:r>
            <a:endParaRPr lang="zh-CN" altLang="en-US" dirty="0">
              <a:latin typeface="Arial" panose="020B0604020202020204" pitchFamily="34" charset="0"/>
            </a:endParaRPr>
          </a:p>
          <a:p>
            <a:pPr eaLnBrk="1" hangingPunct="1">
              <a:buNone/>
            </a:pPr>
            <a:r>
              <a:rPr lang="zh-CN" altLang="en-US" dirty="0">
                <a:latin typeface="Arial" panose="020B0604020202020204" pitchFamily="34" charset="0"/>
              </a:rPr>
              <a:t>		</a:t>
            </a:r>
            <a:r>
              <a:rPr lang="en-US" altLang="zh-CN" dirty="0">
                <a:solidFill>
                  <a:srgbClr val="0000CC"/>
                </a:solidFill>
                <a:latin typeface="Arial" panose="020B0604020202020204" pitchFamily="34" charset="0"/>
              </a:rPr>
              <a:t>SL ( Sno, Sdept, Sloc ) ∈ 2NF</a:t>
            </a:r>
            <a:endParaRPr lang="en-US" altLang="zh-CN" dirty="0">
              <a:solidFill>
                <a:srgbClr val="0000CC"/>
              </a:solidFill>
              <a:latin typeface="Arial" panose="020B0604020202020204" pitchFamily="34" charset="0"/>
            </a:endParaRPr>
          </a:p>
          <a:p>
            <a:pPr eaLnBrk="1" hangingPunct="1">
              <a:buNone/>
            </a:pPr>
            <a:r>
              <a:rPr lang="en-US" altLang="zh-CN" dirty="0">
                <a:solidFill>
                  <a:srgbClr val="0000CC"/>
                </a:solidFill>
                <a:latin typeface="Arial" panose="020B0604020202020204" pitchFamily="34" charset="0"/>
              </a:rPr>
              <a:t>		SL ( Sno, Sdept, Sloc ) ∈ 3NF </a:t>
            </a:r>
            <a:endParaRPr lang="en-US" altLang="zh-CN" dirty="0">
              <a:solidFill>
                <a:srgbClr val="0000CC"/>
              </a:solidFill>
              <a:latin typeface="Arial" panose="020B0604020202020204" pitchFamily="34" charset="0"/>
            </a:endParaRPr>
          </a:p>
          <a:p>
            <a:pPr eaLnBrk="1" hangingPunct="1">
              <a:buNone/>
            </a:pPr>
            <a:r>
              <a:rPr lang="en-US" altLang="zh-CN" dirty="0">
                <a:solidFill>
                  <a:srgbClr val="0000CC"/>
                </a:solidFill>
                <a:latin typeface="Arial" panose="020B0604020202020204" pitchFamily="34" charset="0"/>
              </a:rPr>
              <a:t>		    SD ( Sno, Sdept ) ∈ 3NF</a:t>
            </a:r>
            <a:endParaRPr lang="en-US" altLang="zh-CN" dirty="0">
              <a:solidFill>
                <a:srgbClr val="0000CC"/>
              </a:solidFill>
              <a:latin typeface="Arial" panose="020B0604020202020204" pitchFamily="34" charset="0"/>
            </a:endParaRPr>
          </a:p>
          <a:p>
            <a:pPr eaLnBrk="1" hangingPunct="1">
              <a:buNone/>
            </a:pPr>
            <a:r>
              <a:rPr lang="en-US" altLang="zh-CN" dirty="0">
                <a:solidFill>
                  <a:srgbClr val="0000CC"/>
                </a:solidFill>
                <a:latin typeface="Arial" panose="020B0604020202020204" pitchFamily="34" charset="0"/>
              </a:rPr>
              <a:t>		    DL ( Sdept, Sloc ) ∈ 3NF</a:t>
            </a:r>
            <a:endParaRPr lang="en-US" altLang="zh-CN" dirty="0">
              <a:solidFill>
                <a:srgbClr val="0000CC"/>
              </a:solidFill>
              <a:latin typeface="Arial" panose="020B0604020202020204" pitchFamily="34" charset="0"/>
            </a:endParaRPr>
          </a:p>
        </p:txBody>
      </p:sp>
      <p:sp>
        <p:nvSpPr>
          <p:cNvPr id="38093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7.5.3  3NF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8612" name="Line 4"/>
          <p:cNvSpPr/>
          <p:nvPr/>
        </p:nvSpPr>
        <p:spPr>
          <a:xfrm flipH="1">
            <a:off x="6300788" y="4584700"/>
            <a:ext cx="288925" cy="360363"/>
          </a:xfrm>
          <a:prstGeom prst="line">
            <a:avLst/>
          </a:prstGeom>
          <a:ln w="38100" cap="flat" cmpd="sng">
            <a:solidFill>
              <a:srgbClr val="0000CC"/>
            </a:solidFill>
            <a:prstDash val="solid"/>
            <a:headEnd type="none" w="med" len="med"/>
            <a:tailEnd type="none" w="med" len="med"/>
          </a:ln>
        </p:spPr>
      </p:sp>
    </p:spTree>
  </p:cSld>
  <p:clrMapOvr>
    <a:masterClrMapping/>
  </p:clrMapOvr>
  <p:transition>
    <p:random/>
    <p:sndAc>
      <p:stSnd>
        <p:snd r:embed="rId1" name="CAMERA.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idx="1"/>
          </p:nvPr>
        </p:nvSpPr>
        <p:spPr>
          <a:xfrm>
            <a:off x="188913" y="1035050"/>
            <a:ext cx="8775700" cy="5489575"/>
          </a:xfrm>
        </p:spPr>
        <p:txBody>
          <a:bodyPr vert="horz" wrap="square" lIns="91440" tIns="45720" rIns="91440" bIns="45720" anchor="t" anchorCtr="0"/>
          <a:p>
            <a:pPr marL="265430" indent="-265430" eaLnBrk="1" hangingPunct="1">
              <a:buNone/>
            </a:pPr>
            <a:r>
              <a:rPr lang="zh-CN" altLang="en-US" dirty="0">
                <a:latin typeface="Arial" panose="020B0604020202020204" pitchFamily="34" charset="0"/>
              </a:rPr>
              <a:t>例：关系模式</a:t>
            </a:r>
            <a:endParaRPr lang="zh-CN" altLang="en-US" dirty="0">
              <a:latin typeface="Arial" panose="020B0604020202020204" pitchFamily="34" charset="0"/>
            </a:endParaRPr>
          </a:p>
          <a:p>
            <a:pPr marL="265430" indent="-265430" eaLnBrk="1" hangingPunct="1">
              <a:buNone/>
            </a:pPr>
            <a:r>
              <a:rPr lang="zh-CN" altLang="en-US" dirty="0">
                <a:latin typeface="Arial" panose="020B0604020202020204" pitchFamily="34" charset="0"/>
              </a:rPr>
              <a:t> </a:t>
            </a:r>
            <a:r>
              <a:rPr lang="en-US" altLang="zh-CN" sz="3200" dirty="0">
                <a:latin typeface="Arial" panose="020B0604020202020204" pitchFamily="34" charset="0"/>
              </a:rPr>
              <a:t>R=( Sno, Sname, Cno, Score )</a:t>
            </a:r>
            <a:endParaRPr lang="en-US" altLang="zh-CN" sz="3200" dirty="0">
              <a:latin typeface="Arial" panose="020B0604020202020204" pitchFamily="34" charset="0"/>
            </a:endParaRPr>
          </a:p>
          <a:p>
            <a:pPr marL="265430" indent="-265430" eaLnBrk="1" hangingPunct="1">
              <a:buNone/>
            </a:pPr>
            <a:r>
              <a:rPr lang="en-US" altLang="zh-CN" sz="3200" dirty="0">
                <a:latin typeface="Arial" panose="020B0604020202020204" pitchFamily="34" charset="0"/>
              </a:rPr>
              <a:t> F={ Sno→Sname, Sname→Sno,</a:t>
            </a:r>
            <a:endParaRPr lang="en-US" altLang="zh-CN" sz="3200" dirty="0">
              <a:latin typeface="Arial" panose="020B0604020202020204" pitchFamily="34" charset="0"/>
            </a:endParaRPr>
          </a:p>
          <a:p>
            <a:pPr marL="265430" indent="-265430" eaLnBrk="1" hangingPunct="1">
              <a:buNone/>
            </a:pPr>
            <a:r>
              <a:rPr lang="en-US" altLang="zh-CN" sz="3200" dirty="0">
                <a:latin typeface="Arial" panose="020B0604020202020204" pitchFamily="34" charset="0"/>
              </a:rPr>
              <a:t>                             (Sno,Cno)→Score }</a:t>
            </a:r>
            <a:endParaRPr lang="en-US" altLang="zh-CN" sz="3200" dirty="0">
              <a:latin typeface="Arial" panose="020B0604020202020204" pitchFamily="34" charset="0"/>
            </a:endParaRPr>
          </a:p>
          <a:p>
            <a:pPr marL="265430" indent="-265430" eaLnBrk="1" hangingPunct="1">
              <a:spcBef>
                <a:spcPct val="30000"/>
              </a:spcBef>
              <a:buNone/>
            </a:pPr>
            <a:r>
              <a:rPr lang="en-US" altLang="zh-CN" dirty="0">
                <a:solidFill>
                  <a:srgbClr val="0000CC"/>
                </a:solidFill>
                <a:latin typeface="Arial" panose="020B0604020202020204" pitchFamily="34" charset="0"/>
              </a:rPr>
              <a:t> R∈3NF</a:t>
            </a:r>
            <a:r>
              <a:rPr lang="zh-CN" altLang="en-US" dirty="0">
                <a:latin typeface="Arial" panose="020B0604020202020204" pitchFamily="34" charset="0"/>
              </a:rPr>
              <a:t>，因为：</a:t>
            </a:r>
            <a:endParaRPr lang="zh-CN" altLang="en-US" dirty="0">
              <a:latin typeface="Arial" panose="020B0604020202020204" pitchFamily="34" charset="0"/>
            </a:endParaRPr>
          </a:p>
          <a:p>
            <a:pPr marL="265430" indent="-265430" eaLnBrk="1" hangingPunct="1">
              <a:spcBef>
                <a:spcPct val="10000"/>
              </a:spcBef>
            </a:pPr>
            <a:r>
              <a:rPr lang="zh-CN" altLang="en-US" sz="3200" dirty="0">
                <a:latin typeface="Arial" panose="020B0604020202020204" pitchFamily="34" charset="0"/>
              </a:rPr>
              <a:t>候选码为 </a:t>
            </a:r>
            <a:r>
              <a:rPr lang="en-US" altLang="zh-CN" sz="3200" dirty="0">
                <a:latin typeface="Arial" panose="020B0604020202020204" pitchFamily="34" charset="0"/>
              </a:rPr>
              <a:t>(Sno Cno),  (Sname Cno)</a:t>
            </a:r>
            <a:endParaRPr lang="en-US" altLang="zh-CN" sz="3200" dirty="0">
              <a:latin typeface="Arial" panose="020B0604020202020204" pitchFamily="34" charset="0"/>
            </a:endParaRPr>
          </a:p>
          <a:p>
            <a:pPr marL="265430" indent="-265430" eaLnBrk="1" hangingPunct="1">
              <a:spcBef>
                <a:spcPct val="10000"/>
              </a:spcBef>
            </a:pPr>
            <a:r>
              <a:rPr lang="zh-CN" altLang="en-US" sz="3200" dirty="0">
                <a:latin typeface="Arial" panose="020B0604020202020204" pitchFamily="34" charset="0"/>
              </a:rPr>
              <a:t>非主属性为 </a:t>
            </a:r>
            <a:r>
              <a:rPr lang="en-US" altLang="zh-CN" sz="3200" dirty="0">
                <a:latin typeface="Arial" panose="020B0604020202020204" pitchFamily="34" charset="0"/>
              </a:rPr>
              <a:t>Score</a:t>
            </a:r>
            <a:r>
              <a:rPr lang="zh-CN" altLang="en-US" sz="3200" dirty="0">
                <a:latin typeface="Arial" panose="020B0604020202020204" pitchFamily="34" charset="0"/>
              </a:rPr>
              <a:t>，无部分函数依赖和传递函数依赖于码 。</a:t>
            </a:r>
            <a:endParaRPr lang="zh-CN" altLang="en-US" sz="3200" dirty="0">
              <a:latin typeface="Arial" panose="020B0604020202020204" pitchFamily="34" charset="0"/>
            </a:endParaRPr>
          </a:p>
          <a:p>
            <a:pPr marL="265430" indent="-265430" eaLnBrk="1" hangingPunct="1">
              <a:spcBef>
                <a:spcPct val="25000"/>
              </a:spcBef>
              <a:buNone/>
            </a:pPr>
            <a:r>
              <a:rPr lang="zh-CN" altLang="en-US" dirty="0">
                <a:latin typeface="Arial" panose="020B0604020202020204" pitchFamily="34" charset="0"/>
              </a:rPr>
              <a:t>      </a:t>
            </a:r>
            <a:r>
              <a:rPr lang="en-US" altLang="zh-CN" dirty="0">
                <a:latin typeface="Arial" panose="020B0604020202020204" pitchFamily="34" charset="0"/>
              </a:rPr>
              <a:t>R</a:t>
            </a:r>
            <a:r>
              <a:rPr lang="zh-CN" altLang="en-US" dirty="0"/>
              <a:t>不是一个好的关系模式。</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388099" name="Rectangle 3"/>
          <p:cNvSpPr>
            <a:spLocks noGrp="1" noChangeArrowheads="1"/>
          </p:cNvSpPr>
          <p:nvPr>
            <p:ph type="title"/>
          </p:nvPr>
        </p:nvSpPr>
        <p:spPr>
          <a:xfrm>
            <a:off x="250825" y="188913"/>
            <a:ext cx="8713788" cy="5778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7.5.3  3NF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idx="1"/>
          </p:nvPr>
        </p:nvSpPr>
        <p:spPr>
          <a:xfrm>
            <a:off x="152400" y="979488"/>
            <a:ext cx="8848725" cy="5473700"/>
          </a:xfrm>
        </p:spPr>
        <p:txBody>
          <a:bodyPr vert="horz" wrap="square" lIns="91440" tIns="45720" rIns="91440" bIns="45720" anchor="t" anchorCtr="0"/>
          <a:p>
            <a:pPr eaLnBrk="1" hangingPunct="1"/>
            <a:r>
              <a:rPr lang="zh-CN" altLang="en-US" sz="3200" dirty="0">
                <a:solidFill>
                  <a:srgbClr val="0000CC"/>
                </a:solidFill>
                <a:latin typeface="Arial" panose="020B0604020202020204" pitchFamily="34" charset="0"/>
              </a:rPr>
              <a:t>原因：</a:t>
            </a:r>
            <a:endParaRPr lang="zh-CN" altLang="en-US" sz="3200" dirty="0">
              <a:solidFill>
                <a:srgbClr val="0000CC"/>
              </a:solidFill>
              <a:latin typeface="Arial" panose="020B0604020202020204" pitchFamily="34" charset="0"/>
            </a:endParaRPr>
          </a:p>
          <a:p>
            <a:pPr eaLnBrk="1" hangingPunct="1">
              <a:buNone/>
            </a:pPr>
            <a:r>
              <a:rPr lang="zh-CN" altLang="en-US" sz="3200" dirty="0">
                <a:solidFill>
                  <a:srgbClr val="0000CC"/>
                </a:solidFill>
                <a:latin typeface="Arial" panose="020B0604020202020204" pitchFamily="34" charset="0"/>
              </a:rPr>
              <a:t>    </a:t>
            </a:r>
            <a:r>
              <a:rPr lang="zh-CN" altLang="en-US" sz="3200" dirty="0">
                <a:latin typeface="Arial" panose="020B0604020202020204" pitchFamily="34" charset="0"/>
              </a:rPr>
              <a:t>主属性 </a:t>
            </a:r>
            <a:r>
              <a:rPr lang="en-US" altLang="zh-CN" sz="3200" dirty="0">
                <a:latin typeface="Arial" panose="020B0604020202020204" pitchFamily="34" charset="0"/>
              </a:rPr>
              <a:t>Sno</a:t>
            </a:r>
            <a:r>
              <a:rPr lang="zh-CN" altLang="en-US" sz="3200" dirty="0">
                <a:latin typeface="Arial" panose="020B0604020202020204" pitchFamily="34" charset="0"/>
              </a:rPr>
              <a:t>和</a:t>
            </a:r>
            <a:r>
              <a:rPr lang="en-US" altLang="zh-CN" sz="3200" dirty="0">
                <a:latin typeface="Arial" panose="020B0604020202020204" pitchFamily="34" charset="0"/>
              </a:rPr>
              <a:t>Sname</a:t>
            </a:r>
            <a:r>
              <a:rPr lang="zh-CN" altLang="en-US" sz="3200" dirty="0">
                <a:latin typeface="Arial" panose="020B0604020202020204" pitchFamily="34" charset="0"/>
              </a:rPr>
              <a:t>对码的部分函数依赖</a:t>
            </a:r>
            <a:endParaRPr lang="zh-CN" altLang="en-US" sz="3200" dirty="0">
              <a:latin typeface="Arial" panose="020B0604020202020204" pitchFamily="34" charset="0"/>
            </a:endParaRPr>
          </a:p>
          <a:p>
            <a:pPr eaLnBrk="1" hangingPunct="1">
              <a:spcBef>
                <a:spcPct val="25000"/>
              </a:spcBef>
              <a:buNone/>
            </a:pPr>
            <a:r>
              <a:rPr lang="zh-CN" altLang="en-US" sz="3200" dirty="0">
                <a:latin typeface="Arial" panose="020B0604020202020204" pitchFamily="34" charset="0"/>
              </a:rPr>
              <a:t> </a:t>
            </a:r>
            <a:r>
              <a:rPr lang="en-US" altLang="zh-CN" sz="3200" dirty="0">
                <a:latin typeface="Arial" panose="020B0604020202020204" pitchFamily="34" charset="0"/>
              </a:rPr>
              <a:t>(Sno, Cno) → Sname</a:t>
            </a:r>
            <a:r>
              <a:rPr lang="zh-CN" altLang="en-US" sz="3200" dirty="0">
                <a:latin typeface="Arial" panose="020B0604020202020204" pitchFamily="34" charset="0"/>
              </a:rPr>
              <a:t>，</a:t>
            </a:r>
            <a:r>
              <a:rPr lang="en-US" altLang="zh-CN" sz="3200" dirty="0">
                <a:latin typeface="Arial" panose="020B0604020202020204" pitchFamily="34" charset="0"/>
              </a:rPr>
              <a:t>(Sname, Cno) → Sno</a:t>
            </a:r>
            <a:endParaRPr lang="en-US" altLang="zh-CN" sz="3200" dirty="0">
              <a:latin typeface="Arial" panose="020B0604020202020204" pitchFamily="34" charset="0"/>
            </a:endParaRPr>
          </a:p>
          <a:p>
            <a:pPr eaLnBrk="1" hangingPunct="1">
              <a:spcBef>
                <a:spcPct val="30000"/>
              </a:spcBef>
            </a:pPr>
            <a:r>
              <a:rPr lang="zh-CN" altLang="en-US" sz="3200" dirty="0">
                <a:solidFill>
                  <a:srgbClr val="0000CC"/>
                </a:solidFill>
                <a:latin typeface="Arial" panose="020B0604020202020204" pitchFamily="34" charset="0"/>
              </a:rPr>
              <a:t>解决方法</a:t>
            </a:r>
            <a:r>
              <a:rPr lang="zh-CN" altLang="en-US" sz="3200" dirty="0">
                <a:latin typeface="Arial" panose="020B0604020202020204" pitchFamily="34" charset="0"/>
              </a:rPr>
              <a:t>：将</a:t>
            </a:r>
            <a:r>
              <a:rPr lang="en-US" altLang="zh-CN" sz="3200" dirty="0">
                <a:latin typeface="Arial" panose="020B0604020202020204" pitchFamily="34" charset="0"/>
              </a:rPr>
              <a:t>R</a:t>
            </a:r>
            <a:r>
              <a:rPr lang="zh-CN" altLang="en-US" sz="3200" dirty="0">
                <a:latin typeface="Arial" panose="020B0604020202020204" pitchFamily="34" charset="0"/>
              </a:rPr>
              <a:t>分解为两个关系模式</a:t>
            </a:r>
            <a:r>
              <a:rPr lang="en-US" altLang="zh-CN" sz="3200" dirty="0">
                <a:latin typeface="Arial" panose="020B0604020202020204" pitchFamily="34" charset="0"/>
              </a:rPr>
              <a:t>:</a:t>
            </a:r>
            <a:endParaRPr lang="en-US" altLang="zh-CN" sz="3200" dirty="0">
              <a:latin typeface="Arial" panose="020B0604020202020204" pitchFamily="34" charset="0"/>
            </a:endParaRPr>
          </a:p>
          <a:p>
            <a:pPr eaLnBrk="1" hangingPunct="1">
              <a:spcBef>
                <a:spcPct val="5000"/>
              </a:spcBef>
              <a:buNone/>
            </a:pPr>
            <a:r>
              <a:rPr lang="en-US" altLang="zh-CN" sz="3200" dirty="0">
                <a:latin typeface="Arial" panose="020B0604020202020204" pitchFamily="34" charset="0"/>
              </a:rPr>
              <a:t>    S (Sno, Sname)</a:t>
            </a:r>
            <a:endParaRPr lang="en-US" altLang="zh-CN" sz="3200" dirty="0">
              <a:latin typeface="Arial" panose="020B0604020202020204" pitchFamily="34" charset="0"/>
            </a:endParaRPr>
          </a:p>
          <a:p>
            <a:pPr eaLnBrk="1" hangingPunct="1">
              <a:spcBef>
                <a:spcPct val="5000"/>
              </a:spcBef>
              <a:buNone/>
            </a:pPr>
            <a:r>
              <a:rPr lang="en-US" altLang="zh-CN" sz="3200" dirty="0">
                <a:latin typeface="Arial" panose="020B0604020202020204" pitchFamily="34" charset="0"/>
              </a:rPr>
              <a:t>    SC (Sno, Cno, Score )</a:t>
            </a:r>
            <a:endParaRPr lang="en-US" altLang="zh-CN" sz="3200" dirty="0">
              <a:latin typeface="Arial" panose="020B0604020202020204" pitchFamily="34" charset="0"/>
            </a:endParaRPr>
          </a:p>
          <a:p>
            <a:pPr eaLnBrk="1" hangingPunct="1">
              <a:buNone/>
            </a:pPr>
            <a:endParaRPr lang="en-US" altLang="zh-CN" sz="3200" dirty="0">
              <a:latin typeface="Arial" panose="020B0604020202020204" pitchFamily="34" charset="0"/>
            </a:endParaRPr>
          </a:p>
          <a:p>
            <a:pPr eaLnBrk="1" hangingPunct="1">
              <a:buNone/>
            </a:pPr>
            <a:r>
              <a:rPr lang="en-US" altLang="zh-CN" sz="3200" dirty="0">
                <a:latin typeface="Arial" panose="020B0604020202020204" pitchFamily="34" charset="0"/>
              </a:rPr>
              <a:t>   </a:t>
            </a:r>
            <a:endParaRPr lang="en-US" altLang="zh-CN" sz="3200" dirty="0">
              <a:latin typeface="Arial" panose="020B0604020202020204" pitchFamily="34" charset="0"/>
            </a:endParaRPr>
          </a:p>
          <a:p>
            <a:pPr eaLnBrk="1" hangingPunct="1">
              <a:buNone/>
            </a:pPr>
            <a:r>
              <a:rPr lang="en-US" altLang="zh-CN" sz="3200" dirty="0">
                <a:latin typeface="Arial" panose="020B0604020202020204" pitchFamily="34" charset="0"/>
              </a:rPr>
              <a:t>       </a:t>
            </a:r>
            <a:endParaRPr lang="en-US" altLang="zh-CN" sz="3200" dirty="0">
              <a:latin typeface="Arial" panose="020B0604020202020204" pitchFamily="34" charset="0"/>
            </a:endParaRPr>
          </a:p>
        </p:txBody>
      </p:sp>
      <p:sp>
        <p:nvSpPr>
          <p:cNvPr id="39014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7.5.3  3NF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71684" name="Group 4"/>
          <p:cNvGrpSpPr/>
          <p:nvPr/>
        </p:nvGrpSpPr>
        <p:grpSpPr>
          <a:xfrm>
            <a:off x="2527300" y="1830388"/>
            <a:ext cx="5357813" cy="533400"/>
            <a:chOff x="1592" y="1153"/>
            <a:chExt cx="3375" cy="336"/>
          </a:xfrm>
        </p:grpSpPr>
        <p:sp>
          <p:nvSpPr>
            <p:cNvPr id="71697" name="Text Box 5"/>
            <p:cNvSpPr txBox="1"/>
            <p:nvPr/>
          </p:nvSpPr>
          <p:spPr>
            <a:xfrm>
              <a:off x="1592" y="1153"/>
              <a:ext cx="227" cy="327"/>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2800" dirty="0">
                  <a:latin typeface="Arial" panose="020B0604020202020204" pitchFamily="34" charset="0"/>
                  <a:ea typeface="宋体" panose="02010600030101010101" pitchFamily="2" charset="-122"/>
                </a:rPr>
                <a:t>p</a:t>
              </a:r>
              <a:endParaRPr lang="en-US" altLang="zh-CN" sz="2800" dirty="0">
                <a:latin typeface="Arial" panose="020B0604020202020204" pitchFamily="34" charset="0"/>
                <a:ea typeface="宋体" panose="02010600030101010101" pitchFamily="2" charset="-122"/>
              </a:endParaRPr>
            </a:p>
          </p:txBody>
        </p:sp>
        <p:sp>
          <p:nvSpPr>
            <p:cNvPr id="71698" name="Text Box 6"/>
            <p:cNvSpPr txBox="1"/>
            <p:nvPr/>
          </p:nvSpPr>
          <p:spPr>
            <a:xfrm>
              <a:off x="4740" y="1162"/>
              <a:ext cx="227" cy="327"/>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2800" dirty="0">
                  <a:latin typeface="Arial" panose="020B0604020202020204" pitchFamily="34" charset="0"/>
                  <a:ea typeface="宋体" panose="02010600030101010101" pitchFamily="2" charset="-122"/>
                </a:rPr>
                <a:t>p</a:t>
              </a:r>
              <a:endParaRPr lang="en-US" altLang="zh-CN" sz="2800" dirty="0">
                <a:latin typeface="Arial" panose="020B0604020202020204" pitchFamily="34" charset="0"/>
                <a:ea typeface="宋体" panose="02010600030101010101" pitchFamily="2" charset="-122"/>
              </a:endParaRPr>
            </a:p>
          </p:txBody>
        </p:sp>
      </p:grpSp>
      <p:grpSp>
        <p:nvGrpSpPr>
          <p:cNvPr id="71685" name="Group 7"/>
          <p:cNvGrpSpPr/>
          <p:nvPr/>
        </p:nvGrpSpPr>
        <p:grpSpPr>
          <a:xfrm>
            <a:off x="5578475" y="4137025"/>
            <a:ext cx="3241675" cy="2387600"/>
            <a:chOff x="3423" y="2569"/>
            <a:chExt cx="2042" cy="1504"/>
          </a:xfrm>
        </p:grpSpPr>
        <p:sp>
          <p:nvSpPr>
            <p:cNvPr id="71691" name="Text Box 8"/>
            <p:cNvSpPr txBox="1"/>
            <p:nvPr/>
          </p:nvSpPr>
          <p:spPr>
            <a:xfrm>
              <a:off x="4649" y="3566"/>
              <a:ext cx="598" cy="439"/>
            </a:xfrm>
            <a:prstGeom prst="rect">
              <a:avLst/>
            </a:prstGeom>
            <a:noFill/>
            <a:ln w="2857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FF0000"/>
                  </a:solidFill>
                  <a:latin typeface="Arial" panose="020B0604020202020204" pitchFamily="34" charset="0"/>
                  <a:ea typeface="宋体" panose="02010600030101010101" pitchFamily="2" charset="-122"/>
                </a:rPr>
                <a:t>SC</a:t>
              </a:r>
              <a:endParaRPr lang="en-US" altLang="zh-CN" sz="3200" dirty="0">
                <a:solidFill>
                  <a:srgbClr val="FF0000"/>
                </a:solidFill>
                <a:latin typeface="Arial" panose="020B0604020202020204" pitchFamily="34" charset="0"/>
                <a:ea typeface="宋体" panose="02010600030101010101" pitchFamily="2" charset="-122"/>
              </a:endParaRPr>
            </a:p>
          </p:txBody>
        </p:sp>
        <p:sp>
          <p:nvSpPr>
            <p:cNvPr id="71692" name="Rectangle 9"/>
            <p:cNvSpPr/>
            <p:nvPr/>
          </p:nvSpPr>
          <p:spPr>
            <a:xfrm>
              <a:off x="3423" y="2569"/>
              <a:ext cx="908" cy="1504"/>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endParaRPr lang="zh-CN" altLang="en-US" dirty="0">
                <a:latin typeface="Arial" panose="020B0604020202020204" pitchFamily="34" charset="0"/>
                <a:ea typeface="幼圆" panose="02010509060101010101" pitchFamily="49" charset="-122"/>
              </a:endParaRPr>
            </a:p>
          </p:txBody>
        </p:sp>
        <p:sp>
          <p:nvSpPr>
            <p:cNvPr id="71693" name="Text Box 10"/>
            <p:cNvSpPr txBox="1"/>
            <p:nvPr/>
          </p:nvSpPr>
          <p:spPr>
            <a:xfrm>
              <a:off x="3560" y="2820"/>
              <a:ext cx="634" cy="377"/>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Sno</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1694" name="Text Box 11"/>
            <p:cNvSpPr txBox="1"/>
            <p:nvPr/>
          </p:nvSpPr>
          <p:spPr>
            <a:xfrm>
              <a:off x="3578" y="3447"/>
              <a:ext cx="589" cy="376"/>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Tx/>
                <a:buSzTx/>
                <a:buFontTx/>
                <a:buNone/>
              </a:pPr>
              <a:r>
                <a:rPr lang="en-US" altLang="zh-CN" sz="2800" dirty="0">
                  <a:solidFill>
                    <a:srgbClr val="0000CC"/>
                  </a:solidFill>
                  <a:latin typeface="Arial" panose="020B0604020202020204" pitchFamily="34" charset="0"/>
                  <a:ea typeface="宋体" panose="02010600030101010101" pitchFamily="2" charset="-122"/>
                </a:rPr>
                <a:t>Cno</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1695" name="Text Box 12"/>
            <p:cNvSpPr txBox="1"/>
            <p:nvPr/>
          </p:nvSpPr>
          <p:spPr>
            <a:xfrm>
              <a:off x="4694" y="3008"/>
              <a:ext cx="771" cy="377"/>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Tx/>
                <a:buSzTx/>
                <a:buFontTx/>
                <a:buNone/>
              </a:pPr>
              <a:r>
                <a:rPr lang="en-US" altLang="zh-CN" sz="2800" dirty="0">
                  <a:solidFill>
                    <a:srgbClr val="0000CC"/>
                  </a:solidFill>
                  <a:latin typeface="Arial" panose="020B0604020202020204" pitchFamily="34" charset="0"/>
                  <a:ea typeface="幼圆" panose="02010509060101010101" pitchFamily="49" charset="-122"/>
                </a:rPr>
                <a:t>Score</a:t>
              </a:r>
              <a:endParaRPr lang="en-US" altLang="zh-CN" sz="2800" dirty="0">
                <a:solidFill>
                  <a:srgbClr val="0000CC"/>
                </a:solidFill>
                <a:latin typeface="Arial" panose="020B0604020202020204" pitchFamily="34" charset="0"/>
                <a:ea typeface="幼圆" panose="02010509060101010101" pitchFamily="49" charset="-122"/>
              </a:endParaRPr>
            </a:p>
          </p:txBody>
        </p:sp>
        <p:sp>
          <p:nvSpPr>
            <p:cNvPr id="71696" name="Line 13"/>
            <p:cNvSpPr/>
            <p:nvPr/>
          </p:nvSpPr>
          <p:spPr>
            <a:xfrm>
              <a:off x="4331" y="3197"/>
              <a:ext cx="363" cy="0"/>
            </a:xfrm>
            <a:prstGeom prst="line">
              <a:avLst/>
            </a:prstGeom>
            <a:ln w="38100" cap="flat" cmpd="sng">
              <a:solidFill>
                <a:srgbClr val="000000"/>
              </a:solidFill>
              <a:prstDash val="solid"/>
              <a:headEnd type="none" w="med" len="med"/>
              <a:tailEnd type="triangle" w="med" len="med"/>
            </a:ln>
          </p:spPr>
        </p:sp>
      </p:grpSp>
      <p:grpSp>
        <p:nvGrpSpPr>
          <p:cNvPr id="71686" name="Group 14"/>
          <p:cNvGrpSpPr/>
          <p:nvPr/>
        </p:nvGrpSpPr>
        <p:grpSpPr>
          <a:xfrm>
            <a:off x="1547813" y="4797425"/>
            <a:ext cx="3097212" cy="1474788"/>
            <a:chOff x="793" y="2849"/>
            <a:chExt cx="1951" cy="929"/>
          </a:xfrm>
        </p:grpSpPr>
        <p:sp>
          <p:nvSpPr>
            <p:cNvPr id="71687" name="Text Box 15"/>
            <p:cNvSpPr txBox="1"/>
            <p:nvPr/>
          </p:nvSpPr>
          <p:spPr>
            <a:xfrm>
              <a:off x="793" y="2849"/>
              <a:ext cx="708" cy="400"/>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Sno</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1688" name="Text Box 16"/>
            <p:cNvSpPr txBox="1"/>
            <p:nvPr/>
          </p:nvSpPr>
          <p:spPr>
            <a:xfrm>
              <a:off x="1837" y="2849"/>
              <a:ext cx="907" cy="400"/>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Sname</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1689" name="Text Box 17"/>
            <p:cNvSpPr txBox="1"/>
            <p:nvPr/>
          </p:nvSpPr>
          <p:spPr>
            <a:xfrm>
              <a:off x="1383" y="3339"/>
              <a:ext cx="597" cy="439"/>
            </a:xfrm>
            <a:prstGeom prst="rect">
              <a:avLst/>
            </a:prstGeom>
            <a:noFill/>
            <a:ln w="2857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FF0000"/>
                  </a:solidFill>
                  <a:latin typeface="Arial" panose="020B0604020202020204" pitchFamily="34" charset="0"/>
                  <a:ea typeface="宋体" panose="02010600030101010101" pitchFamily="2" charset="-122"/>
                </a:rPr>
                <a:t>S</a:t>
              </a:r>
              <a:endParaRPr lang="en-US" altLang="zh-CN" sz="3200" dirty="0">
                <a:solidFill>
                  <a:srgbClr val="FF0000"/>
                </a:solidFill>
                <a:latin typeface="Arial" panose="020B0604020202020204" pitchFamily="34" charset="0"/>
                <a:ea typeface="宋体" panose="02010600030101010101" pitchFamily="2" charset="-122"/>
              </a:endParaRPr>
            </a:p>
          </p:txBody>
        </p:sp>
        <p:sp>
          <p:nvSpPr>
            <p:cNvPr id="71690" name="Line 18"/>
            <p:cNvSpPr/>
            <p:nvPr/>
          </p:nvSpPr>
          <p:spPr>
            <a:xfrm>
              <a:off x="1502" y="3067"/>
              <a:ext cx="317" cy="0"/>
            </a:xfrm>
            <a:prstGeom prst="line">
              <a:avLst/>
            </a:prstGeom>
            <a:ln w="38100" cap="flat" cmpd="sng">
              <a:solidFill>
                <a:srgbClr val="000000"/>
              </a:solidFill>
              <a:prstDash val="solid"/>
              <a:headEnd type="triangle" w="med" len="med"/>
              <a:tailEnd type="triangle" w="med" len="med"/>
            </a:ln>
          </p:spPr>
        </p:sp>
      </p:grpSp>
    </p:spTree>
  </p:cSld>
  <p:clrMapOvr>
    <a:masterClrMapping/>
  </p:clrMapOvr>
  <p:transition>
    <p:random/>
    <p:sndAc>
      <p:stSnd>
        <p:snd r:embed="rId1" name="CAMERA.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idx="1"/>
          </p:nvPr>
        </p:nvSpPr>
        <p:spPr>
          <a:xfrm>
            <a:off x="223838" y="908050"/>
            <a:ext cx="8740775" cy="5508625"/>
          </a:xfrm>
        </p:spPr>
        <p:txBody>
          <a:bodyPr vert="horz" wrap="square" lIns="91440" tIns="45720" rIns="91440" bIns="45720" anchor="t" anchorCtr="0"/>
          <a:p>
            <a:pPr marL="355600" indent="-355600" eaLnBrk="1" hangingPunct="1">
              <a:lnSpc>
                <a:spcPct val="95000"/>
              </a:lnSpc>
            </a:pPr>
            <a:r>
              <a:rPr lang="zh-CN" altLang="en-US" dirty="0">
                <a:latin typeface="Arial" panose="020B0604020202020204" pitchFamily="34" charset="0"/>
              </a:rPr>
              <a:t>定义</a:t>
            </a:r>
            <a:endParaRPr lang="zh-CN" altLang="en-US" dirty="0">
              <a:latin typeface="Arial" panose="020B0604020202020204" pitchFamily="34" charset="0"/>
              <a:ea typeface="Arial Unicode MS" pitchFamily="34" charset="-122"/>
            </a:endParaRPr>
          </a:p>
          <a:p>
            <a:pPr marL="355600" indent="-355600" eaLnBrk="1" hangingPunct="1">
              <a:lnSpc>
                <a:spcPct val="95000"/>
              </a:lnSpc>
              <a:buNone/>
            </a:pPr>
            <a:r>
              <a:rPr lang="zh-CN" altLang="en-US" dirty="0">
                <a:latin typeface="Arial" panose="020B0604020202020204" pitchFamily="34" charset="0"/>
              </a:rPr>
              <a:t>        关系模式 </a:t>
            </a:r>
            <a:r>
              <a:rPr lang="en-US" altLang="zh-CN" dirty="0">
                <a:latin typeface="Arial" panose="020B0604020202020204" pitchFamily="34" charset="0"/>
              </a:rPr>
              <a:t>R&lt;U,F&gt;∈1NF</a:t>
            </a:r>
            <a:r>
              <a:rPr lang="zh-CN" altLang="en-US" dirty="0">
                <a:latin typeface="Arial" panose="020B0604020202020204" pitchFamily="34" charset="0"/>
              </a:rPr>
              <a:t>，对每个 </a:t>
            </a:r>
            <a:r>
              <a:rPr lang="en-US" altLang="zh-CN" dirty="0">
                <a:latin typeface="Arial" panose="020B0604020202020204" pitchFamily="34" charset="0"/>
              </a:rPr>
              <a:t>X→Y</a:t>
            </a:r>
            <a:r>
              <a:rPr lang="zh-CN" altLang="en-US" dirty="0">
                <a:latin typeface="Arial" panose="020B0604020202020204" pitchFamily="34" charset="0"/>
              </a:rPr>
              <a:t>， 若</a:t>
            </a:r>
            <a:r>
              <a:rPr lang="en-US" altLang="zh-CN" dirty="0">
                <a:latin typeface="Arial" panose="020B0604020202020204" pitchFamily="34" charset="0"/>
                <a:ea typeface="Arial Unicode MS" pitchFamily="34" charset="-122"/>
              </a:rPr>
              <a:t>Y </a:t>
            </a:r>
            <a:r>
              <a:rPr lang="en-US" altLang="zh-CN" sz="4000" dirty="0">
                <a:latin typeface="Arial" panose="020B0604020202020204" pitchFamily="34" charset="0"/>
                <a:sym typeface="Symbol" panose="05050102010706020507" pitchFamily="18" charset="2"/>
              </a:rPr>
              <a:t> </a:t>
            </a:r>
            <a:r>
              <a:rPr lang="en-US" altLang="zh-CN" dirty="0">
                <a:latin typeface="Arial" panose="020B0604020202020204" pitchFamily="34" charset="0"/>
                <a:ea typeface="Arial Unicode MS" pitchFamily="34" charset="-122"/>
              </a:rPr>
              <a:t>X </a:t>
            </a:r>
            <a:r>
              <a:rPr lang="zh-CN" altLang="en-US" dirty="0">
                <a:latin typeface="Arial" panose="020B0604020202020204" pitchFamily="34" charset="0"/>
              </a:rPr>
              <a:t>，则 </a:t>
            </a:r>
            <a:r>
              <a:rPr lang="en-US" altLang="zh-CN" dirty="0">
                <a:latin typeface="Arial" panose="020B0604020202020204" pitchFamily="34" charset="0"/>
              </a:rPr>
              <a:t>X </a:t>
            </a:r>
            <a:r>
              <a:rPr lang="zh-CN" altLang="en-US" dirty="0">
                <a:latin typeface="Arial" panose="020B0604020202020204" pitchFamily="34" charset="0"/>
              </a:rPr>
              <a:t>必含有码， 则称 </a:t>
            </a:r>
            <a:r>
              <a:rPr lang="en-US" altLang="zh-CN" dirty="0">
                <a:latin typeface="Arial" panose="020B0604020202020204" pitchFamily="34" charset="0"/>
              </a:rPr>
              <a:t>R </a:t>
            </a:r>
            <a:r>
              <a:rPr lang="zh-CN" altLang="en-US" dirty="0">
                <a:latin typeface="Arial" panose="020B0604020202020204" pitchFamily="34" charset="0"/>
              </a:rPr>
              <a:t>是 </a:t>
            </a:r>
            <a:r>
              <a:rPr lang="en-US" altLang="zh-CN" dirty="0">
                <a:solidFill>
                  <a:srgbClr val="0000CC"/>
                </a:solidFill>
                <a:latin typeface="Arial" panose="020B0604020202020204" pitchFamily="34" charset="0"/>
                <a:ea typeface="Arial Unicode MS" pitchFamily="34" charset="-122"/>
              </a:rPr>
              <a:t>Boyce-Codd </a:t>
            </a:r>
            <a:r>
              <a:rPr lang="zh-CN" altLang="en-US" dirty="0">
                <a:solidFill>
                  <a:srgbClr val="0000CC"/>
                </a:solidFill>
                <a:latin typeface="Arial" panose="020B0604020202020204" pitchFamily="34" charset="0"/>
              </a:rPr>
              <a:t>范式</a:t>
            </a:r>
            <a:r>
              <a:rPr lang="zh-CN" altLang="en-US" dirty="0">
                <a:latin typeface="Arial" panose="020B0604020202020204" pitchFamily="34" charset="0"/>
              </a:rPr>
              <a:t>，记作 </a:t>
            </a:r>
            <a:r>
              <a:rPr lang="en-US" altLang="zh-CN" dirty="0">
                <a:latin typeface="Arial" panose="020B0604020202020204" pitchFamily="34" charset="0"/>
              </a:rPr>
              <a:t>R∈BCNF</a:t>
            </a:r>
            <a:r>
              <a:rPr lang="zh-CN" altLang="en-US" dirty="0">
                <a:latin typeface="Arial" panose="020B0604020202020204" pitchFamily="34" charset="0"/>
              </a:rPr>
              <a:t>。</a:t>
            </a:r>
            <a:endParaRPr lang="zh-CN" altLang="en-US" dirty="0">
              <a:latin typeface="Arial" panose="020B0604020202020204" pitchFamily="34" charset="0"/>
            </a:endParaRPr>
          </a:p>
          <a:p>
            <a:pPr marL="355600" indent="-355600" eaLnBrk="1" hangingPunct="1">
              <a:lnSpc>
                <a:spcPct val="95000"/>
              </a:lnSpc>
              <a:spcBef>
                <a:spcPct val="35000"/>
              </a:spcBef>
            </a:pPr>
            <a:r>
              <a:rPr lang="zh-CN" altLang="en-US" dirty="0">
                <a:latin typeface="Arial" panose="020B0604020202020204" pitchFamily="34" charset="0"/>
              </a:rPr>
              <a:t>等价定义</a:t>
            </a:r>
            <a:endParaRPr lang="zh-CN" altLang="en-US" dirty="0">
              <a:latin typeface="Arial" panose="020B0604020202020204" pitchFamily="34" charset="0"/>
              <a:ea typeface="Arial Unicode MS" pitchFamily="34" charset="-122"/>
            </a:endParaRPr>
          </a:p>
          <a:p>
            <a:pPr marL="355600" indent="-355600" eaLnBrk="1" hangingPunct="1">
              <a:lnSpc>
                <a:spcPct val="95000"/>
              </a:lnSpc>
              <a:buNone/>
            </a:pPr>
            <a:r>
              <a:rPr lang="zh-CN" altLang="en-US" dirty="0">
                <a:latin typeface="Arial" panose="020B0604020202020204" pitchFamily="34" charset="0"/>
              </a:rPr>
              <a:t>        如关系模式 </a:t>
            </a:r>
            <a:r>
              <a:rPr lang="en-US" altLang="zh-CN" dirty="0">
                <a:latin typeface="Arial" panose="020B0604020202020204" pitchFamily="34" charset="0"/>
              </a:rPr>
              <a:t>R&lt;U,F&gt;∈3NF</a:t>
            </a:r>
            <a:r>
              <a:rPr lang="zh-CN" altLang="en-US" dirty="0">
                <a:latin typeface="Arial" panose="020B0604020202020204" pitchFamily="34" charset="0"/>
              </a:rPr>
              <a:t>，并且</a:t>
            </a:r>
            <a:r>
              <a:rPr lang="zh-CN" altLang="en-US" dirty="0">
                <a:solidFill>
                  <a:srgbClr val="FF0000"/>
                </a:solidFill>
                <a:latin typeface="Arial" panose="020B0604020202020204" pitchFamily="34" charset="0"/>
              </a:rPr>
              <a:t>不</a:t>
            </a:r>
            <a:r>
              <a:rPr lang="zh-CN" altLang="en-US" dirty="0">
                <a:latin typeface="Arial" panose="020B0604020202020204" pitchFamily="34" charset="0"/>
              </a:rPr>
              <a:t>存在</a:t>
            </a:r>
            <a:r>
              <a:rPr lang="zh-CN" altLang="en-US" dirty="0">
                <a:solidFill>
                  <a:srgbClr val="FF0000"/>
                </a:solidFill>
                <a:latin typeface="Arial" panose="020B0604020202020204" pitchFamily="34" charset="0"/>
              </a:rPr>
              <a:t>主</a:t>
            </a:r>
            <a:r>
              <a:rPr lang="zh-CN" altLang="en-US" dirty="0">
                <a:latin typeface="Arial" panose="020B0604020202020204" pitchFamily="34" charset="0"/>
              </a:rPr>
              <a:t>属性与对码的</a:t>
            </a:r>
            <a:r>
              <a:rPr lang="zh-CN" altLang="en-US" dirty="0">
                <a:solidFill>
                  <a:srgbClr val="FF0000"/>
                </a:solidFill>
                <a:latin typeface="Arial" panose="020B0604020202020204" pitchFamily="34" charset="0"/>
              </a:rPr>
              <a:t>部分</a:t>
            </a:r>
            <a:r>
              <a:rPr lang="zh-CN" altLang="en-US" dirty="0">
                <a:latin typeface="Arial" panose="020B0604020202020204" pitchFamily="34" charset="0"/>
              </a:rPr>
              <a:t>函数依赖和</a:t>
            </a:r>
            <a:r>
              <a:rPr lang="zh-CN" altLang="en-US" dirty="0">
                <a:solidFill>
                  <a:srgbClr val="FF0000"/>
                </a:solidFill>
                <a:latin typeface="Arial" panose="020B0604020202020204" pitchFamily="34" charset="0"/>
              </a:rPr>
              <a:t>传递</a:t>
            </a:r>
            <a:r>
              <a:rPr lang="zh-CN" altLang="en-US" dirty="0">
                <a:latin typeface="Arial" panose="020B0604020202020204" pitchFamily="34" charset="0"/>
              </a:rPr>
              <a:t>函数依赖， 则称 </a:t>
            </a:r>
            <a:r>
              <a:rPr lang="en-US" altLang="zh-CN" dirty="0">
                <a:latin typeface="Arial" panose="020B0604020202020204" pitchFamily="34" charset="0"/>
              </a:rPr>
              <a:t>R </a:t>
            </a:r>
            <a:r>
              <a:rPr lang="zh-CN" altLang="en-US" dirty="0">
                <a:latin typeface="Arial" panose="020B0604020202020204" pitchFamily="34" charset="0"/>
              </a:rPr>
              <a:t>是 </a:t>
            </a:r>
            <a:r>
              <a:rPr lang="en-US" altLang="zh-CN" dirty="0">
                <a:solidFill>
                  <a:srgbClr val="0000CC"/>
                </a:solidFill>
                <a:latin typeface="Arial" panose="020B0604020202020204" pitchFamily="34" charset="0"/>
                <a:ea typeface="Arial Unicode MS" pitchFamily="34" charset="-122"/>
              </a:rPr>
              <a:t>BC </a:t>
            </a:r>
            <a:r>
              <a:rPr lang="zh-CN" altLang="en-US" dirty="0">
                <a:solidFill>
                  <a:srgbClr val="0000CC"/>
                </a:solidFill>
                <a:latin typeface="Arial" panose="020B0604020202020204" pitchFamily="34" charset="0"/>
              </a:rPr>
              <a:t>范式</a:t>
            </a:r>
            <a:r>
              <a:rPr lang="zh-CN" altLang="en-US" dirty="0">
                <a:latin typeface="Arial" panose="020B0604020202020204" pitchFamily="34" charset="0"/>
              </a:rPr>
              <a:t>，记作 </a:t>
            </a:r>
            <a:r>
              <a:rPr lang="en-US" altLang="zh-CN" dirty="0">
                <a:latin typeface="Arial" panose="020B0604020202020204" pitchFamily="34" charset="0"/>
              </a:rPr>
              <a:t>R∈BCNF</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39219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7.5.4  BCNF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3732" name="Line 4"/>
          <p:cNvSpPr/>
          <p:nvPr/>
        </p:nvSpPr>
        <p:spPr>
          <a:xfrm flipH="1">
            <a:off x="3276600" y="2133600"/>
            <a:ext cx="288925" cy="412750"/>
          </a:xfrm>
          <a:prstGeom prst="line">
            <a:avLst/>
          </a:prstGeom>
          <a:ln w="38100" cap="flat" cmpd="sng">
            <a:solidFill>
              <a:srgbClr val="000000"/>
            </a:solidFill>
            <a:prstDash val="solid"/>
            <a:headEnd type="none" w="med" len="med"/>
            <a:tailEnd type="none" w="med" len="med"/>
          </a:ln>
        </p:spPr>
      </p:sp>
    </p:spTree>
  </p:cSld>
  <p:clrMapOvr>
    <a:masterClrMapping/>
  </p:clrMapOvr>
  <p:transition>
    <p:random/>
    <p:sndAc>
      <p:stSnd>
        <p:snd r:embed="rId1" name="CAMERA.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idx="1"/>
          </p:nvPr>
        </p:nvSpPr>
        <p:spPr>
          <a:xfrm>
            <a:off x="188913" y="1035050"/>
            <a:ext cx="8775700" cy="5489575"/>
          </a:xfrm>
        </p:spPr>
        <p:txBody>
          <a:bodyPr vert="horz" wrap="square" lIns="91440" tIns="45720" rIns="91440" bIns="45720" anchor="t" anchorCtr="0"/>
          <a:p>
            <a:pPr marL="0" indent="0" eaLnBrk="1" hangingPunct="1">
              <a:buNone/>
            </a:pPr>
            <a:r>
              <a:rPr lang="zh-CN" altLang="en-US" dirty="0">
                <a:latin typeface="Arial" panose="020B0604020202020204" pitchFamily="34" charset="0"/>
              </a:rPr>
              <a:t>例：关系模式</a:t>
            </a:r>
            <a:endParaRPr lang="zh-CN" altLang="en-US" dirty="0">
              <a:latin typeface="Arial" panose="020B0604020202020204" pitchFamily="34" charset="0"/>
            </a:endParaRPr>
          </a:p>
          <a:p>
            <a:pPr marL="0" indent="0" eaLnBrk="1" hangingPunct="1">
              <a:buNone/>
            </a:pPr>
            <a:r>
              <a:rPr lang="zh-CN" altLang="en-US" dirty="0">
                <a:latin typeface="Arial" panose="020B0604020202020204" pitchFamily="34" charset="0"/>
              </a:rPr>
              <a:t> </a:t>
            </a:r>
            <a:r>
              <a:rPr lang="en-US" altLang="zh-CN" dirty="0">
                <a:latin typeface="Arial" panose="020B0604020202020204" pitchFamily="34" charset="0"/>
              </a:rPr>
              <a:t>R=( Sno, Sname, Cno, Score )</a:t>
            </a:r>
            <a:endParaRPr lang="en-US" altLang="zh-CN" dirty="0">
              <a:latin typeface="Arial" panose="020B0604020202020204" pitchFamily="34" charset="0"/>
            </a:endParaRPr>
          </a:p>
          <a:p>
            <a:pPr marL="0" indent="0" eaLnBrk="1" hangingPunct="1">
              <a:buNone/>
            </a:pPr>
            <a:r>
              <a:rPr lang="en-US" altLang="zh-CN" dirty="0">
                <a:latin typeface="Arial" panose="020B0604020202020204" pitchFamily="34" charset="0"/>
              </a:rPr>
              <a:t> F={ Sno→Sname, Sname→Sno,</a:t>
            </a:r>
            <a:endParaRPr lang="en-US" altLang="zh-CN" dirty="0">
              <a:latin typeface="Arial" panose="020B0604020202020204" pitchFamily="34" charset="0"/>
            </a:endParaRPr>
          </a:p>
          <a:p>
            <a:pPr marL="0" indent="0" eaLnBrk="1" hangingPunct="1">
              <a:buNone/>
            </a:pPr>
            <a:r>
              <a:rPr lang="en-US" altLang="zh-CN" dirty="0">
                <a:latin typeface="Arial" panose="020B0604020202020204" pitchFamily="34" charset="0"/>
              </a:rPr>
              <a:t>                             (Sno,Cno)→Score } </a:t>
            </a:r>
            <a:endParaRPr lang="en-US" altLang="zh-CN" dirty="0">
              <a:latin typeface="Arial" panose="020B0604020202020204" pitchFamily="34" charset="0"/>
            </a:endParaRPr>
          </a:p>
          <a:p>
            <a:pPr marL="0" indent="0" eaLnBrk="1" hangingPunct="1">
              <a:spcBef>
                <a:spcPct val="30000"/>
              </a:spcBef>
              <a:buNone/>
            </a:pPr>
            <a:r>
              <a:rPr lang="en-US" altLang="zh-CN" dirty="0">
                <a:solidFill>
                  <a:srgbClr val="0000CC"/>
                </a:solidFill>
                <a:latin typeface="Arial" panose="020B0604020202020204" pitchFamily="34" charset="0"/>
              </a:rPr>
              <a:t> </a:t>
            </a:r>
            <a:r>
              <a:rPr lang="en-US" altLang="zh-CN" dirty="0">
                <a:solidFill>
                  <a:srgbClr val="FF0000"/>
                </a:solidFill>
                <a:latin typeface="Arial" panose="020B0604020202020204" pitchFamily="34" charset="0"/>
              </a:rPr>
              <a:t>R∈3NF </a:t>
            </a:r>
            <a:r>
              <a:rPr lang="zh-CN" altLang="en-US" dirty="0">
                <a:latin typeface="Arial" panose="020B0604020202020204" pitchFamily="34" charset="0"/>
              </a:rPr>
              <a:t>，</a:t>
            </a:r>
            <a:r>
              <a:rPr lang="zh-CN" altLang="en-US" dirty="0">
                <a:solidFill>
                  <a:srgbClr val="FF0000"/>
                </a:solidFill>
                <a:latin typeface="Arial" panose="020B0604020202020204" pitchFamily="34" charset="0"/>
              </a:rPr>
              <a:t>但 </a:t>
            </a:r>
            <a:r>
              <a:rPr lang="en-US" altLang="zh-CN" dirty="0">
                <a:solidFill>
                  <a:srgbClr val="FF0000"/>
                </a:solidFill>
                <a:latin typeface="Arial" panose="020B0604020202020204" pitchFamily="34" charset="0"/>
              </a:rPr>
              <a:t>R ∈BCNF</a:t>
            </a:r>
            <a:r>
              <a:rPr lang="en-US" altLang="zh-CN" dirty="0">
                <a:latin typeface="Arial" panose="020B0604020202020204" pitchFamily="34" charset="0"/>
              </a:rPr>
              <a:t> </a:t>
            </a:r>
            <a:r>
              <a:rPr lang="zh-CN" altLang="en-US" dirty="0">
                <a:latin typeface="Arial" panose="020B0604020202020204" pitchFamily="34" charset="0"/>
              </a:rPr>
              <a:t>，因为：</a:t>
            </a:r>
            <a:endParaRPr lang="zh-CN" altLang="en-US" dirty="0">
              <a:latin typeface="Arial" panose="020B0604020202020204" pitchFamily="34" charset="0"/>
            </a:endParaRPr>
          </a:p>
          <a:p>
            <a:pPr marL="0" indent="0" eaLnBrk="1" hangingPunct="1">
              <a:spcBef>
                <a:spcPct val="25000"/>
              </a:spcBef>
              <a:buNone/>
            </a:pPr>
            <a:r>
              <a:rPr lang="zh-CN" altLang="en-US" dirty="0">
                <a:latin typeface="Arial" panose="020B0604020202020204" pitchFamily="34" charset="0"/>
              </a:rPr>
              <a:t> </a:t>
            </a:r>
            <a:r>
              <a:rPr lang="en-US" altLang="zh-CN" dirty="0">
                <a:latin typeface="Arial" panose="020B0604020202020204" pitchFamily="34" charset="0"/>
              </a:rPr>
              <a:t>Sno→Sname</a:t>
            </a:r>
            <a:r>
              <a:rPr lang="zh-CN" altLang="en-US" dirty="0">
                <a:latin typeface="Arial" panose="020B0604020202020204" pitchFamily="34" charset="0"/>
              </a:rPr>
              <a:t>， </a:t>
            </a:r>
            <a:r>
              <a:rPr lang="en-US" altLang="zh-CN" dirty="0">
                <a:latin typeface="Arial" panose="020B0604020202020204" pitchFamily="34" charset="0"/>
              </a:rPr>
              <a:t>Sname→Sno</a:t>
            </a:r>
            <a:endParaRPr lang="en-US" altLang="zh-CN" dirty="0">
              <a:latin typeface="Arial" panose="020B0604020202020204" pitchFamily="34" charset="0"/>
            </a:endParaRPr>
          </a:p>
          <a:p>
            <a:pPr marL="0" indent="0" eaLnBrk="1" hangingPunct="1">
              <a:spcBef>
                <a:spcPct val="25000"/>
              </a:spcBef>
              <a:buNone/>
            </a:pPr>
            <a:r>
              <a:rPr lang="zh-CN" altLang="en-US" dirty="0">
                <a:latin typeface="Arial" panose="020B0604020202020204" pitchFamily="34" charset="0"/>
              </a:rPr>
              <a:t>决定因素</a:t>
            </a:r>
            <a:r>
              <a:rPr lang="en-US" altLang="zh-CN" dirty="0">
                <a:latin typeface="Arial" panose="020B0604020202020204" pitchFamily="34" charset="0"/>
              </a:rPr>
              <a:t>Sno</a:t>
            </a:r>
            <a:r>
              <a:rPr lang="zh-CN" altLang="en-US" dirty="0">
                <a:latin typeface="Arial" panose="020B0604020202020204" pitchFamily="34" charset="0"/>
              </a:rPr>
              <a:t>和</a:t>
            </a:r>
            <a:r>
              <a:rPr lang="en-US" altLang="zh-CN" dirty="0">
                <a:latin typeface="Arial" panose="020B0604020202020204" pitchFamily="34" charset="0"/>
              </a:rPr>
              <a:t>Sname</a:t>
            </a:r>
            <a:r>
              <a:rPr lang="zh-CN" altLang="en-US" dirty="0">
                <a:latin typeface="Arial" panose="020B0604020202020204" pitchFamily="34" charset="0"/>
              </a:rPr>
              <a:t>不包含候选码。</a:t>
            </a:r>
            <a:endParaRPr lang="zh-CN" altLang="en-US" dirty="0">
              <a:latin typeface="Arial" panose="020B0604020202020204" pitchFamily="34" charset="0"/>
            </a:endParaRPr>
          </a:p>
        </p:txBody>
      </p:sp>
      <p:sp>
        <p:nvSpPr>
          <p:cNvPr id="394243" name="Rectangle 3"/>
          <p:cNvSpPr>
            <a:spLocks noGrp="1" noChangeArrowheads="1"/>
          </p:cNvSpPr>
          <p:nvPr>
            <p:ph type="title"/>
          </p:nvPr>
        </p:nvSpPr>
        <p:spPr>
          <a:xfrm>
            <a:off x="250825" y="188913"/>
            <a:ext cx="8713788" cy="5778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7.5.4  BCNF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5780" name="Line 4"/>
          <p:cNvSpPr/>
          <p:nvPr/>
        </p:nvSpPr>
        <p:spPr>
          <a:xfrm flipH="1">
            <a:off x="3779838" y="3530600"/>
            <a:ext cx="288925" cy="360363"/>
          </a:xfrm>
          <a:prstGeom prst="line">
            <a:avLst/>
          </a:prstGeom>
          <a:ln w="38100" cap="flat" cmpd="sng">
            <a:solidFill>
              <a:srgbClr val="FF0000"/>
            </a:solidFill>
            <a:prstDash val="solid"/>
            <a:headEnd type="none" w="med" len="med"/>
            <a:tailEnd type="none" w="med" len="med"/>
          </a:ln>
        </p:spPr>
      </p:sp>
    </p:spTree>
  </p:cSld>
  <p:clrMapOvr>
    <a:masterClrMapping/>
  </p:clrMapOvr>
  <p:transition>
    <p:random/>
    <p:sndAc>
      <p:stSnd>
        <p:snd r:embed="rId1" name="CAMERA.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idx="1"/>
          </p:nvPr>
        </p:nvSpPr>
        <p:spPr>
          <a:xfrm>
            <a:off x="152400" y="979488"/>
            <a:ext cx="8848725" cy="5473700"/>
          </a:xfrm>
        </p:spPr>
        <p:txBody>
          <a:bodyPr vert="horz" wrap="square" lIns="91440" tIns="45720" rIns="91440" bIns="45720" anchor="t" anchorCtr="0"/>
          <a:p>
            <a:pPr eaLnBrk="1" hangingPunct="1"/>
            <a:r>
              <a:rPr lang="zh-CN" altLang="en-US" dirty="0">
                <a:solidFill>
                  <a:srgbClr val="0000CC"/>
                </a:solidFill>
                <a:latin typeface="Arial" panose="020B0604020202020204" pitchFamily="34" charset="0"/>
              </a:rPr>
              <a:t>解决方法</a:t>
            </a:r>
            <a:r>
              <a:rPr lang="zh-CN" altLang="en-US" dirty="0">
                <a:latin typeface="Arial" panose="020B0604020202020204" pitchFamily="34" charset="0"/>
              </a:rPr>
              <a:t>：</a:t>
            </a:r>
            <a:endParaRPr lang="zh-CN" altLang="en-US" dirty="0">
              <a:latin typeface="Arial" panose="020B0604020202020204" pitchFamily="34" charset="0"/>
            </a:endParaRPr>
          </a:p>
          <a:p>
            <a:pPr eaLnBrk="1" hangingPunct="1">
              <a:buNone/>
            </a:pPr>
            <a:r>
              <a:rPr lang="zh-CN" altLang="en-US" dirty="0">
                <a:latin typeface="Arial" panose="020B0604020202020204" pitchFamily="34" charset="0"/>
              </a:rPr>
              <a:t>   将</a:t>
            </a:r>
            <a:r>
              <a:rPr lang="en-US" altLang="zh-CN" dirty="0">
                <a:latin typeface="Arial" panose="020B0604020202020204" pitchFamily="34" charset="0"/>
              </a:rPr>
              <a:t>R</a:t>
            </a:r>
            <a:r>
              <a:rPr lang="zh-CN" altLang="en-US" dirty="0">
                <a:latin typeface="Arial" panose="020B0604020202020204" pitchFamily="34" charset="0"/>
              </a:rPr>
              <a:t>分解为两个关系模式</a:t>
            </a:r>
            <a:r>
              <a:rPr lang="en-US" altLang="zh-CN" dirty="0">
                <a:latin typeface="Arial" panose="020B0604020202020204" pitchFamily="34" charset="0"/>
              </a:rPr>
              <a:t>:</a:t>
            </a:r>
            <a:endParaRPr lang="en-US" altLang="zh-CN" dirty="0">
              <a:latin typeface="Arial" panose="020B0604020202020204" pitchFamily="34" charset="0"/>
            </a:endParaRPr>
          </a:p>
          <a:p>
            <a:pPr eaLnBrk="1" hangingPunct="1">
              <a:spcBef>
                <a:spcPct val="5000"/>
              </a:spcBef>
              <a:buNone/>
            </a:pPr>
            <a:r>
              <a:rPr lang="en-US" altLang="zh-CN" dirty="0">
                <a:latin typeface="Arial" panose="020B0604020202020204" pitchFamily="34" charset="0"/>
              </a:rPr>
              <a:t>  S (Sno, Sname) ∈ BCNF</a:t>
            </a:r>
            <a:endParaRPr lang="en-US" altLang="zh-CN" dirty="0">
              <a:latin typeface="Arial" panose="020B0604020202020204" pitchFamily="34" charset="0"/>
            </a:endParaRPr>
          </a:p>
          <a:p>
            <a:pPr eaLnBrk="1" hangingPunct="1">
              <a:spcBef>
                <a:spcPct val="5000"/>
              </a:spcBef>
              <a:buNone/>
            </a:pPr>
            <a:r>
              <a:rPr lang="en-US" altLang="zh-CN" dirty="0">
                <a:latin typeface="Arial" panose="020B0604020202020204" pitchFamily="34" charset="0"/>
              </a:rPr>
              <a:t>  SC (Sno, Cno, Score ) ∈ BCNF</a:t>
            </a:r>
            <a:endParaRPr lang="en-US" altLang="zh-CN" dirty="0">
              <a:latin typeface="Arial" panose="020B0604020202020204" pitchFamily="34" charset="0"/>
            </a:endParaRPr>
          </a:p>
          <a:p>
            <a:pPr eaLnBrk="1" hangingPunct="1">
              <a:buNone/>
            </a:pPr>
            <a:endParaRPr lang="en-US" altLang="zh-CN" dirty="0">
              <a:latin typeface="Arial" panose="020B0604020202020204" pitchFamily="34" charset="0"/>
            </a:endParaRPr>
          </a:p>
          <a:p>
            <a:pPr eaLnBrk="1" hangingPunct="1">
              <a:buNone/>
            </a:pPr>
            <a:r>
              <a:rPr lang="en-US" altLang="zh-CN" dirty="0">
                <a:latin typeface="Arial" panose="020B0604020202020204" pitchFamily="34" charset="0"/>
              </a:rPr>
              <a:t>   </a:t>
            </a:r>
            <a:endParaRPr lang="en-US" altLang="zh-CN" dirty="0">
              <a:latin typeface="Arial" panose="020B0604020202020204" pitchFamily="34" charset="0"/>
            </a:endParaRPr>
          </a:p>
          <a:p>
            <a:pPr eaLnBrk="1" hangingPunct="1">
              <a:buNone/>
            </a:pPr>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3962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7.5.4  BCNF</a:t>
            </a:r>
            <a:endPar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77828" name="Group 4"/>
          <p:cNvGrpSpPr/>
          <p:nvPr/>
        </p:nvGrpSpPr>
        <p:grpSpPr>
          <a:xfrm>
            <a:off x="5218113" y="3500438"/>
            <a:ext cx="3241675" cy="2387600"/>
            <a:chOff x="3423" y="2569"/>
            <a:chExt cx="2042" cy="1504"/>
          </a:xfrm>
        </p:grpSpPr>
        <p:sp>
          <p:nvSpPr>
            <p:cNvPr id="77834" name="Text Box 5"/>
            <p:cNvSpPr txBox="1"/>
            <p:nvPr/>
          </p:nvSpPr>
          <p:spPr>
            <a:xfrm>
              <a:off x="4649" y="3566"/>
              <a:ext cx="598" cy="439"/>
            </a:xfrm>
            <a:prstGeom prst="rect">
              <a:avLst/>
            </a:prstGeom>
            <a:noFill/>
            <a:ln w="2857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FF0000"/>
                  </a:solidFill>
                  <a:latin typeface="Arial" panose="020B0604020202020204" pitchFamily="34" charset="0"/>
                  <a:ea typeface="宋体" panose="02010600030101010101" pitchFamily="2" charset="-122"/>
                </a:rPr>
                <a:t>SC</a:t>
              </a:r>
              <a:endParaRPr lang="en-US" altLang="zh-CN" sz="3200" dirty="0">
                <a:solidFill>
                  <a:srgbClr val="FF0000"/>
                </a:solidFill>
                <a:latin typeface="Arial" panose="020B0604020202020204" pitchFamily="34" charset="0"/>
                <a:ea typeface="宋体" panose="02010600030101010101" pitchFamily="2" charset="-122"/>
              </a:endParaRPr>
            </a:p>
          </p:txBody>
        </p:sp>
        <p:sp>
          <p:nvSpPr>
            <p:cNvPr id="77835" name="Rectangle 6"/>
            <p:cNvSpPr/>
            <p:nvPr/>
          </p:nvSpPr>
          <p:spPr>
            <a:xfrm>
              <a:off x="3423" y="2569"/>
              <a:ext cx="908" cy="1504"/>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endParaRPr lang="zh-CN" altLang="en-US" dirty="0">
                <a:latin typeface="Arial" panose="020B0604020202020204" pitchFamily="34" charset="0"/>
                <a:ea typeface="幼圆" panose="02010509060101010101" pitchFamily="49" charset="-122"/>
              </a:endParaRPr>
            </a:p>
          </p:txBody>
        </p:sp>
        <p:sp>
          <p:nvSpPr>
            <p:cNvPr id="77836" name="Text Box 7"/>
            <p:cNvSpPr txBox="1"/>
            <p:nvPr/>
          </p:nvSpPr>
          <p:spPr>
            <a:xfrm>
              <a:off x="3560" y="2820"/>
              <a:ext cx="634" cy="377"/>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Sno</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7837" name="Text Box 8"/>
            <p:cNvSpPr txBox="1"/>
            <p:nvPr/>
          </p:nvSpPr>
          <p:spPr>
            <a:xfrm>
              <a:off x="3578" y="3447"/>
              <a:ext cx="589" cy="376"/>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Tx/>
                <a:buSzTx/>
                <a:buFontTx/>
                <a:buNone/>
              </a:pPr>
              <a:r>
                <a:rPr lang="en-US" altLang="zh-CN" sz="2800" dirty="0">
                  <a:solidFill>
                    <a:srgbClr val="0000CC"/>
                  </a:solidFill>
                  <a:latin typeface="Arial" panose="020B0604020202020204" pitchFamily="34" charset="0"/>
                  <a:ea typeface="宋体" panose="02010600030101010101" pitchFamily="2" charset="-122"/>
                </a:rPr>
                <a:t>Cno</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7838" name="Text Box 9"/>
            <p:cNvSpPr txBox="1"/>
            <p:nvPr/>
          </p:nvSpPr>
          <p:spPr>
            <a:xfrm>
              <a:off x="4694" y="3008"/>
              <a:ext cx="771" cy="377"/>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Tx/>
                <a:buSzTx/>
                <a:buFontTx/>
                <a:buNone/>
              </a:pPr>
              <a:r>
                <a:rPr lang="en-US" altLang="zh-CN" sz="2800" dirty="0">
                  <a:solidFill>
                    <a:srgbClr val="0000CC"/>
                  </a:solidFill>
                  <a:latin typeface="Arial" panose="020B0604020202020204" pitchFamily="34" charset="0"/>
                  <a:ea typeface="幼圆" panose="02010509060101010101" pitchFamily="49" charset="-122"/>
                </a:rPr>
                <a:t>Score</a:t>
              </a:r>
              <a:endParaRPr lang="en-US" altLang="zh-CN" sz="2800" dirty="0">
                <a:solidFill>
                  <a:srgbClr val="0000CC"/>
                </a:solidFill>
                <a:latin typeface="Arial" panose="020B0604020202020204" pitchFamily="34" charset="0"/>
                <a:ea typeface="幼圆" panose="02010509060101010101" pitchFamily="49" charset="-122"/>
              </a:endParaRPr>
            </a:p>
          </p:txBody>
        </p:sp>
        <p:sp>
          <p:nvSpPr>
            <p:cNvPr id="77839" name="Line 10"/>
            <p:cNvSpPr/>
            <p:nvPr/>
          </p:nvSpPr>
          <p:spPr>
            <a:xfrm>
              <a:off x="4331" y="3197"/>
              <a:ext cx="363" cy="0"/>
            </a:xfrm>
            <a:prstGeom prst="line">
              <a:avLst/>
            </a:prstGeom>
            <a:ln w="38100" cap="flat" cmpd="sng">
              <a:solidFill>
                <a:srgbClr val="000000"/>
              </a:solidFill>
              <a:prstDash val="solid"/>
              <a:headEnd type="none" w="med" len="med"/>
              <a:tailEnd type="triangle" w="med" len="med"/>
            </a:ln>
          </p:spPr>
        </p:sp>
      </p:grpSp>
      <p:grpSp>
        <p:nvGrpSpPr>
          <p:cNvPr id="77829" name="Group 11"/>
          <p:cNvGrpSpPr/>
          <p:nvPr/>
        </p:nvGrpSpPr>
        <p:grpSpPr>
          <a:xfrm>
            <a:off x="1116013" y="3644900"/>
            <a:ext cx="3097212" cy="1474788"/>
            <a:chOff x="793" y="2849"/>
            <a:chExt cx="1951" cy="929"/>
          </a:xfrm>
        </p:grpSpPr>
        <p:sp>
          <p:nvSpPr>
            <p:cNvPr id="77830" name="Text Box 12"/>
            <p:cNvSpPr txBox="1"/>
            <p:nvPr/>
          </p:nvSpPr>
          <p:spPr>
            <a:xfrm>
              <a:off x="793" y="2849"/>
              <a:ext cx="708" cy="400"/>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Sno</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7831" name="Text Box 13"/>
            <p:cNvSpPr txBox="1"/>
            <p:nvPr/>
          </p:nvSpPr>
          <p:spPr>
            <a:xfrm>
              <a:off x="1837" y="2849"/>
              <a:ext cx="907" cy="400"/>
            </a:xfrm>
            <a:prstGeom prst="rect">
              <a:avLst/>
            </a:prstGeom>
            <a:noFill/>
            <a:ln w="38100"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2800" dirty="0">
                  <a:solidFill>
                    <a:srgbClr val="0000CC"/>
                  </a:solidFill>
                  <a:latin typeface="Arial" panose="020B0604020202020204" pitchFamily="34" charset="0"/>
                  <a:ea typeface="宋体" panose="02010600030101010101" pitchFamily="2" charset="-122"/>
                </a:rPr>
                <a:t>Sname</a:t>
              </a:r>
              <a:endParaRPr lang="en-US" altLang="zh-CN" sz="2800" dirty="0">
                <a:solidFill>
                  <a:srgbClr val="0000CC"/>
                </a:solidFill>
                <a:latin typeface="Arial" panose="020B0604020202020204" pitchFamily="34" charset="0"/>
                <a:ea typeface="宋体" panose="02010600030101010101" pitchFamily="2" charset="-122"/>
              </a:endParaRPr>
            </a:p>
          </p:txBody>
        </p:sp>
        <p:sp>
          <p:nvSpPr>
            <p:cNvPr id="77832" name="Text Box 14"/>
            <p:cNvSpPr txBox="1"/>
            <p:nvPr/>
          </p:nvSpPr>
          <p:spPr>
            <a:xfrm>
              <a:off x="1383" y="3339"/>
              <a:ext cx="597" cy="439"/>
            </a:xfrm>
            <a:prstGeom prst="rect">
              <a:avLst/>
            </a:prstGeom>
            <a:noFill/>
            <a:ln w="28575">
              <a:noFill/>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a:buClrTx/>
                <a:buSzTx/>
                <a:buFontTx/>
                <a:buNone/>
              </a:pPr>
              <a:r>
                <a:rPr lang="en-US" altLang="zh-CN" sz="3200" dirty="0">
                  <a:solidFill>
                    <a:srgbClr val="FF0000"/>
                  </a:solidFill>
                  <a:latin typeface="Arial" panose="020B0604020202020204" pitchFamily="34" charset="0"/>
                  <a:ea typeface="宋体" panose="02010600030101010101" pitchFamily="2" charset="-122"/>
                </a:rPr>
                <a:t>S</a:t>
              </a:r>
              <a:endParaRPr lang="en-US" altLang="zh-CN" sz="3200" dirty="0">
                <a:solidFill>
                  <a:srgbClr val="FF0000"/>
                </a:solidFill>
                <a:latin typeface="Arial" panose="020B0604020202020204" pitchFamily="34" charset="0"/>
                <a:ea typeface="宋体" panose="02010600030101010101" pitchFamily="2" charset="-122"/>
              </a:endParaRPr>
            </a:p>
          </p:txBody>
        </p:sp>
        <p:sp>
          <p:nvSpPr>
            <p:cNvPr id="77833" name="Line 15"/>
            <p:cNvSpPr/>
            <p:nvPr/>
          </p:nvSpPr>
          <p:spPr>
            <a:xfrm>
              <a:off x="1502" y="3067"/>
              <a:ext cx="317" cy="0"/>
            </a:xfrm>
            <a:prstGeom prst="line">
              <a:avLst/>
            </a:prstGeom>
            <a:ln w="38100" cap="flat" cmpd="sng">
              <a:solidFill>
                <a:srgbClr val="000000"/>
              </a:solidFill>
              <a:prstDash val="solid"/>
              <a:headEnd type="triangle" w="med" len="med"/>
              <a:tailEnd type="triangle" w="med" len="med"/>
            </a:ln>
          </p:spPr>
        </p:sp>
      </p:grpSp>
    </p:spTree>
  </p:cSld>
  <p:clrMapOvr>
    <a:masterClrMapping/>
  </p:clrMapOvr>
  <p:transition>
    <p:random/>
    <p:sndAc>
      <p:stSnd>
        <p:snd r:embed="rId1" name="CAMERA.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idx="1"/>
          </p:nvPr>
        </p:nvSpPr>
        <p:spPr>
          <a:xfrm>
            <a:off x="179388" y="1052513"/>
            <a:ext cx="8740775" cy="5273675"/>
          </a:xfrm>
        </p:spPr>
        <p:txBody>
          <a:bodyPr vert="horz" wrap="square" lIns="91440" tIns="45720" rIns="91440" bIns="45720" anchor="t" anchorCtr="0"/>
          <a:p>
            <a:pPr marL="449580" indent="-449580" eaLnBrk="1" hangingPunct="1"/>
            <a:r>
              <a:rPr lang="zh-CN" altLang="en-US" dirty="0">
                <a:latin typeface="Arial" panose="020B0604020202020204" pitchFamily="34" charset="0"/>
              </a:rPr>
              <a:t>定义</a:t>
            </a:r>
            <a:endParaRPr lang="zh-CN" altLang="en-US" dirty="0">
              <a:latin typeface="Arial" panose="020B0604020202020204" pitchFamily="34" charset="0"/>
              <a:ea typeface="Arial Unicode MS" pitchFamily="34" charset="-122"/>
            </a:endParaRPr>
          </a:p>
          <a:p>
            <a:pPr marL="449580" indent="-449580" eaLnBrk="1" hangingPunct="1">
              <a:buNone/>
            </a:pPr>
            <a:r>
              <a:rPr lang="zh-CN" altLang="en-US" dirty="0">
                <a:latin typeface="Arial" panose="020B0604020202020204" pitchFamily="34" charset="0"/>
              </a:rPr>
              <a:t>        一个低一级范式的关系模式，通过模式分解可以转换为若干个高一级范式的关系模式集合，这种过程就叫</a:t>
            </a:r>
            <a:r>
              <a:rPr lang="zh-CN" altLang="en-US" dirty="0">
                <a:solidFill>
                  <a:srgbClr val="0000CC"/>
                </a:solidFill>
                <a:latin typeface="Arial" panose="020B0604020202020204" pitchFamily="34" charset="0"/>
              </a:rPr>
              <a:t>关系模式的规范化</a:t>
            </a:r>
            <a:r>
              <a:rPr lang="zh-CN" altLang="en-US" dirty="0">
                <a:latin typeface="Arial" panose="020B0604020202020204" pitchFamily="34" charset="0"/>
              </a:rPr>
              <a:t>。</a:t>
            </a:r>
            <a:endParaRPr lang="zh-CN" altLang="en-US" dirty="0">
              <a:latin typeface="Arial" panose="020B0604020202020204" pitchFamily="34" charset="0"/>
            </a:endParaRPr>
          </a:p>
          <a:p>
            <a:pPr marL="449580" indent="-449580" eaLnBrk="1" hangingPunct="1">
              <a:buNone/>
            </a:pPr>
            <a:endParaRPr lang="zh-CN" altLang="en-US" dirty="0">
              <a:latin typeface="Arial" panose="020B0604020202020204" pitchFamily="34" charset="0"/>
            </a:endParaRPr>
          </a:p>
          <a:p>
            <a:pPr marL="449580" indent="-449580" eaLnBrk="1" hangingPunct="1"/>
            <a:r>
              <a:rPr lang="zh-CN" altLang="en-US" dirty="0">
                <a:latin typeface="Arial" panose="020B0604020202020204" pitchFamily="34" charset="0"/>
              </a:rPr>
              <a:t>关系数据库的规范化理论为数据库设计提供了理论的指南和工具。</a:t>
            </a:r>
            <a:endParaRPr lang="zh-CN" altLang="en-US" dirty="0">
              <a:latin typeface="Arial" panose="020B0604020202020204" pitchFamily="34" charset="0"/>
            </a:endParaRPr>
          </a:p>
          <a:p>
            <a:pPr marL="449580" indent="-449580" eaLnBrk="1" hangingPunct="1">
              <a:buNone/>
            </a:pPr>
            <a:r>
              <a:rPr lang="zh-CN" altLang="en-US" dirty="0">
                <a:latin typeface="Arial" panose="020B0604020202020204" pitchFamily="34" charset="0"/>
              </a:rPr>
              <a:t>             </a:t>
            </a:r>
            <a:endParaRPr lang="zh-CN" altLang="en-US" dirty="0">
              <a:solidFill>
                <a:srgbClr val="0000CC"/>
              </a:solidFill>
              <a:latin typeface="Arial" panose="020B0604020202020204" pitchFamily="34" charset="0"/>
            </a:endParaRPr>
          </a:p>
        </p:txBody>
      </p:sp>
      <p:sp>
        <p:nvSpPr>
          <p:cNvPr id="3983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7.5.5 </a:t>
            </a:r>
            <a:r>
              <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rPr>
              <a:t>规范化过程</a:t>
            </a:r>
            <a:endParaRPr kumimoji="0" lang="zh-CN" altLang="en-US" sz="4000" b="1" i="0" u="none" strike="noStrike" kern="0" cap="none" spc="0" normalizeH="0" baseline="0" noProof="0" dirty="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038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rPr>
              <a:t>关系模式规范化的基本步骤</a:t>
            </a:r>
            <a:endParaRPr kumimoji="0" lang="zh-CN" altLang="en-US" sz="4000" b="1" i="0" u="none" strike="noStrike" kern="0" cap="none" spc="0" normalizeH="0" baseline="0" noProof="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81923" name="Text Box 3"/>
          <p:cNvSpPr txBox="1"/>
          <p:nvPr/>
        </p:nvSpPr>
        <p:spPr>
          <a:xfrm>
            <a:off x="2198688" y="833438"/>
            <a:ext cx="1150937" cy="579437"/>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3200" dirty="0">
                <a:latin typeface="Arial" panose="020B0604020202020204" pitchFamily="34" charset="0"/>
                <a:ea typeface="宋体" panose="02010600030101010101" pitchFamily="2" charset="-122"/>
              </a:rPr>
              <a:t>1NF</a:t>
            </a:r>
            <a:endParaRPr lang="en-US" altLang="zh-CN" sz="3200" dirty="0">
              <a:latin typeface="Arial" panose="020B0604020202020204" pitchFamily="34" charset="0"/>
              <a:ea typeface="宋体" panose="02010600030101010101" pitchFamily="2" charset="-122"/>
            </a:endParaRPr>
          </a:p>
        </p:txBody>
      </p:sp>
      <p:sp>
        <p:nvSpPr>
          <p:cNvPr id="81924" name="Text Box 4"/>
          <p:cNvSpPr txBox="1"/>
          <p:nvPr/>
        </p:nvSpPr>
        <p:spPr>
          <a:xfrm>
            <a:off x="2198688" y="2003425"/>
            <a:ext cx="1150937" cy="579438"/>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3200" dirty="0">
                <a:latin typeface="Arial" panose="020B0604020202020204" pitchFamily="34" charset="0"/>
                <a:ea typeface="宋体" panose="02010600030101010101" pitchFamily="2" charset="-122"/>
              </a:rPr>
              <a:t>2NF</a:t>
            </a:r>
            <a:endParaRPr lang="en-US" altLang="zh-CN" sz="3200" dirty="0">
              <a:latin typeface="Arial" panose="020B0604020202020204" pitchFamily="34" charset="0"/>
              <a:ea typeface="宋体" panose="02010600030101010101" pitchFamily="2" charset="-122"/>
            </a:endParaRPr>
          </a:p>
        </p:txBody>
      </p:sp>
      <p:sp>
        <p:nvSpPr>
          <p:cNvPr id="81925" name="Text Box 5"/>
          <p:cNvSpPr txBox="1"/>
          <p:nvPr/>
        </p:nvSpPr>
        <p:spPr>
          <a:xfrm>
            <a:off x="2198688" y="3173413"/>
            <a:ext cx="1150937" cy="579437"/>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3200" dirty="0">
                <a:latin typeface="Arial" panose="020B0604020202020204" pitchFamily="34" charset="0"/>
                <a:ea typeface="宋体" panose="02010600030101010101" pitchFamily="2" charset="-122"/>
              </a:rPr>
              <a:t>3NF</a:t>
            </a:r>
            <a:endParaRPr lang="en-US" altLang="zh-CN" sz="3200" dirty="0">
              <a:latin typeface="Arial" panose="020B0604020202020204" pitchFamily="34" charset="0"/>
              <a:ea typeface="宋体" panose="02010600030101010101" pitchFamily="2" charset="-122"/>
            </a:endParaRPr>
          </a:p>
        </p:txBody>
      </p:sp>
      <p:sp>
        <p:nvSpPr>
          <p:cNvPr id="81926" name="Text Box 6"/>
          <p:cNvSpPr txBox="1"/>
          <p:nvPr/>
        </p:nvSpPr>
        <p:spPr>
          <a:xfrm>
            <a:off x="2051050" y="4343400"/>
            <a:ext cx="1444625" cy="579438"/>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3200" dirty="0">
                <a:latin typeface="Arial" panose="020B0604020202020204" pitchFamily="34" charset="0"/>
                <a:ea typeface="宋体" panose="02010600030101010101" pitchFamily="2" charset="-122"/>
              </a:rPr>
              <a:t>BCNF</a:t>
            </a:r>
            <a:endParaRPr lang="en-US" altLang="zh-CN" sz="3200" dirty="0">
              <a:latin typeface="Arial" panose="020B0604020202020204" pitchFamily="34" charset="0"/>
              <a:ea typeface="宋体" panose="02010600030101010101" pitchFamily="2" charset="-122"/>
            </a:endParaRPr>
          </a:p>
        </p:txBody>
      </p:sp>
      <p:sp>
        <p:nvSpPr>
          <p:cNvPr id="81927" name="Text Box 7"/>
          <p:cNvSpPr txBox="1"/>
          <p:nvPr/>
        </p:nvSpPr>
        <p:spPr>
          <a:xfrm>
            <a:off x="2198688" y="5513388"/>
            <a:ext cx="1150937" cy="579437"/>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lgn="ctr" eaLnBrk="1" hangingPunct="1">
              <a:spcBef>
                <a:spcPct val="50000"/>
              </a:spcBef>
              <a:buClrTx/>
              <a:buSzTx/>
              <a:buFontTx/>
              <a:buNone/>
            </a:pPr>
            <a:r>
              <a:rPr lang="en-US" altLang="zh-CN" sz="3200" dirty="0">
                <a:latin typeface="Arial" panose="020B0604020202020204" pitchFamily="34" charset="0"/>
                <a:ea typeface="宋体" panose="02010600030101010101" pitchFamily="2" charset="-122"/>
              </a:rPr>
              <a:t>4NF</a:t>
            </a:r>
            <a:endParaRPr lang="en-US" altLang="zh-CN" sz="3200" dirty="0">
              <a:latin typeface="Arial" panose="020B0604020202020204" pitchFamily="34" charset="0"/>
              <a:ea typeface="宋体" panose="02010600030101010101" pitchFamily="2" charset="-122"/>
            </a:endParaRPr>
          </a:p>
        </p:txBody>
      </p:sp>
      <p:sp>
        <p:nvSpPr>
          <p:cNvPr id="81928" name="Line 8"/>
          <p:cNvSpPr/>
          <p:nvPr/>
        </p:nvSpPr>
        <p:spPr>
          <a:xfrm>
            <a:off x="2773363" y="1341438"/>
            <a:ext cx="0" cy="719137"/>
          </a:xfrm>
          <a:prstGeom prst="line">
            <a:avLst/>
          </a:prstGeom>
          <a:ln w="57150" cap="flat" cmpd="sng">
            <a:solidFill>
              <a:srgbClr val="000000"/>
            </a:solidFill>
            <a:prstDash val="solid"/>
            <a:headEnd type="none" w="med" len="med"/>
            <a:tailEnd type="arrow" w="med" len="med"/>
          </a:ln>
        </p:spPr>
      </p:sp>
      <p:sp>
        <p:nvSpPr>
          <p:cNvPr id="81929" name="Line 9"/>
          <p:cNvSpPr/>
          <p:nvPr/>
        </p:nvSpPr>
        <p:spPr>
          <a:xfrm>
            <a:off x="2773363" y="2511425"/>
            <a:ext cx="0" cy="719138"/>
          </a:xfrm>
          <a:prstGeom prst="line">
            <a:avLst/>
          </a:prstGeom>
          <a:ln w="57150" cap="flat" cmpd="sng">
            <a:solidFill>
              <a:srgbClr val="000000"/>
            </a:solidFill>
            <a:prstDash val="solid"/>
            <a:headEnd type="none" w="med" len="med"/>
            <a:tailEnd type="arrow" w="med" len="med"/>
          </a:ln>
        </p:spPr>
      </p:sp>
      <p:sp>
        <p:nvSpPr>
          <p:cNvPr id="81930" name="Line 10"/>
          <p:cNvSpPr/>
          <p:nvPr/>
        </p:nvSpPr>
        <p:spPr>
          <a:xfrm>
            <a:off x="2773363" y="3681413"/>
            <a:ext cx="0" cy="719137"/>
          </a:xfrm>
          <a:prstGeom prst="line">
            <a:avLst/>
          </a:prstGeom>
          <a:ln w="57150" cap="flat" cmpd="sng">
            <a:solidFill>
              <a:srgbClr val="000000"/>
            </a:solidFill>
            <a:prstDash val="solid"/>
            <a:headEnd type="none" w="med" len="med"/>
            <a:tailEnd type="arrow" w="med" len="med"/>
          </a:ln>
        </p:spPr>
      </p:sp>
      <p:sp>
        <p:nvSpPr>
          <p:cNvPr id="81931" name="Line 11"/>
          <p:cNvSpPr/>
          <p:nvPr/>
        </p:nvSpPr>
        <p:spPr>
          <a:xfrm>
            <a:off x="2773363" y="4851400"/>
            <a:ext cx="0" cy="719138"/>
          </a:xfrm>
          <a:prstGeom prst="line">
            <a:avLst/>
          </a:prstGeom>
          <a:ln w="57150" cap="flat" cmpd="sng">
            <a:solidFill>
              <a:srgbClr val="000000"/>
            </a:solidFill>
            <a:prstDash val="solid"/>
            <a:headEnd type="none" w="med" len="med"/>
            <a:tailEnd type="arrow" w="med" len="med"/>
          </a:ln>
        </p:spPr>
      </p:sp>
      <p:sp>
        <p:nvSpPr>
          <p:cNvPr id="81932" name="Line 12"/>
          <p:cNvSpPr/>
          <p:nvPr/>
        </p:nvSpPr>
        <p:spPr>
          <a:xfrm>
            <a:off x="2773363" y="6022975"/>
            <a:ext cx="0" cy="719138"/>
          </a:xfrm>
          <a:prstGeom prst="line">
            <a:avLst/>
          </a:prstGeom>
          <a:ln w="57150" cap="flat" cmpd="sng">
            <a:solidFill>
              <a:srgbClr val="000000"/>
            </a:solidFill>
            <a:prstDash val="solid"/>
            <a:headEnd type="none" w="med" len="med"/>
            <a:tailEnd type="arrow" w="med" len="med"/>
          </a:ln>
        </p:spPr>
      </p:sp>
      <p:sp>
        <p:nvSpPr>
          <p:cNvPr id="81933" name="Text Box 13"/>
          <p:cNvSpPr txBox="1"/>
          <p:nvPr/>
        </p:nvSpPr>
        <p:spPr>
          <a:xfrm>
            <a:off x="2843213" y="1282700"/>
            <a:ext cx="6084887" cy="519113"/>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r>
              <a:rPr lang="zh-CN" altLang="en-US" sz="2800" dirty="0">
                <a:latin typeface="Arial" panose="020B0604020202020204" pitchFamily="34" charset="0"/>
              </a:rPr>
              <a:t>消除</a:t>
            </a:r>
            <a:r>
              <a:rPr lang="zh-CN" altLang="en-US" sz="2800" dirty="0">
                <a:solidFill>
                  <a:srgbClr val="FF0000"/>
                </a:solidFill>
                <a:latin typeface="Arial" panose="020B0604020202020204" pitchFamily="34" charset="0"/>
              </a:rPr>
              <a:t>非主属性</a:t>
            </a:r>
            <a:r>
              <a:rPr lang="zh-CN" altLang="en-US" sz="2800" dirty="0">
                <a:latin typeface="Arial" panose="020B0604020202020204" pitchFamily="34" charset="0"/>
              </a:rPr>
              <a:t>对码的</a:t>
            </a:r>
            <a:r>
              <a:rPr lang="zh-CN" altLang="en-US" sz="2800" dirty="0">
                <a:solidFill>
                  <a:srgbClr val="0000CC"/>
                </a:solidFill>
                <a:latin typeface="Arial" panose="020B0604020202020204" pitchFamily="34" charset="0"/>
              </a:rPr>
              <a:t>部分</a:t>
            </a:r>
            <a:r>
              <a:rPr lang="zh-CN" altLang="en-US" sz="2800" dirty="0">
                <a:latin typeface="Arial" panose="020B0604020202020204" pitchFamily="34" charset="0"/>
              </a:rPr>
              <a:t>函数依赖</a:t>
            </a:r>
            <a:endParaRPr lang="zh-CN" altLang="en-US" sz="2800" dirty="0">
              <a:latin typeface="Arial" panose="020B0604020202020204" pitchFamily="34" charset="0"/>
            </a:endParaRPr>
          </a:p>
        </p:txBody>
      </p:sp>
      <p:sp>
        <p:nvSpPr>
          <p:cNvPr id="81934" name="Text Box 14"/>
          <p:cNvSpPr txBox="1"/>
          <p:nvPr/>
        </p:nvSpPr>
        <p:spPr>
          <a:xfrm>
            <a:off x="2843213" y="2506663"/>
            <a:ext cx="6084887" cy="519112"/>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r>
              <a:rPr lang="zh-CN" altLang="en-US" sz="2800" dirty="0">
                <a:latin typeface="Arial" panose="020B0604020202020204" pitchFamily="34" charset="0"/>
              </a:rPr>
              <a:t>消除</a:t>
            </a:r>
            <a:r>
              <a:rPr lang="zh-CN" altLang="en-US" sz="2800" dirty="0">
                <a:solidFill>
                  <a:srgbClr val="FF0000"/>
                </a:solidFill>
                <a:latin typeface="Arial" panose="020B0604020202020204" pitchFamily="34" charset="0"/>
              </a:rPr>
              <a:t>非主属性</a:t>
            </a:r>
            <a:r>
              <a:rPr lang="zh-CN" altLang="en-US" sz="2800" dirty="0">
                <a:latin typeface="Arial" panose="020B0604020202020204" pitchFamily="34" charset="0"/>
              </a:rPr>
              <a:t>对码的</a:t>
            </a:r>
            <a:r>
              <a:rPr lang="zh-CN" altLang="en-US" sz="2800" dirty="0">
                <a:solidFill>
                  <a:srgbClr val="0000CC"/>
                </a:solidFill>
                <a:latin typeface="Arial" panose="020B0604020202020204" pitchFamily="34" charset="0"/>
              </a:rPr>
              <a:t>传递</a:t>
            </a:r>
            <a:r>
              <a:rPr lang="zh-CN" altLang="en-US" sz="2800" dirty="0">
                <a:latin typeface="Arial" panose="020B0604020202020204" pitchFamily="34" charset="0"/>
              </a:rPr>
              <a:t>函数依赖</a:t>
            </a:r>
            <a:endParaRPr lang="zh-CN" altLang="en-US" sz="2800" dirty="0">
              <a:latin typeface="Arial" panose="020B0604020202020204" pitchFamily="34" charset="0"/>
            </a:endParaRPr>
          </a:p>
        </p:txBody>
      </p:sp>
      <p:sp>
        <p:nvSpPr>
          <p:cNvPr id="81935" name="Text Box 15"/>
          <p:cNvSpPr txBox="1"/>
          <p:nvPr/>
        </p:nvSpPr>
        <p:spPr>
          <a:xfrm>
            <a:off x="2951163" y="4810125"/>
            <a:ext cx="5797550" cy="519113"/>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r>
              <a:rPr lang="zh-CN" altLang="en-US" sz="2800" dirty="0">
                <a:latin typeface="Arial" panose="020B0604020202020204" pitchFamily="34" charset="0"/>
              </a:rPr>
              <a:t>消除非平凡的多值函数依赖</a:t>
            </a:r>
            <a:endParaRPr lang="zh-CN" altLang="en-US" sz="2800" dirty="0">
              <a:latin typeface="Arial" panose="020B0604020202020204" pitchFamily="34" charset="0"/>
            </a:endParaRPr>
          </a:p>
        </p:txBody>
      </p:sp>
      <p:sp>
        <p:nvSpPr>
          <p:cNvPr id="81936" name="Line 16"/>
          <p:cNvSpPr/>
          <p:nvPr/>
        </p:nvSpPr>
        <p:spPr>
          <a:xfrm>
            <a:off x="1042988" y="1484313"/>
            <a:ext cx="0" cy="4465637"/>
          </a:xfrm>
          <a:prstGeom prst="line">
            <a:avLst/>
          </a:prstGeom>
          <a:ln w="57150" cap="flat" cmpd="sng">
            <a:solidFill>
              <a:srgbClr val="000000"/>
            </a:solidFill>
            <a:prstDash val="solid"/>
            <a:headEnd type="none" w="med" len="med"/>
            <a:tailEnd type="arrow" w="med" len="med"/>
          </a:ln>
        </p:spPr>
      </p:sp>
      <p:sp>
        <p:nvSpPr>
          <p:cNvPr id="81937" name="Text Box 17"/>
          <p:cNvSpPr txBox="1"/>
          <p:nvPr/>
        </p:nvSpPr>
        <p:spPr>
          <a:xfrm>
            <a:off x="193675" y="2560638"/>
            <a:ext cx="1728788" cy="1800225"/>
          </a:xfrm>
          <a:prstGeom prst="rect">
            <a:avLst/>
          </a:prstGeom>
          <a:solidFill>
            <a:srgbClr val="FFFFFF"/>
          </a:solid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r>
              <a:rPr lang="en-US" altLang="zh-CN" sz="2800" dirty="0">
                <a:latin typeface="Arial" panose="020B0604020202020204" pitchFamily="34" charset="0"/>
              </a:rPr>
              <a:t>    </a:t>
            </a:r>
            <a:r>
              <a:rPr lang="zh-CN" altLang="en-US" sz="2800" dirty="0">
                <a:latin typeface="Arial" panose="020B0604020202020204" pitchFamily="34" charset="0"/>
              </a:rPr>
              <a:t>逐步消除模式中不合适的函数依赖</a:t>
            </a:r>
            <a:endParaRPr lang="zh-CN" altLang="en-US" sz="2800" dirty="0">
              <a:latin typeface="Arial" panose="020B0604020202020204" pitchFamily="34" charset="0"/>
            </a:endParaRPr>
          </a:p>
        </p:txBody>
      </p:sp>
      <p:sp>
        <p:nvSpPr>
          <p:cNvPr id="81938" name="Text Box 18"/>
          <p:cNvSpPr txBox="1"/>
          <p:nvPr/>
        </p:nvSpPr>
        <p:spPr>
          <a:xfrm>
            <a:off x="2843213" y="3657600"/>
            <a:ext cx="6300787" cy="519113"/>
          </a:xfrm>
          <a:prstGeom prst="rect">
            <a:avLst/>
          </a:prstGeom>
          <a:noFill/>
          <a:ln w="38100">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r>
              <a:rPr lang="zh-CN" altLang="en-US" sz="2800" dirty="0">
                <a:latin typeface="Arial" panose="020B0604020202020204" pitchFamily="34" charset="0"/>
              </a:rPr>
              <a:t>消除</a:t>
            </a:r>
            <a:r>
              <a:rPr lang="zh-CN" altLang="en-US" sz="2800" dirty="0">
                <a:solidFill>
                  <a:srgbClr val="FF0000"/>
                </a:solidFill>
                <a:latin typeface="Arial" panose="020B0604020202020204" pitchFamily="34" charset="0"/>
              </a:rPr>
              <a:t>主属性</a:t>
            </a:r>
            <a:r>
              <a:rPr lang="zh-CN" altLang="en-US" sz="2800" dirty="0">
                <a:latin typeface="Arial" panose="020B0604020202020204" pitchFamily="34" charset="0"/>
              </a:rPr>
              <a:t>对码的</a:t>
            </a:r>
            <a:r>
              <a:rPr lang="zh-CN" altLang="en-US" sz="2800" dirty="0">
                <a:solidFill>
                  <a:srgbClr val="0000CC"/>
                </a:solidFill>
                <a:latin typeface="Arial" panose="020B0604020202020204" pitchFamily="34" charset="0"/>
              </a:rPr>
              <a:t>部分</a:t>
            </a:r>
            <a:r>
              <a:rPr lang="zh-CN" altLang="en-US" sz="2800" dirty="0">
                <a:latin typeface="Arial" panose="020B0604020202020204" pitchFamily="34" charset="0"/>
              </a:rPr>
              <a:t>和</a:t>
            </a:r>
            <a:r>
              <a:rPr lang="zh-CN" altLang="en-US" sz="2800" dirty="0">
                <a:solidFill>
                  <a:srgbClr val="0000CC"/>
                </a:solidFill>
                <a:latin typeface="Arial" panose="020B0604020202020204" pitchFamily="34" charset="0"/>
              </a:rPr>
              <a:t>传递</a:t>
            </a:r>
            <a:r>
              <a:rPr lang="zh-CN" altLang="en-US" sz="2800" dirty="0">
                <a:latin typeface="Arial" panose="020B0604020202020204" pitchFamily="34" charset="0"/>
              </a:rPr>
              <a:t>函数依赖</a:t>
            </a:r>
            <a:endParaRPr lang="zh-CN" altLang="en-US" sz="2800" dirty="0">
              <a:latin typeface="Arial" panose="020B0604020202020204" pitchFamily="34" charset="0"/>
            </a:endParaRPr>
          </a:p>
        </p:txBody>
      </p:sp>
    </p:spTree>
  </p:cSld>
  <p:clrMapOvr>
    <a:masterClrMapping/>
  </p:clrMapOvr>
  <p:transition>
    <p:random/>
    <p:sndAc>
      <p:stSnd>
        <p:snd r:embed="rId1" name="CAMERA.WAV"/>
      </p:stSnd>
    </p:sndAc>
  </p:transition>
</p:sld>
</file>

<file path=ppt/tags/tag1.xml><?xml version="1.0" encoding="utf-8"?>
<p:tagLst xmlns:p="http://schemas.openxmlformats.org/presentationml/2006/main">
  <p:tag name="COMMONDATA" val="eyJoZGlkIjoiNjAxYWNjNWM4YjUwYzdkM2Y4ZDNlNzBkZmE0NjZkZTkifQ=="/>
</p:tagLst>
</file>

<file path=ppt/theme/theme1.xml><?xml version="1.0" encoding="utf-8"?>
<a:theme xmlns:a="http://schemas.openxmlformats.org/drawingml/2006/main" name="HXH">
  <a:themeElements>
    <a:clrScheme name="">
      <a:dk1>
        <a:srgbClr val="00354E"/>
      </a:dk1>
      <a:lt1>
        <a:srgbClr val="EAEAEA"/>
      </a:lt1>
      <a:dk2>
        <a:srgbClr val="0099CC"/>
      </a:dk2>
      <a:lt2>
        <a:srgbClr val="CCECFF"/>
      </a:lt2>
      <a:accent1>
        <a:srgbClr val="0099CC"/>
      </a:accent1>
      <a:accent2>
        <a:srgbClr val="6699FF"/>
      </a:accent2>
      <a:accent3>
        <a:srgbClr val="AACAE2"/>
      </a:accent3>
      <a:accent4>
        <a:srgbClr val="C8C8C8"/>
      </a:accent4>
      <a:accent5>
        <a:srgbClr val="AACAE2"/>
      </a:accent5>
      <a:accent6>
        <a:srgbClr val="5C8AE7"/>
      </a:accent6>
      <a:hlink>
        <a:srgbClr val="CCCCFF"/>
      </a:hlink>
      <a:folHlink>
        <a:srgbClr val="5E6FD4"/>
      </a:folHlink>
    </a:clrScheme>
    <a:fontScheme name="HXH">
      <a:majorFont>
        <a:latin typeface="Arial"/>
        <a:ea typeface="幼圆"/>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triangl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triangl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幼圆" panose="02010509060101010101" pitchFamily="49" charset="-122"/>
          </a:defRPr>
        </a:defPPr>
      </a:lstStyle>
    </a:lnDef>
  </a:objectDefaults>
  <a:extraClrSchemeLst>
    <a:extraClrScheme>
      <a:clrScheme name="HXH 1">
        <a:dk1>
          <a:srgbClr val="00354E"/>
        </a:dk1>
        <a:lt1>
          <a:srgbClr val="EAEAEA"/>
        </a:lt1>
        <a:dk2>
          <a:srgbClr val="006699"/>
        </a:dk2>
        <a:lt2>
          <a:srgbClr val="CCECFF"/>
        </a:lt2>
        <a:accent1>
          <a:srgbClr val="006699"/>
        </a:accent1>
        <a:accent2>
          <a:srgbClr val="6699FF"/>
        </a:accent2>
        <a:accent3>
          <a:srgbClr val="AAB8CA"/>
        </a:accent3>
        <a:accent4>
          <a:srgbClr val="C8C8C8"/>
        </a:accent4>
        <a:accent5>
          <a:srgbClr val="AAB8CA"/>
        </a:accent5>
        <a:accent6>
          <a:srgbClr val="5C8AE7"/>
        </a:accent6>
        <a:hlink>
          <a:srgbClr val="CCCCFF"/>
        </a:hlink>
        <a:folHlink>
          <a:srgbClr val="5E6FD4"/>
        </a:folHlink>
      </a:clrScheme>
      <a:clrMap bg1="dk2" tx1="lt1" bg2="dk1" tx2="lt2" accent1="accent1" accent2="accent2" accent3="accent3" accent4="accent4" accent5="accent5" accent6="accent6" hlink="hlink" folHlink="folHlink"/>
    </a:extraClrScheme>
    <a:extraClrScheme>
      <a:clrScheme name="HXH 2">
        <a:dk1>
          <a:srgbClr val="000080"/>
        </a:dk1>
        <a:lt1>
          <a:srgbClr val="FFFFFF"/>
        </a:lt1>
        <a:dk2>
          <a:srgbClr val="3366CC"/>
        </a:dk2>
        <a:lt2>
          <a:srgbClr val="7A7C93"/>
        </a:lt2>
        <a:accent1>
          <a:srgbClr val="006699"/>
        </a:accent1>
        <a:accent2>
          <a:srgbClr val="6699FF"/>
        </a:accent2>
        <a:accent3>
          <a:srgbClr val="FFFFFF"/>
        </a:accent3>
        <a:accent4>
          <a:srgbClr val="00006C"/>
        </a:accent4>
        <a:accent5>
          <a:srgbClr val="AAB8CA"/>
        </a:accent5>
        <a:accent6>
          <a:srgbClr val="5C8AE7"/>
        </a:accent6>
        <a:hlink>
          <a:srgbClr val="CCCCFF"/>
        </a:hlink>
        <a:folHlink>
          <a:srgbClr val="5E6FD4"/>
        </a:folHlink>
      </a:clrScheme>
      <a:clrMap bg1="lt1" tx1="dk1" bg2="lt2" tx2="dk2" accent1="accent1" accent2="accent2" accent3="accent3" accent4="accent4" accent5="accent5" accent6="accent6" hlink="hlink" folHlink="folHlink"/>
    </a:extraClrScheme>
    <a:extraClrScheme>
      <a:clrScheme name="HXH 3">
        <a:dk1>
          <a:srgbClr val="000000"/>
        </a:dk1>
        <a:lt1>
          <a:srgbClr val="FFFFFF"/>
        </a:lt1>
        <a:dk2>
          <a:srgbClr val="000000"/>
        </a:dk2>
        <a:lt2>
          <a:srgbClr val="868686"/>
        </a:lt2>
        <a:accent1>
          <a:srgbClr val="969696"/>
        </a:accent1>
        <a:accent2>
          <a:srgbClr val="CBCBCB"/>
        </a:accent2>
        <a:accent3>
          <a:srgbClr val="FFFFFF"/>
        </a:accent3>
        <a:accent4>
          <a:srgbClr val="000000"/>
        </a:accent4>
        <a:accent5>
          <a:srgbClr val="C9C9C9"/>
        </a:accent5>
        <a:accent6>
          <a:srgbClr val="B8B8B8"/>
        </a:accent6>
        <a:hlink>
          <a:srgbClr val="EAEAEA"/>
        </a:hlink>
        <a:folHlink>
          <a:srgbClr val="5F5F5F"/>
        </a:folHlink>
      </a:clrScheme>
      <a:clrMap bg1="lt1" tx1="dk1" bg2="lt2" tx2="dk2" accent1="accent1" accent2="accent2" accent3="accent3" accent4="accent4" accent5="accent5" accent6="accent6" hlink="hlink" folHlink="folHlink"/>
    </a:extraClrScheme>
    <a:extraClrScheme>
      <a:clrScheme name="HXH 4">
        <a:dk1>
          <a:srgbClr val="660066"/>
        </a:dk1>
        <a:lt1>
          <a:srgbClr val="EAEAEA"/>
        </a:lt1>
        <a:dk2>
          <a:srgbClr val="3366CC"/>
        </a:dk2>
        <a:lt2>
          <a:srgbClr val="7A7C93"/>
        </a:lt2>
        <a:accent1>
          <a:srgbClr val="00CCCC"/>
        </a:accent1>
        <a:accent2>
          <a:srgbClr val="CC66FF"/>
        </a:accent2>
        <a:accent3>
          <a:srgbClr val="F3F3F3"/>
        </a:accent3>
        <a:accent4>
          <a:srgbClr val="560056"/>
        </a:accent4>
        <a:accent5>
          <a:srgbClr val="AAE2E2"/>
        </a:accent5>
        <a:accent6>
          <a:srgbClr val="B95CE7"/>
        </a:accent6>
        <a:hlink>
          <a:srgbClr val="CCFFCC"/>
        </a:hlink>
        <a:folHlink>
          <a:srgbClr val="FFCC66"/>
        </a:folHlink>
      </a:clrScheme>
      <a:clrMap bg1="lt1" tx1="dk1" bg2="lt2" tx2="dk2" accent1="accent1" accent2="accent2" accent3="accent3" accent4="accent4" accent5="accent5" accent6="accent6" hlink="hlink" folHlink="folHlink"/>
    </a:extraClrScheme>
    <a:extraClrScheme>
      <a:clrScheme name="HXH 5">
        <a:dk1>
          <a:srgbClr val="003366"/>
        </a:dk1>
        <a:lt1>
          <a:srgbClr val="EAEAEA"/>
        </a:lt1>
        <a:dk2>
          <a:srgbClr val="009999"/>
        </a:dk2>
        <a:lt2>
          <a:srgbClr val="FFFFFF"/>
        </a:lt2>
        <a:accent1>
          <a:srgbClr val="008080"/>
        </a:accent1>
        <a:accent2>
          <a:srgbClr val="00CCCC"/>
        </a:accent2>
        <a:accent3>
          <a:srgbClr val="AACACA"/>
        </a:accent3>
        <a:accent4>
          <a:srgbClr val="C8C8C8"/>
        </a:accent4>
        <a:accent5>
          <a:srgbClr val="AAC0C0"/>
        </a:accent5>
        <a:accent6>
          <a:srgbClr val="00B9B9"/>
        </a:accent6>
        <a:hlink>
          <a:srgbClr val="A7DDE1"/>
        </a:hlink>
        <a:folHlink>
          <a:srgbClr val="319CB7"/>
        </a:folHlink>
      </a:clrScheme>
      <a:clrMap bg1="dk2" tx1="lt1" bg2="dk1" tx2="lt2" accent1="accent1" accent2="accent2" accent3="accent3" accent4="accent4" accent5="accent5" accent6="accent6" hlink="hlink" folHlink="folHlink"/>
    </a:extraClrScheme>
    <a:extraClrScheme>
      <a:clrScheme name="HXH 6">
        <a:dk1>
          <a:srgbClr val="00354E"/>
        </a:dk1>
        <a:lt1>
          <a:srgbClr val="EAEAEA"/>
        </a:lt1>
        <a:dk2>
          <a:srgbClr val="6D67AA"/>
        </a:dk2>
        <a:lt2>
          <a:srgbClr val="CCCCFF"/>
        </a:lt2>
        <a:accent1>
          <a:srgbClr val="6600CC"/>
        </a:accent1>
        <a:accent2>
          <a:srgbClr val="9999FF"/>
        </a:accent2>
        <a:accent3>
          <a:srgbClr val="BAB8D2"/>
        </a:accent3>
        <a:accent4>
          <a:srgbClr val="C8C8C8"/>
        </a:accent4>
        <a:accent5>
          <a:srgbClr val="B8AAE2"/>
        </a:accent5>
        <a:accent6>
          <a:srgbClr val="8A8AE7"/>
        </a:accent6>
        <a:hlink>
          <a:srgbClr val="CCCCFF"/>
        </a:hlink>
        <a:folHlink>
          <a:srgbClr val="9D70B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5640</Words>
  <Application>WPS 演示</Application>
  <PresentationFormat>全屏显示(4:3)</PresentationFormat>
  <Paragraphs>889</Paragraphs>
  <Slides>41</Slides>
  <Notes>36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8" baseType="lpstr">
      <vt:lpstr>Arial</vt:lpstr>
      <vt:lpstr>宋体</vt:lpstr>
      <vt:lpstr>Wingdings</vt:lpstr>
      <vt:lpstr>幼圆</vt:lpstr>
      <vt:lpstr>Times New Roman</vt:lpstr>
      <vt:lpstr>楷体_GB2312</vt:lpstr>
      <vt:lpstr>华文新魏</vt:lpstr>
      <vt:lpstr>华文中宋</vt:lpstr>
      <vt:lpstr>Arial Unicode MS</vt:lpstr>
      <vt:lpstr>Symbol</vt:lpstr>
      <vt:lpstr>黑体</vt:lpstr>
      <vt:lpstr>微软雅黑</vt:lpstr>
      <vt:lpstr>Arial Unicode MS</vt:lpstr>
      <vt:lpstr>新宋体</vt:lpstr>
      <vt:lpstr>HXH</vt:lpstr>
      <vt:lpstr>Equation.3</vt:lpstr>
      <vt:lpstr>Equation.3</vt:lpstr>
      <vt:lpstr>PowerPoint 演示文稿</vt:lpstr>
      <vt:lpstr>主要内容</vt:lpstr>
      <vt:lpstr>7.4 关系模式的分解</vt:lpstr>
      <vt:lpstr>7.4 关系模式的分解</vt:lpstr>
      <vt:lpstr>7.4 关系模式的分解</vt:lpstr>
      <vt:lpstr>7.4 关系模式的分解</vt:lpstr>
      <vt:lpstr>7.4 关系模式的分解</vt:lpstr>
      <vt:lpstr>7.4 关系模式的分解</vt:lpstr>
      <vt:lpstr>7.4 关系模式的分解</vt:lpstr>
      <vt:lpstr>7.4 关系模式的分解</vt:lpstr>
      <vt:lpstr>7.4 关系模式的分解</vt:lpstr>
      <vt:lpstr>具有无损连接性的模式分解</vt:lpstr>
      <vt:lpstr>具有无损连接性的模式分解</vt:lpstr>
      <vt:lpstr>具有无损连接性的模式分解</vt:lpstr>
      <vt:lpstr>保持函数依赖的模式分解</vt:lpstr>
      <vt:lpstr>7.4 关系模式的分解</vt:lpstr>
      <vt:lpstr>7.4 关系模式的分解</vt:lpstr>
      <vt:lpstr>验证无损分解的充分必要条件</vt:lpstr>
      <vt:lpstr>无损分解的充分必要条件举例</vt:lpstr>
      <vt:lpstr>无损分解的测试算法</vt:lpstr>
      <vt:lpstr>无损分解的测试算法</vt:lpstr>
      <vt:lpstr>无损分解的测试算法</vt:lpstr>
      <vt:lpstr>主要内容</vt:lpstr>
      <vt:lpstr>7.5 范式及其规范化</vt:lpstr>
      <vt:lpstr>7.5.1  1NF</vt:lpstr>
      <vt:lpstr>7.5.1  1NF</vt:lpstr>
      <vt:lpstr>7.5.1  1NF</vt:lpstr>
      <vt:lpstr>7.5.1  1NF</vt:lpstr>
      <vt:lpstr>7.5.1  1NF</vt:lpstr>
      <vt:lpstr>7.5.2  2NF</vt:lpstr>
      <vt:lpstr>7.5.2  2NF</vt:lpstr>
      <vt:lpstr>7.5.2  2NF</vt:lpstr>
      <vt:lpstr>7.5.2  2NF</vt:lpstr>
      <vt:lpstr>7.5.3  3NF</vt:lpstr>
      <vt:lpstr>7.5.3  3NF</vt:lpstr>
      <vt:lpstr>7.5.3  3NF</vt:lpstr>
      <vt:lpstr>7.5.4  BCNF</vt:lpstr>
      <vt:lpstr>7.5.4  BCNF</vt:lpstr>
      <vt:lpstr>7.5.4  BCNF</vt:lpstr>
      <vt:lpstr>7.5.5 规范化过程</vt:lpstr>
      <vt:lpstr>关系模式规范化的基本步骤</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火星叔叔</cp:lastModifiedBy>
  <cp:revision>1022</cp:revision>
  <dcterms:created xsi:type="dcterms:W3CDTF">2007-03-26T07:48:00Z</dcterms:created>
  <dcterms:modified xsi:type="dcterms:W3CDTF">2023-06-25T06:17:15Z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A869773769F44B11B0A74D55A336C8C1</vt:lpwstr>
  </property>
  <property fmtid="{D5CDD505-2E9C-101B-9397-08002B2CF9AE}" pid="3" name="KSOProductBuildVer">
    <vt:lpwstr>2052-11.1.0.14309</vt:lpwstr>
  </property>
</Properties>
</file>