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activeX/activeX10.bin" ContentType="application/vnd.ms-office.activeX"/>
  <Override PartName="/ppt/activeX/activeX10.xml" ContentType="application/vnd.ms-office.activeX+xml"/>
  <Override PartName="/ppt/activeX/activeX11.bin" ContentType="application/vnd.ms-office.activeX"/>
  <Override PartName="/ppt/activeX/activeX11.xml" ContentType="application/vnd.ms-office.activeX+xml"/>
  <Override PartName="/ppt/activeX/activeX12.bin" ContentType="application/vnd.ms-office.activeX"/>
  <Override PartName="/ppt/activeX/activeX12.xml" ContentType="application/vnd.ms-office.activeX+xml"/>
  <Override PartName="/ppt/activeX/activeX13.bin" ContentType="application/vnd.ms-office.activeX"/>
  <Override PartName="/ppt/activeX/activeX13.xml" ContentType="application/vnd.ms-office.activeX+xml"/>
  <Override PartName="/ppt/activeX/activeX2.bin" ContentType="application/vnd.ms-office.activeX"/>
  <Override PartName="/ppt/activeX/activeX2.xml" ContentType="application/vnd.ms-office.activeX+xml"/>
  <Override PartName="/ppt/activeX/activeX3.bin" ContentType="application/vnd.ms-office.activeX"/>
  <Override PartName="/ppt/activeX/activeX3.xml" ContentType="application/vnd.ms-office.activeX+xml"/>
  <Override PartName="/ppt/activeX/activeX4.bin" ContentType="application/vnd.ms-office.activeX"/>
  <Override PartName="/ppt/activeX/activeX4.xml" ContentType="application/vnd.ms-office.activeX+xml"/>
  <Override PartName="/ppt/activeX/activeX5.bin" ContentType="application/vnd.ms-office.activeX"/>
  <Override PartName="/ppt/activeX/activeX5.xml" ContentType="application/vnd.ms-office.activeX+xml"/>
  <Override PartName="/ppt/activeX/activeX6.bin" ContentType="application/vnd.ms-office.activeX"/>
  <Override PartName="/ppt/activeX/activeX6.xml" ContentType="application/vnd.ms-office.activeX+xml"/>
  <Override PartName="/ppt/activeX/activeX7.bin" ContentType="application/vnd.ms-office.activeX"/>
  <Override PartName="/ppt/activeX/activeX7.xml" ContentType="application/vnd.ms-office.activeX+xml"/>
  <Override PartName="/ppt/activeX/activeX8.bin" ContentType="application/vnd.ms-office.activeX"/>
  <Override PartName="/ppt/activeX/activeX8.xml" ContentType="application/vnd.ms-office.activeX+xml"/>
  <Override PartName="/ppt/activeX/activeX9.bin" ContentType="application/vnd.ms-office.activeX"/>
  <Override PartName="/ppt/activeX/activeX9.xml" ContentType="application/vnd.ms-office.activeX+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55"/>
  </p:handoutMasterIdLst>
  <p:sldIdLst>
    <p:sldId id="705" r:id="rId3"/>
    <p:sldId id="640" r:id="rId4"/>
    <p:sldId id="370" r:id="rId6"/>
    <p:sldId id="277" r:id="rId7"/>
    <p:sldId id="376" r:id="rId8"/>
    <p:sldId id="707" r:id="rId9"/>
    <p:sldId id="471" r:id="rId10"/>
    <p:sldId id="641" r:id="rId11"/>
    <p:sldId id="375" r:id="rId12"/>
    <p:sldId id="708" r:id="rId13"/>
    <p:sldId id="379" r:id="rId14"/>
    <p:sldId id="718" r:id="rId15"/>
    <p:sldId id="697" r:id="rId16"/>
    <p:sldId id="642" r:id="rId17"/>
    <p:sldId id="727" r:id="rId18"/>
    <p:sldId id="643" r:id="rId19"/>
    <p:sldId id="644" r:id="rId20"/>
    <p:sldId id="645" r:id="rId21"/>
    <p:sldId id="646" r:id="rId22"/>
    <p:sldId id="647" r:id="rId23"/>
    <p:sldId id="728" r:id="rId24"/>
    <p:sldId id="648" r:id="rId25"/>
    <p:sldId id="278" r:id="rId26"/>
    <p:sldId id="472" r:id="rId27"/>
    <p:sldId id="650" r:id="rId28"/>
    <p:sldId id="560" r:id="rId29"/>
    <p:sldId id="651" r:id="rId30"/>
    <p:sldId id="652" r:id="rId31"/>
    <p:sldId id="653" r:id="rId32"/>
    <p:sldId id="280" r:id="rId33"/>
    <p:sldId id="719" r:id="rId34"/>
    <p:sldId id="281" r:id="rId35"/>
    <p:sldId id="466" r:id="rId36"/>
    <p:sldId id="561" r:id="rId37"/>
    <p:sldId id="562" r:id="rId38"/>
    <p:sldId id="654" r:id="rId39"/>
    <p:sldId id="655" r:id="rId40"/>
    <p:sldId id="656" r:id="rId41"/>
    <p:sldId id="368" r:id="rId42"/>
    <p:sldId id="282" r:id="rId43"/>
    <p:sldId id="723" r:id="rId44"/>
    <p:sldId id="724" r:id="rId45"/>
    <p:sldId id="722" r:id="rId46"/>
    <p:sldId id="725" r:id="rId47"/>
    <p:sldId id="283" r:id="rId48"/>
    <p:sldId id="711" r:id="rId49"/>
    <p:sldId id="720" r:id="rId50"/>
    <p:sldId id="721" r:id="rId51"/>
    <p:sldId id="703" r:id="rId52"/>
    <p:sldId id="715" r:id="rId53"/>
    <p:sldId id="763" r:id="rId54"/>
  </p:sldIdLst>
  <p:sldSz cx="9144000" cy="6858000" type="screen4x3"/>
  <p:notesSz cx="6858000" cy="9144000"/>
  <p:custDataLst>
    <p:tags r:id="rId59"/>
  </p:custDataLst>
  <p:defaultTextStyle>
    <a:defPPr>
      <a:defRPr lang="zh-CN"/>
    </a:defPPr>
    <a:lvl1pPr marL="0" lvl="0" indent="0" algn="ctr" defTabSz="914400" rtl="0" eaLnBrk="1" fontAlgn="base" latinLnBrk="0" hangingPunct="1">
      <a:lnSpc>
        <a:spcPct val="100000"/>
      </a:lnSpc>
      <a:spcBef>
        <a:spcPct val="0"/>
      </a:spcBef>
      <a:spcAft>
        <a:spcPct val="0"/>
      </a:spcAft>
      <a:buNone/>
      <a:defRPr sz="4000" b="1" i="0" u="none" kern="1200" baseline="0">
        <a:solidFill>
          <a:srgbClr val="0000FF"/>
        </a:solidFill>
        <a:latin typeface="Arial" panose="020B0604020202020204" pitchFamily="34" charset="0"/>
        <a:ea typeface="黑体" panose="02010609060101010101" pitchFamily="2" charset="-122"/>
        <a:cs typeface="+mn-cs"/>
      </a:defRPr>
    </a:lvl1pPr>
    <a:lvl2pPr marL="457200" lvl="1" indent="0" algn="ctr" defTabSz="914400" rtl="0" eaLnBrk="1" fontAlgn="base" latinLnBrk="0" hangingPunct="1">
      <a:lnSpc>
        <a:spcPct val="100000"/>
      </a:lnSpc>
      <a:spcBef>
        <a:spcPct val="0"/>
      </a:spcBef>
      <a:spcAft>
        <a:spcPct val="0"/>
      </a:spcAft>
      <a:buNone/>
      <a:defRPr sz="4000" b="1" i="0" u="none" kern="1200" baseline="0">
        <a:solidFill>
          <a:srgbClr val="0000FF"/>
        </a:solidFill>
        <a:latin typeface="Arial" panose="020B0604020202020204" pitchFamily="34" charset="0"/>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4000" b="1" i="0" u="none" kern="1200" baseline="0">
        <a:solidFill>
          <a:srgbClr val="0000FF"/>
        </a:solidFill>
        <a:latin typeface="Arial" panose="020B0604020202020204" pitchFamily="34" charset="0"/>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4000" b="1" i="0" u="none" kern="1200" baseline="0">
        <a:solidFill>
          <a:srgbClr val="0000FF"/>
        </a:solidFill>
        <a:latin typeface="Arial" panose="020B0604020202020204" pitchFamily="34" charset="0"/>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4000" b="1" i="0" u="none" kern="1200" baseline="0">
        <a:solidFill>
          <a:srgbClr val="0000FF"/>
        </a:solidFill>
        <a:latin typeface="Arial" panose="020B0604020202020204" pitchFamily="34" charset="0"/>
        <a:ea typeface="黑体" panose="02010609060101010101" pitchFamily="2" charset="-122"/>
        <a:cs typeface="+mn-cs"/>
      </a:defRPr>
    </a:lvl5pPr>
    <a:lvl6pPr marL="2286000" lvl="5" indent="0" algn="ctr" defTabSz="914400" rtl="0" eaLnBrk="1" fontAlgn="base" latinLnBrk="0" hangingPunct="1">
      <a:lnSpc>
        <a:spcPct val="100000"/>
      </a:lnSpc>
      <a:spcBef>
        <a:spcPct val="0"/>
      </a:spcBef>
      <a:spcAft>
        <a:spcPct val="0"/>
      </a:spcAft>
      <a:buNone/>
      <a:defRPr sz="4000" b="1" i="0" u="none" kern="1200" baseline="0">
        <a:solidFill>
          <a:srgbClr val="0000FF"/>
        </a:solidFill>
        <a:latin typeface="Arial" panose="020B0604020202020204" pitchFamily="34" charset="0"/>
        <a:ea typeface="黑体" panose="02010609060101010101" pitchFamily="2" charset="-122"/>
        <a:cs typeface="+mn-cs"/>
      </a:defRPr>
    </a:lvl6pPr>
    <a:lvl7pPr marL="2743200" lvl="6" indent="0" algn="ctr" defTabSz="914400" rtl="0" eaLnBrk="1" fontAlgn="base" latinLnBrk="0" hangingPunct="1">
      <a:lnSpc>
        <a:spcPct val="100000"/>
      </a:lnSpc>
      <a:spcBef>
        <a:spcPct val="0"/>
      </a:spcBef>
      <a:spcAft>
        <a:spcPct val="0"/>
      </a:spcAft>
      <a:buNone/>
      <a:defRPr sz="4000" b="1" i="0" u="none" kern="1200" baseline="0">
        <a:solidFill>
          <a:srgbClr val="0000FF"/>
        </a:solidFill>
        <a:latin typeface="Arial" panose="020B0604020202020204" pitchFamily="34" charset="0"/>
        <a:ea typeface="黑体" panose="02010609060101010101" pitchFamily="2" charset="-122"/>
        <a:cs typeface="+mn-cs"/>
      </a:defRPr>
    </a:lvl7pPr>
    <a:lvl8pPr marL="3200400" lvl="7" indent="0" algn="ctr" defTabSz="914400" rtl="0" eaLnBrk="1" fontAlgn="base" latinLnBrk="0" hangingPunct="1">
      <a:lnSpc>
        <a:spcPct val="100000"/>
      </a:lnSpc>
      <a:spcBef>
        <a:spcPct val="0"/>
      </a:spcBef>
      <a:spcAft>
        <a:spcPct val="0"/>
      </a:spcAft>
      <a:buNone/>
      <a:defRPr sz="4000" b="1" i="0" u="none" kern="1200" baseline="0">
        <a:solidFill>
          <a:srgbClr val="0000FF"/>
        </a:solidFill>
        <a:latin typeface="Arial" panose="020B0604020202020204" pitchFamily="34" charset="0"/>
        <a:ea typeface="黑体" panose="02010609060101010101" pitchFamily="2" charset="-122"/>
        <a:cs typeface="+mn-cs"/>
      </a:defRPr>
    </a:lvl8pPr>
    <a:lvl9pPr marL="3657600" lvl="8" indent="0" algn="ctr" defTabSz="914400" rtl="0" eaLnBrk="1" fontAlgn="base" latinLnBrk="0" hangingPunct="1">
      <a:lnSpc>
        <a:spcPct val="100000"/>
      </a:lnSpc>
      <a:spcBef>
        <a:spcPct val="0"/>
      </a:spcBef>
      <a:spcAft>
        <a:spcPct val="0"/>
      </a:spcAft>
      <a:buNone/>
      <a:defRPr sz="4000" b="1" i="0" u="none" kern="1200" baseline="0">
        <a:solidFill>
          <a:srgbClr val="0000FF"/>
        </a:solidFill>
        <a:latin typeface="Arial" panose="020B0604020202020204" pitchFamily="34" charset="0"/>
        <a:ea typeface="黑体" panose="0201060906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33CC"/>
    <a:srgbClr val="FFFF99"/>
    <a:srgbClr val="CC3300"/>
    <a:srgbClr val="0066CC"/>
    <a:srgbClr val="FF3300"/>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70"/>
    <p:restoredTop sz="78676"/>
  </p:normalViewPr>
  <p:slideViewPr>
    <p:cSldViewPr showGuides="1">
      <p:cViewPr varScale="1">
        <p:scale>
          <a:sx n="56" d="100"/>
          <a:sy n="56" d="100"/>
        </p:scale>
        <p:origin x="-1734" y="-51"/>
      </p:cViewPr>
      <p:guideLst>
        <p:guide orient="horz" pos="2160"/>
        <p:guide pos="2840"/>
      </p:guideLst>
    </p:cSldViewPr>
  </p:slideViewPr>
  <p:notesTextViewPr>
    <p:cViewPr>
      <p:scale>
        <a:sx n="100" d="100"/>
        <a:sy n="100" d="100"/>
      </p:scale>
      <p:origin x="0" y="0"/>
    </p:cViewPr>
  </p:notesTextViewPr>
  <p:sorterViewPr showFormatting="0">
    <p:cViewPr>
      <p:scale>
        <a:sx n="66" d="100"/>
        <a:sy n="66" d="100"/>
      </p:scale>
      <p:origin x="0" y="1042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tags" Target="tags/tag1.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handoutMaster" Target="handoutMasters/handoutMaster1.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_rels/activeX4.xml.rels><?xml version="1.0" encoding="UTF-8" standalone="yes"?>
<Relationships xmlns="http://schemas.openxmlformats.org/package/2006/relationships"><Relationship Id="rId1" Type="http://schemas.microsoft.com/office/2006/relationships/activeXControlBinary" Target="activeX4.bin"/></Relationships>
</file>

<file path=ppt/activeX/_rels/activeX5.xml.rels><?xml version="1.0" encoding="UTF-8" standalone="yes"?>
<Relationships xmlns="http://schemas.openxmlformats.org/package/2006/relationships"><Relationship Id="rId1" Type="http://schemas.microsoft.com/office/2006/relationships/activeXControlBinary" Target="activeX5.bin"/></Relationships>
</file>

<file path=ppt/activeX/_rels/activeX6.xml.rels><?xml version="1.0" encoding="UTF-8" standalone="yes"?>
<Relationships xmlns="http://schemas.openxmlformats.org/package/2006/relationships"><Relationship Id="rId1" Type="http://schemas.microsoft.com/office/2006/relationships/activeXControlBinary" Target="activeX6.bin"/></Relationships>
</file>

<file path=ppt/activeX/_rels/activeX7.xml.rels><?xml version="1.0" encoding="UTF-8" standalone="yes"?>
<Relationships xmlns="http://schemas.openxmlformats.org/package/2006/relationships"><Relationship Id="rId1" Type="http://schemas.microsoft.com/office/2006/relationships/activeXControlBinary" Target="activeX7.bin"/></Relationships>
</file>

<file path=ppt/activeX/_rels/activeX8.xml.rels><?xml version="1.0" encoding="UTF-8" standalone="yes"?>
<Relationships xmlns="http://schemas.openxmlformats.org/package/2006/relationships"><Relationship Id="rId1" Type="http://schemas.microsoft.com/office/2006/relationships/activeXControlBinary" Target="activeX8.bin"/></Relationships>
</file>

<file path=ppt/activeX/_rels/activeX9.xml.rels><?xml version="1.0" encoding="UTF-8" standalone="yes"?>
<Relationships xmlns="http://schemas.openxmlformats.org/package/2006/relationships"><Relationship Id="rId1" Type="http://schemas.microsoft.com/office/2006/relationships/activeXControlBinary" Target="activeX9.bin"/></Relationships>
</file>

<file path=ppt/activeX/_rels/activeX10.xml.rels><?xml version="1.0" encoding="UTF-8" standalone="yes"?>
<Relationships xmlns="http://schemas.openxmlformats.org/package/2006/relationships"><Relationship Id="rId1" Type="http://schemas.microsoft.com/office/2006/relationships/activeXControlBinary" Target="activeX10.bin"/></Relationships>
</file>

<file path=ppt/activeX/_rels/activeX11.xml.rels><?xml version="1.0" encoding="UTF-8" standalone="yes"?>
<Relationships xmlns="http://schemas.openxmlformats.org/package/2006/relationships"><Relationship Id="rId1" Type="http://schemas.microsoft.com/office/2006/relationships/activeXControlBinary" Target="activeX11.bin"/></Relationships>
</file>

<file path=ppt/activeX/_rels/activeX12.xml.rels><?xml version="1.0" encoding="UTF-8" standalone="yes"?>
<Relationships xmlns="http://schemas.openxmlformats.org/package/2006/relationships"><Relationship Id="rId1" Type="http://schemas.microsoft.com/office/2006/relationships/activeXControlBinary" Target="activeX12.bin"/></Relationships>
</file>

<file path=ppt/activeX/_rels/activeX13.xml.rels><?xml version="1.0" encoding="UTF-8" standalone="yes"?>
<Relationships xmlns="http://schemas.openxmlformats.org/package/2006/relationships"><Relationship Id="rId1" Type="http://schemas.microsoft.com/office/2006/relationships/activeXControlBinary" Target="activeX13.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activeX/activeX3.xml><?xml version="1.0" encoding="utf-8"?>
<ax:ocx xmlns:ax="http://schemas.microsoft.com/office/2006/activeX" xmlns:r="http://schemas.openxmlformats.org/officeDocument/2006/relationships" ax:classid="{D27CDB6E-AE6D-11CF-96B8-444553540000}" ax:persistence="persistStorage" r:id="rId1"/>
</file>

<file path=ppt/activeX/activeX4.xml><?xml version="1.0" encoding="utf-8"?>
<ax:ocx xmlns:ax="http://schemas.microsoft.com/office/2006/activeX" xmlns:r="http://schemas.openxmlformats.org/officeDocument/2006/relationships" ax:classid="{D27CDB6E-AE6D-11CF-96B8-444553540000}" ax:persistence="persistStorage" r:id="rId1"/>
</file>

<file path=ppt/activeX/activeX5.xml><?xml version="1.0" encoding="utf-8"?>
<ax:ocx xmlns:ax="http://schemas.microsoft.com/office/2006/activeX" xmlns:r="http://schemas.openxmlformats.org/officeDocument/2006/relationships" ax:classid="{D27CDB6E-AE6D-11CF-96B8-444553540000}" ax:persistence="persistStorage" r:id="rId1"/>
</file>

<file path=ppt/activeX/activeX6.xml><?xml version="1.0" encoding="utf-8"?>
<ax:ocx xmlns:ax="http://schemas.microsoft.com/office/2006/activeX" xmlns:r="http://schemas.openxmlformats.org/officeDocument/2006/relationships" ax:classid="{D27CDB6E-AE6D-11CF-96B8-444553540000}" ax:persistence="persistStorage" r:id="rId1"/>
</file>

<file path=ppt/activeX/activeX7.xml><?xml version="1.0" encoding="utf-8"?>
<ax:ocx xmlns:ax="http://schemas.microsoft.com/office/2006/activeX" xmlns:r="http://schemas.openxmlformats.org/officeDocument/2006/relationships" ax:classid="{D27CDB6E-AE6D-11CF-96B8-444553540000}" ax:persistence="persistStorage" r:id="rId1"/>
</file>

<file path=ppt/activeX/activeX8.xml><?xml version="1.0" encoding="utf-8"?>
<ax:ocx xmlns:ax="http://schemas.microsoft.com/office/2006/activeX" xmlns:r="http://schemas.openxmlformats.org/officeDocument/2006/relationships" ax:classid="{D27CDB6E-AE6D-11CF-96B8-444553540000}" ax:persistence="persistStorage" r:id="rId1"/>
</file>

<file path=ppt/activeX/activeX9.xml><?xml version="1.0" encoding="utf-8"?>
<ax:ocx xmlns:ax="http://schemas.microsoft.com/office/2006/activeX" xmlns:r="http://schemas.openxmlformats.org/officeDocument/2006/relationships" ax:classid="{D27CDB6E-AE6D-11CF-96B8-444553540000}" ax:persistence="persistStorage" r:id="rId1"/>
</file>

<file path=ppt/activeX/activeX10.xml><?xml version="1.0" encoding="utf-8"?>
<ax:ocx xmlns:ax="http://schemas.microsoft.com/office/2006/activeX" xmlns:r="http://schemas.openxmlformats.org/officeDocument/2006/relationships" ax:classid="{D27CDB6E-AE6D-11CF-96B8-444553540000}" ax:persistence="persistStorage" r:id="rId1"/>
</file>

<file path=ppt/activeX/activeX11.xml><?xml version="1.0" encoding="utf-8"?>
<ax:ocx xmlns:ax="http://schemas.microsoft.com/office/2006/activeX" xmlns:r="http://schemas.openxmlformats.org/officeDocument/2006/relationships" ax:classid="{D27CDB6E-AE6D-11CF-96B8-444553540000}" ax:persistence="persistStorage" r:id="rId1"/>
</file>

<file path=ppt/activeX/activeX12.xml><?xml version="1.0" encoding="utf-8"?>
<ax:ocx xmlns:ax="http://schemas.microsoft.com/office/2006/activeX" xmlns:r="http://schemas.openxmlformats.org/officeDocument/2006/relationships" ax:classid="{D27CDB6E-AE6D-11CF-96B8-444553540000}" ax:persistence="persistStorage" r:id="rId1"/>
</file>

<file path=ppt/activeX/activeX13.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3763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7635"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7636"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7637"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8852"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19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9875" name="Rectangle 2"/>
          <p:cNvSpPr>
            <a:spLocks noRot="1" noTextEdit="1"/>
          </p:cNvSpPr>
          <p:nvPr>
            <p:ph type="sldImg"/>
          </p:nvPr>
        </p:nvSpPr>
        <p:spPr/>
      </p:sp>
      <p:sp>
        <p:nvSpPr>
          <p:cNvPr id="7987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0899" name="Rectangle 2"/>
          <p:cNvSpPr>
            <a:spLocks noRot="1" noTextEdit="1"/>
          </p:cNvSpPr>
          <p:nvPr>
            <p:ph type="sldImg"/>
          </p:nvPr>
        </p:nvSpPr>
        <p:spPr/>
      </p:sp>
      <p:sp>
        <p:nvSpPr>
          <p:cNvPr id="80900" name="Rectangle 3"/>
          <p:cNvSpPr>
            <a:spLocks noGrp="1"/>
          </p:cNvSpPr>
          <p:nvPr>
            <p:ph type="body" idx="1"/>
          </p:nvPr>
        </p:nvSpPr>
        <p:spPr/>
        <p:txBody>
          <a:bodyPr wrap="square" lIns="91440" tIns="45720" rIns="91440" bIns="45720" anchor="t" anchorCtr="0"/>
          <a:p>
            <a:pPr lvl="0" algn="just" eaLnBrk="1" hangingPunct="1">
              <a:lnSpc>
                <a:spcPct val="110000"/>
              </a:lnSpc>
              <a:buFont typeface="Wingdings" panose="05000000000000000000" pitchFamily="2" charset="2"/>
              <a:buChar char="•"/>
            </a:pPr>
            <a:r>
              <a:rPr lang="zh-CN" altLang="en-US" dirty="0"/>
              <a:t>数据操作语言</a:t>
            </a:r>
            <a:r>
              <a:rPr lang="en-US" altLang="zh-CN" dirty="0"/>
              <a:t>DML</a:t>
            </a:r>
            <a:r>
              <a:rPr lang="zh-CN" altLang="en-US" dirty="0"/>
              <a:t>对数据库中的表中的数据进行操作。</a:t>
            </a:r>
            <a:endParaRPr lang="en-US" altLang="zh-CN" dirty="0"/>
          </a:p>
          <a:p>
            <a:pPr lvl="0" algn="just" eaLnBrk="1" hangingPunct="1">
              <a:lnSpc>
                <a:spcPct val="110000"/>
              </a:lnSpc>
              <a:buFont typeface="Wingdings" panose="05000000000000000000" pitchFamily="2" charset="2"/>
              <a:buChar char="•"/>
            </a:pPr>
            <a:r>
              <a:rPr lang="en-US" altLang="zh-CN" dirty="0"/>
              <a:t>DBMS</a:t>
            </a:r>
            <a:r>
              <a:rPr lang="zh-CN" altLang="en-US" dirty="0"/>
              <a:t>在执行插入、删除、更新语句时必须保证数据库一致性</a:t>
            </a:r>
            <a:endParaRPr lang="zh-CN" altLang="en-US" dirty="0"/>
          </a:p>
          <a:p>
            <a:pPr lvl="0" algn="just" eaLnBrk="1" hangingPunct="1">
              <a:lnSpc>
                <a:spcPct val="110000"/>
              </a:lnSpc>
              <a:buFont typeface="Wingdings" panose="05000000000000000000" pitchFamily="2" charset="2"/>
              <a:buChar char="l"/>
            </a:pPr>
            <a:r>
              <a:rPr lang="zh-CN" altLang="en-US" dirty="0"/>
              <a:t>必须有事务的概念和原子性</a:t>
            </a:r>
            <a:endParaRPr lang="zh-CN" altLang="en-US" dirty="0"/>
          </a:p>
          <a:p>
            <a:pPr lvl="0" algn="just" eaLnBrk="1" hangingPunct="1">
              <a:lnSpc>
                <a:spcPct val="110000"/>
              </a:lnSpc>
              <a:buFont typeface="Wingdings" panose="05000000000000000000" pitchFamily="2" charset="2"/>
              <a:buChar char="l"/>
            </a:pPr>
            <a:r>
              <a:rPr lang="zh-CN" altLang="en-US" dirty="0"/>
              <a:t>完整性检查和保证</a:t>
            </a:r>
            <a:endParaRPr lang="zh-CN" altLang="en-US" dirty="0"/>
          </a:p>
          <a:p>
            <a:pPr lvl="0" eaLnBrk="1" hangingPunct="1">
              <a:buChar char="•"/>
            </a:pP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1923" name="Rectangle 2"/>
          <p:cNvSpPr>
            <a:spLocks noRot="1" noTextEdit="1"/>
          </p:cNvSpPr>
          <p:nvPr>
            <p:ph type="sldImg"/>
          </p:nvPr>
        </p:nvSpPr>
        <p:spPr/>
      </p:sp>
      <p:sp>
        <p:nvSpPr>
          <p:cNvPr id="8192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2947" name="Rectangle 2"/>
          <p:cNvSpPr>
            <a:spLocks noRot="1" noTextEdit="1"/>
          </p:cNvSpPr>
          <p:nvPr>
            <p:ph type="sldImg"/>
          </p:nvPr>
        </p:nvSpPr>
        <p:spPr/>
      </p:sp>
      <p:sp>
        <p:nvSpPr>
          <p:cNvPr id="82948" name="Rectangle 3"/>
          <p:cNvSpPr>
            <a:spLocks noGrp="1"/>
          </p:cNvSpPr>
          <p:nvPr>
            <p:ph type="body" idx="1"/>
          </p:nvPr>
        </p:nvSpPr>
        <p:spPr/>
        <p:txBody>
          <a:bodyPr wrap="square" lIns="91440" tIns="45720" rIns="91440" bIns="45720" anchor="t" anchorCtr="0"/>
          <a:p>
            <a:pPr lvl="0" eaLnBrk="1" hangingPunct="1"/>
            <a:r>
              <a:rPr lang="zh-CN" altLang="en-US" dirty="0"/>
              <a:t>插入规则：</a:t>
            </a:r>
            <a:endParaRPr lang="zh-CN" altLang="en-US" dirty="0"/>
          </a:p>
          <a:p>
            <a:pPr lvl="1" eaLnBrk="1" hangingPunct="1"/>
            <a:r>
              <a:rPr lang="zh-CN" altLang="en-US" sz="1400" dirty="0"/>
              <a:t>插入的数值与它所对应的字段必须具有相同的数据类型。</a:t>
            </a:r>
            <a:endParaRPr lang="zh-CN" altLang="en-US" sz="1400" dirty="0"/>
          </a:p>
          <a:p>
            <a:pPr lvl="1" eaLnBrk="1" hangingPunct="1"/>
            <a:r>
              <a:rPr lang="zh-CN" altLang="en-US" sz="1400" dirty="0"/>
              <a:t>数据的长度必须小于字段的长度。例如不能向一个长</a:t>
            </a:r>
            <a:r>
              <a:rPr lang="en-US" altLang="zh-CN" sz="1400" dirty="0"/>
              <a:t>40 </a:t>
            </a:r>
            <a:r>
              <a:rPr lang="zh-CN" altLang="en-US" sz="1400" dirty="0"/>
              <a:t>个字符的字段中插入一个长</a:t>
            </a:r>
            <a:r>
              <a:rPr lang="en-US" altLang="zh-CN" sz="1400" dirty="0"/>
              <a:t>80 </a:t>
            </a:r>
            <a:r>
              <a:rPr lang="zh-CN" altLang="en-US" sz="1400" dirty="0"/>
              <a:t>个字符的字符串。</a:t>
            </a:r>
            <a:endParaRPr lang="zh-CN" altLang="en-US" sz="1400" dirty="0"/>
          </a:p>
          <a:p>
            <a:pPr lvl="1" eaLnBrk="1" hangingPunct="1"/>
            <a:r>
              <a:rPr lang="zh-CN" altLang="en-US" sz="1400" dirty="0"/>
              <a:t>插入的数值列表必须与字段的列表相对应。</a:t>
            </a:r>
            <a:endParaRPr lang="zh-CN" altLang="en-US" sz="1400" dirty="0"/>
          </a:p>
          <a:p>
            <a:pPr lvl="0" eaLnBrk="1" hangingPunct="1"/>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3971" name="Rectangle 2"/>
          <p:cNvSpPr>
            <a:spLocks noRot="1" noTextEdit="1"/>
          </p:cNvSpPr>
          <p:nvPr>
            <p:ph type="sldImg"/>
          </p:nvPr>
        </p:nvSpPr>
        <p:spPr/>
      </p:sp>
      <p:sp>
        <p:nvSpPr>
          <p:cNvPr id="83972" name="Rectangle 3"/>
          <p:cNvSpPr>
            <a:spLocks noGrp="1"/>
          </p:cNvSpPr>
          <p:nvPr>
            <p:ph type="body" idx="1"/>
          </p:nvPr>
        </p:nvSpPr>
        <p:spPr/>
        <p:txBody>
          <a:bodyPr wrap="square" lIns="91440" tIns="45720" rIns="91440" bIns="45720" anchor="t" anchorCtr="0"/>
          <a:p>
            <a:pPr lvl="0" eaLnBrk="1" hangingPunct="1"/>
            <a:r>
              <a:rPr lang="zh-CN" altLang="en-US" sz="1000" dirty="0"/>
              <a:t>如果</a:t>
            </a:r>
            <a:r>
              <a:rPr lang="en-US" altLang="zh-CN" sz="1000" dirty="0"/>
              <a:t>Score</a:t>
            </a:r>
            <a:r>
              <a:rPr lang="zh-CN" altLang="en-US" sz="1000" dirty="0"/>
              <a:t>列在定义时为</a:t>
            </a:r>
            <a:r>
              <a:rPr lang="en-US" altLang="zh-CN" sz="1000" dirty="0"/>
              <a:t>NOT NULL</a:t>
            </a:r>
            <a:r>
              <a:rPr lang="zh-CN" altLang="en-US" sz="1000" dirty="0"/>
              <a:t>，则</a:t>
            </a:r>
            <a:r>
              <a:rPr lang="en-US" altLang="zh-CN" sz="1000" dirty="0"/>
              <a:t>DBMS</a:t>
            </a:r>
            <a:r>
              <a:rPr lang="zh-CN" altLang="en-US" sz="1000" dirty="0"/>
              <a:t>拒绝执行。</a:t>
            </a:r>
            <a:endParaRPr lang="zh-CN" altLang="en-US" sz="1000" dirty="0"/>
          </a:p>
          <a:p>
            <a:pPr lvl="0" eaLnBrk="1" hangingPunct="1"/>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4995" name="Rectangle 2"/>
          <p:cNvSpPr>
            <a:spLocks noRot="1" noTextEdit="1"/>
          </p:cNvSpPr>
          <p:nvPr>
            <p:ph type="sldImg"/>
          </p:nvPr>
        </p:nvSpPr>
        <p:spPr/>
      </p:sp>
      <p:sp>
        <p:nvSpPr>
          <p:cNvPr id="84996" name="Rectangle 3"/>
          <p:cNvSpPr>
            <a:spLocks noGrp="1"/>
          </p:cNvSpPr>
          <p:nvPr>
            <p:ph type="body" idx="1"/>
          </p:nvPr>
        </p:nvSpPr>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6019" name="Rectangle 2"/>
          <p:cNvSpPr>
            <a:spLocks noRot="1" noTextEdit="1"/>
          </p:cNvSpPr>
          <p:nvPr>
            <p:ph type="sldImg"/>
          </p:nvPr>
        </p:nvSpPr>
        <p:spPr/>
      </p:sp>
      <p:sp>
        <p:nvSpPr>
          <p:cNvPr id="8602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7043" name="Rectangle 2"/>
          <p:cNvSpPr>
            <a:spLocks noRot="1" noTextEdit="1"/>
          </p:cNvSpPr>
          <p:nvPr>
            <p:ph type="sldImg"/>
          </p:nvPr>
        </p:nvSpPr>
        <p:spPr/>
      </p:sp>
      <p:sp>
        <p:nvSpPr>
          <p:cNvPr id="870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8067" name="Rectangle 2"/>
          <p:cNvSpPr>
            <a:spLocks noRot="1" noTextEdit="1"/>
          </p:cNvSpPr>
          <p:nvPr>
            <p:ph type="sldImg"/>
          </p:nvPr>
        </p:nvSpPr>
        <p:spPr/>
      </p:sp>
      <p:sp>
        <p:nvSpPr>
          <p:cNvPr id="8806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9091" name="Rectangle 2"/>
          <p:cNvSpPr>
            <a:spLocks noRot="1" noTextEdit="1"/>
          </p:cNvSpPr>
          <p:nvPr>
            <p:ph type="sldImg"/>
          </p:nvPr>
        </p:nvSpPr>
        <p:spPr/>
      </p:sp>
      <p:sp>
        <p:nvSpPr>
          <p:cNvPr id="89092" name="Rectangle 3"/>
          <p:cNvSpPr>
            <a:spLocks noGrp="1"/>
          </p:cNvSpPr>
          <p:nvPr>
            <p:ph type="body" idx="1"/>
          </p:nvPr>
        </p:nvSpPr>
        <p:spPr/>
        <p:txBody>
          <a:bodyPr wrap="square" lIns="91440" tIns="45720" rIns="91440" bIns="45720" anchor="t" anchorCtr="0"/>
          <a:p>
            <a:pPr lvl="1" eaLnBrk="1" hangingPunct="1">
              <a:lnSpc>
                <a:spcPct val="120000"/>
              </a:lnSpc>
            </a:pPr>
            <a:r>
              <a:rPr lang="en-US" altLang="zh-CN" dirty="0"/>
              <a:t>SET</a:t>
            </a:r>
            <a:r>
              <a:rPr lang="zh-CN" altLang="en-US" dirty="0"/>
              <a:t>子句</a:t>
            </a:r>
            <a:endParaRPr lang="zh-CN" altLang="en-US" dirty="0"/>
          </a:p>
          <a:p>
            <a:pPr lvl="0" eaLnBrk="1" hangingPunct="1">
              <a:lnSpc>
                <a:spcPct val="120000"/>
              </a:lnSpc>
            </a:pPr>
            <a:r>
              <a:rPr lang="zh-CN" altLang="en-US" sz="1000" dirty="0"/>
              <a:t>       指定修改方式</a:t>
            </a:r>
            <a:endParaRPr lang="zh-CN" altLang="en-US" sz="1000" dirty="0"/>
          </a:p>
          <a:p>
            <a:pPr lvl="1" eaLnBrk="1" hangingPunct="1">
              <a:lnSpc>
                <a:spcPct val="120000"/>
              </a:lnSpc>
            </a:pPr>
            <a:r>
              <a:rPr lang="zh-CN" altLang="en-US" dirty="0"/>
              <a:t>  要修改的列</a:t>
            </a:r>
            <a:endParaRPr lang="zh-CN" altLang="en-US" dirty="0"/>
          </a:p>
          <a:p>
            <a:pPr lvl="1" eaLnBrk="1" hangingPunct="1">
              <a:lnSpc>
                <a:spcPct val="120000"/>
              </a:lnSpc>
            </a:pPr>
            <a:r>
              <a:rPr lang="zh-CN" altLang="en-US" dirty="0"/>
              <a:t>  修改后取值</a:t>
            </a:r>
            <a:endParaRPr lang="zh-CN" altLang="en-US" sz="1600" dirty="0"/>
          </a:p>
          <a:p>
            <a:pPr lvl="1" eaLnBrk="1" hangingPunct="1">
              <a:lnSpc>
                <a:spcPct val="160000"/>
              </a:lnSpc>
            </a:pPr>
            <a:r>
              <a:rPr lang="en-US" altLang="zh-CN" dirty="0"/>
              <a:t>WHERE</a:t>
            </a:r>
            <a:r>
              <a:rPr lang="zh-CN" altLang="en-US" dirty="0"/>
              <a:t>子句</a:t>
            </a:r>
            <a:endParaRPr lang="zh-CN" altLang="en-US" dirty="0"/>
          </a:p>
          <a:p>
            <a:pPr lvl="2" eaLnBrk="1" hangingPunct="1">
              <a:lnSpc>
                <a:spcPct val="120000"/>
              </a:lnSpc>
            </a:pPr>
            <a:r>
              <a:rPr lang="zh-CN" altLang="en-US" sz="1400" dirty="0"/>
              <a:t>指定要修改的元组</a:t>
            </a:r>
            <a:endParaRPr lang="zh-CN" altLang="en-US" sz="1400" dirty="0"/>
          </a:p>
          <a:p>
            <a:pPr lvl="2" eaLnBrk="1" hangingPunct="1">
              <a:lnSpc>
                <a:spcPct val="120000"/>
              </a:lnSpc>
            </a:pPr>
            <a:r>
              <a:rPr lang="zh-CN" altLang="en-US" sz="1400" dirty="0"/>
              <a:t>缺省表示要修改表中的所有元组</a:t>
            </a:r>
            <a:endParaRPr lang="zh-CN" altLang="en-US" sz="1400" dirty="0"/>
          </a:p>
          <a:p>
            <a:pPr lvl="0" eaLnBrk="1" hangingPunct="1"/>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0115" name="Rectangle 2"/>
          <p:cNvSpPr>
            <a:spLocks noRot="1" noTextEdit="1"/>
          </p:cNvSpPr>
          <p:nvPr>
            <p:ph type="sldImg"/>
          </p:nvPr>
        </p:nvSpPr>
        <p:spPr/>
      </p:sp>
      <p:sp>
        <p:nvSpPr>
          <p:cNvPr id="90116" name="Rectangle 3"/>
          <p:cNvSpPr>
            <a:spLocks noGrp="1"/>
          </p:cNvSpPr>
          <p:nvPr>
            <p:ph type="body" idx="1"/>
          </p:nvPr>
        </p:nvSpPr>
        <p:spPr/>
        <p:txBody>
          <a:bodyPr wrap="square" lIns="91440" tIns="45720" rIns="91440" bIns="45720" anchor="t" anchorCtr="0"/>
          <a:p>
            <a:pPr lvl="0" eaLnBrk="1" hangingPunct="1"/>
            <a:r>
              <a:rPr lang="en-US" altLang="zh-CN" dirty="0"/>
              <a:t>UPDATE SC  SET  Score=0</a:t>
            </a:r>
            <a:endParaRPr lang="en-US" altLang="zh-CN" dirty="0"/>
          </a:p>
          <a:p>
            <a:pPr lvl="0" eaLnBrk="1" hangingPunct="1"/>
            <a:r>
              <a:rPr lang="en-US" altLang="zh-CN" dirty="0"/>
              <a:t>        WHERE  '</a:t>
            </a:r>
            <a:r>
              <a:rPr lang="zh-CN" altLang="en-US" dirty="0"/>
              <a:t>女</a:t>
            </a:r>
            <a:r>
              <a:rPr lang="en-US" altLang="zh-CN" dirty="0"/>
              <a:t>'=</a:t>
            </a:r>
            <a:endParaRPr lang="en-US" altLang="zh-CN" dirty="0"/>
          </a:p>
          <a:p>
            <a:pPr lvl="0" eaLnBrk="1" hangingPunct="1"/>
            <a:r>
              <a:rPr lang="en-US" altLang="zh-CN" dirty="0"/>
              <a:t>              (SELECT Ssex FROM  S  WHERE  S.Sno = SC.Sno);</a:t>
            </a:r>
            <a:endParaRPr lang="en-US" altLang="zh-CN" dirty="0"/>
          </a:p>
          <a:p>
            <a:pPr lvl="0" eaLnBrk="1" hangingPunct="1"/>
            <a:r>
              <a:rPr lang="zh-CN" altLang="en-US" dirty="0"/>
              <a:t>或</a:t>
            </a:r>
            <a:endParaRPr lang="zh-CN" altLang="en-US" dirty="0"/>
          </a:p>
          <a:p>
            <a:pPr lvl="0" eaLnBrk="1" hangingPunct="1"/>
            <a:r>
              <a:rPr lang="en-US" altLang="zh-CN" dirty="0"/>
              <a:t>UPDATE SC SET  Score=0</a:t>
            </a:r>
            <a:endParaRPr lang="en-US" altLang="zh-CN" dirty="0"/>
          </a:p>
          <a:p>
            <a:pPr lvl="0" eaLnBrk="1" hangingPunct="1"/>
            <a:r>
              <a:rPr lang="en-US" altLang="zh-CN" dirty="0"/>
              <a:t>        WHERE Sno in</a:t>
            </a:r>
            <a:endParaRPr lang="en-US" altLang="zh-CN" dirty="0"/>
          </a:p>
          <a:p>
            <a:pPr lvl="0" eaLnBrk="1" hangingPunct="1"/>
            <a:r>
              <a:rPr lang="en-US" altLang="zh-CN" dirty="0"/>
              <a:t>              (SELECT Sno FROM S  WHERE  S.Ssex='</a:t>
            </a:r>
            <a:r>
              <a:rPr lang="zh-CN" altLang="en-US" dirty="0"/>
              <a:t>女</a:t>
            </a:r>
            <a:r>
              <a:rPr lang="en-US" altLang="zh-CN" dirty="0"/>
              <a:t>');</a:t>
            </a:r>
            <a:endParaRPr lang="en-US" altLang="zh-CN" dirty="0"/>
          </a:p>
          <a:p>
            <a:pPr lvl="0" eaLnBrk="1" hangingPunct="1"/>
            <a:endParaRPr lang="en-US" altLang="zh-CN" dirty="0"/>
          </a:p>
          <a:p>
            <a:pPr lvl="0" algn="just" eaLnBrk="1" hangingPunct="1"/>
            <a:r>
              <a:rPr lang="en-US" altLang="zh-CN" dirty="0"/>
              <a:t>UPDATE SC  SET  Score=0</a:t>
            </a:r>
            <a:endParaRPr lang="en-US" altLang="zh-CN" dirty="0"/>
          </a:p>
          <a:p>
            <a:pPr lvl="0" algn="just" eaLnBrk="1" hangingPunct="1"/>
            <a:r>
              <a:rPr lang="en-US" altLang="zh-CN" dirty="0"/>
              <a:t>        WHERE  'CS'=</a:t>
            </a:r>
            <a:endParaRPr lang="en-US" altLang="zh-CN" dirty="0"/>
          </a:p>
          <a:p>
            <a:pPr lvl="0" algn="just" eaLnBrk="1" hangingPunct="1"/>
            <a:r>
              <a:rPr lang="en-US" altLang="zh-CN" dirty="0"/>
              <a:t>              (SELECT Sdept FROM  S  WHERE  S.Sno = SC.Sno);</a:t>
            </a:r>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1139" name="Rectangle 2"/>
          <p:cNvSpPr>
            <a:spLocks noRot="1" noTextEdit="1"/>
          </p:cNvSpPr>
          <p:nvPr>
            <p:ph type="sldImg"/>
          </p:nvPr>
        </p:nvSpPr>
        <p:spPr/>
      </p:sp>
      <p:sp>
        <p:nvSpPr>
          <p:cNvPr id="9114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2163" name="Rectangle 2"/>
          <p:cNvSpPr>
            <a:spLocks noRot="1" noTextEdit="1"/>
          </p:cNvSpPr>
          <p:nvPr>
            <p:ph type="sldImg"/>
          </p:nvPr>
        </p:nvSpPr>
        <p:spPr/>
      </p:sp>
      <p:sp>
        <p:nvSpPr>
          <p:cNvPr id="92164" name="Rectangle 3"/>
          <p:cNvSpPr>
            <a:spLocks noGrp="1"/>
          </p:cNvSpPr>
          <p:nvPr>
            <p:ph type="body" idx="1"/>
          </p:nvPr>
        </p:nvSpPr>
        <p:spPr/>
        <p:txBody>
          <a:bodyPr wrap="square" lIns="91440" tIns="45720" rIns="91440" bIns="45720" anchor="t" anchorCtr="0"/>
          <a:p>
            <a:pPr lvl="0" algn="just" eaLnBrk="1" hangingPunct="1"/>
            <a:r>
              <a:rPr lang="en-US" altLang="zh-CN" dirty="0"/>
              <a:t>WHERE</a:t>
            </a:r>
            <a:r>
              <a:rPr lang="zh-CN" altLang="en-US" dirty="0"/>
              <a:t>子句</a:t>
            </a:r>
            <a:endParaRPr lang="zh-CN" altLang="en-US" dirty="0"/>
          </a:p>
          <a:p>
            <a:pPr lvl="1" algn="just" eaLnBrk="1" hangingPunct="1">
              <a:buFont typeface="Wingdings" panose="05000000000000000000" pitchFamily="2" charset="2"/>
              <a:buChar char="•"/>
            </a:pPr>
            <a:r>
              <a:rPr lang="zh-CN" altLang="en-US" dirty="0"/>
              <a:t>指定要删除的元组</a:t>
            </a:r>
            <a:endParaRPr lang="zh-CN" altLang="en-US" dirty="0"/>
          </a:p>
          <a:p>
            <a:pPr lvl="1" algn="just" eaLnBrk="1" hangingPunct="1">
              <a:buFont typeface="Wingdings" panose="05000000000000000000" pitchFamily="2" charset="2"/>
              <a:buChar char="•"/>
            </a:pPr>
            <a:r>
              <a:rPr lang="zh-CN" altLang="en-US" dirty="0"/>
              <a:t>缺省表示要删除表中的所有元组</a:t>
            </a:r>
            <a:endParaRPr lang="zh-CN" altLang="en-US" dirty="0"/>
          </a:p>
          <a:p>
            <a:pPr lvl="0" eaLnBrk="1" hangingPunct="1"/>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3187" name="Rectangle 2"/>
          <p:cNvSpPr>
            <a:spLocks noRot="1" noTextEdit="1"/>
          </p:cNvSpPr>
          <p:nvPr>
            <p:ph type="sldImg"/>
          </p:nvPr>
        </p:nvSpPr>
        <p:spPr/>
      </p:sp>
      <p:sp>
        <p:nvSpPr>
          <p:cNvPr id="931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4211" name="Rectangle 2"/>
          <p:cNvSpPr>
            <a:spLocks noRot="1" noTextEdit="1"/>
          </p:cNvSpPr>
          <p:nvPr>
            <p:ph type="sldImg"/>
          </p:nvPr>
        </p:nvSpPr>
        <p:spPr/>
      </p:sp>
      <p:sp>
        <p:nvSpPr>
          <p:cNvPr id="9421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5235" name="Rectangle 2"/>
          <p:cNvSpPr>
            <a:spLocks noRot="1" noTextEdit="1"/>
          </p:cNvSpPr>
          <p:nvPr>
            <p:ph type="sldImg"/>
          </p:nvPr>
        </p:nvSpPr>
        <p:spPr/>
      </p:sp>
      <p:sp>
        <p:nvSpPr>
          <p:cNvPr id="95236" name="Rectangle 3"/>
          <p:cNvSpPr>
            <a:spLocks noGrp="1"/>
          </p:cNvSpPr>
          <p:nvPr>
            <p:ph type="body" idx="1"/>
          </p:nvPr>
        </p:nvSpPr>
        <p:spPr/>
        <p:txBody>
          <a:bodyPr wrap="square" lIns="91440" tIns="45720" rIns="91440" bIns="45720" anchor="t" anchorCtr="0"/>
          <a:p>
            <a:pPr lvl="0" eaLnBrk="1" hangingPunct="1">
              <a:spcBef>
                <a:spcPct val="25000"/>
              </a:spcBef>
            </a:pPr>
            <a:r>
              <a:rPr lang="zh-CN" altLang="en-US" dirty="0"/>
              <a:t>删除一个表中的记录可能会导致与其它表的参照完整性问题。</a:t>
            </a:r>
            <a:endParaRPr lang="zh-CN" altLang="en-US" dirty="0"/>
          </a:p>
          <a:p>
            <a:pPr lvl="0" eaLnBrk="1" hangingPunct="1"/>
            <a:endParaRPr lang="en-US"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6259" name="Rectangle 2"/>
          <p:cNvSpPr>
            <a:spLocks noRot="1" noTextEdit="1"/>
          </p:cNvSpPr>
          <p:nvPr>
            <p:ph type="sldImg"/>
          </p:nvPr>
        </p:nvSpPr>
        <p:spPr/>
      </p:sp>
      <p:sp>
        <p:nvSpPr>
          <p:cNvPr id="9626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7283" name="Rectangle 2"/>
          <p:cNvSpPr>
            <a:spLocks noRot="1" noTextEdit="1"/>
          </p:cNvSpPr>
          <p:nvPr>
            <p:ph type="sldImg"/>
          </p:nvPr>
        </p:nvSpPr>
        <p:spPr/>
      </p:sp>
      <p:sp>
        <p:nvSpPr>
          <p:cNvPr id="97284" name="Rectangle 3"/>
          <p:cNvSpPr>
            <a:spLocks noGrp="1"/>
          </p:cNvSpPr>
          <p:nvPr>
            <p:ph type="body" idx="1"/>
          </p:nvPr>
        </p:nvSpPr>
        <p:spPr/>
        <p:txBody>
          <a:bodyPr wrap="square" lIns="91440" tIns="45720" rIns="91440" bIns="45720" anchor="t" anchorCtr="0"/>
          <a:p>
            <a:pPr lvl="0" eaLnBrk="1" hangingPunct="1"/>
            <a:r>
              <a:rPr lang="zh-CN" altLang="en-US" dirty="0"/>
              <a:t>当对一组数据建立视图以后，可以像处理另外一个表一样去处理视图，但是在视图中修改数据时要受到一些限制。</a:t>
            </a:r>
            <a:endParaRPr lang="zh-CN" altLang="en-US" dirty="0"/>
          </a:p>
          <a:p>
            <a:pPr lvl="0" eaLnBrk="1" hangingPunct="1"/>
            <a:r>
              <a:rPr lang="zh-CN" altLang="en-US" dirty="0"/>
              <a:t>数据字典只存放视图的定义，不会出现数据冗余。</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8307" name="Rectangle 2"/>
          <p:cNvSpPr>
            <a:spLocks noRot="1" noTextEdit="1"/>
          </p:cNvSpPr>
          <p:nvPr>
            <p:ph type="sldImg"/>
          </p:nvPr>
        </p:nvSpPr>
        <p:spPr/>
      </p:sp>
      <p:sp>
        <p:nvSpPr>
          <p:cNvPr id="98308" name="Rectangle 3"/>
          <p:cNvSpPr>
            <a:spLocks noGrp="1"/>
          </p:cNvSpPr>
          <p:nvPr>
            <p:ph type="body" idx="1"/>
          </p:nvPr>
        </p:nvSpPr>
        <p:spPr/>
        <p:txBody>
          <a:bodyPr wrap="square" lIns="91440" tIns="45720" rIns="91440" bIns="45720" anchor="t" anchorCtr="0"/>
          <a:p>
            <a:pPr lvl="0" eaLnBrk="1" hangingPunct="1"/>
            <a:r>
              <a:rPr lang="zh-CN" altLang="en-US" dirty="0"/>
              <a:t>当对一组数据建立视图以后，可以像处理另外一个表一样去处理视图，但是在视图中修改数据时要受到一些限制。</a:t>
            </a:r>
            <a:endParaRPr lang="zh-CN" altLang="en-US" dirty="0"/>
          </a:p>
          <a:p>
            <a:pPr lvl="0" eaLnBrk="1" hangingPunct="1"/>
            <a:r>
              <a:rPr lang="zh-CN" altLang="en-US" dirty="0"/>
              <a:t>数据字典只存放视图的定义，不会出现数据冗余。</a:t>
            </a: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9331" name="Rectangle 2"/>
          <p:cNvSpPr>
            <a:spLocks noRot="1" noTextEdit="1"/>
          </p:cNvSpPr>
          <p:nvPr>
            <p:ph type="sldImg"/>
          </p:nvPr>
        </p:nvSpPr>
        <p:spPr/>
      </p:sp>
      <p:sp>
        <p:nvSpPr>
          <p:cNvPr id="99332" name="Rectangle 3"/>
          <p:cNvSpPr>
            <a:spLocks noGrp="1"/>
          </p:cNvSpPr>
          <p:nvPr>
            <p:ph type="body" idx="1"/>
          </p:nvPr>
        </p:nvSpPr>
        <p:spPr/>
        <p:txBody>
          <a:bodyPr wrap="square" lIns="91440" tIns="45720" rIns="91440" bIns="45720" anchor="t" anchorCtr="0"/>
          <a:p>
            <a:pPr lvl="0" eaLnBrk="1" hangingPunct="1">
              <a:lnSpc>
                <a:spcPct val="150000"/>
              </a:lnSpc>
            </a:pPr>
            <a:r>
              <a:rPr lang="en-US" altLang="zh-CN" dirty="0"/>
              <a:t>DBMS</a:t>
            </a:r>
            <a:r>
              <a:rPr lang="zh-CN" altLang="en-US" dirty="0"/>
              <a:t>执行</a:t>
            </a:r>
            <a:r>
              <a:rPr lang="en-US" altLang="zh-CN" dirty="0"/>
              <a:t>CREATE VIEW</a:t>
            </a:r>
            <a:r>
              <a:rPr lang="zh-CN" altLang="en-US" dirty="0"/>
              <a:t>语句时只是把视图的定义存入数据字典，并不执行其中的</a:t>
            </a:r>
            <a:r>
              <a:rPr lang="en-US" altLang="zh-CN" dirty="0"/>
              <a:t>SELECT</a:t>
            </a:r>
            <a:r>
              <a:rPr lang="zh-CN" altLang="en-US" dirty="0"/>
              <a:t>语句。</a:t>
            </a:r>
            <a:endParaRPr lang="zh-CN" altLang="en-US" dirty="0"/>
          </a:p>
          <a:p>
            <a:pPr lvl="0" eaLnBrk="1" hangingPunct="1">
              <a:lnSpc>
                <a:spcPct val="150000"/>
              </a:lnSpc>
            </a:pPr>
            <a:r>
              <a:rPr lang="zh-CN" altLang="en-US" dirty="0"/>
              <a:t>在对视图查询时，按视图的定义从基本表中将数据查出。</a:t>
            </a:r>
            <a:endParaRPr lang="zh-CN" altLang="en-US" dirty="0"/>
          </a:p>
          <a:p>
            <a:pPr lvl="0" eaLnBrk="1" hangingPunct="1">
              <a:lnSpc>
                <a:spcPct val="150000"/>
              </a:lnSpc>
            </a:pPr>
            <a:endParaRPr lang="zh-CN" altLang="en-US" dirty="0"/>
          </a:p>
          <a:p>
            <a:pPr lvl="0" eaLnBrk="1" hangingPunct="1">
              <a:lnSpc>
                <a:spcPct val="150000"/>
              </a:lnSpc>
            </a:pPr>
            <a:r>
              <a:rPr lang="zh-CN" altLang="en-US" dirty="0"/>
              <a:t>组成视图的属性列名</a:t>
            </a:r>
            <a:r>
              <a:rPr lang="zh-CN" altLang="en-US" sz="1000" dirty="0"/>
              <a:t>全部省略或全部指定</a:t>
            </a:r>
            <a:endParaRPr lang="zh-CN" altLang="en-US" sz="1000" dirty="0"/>
          </a:p>
          <a:p>
            <a:pPr lvl="1" eaLnBrk="1" hangingPunct="1">
              <a:lnSpc>
                <a:spcPct val="130000"/>
              </a:lnSpc>
            </a:pPr>
            <a:r>
              <a:rPr lang="zh-CN" altLang="en-US" sz="1000" dirty="0"/>
              <a:t>省略</a:t>
            </a:r>
            <a:r>
              <a:rPr lang="en-US" altLang="zh-CN" sz="1000" dirty="0"/>
              <a:t>: </a:t>
            </a:r>
            <a:endParaRPr lang="en-US" altLang="zh-CN" sz="1000" dirty="0"/>
          </a:p>
          <a:p>
            <a:pPr lvl="1" eaLnBrk="1" hangingPunct="1">
              <a:lnSpc>
                <a:spcPct val="130000"/>
              </a:lnSpc>
            </a:pPr>
            <a:r>
              <a:rPr lang="en-US" altLang="zh-CN" sz="1000" dirty="0"/>
              <a:t>    </a:t>
            </a:r>
            <a:r>
              <a:rPr lang="zh-CN" altLang="en-US" sz="1000" dirty="0"/>
              <a:t>由子查询中</a:t>
            </a:r>
            <a:r>
              <a:rPr lang="en-US" altLang="zh-CN" sz="1000" dirty="0"/>
              <a:t>SELECT</a:t>
            </a:r>
            <a:r>
              <a:rPr lang="zh-CN" altLang="en-US" sz="1000" dirty="0"/>
              <a:t>目标列中的诸字段组成</a:t>
            </a:r>
            <a:endParaRPr lang="zh-CN" altLang="en-US" sz="1000" dirty="0"/>
          </a:p>
          <a:p>
            <a:pPr lvl="1" eaLnBrk="1" hangingPunct="1">
              <a:lnSpc>
                <a:spcPct val="130000"/>
              </a:lnSpc>
            </a:pPr>
            <a:r>
              <a:rPr lang="zh-CN" altLang="en-US" sz="1000" dirty="0"/>
              <a:t>明确指定视图的所有列名</a:t>
            </a:r>
            <a:r>
              <a:rPr lang="en-US" altLang="zh-CN" sz="1000" dirty="0"/>
              <a:t>:</a:t>
            </a:r>
            <a:endParaRPr lang="en-US" altLang="zh-CN" sz="1000" dirty="0"/>
          </a:p>
          <a:p>
            <a:pPr lvl="3" eaLnBrk="1" hangingPunct="1">
              <a:lnSpc>
                <a:spcPct val="130000"/>
              </a:lnSpc>
            </a:pPr>
            <a:r>
              <a:rPr lang="en-US" altLang="zh-CN" dirty="0"/>
              <a:t>(1) </a:t>
            </a:r>
            <a:r>
              <a:rPr lang="zh-CN" altLang="en-US" dirty="0"/>
              <a:t>某个目标列是集函数或列表达式</a:t>
            </a:r>
            <a:endParaRPr lang="zh-CN" altLang="en-US" dirty="0"/>
          </a:p>
          <a:p>
            <a:pPr lvl="3" eaLnBrk="1" hangingPunct="1">
              <a:lnSpc>
                <a:spcPct val="130000"/>
              </a:lnSpc>
            </a:pPr>
            <a:r>
              <a:rPr lang="en-US" altLang="zh-CN" dirty="0"/>
              <a:t>(2) </a:t>
            </a:r>
            <a:r>
              <a:rPr lang="zh-CN" altLang="en-US" dirty="0"/>
              <a:t>目标列为  *</a:t>
            </a:r>
            <a:endParaRPr lang="zh-CN" altLang="en-US" dirty="0"/>
          </a:p>
          <a:p>
            <a:pPr lvl="3" eaLnBrk="1" hangingPunct="1">
              <a:lnSpc>
                <a:spcPct val="130000"/>
              </a:lnSpc>
            </a:pPr>
            <a:r>
              <a:rPr lang="en-US" altLang="zh-CN" dirty="0"/>
              <a:t>(3) </a:t>
            </a:r>
            <a:r>
              <a:rPr lang="zh-CN" altLang="en-US" dirty="0"/>
              <a:t>多表连接时选出了几个同名列作为视图的字段</a:t>
            </a:r>
            <a:endParaRPr lang="zh-CN" altLang="en-US" dirty="0"/>
          </a:p>
          <a:p>
            <a:pPr lvl="3" eaLnBrk="1" hangingPunct="1">
              <a:lnSpc>
                <a:spcPct val="130000"/>
              </a:lnSpc>
            </a:pPr>
            <a:r>
              <a:rPr lang="en-US" altLang="zh-CN" dirty="0"/>
              <a:t>(4) </a:t>
            </a:r>
            <a:r>
              <a:rPr lang="zh-CN" altLang="en-US" dirty="0"/>
              <a:t>需要在视图中为某个列启用新的更合适的名字</a:t>
            </a:r>
            <a:endParaRPr lang="zh-CN" altLang="en-US" dirty="0"/>
          </a:p>
          <a:p>
            <a:pPr lvl="3" eaLnBrk="1" hangingPunct="1">
              <a:lnSpc>
                <a:spcPct val="130000"/>
              </a:lnSpc>
            </a:pPr>
            <a:endParaRPr lang="zh-CN" altLang="en-US" sz="1400" dirty="0"/>
          </a:p>
          <a:p>
            <a:pPr lvl="0" eaLnBrk="1" hangingPunct="1"/>
            <a:endParaRPr lang="en-US"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0355" name="Rectangle 2"/>
          <p:cNvSpPr>
            <a:spLocks noRot="1" noTextEdit="1"/>
          </p:cNvSpPr>
          <p:nvPr>
            <p:ph type="sldImg"/>
          </p:nvPr>
        </p:nvSpPr>
        <p:spPr/>
      </p:sp>
      <p:sp>
        <p:nvSpPr>
          <p:cNvPr id="100356" name="Rectangle 3"/>
          <p:cNvSpPr>
            <a:spLocks noGrp="1"/>
          </p:cNvSpPr>
          <p:nvPr>
            <p:ph type="body" idx="1"/>
          </p:nvPr>
        </p:nvSpPr>
        <p:spPr/>
        <p:txBody>
          <a:bodyPr wrap="square" lIns="91440" tIns="45720" rIns="91440" bIns="45720" anchor="t" anchorCtr="0"/>
          <a:p>
            <a:pPr lvl="0" eaLnBrk="1" hangingPunct="1">
              <a:lnSpc>
                <a:spcPct val="140000"/>
              </a:lnSpc>
              <a:buChar char="•"/>
            </a:pPr>
            <a:r>
              <a:rPr lang="zh-CN" altLang="en-US" sz="1000" dirty="0"/>
              <a:t>以 </a:t>
            </a:r>
            <a:r>
              <a:rPr lang="en-US" altLang="zh-CN" sz="1000" dirty="0"/>
              <a:t>SELECT * </a:t>
            </a:r>
            <a:r>
              <a:rPr lang="zh-CN" altLang="en-US" sz="1000" dirty="0"/>
              <a:t>方式创建的视图可扩充性差，应尽可能避免</a:t>
            </a:r>
            <a:endParaRPr lang="zh-CN" altLang="en-US" sz="1000" dirty="0"/>
          </a:p>
          <a:p>
            <a:pPr lvl="0" algn="just" eaLnBrk="1" hangingPunct="1">
              <a:lnSpc>
                <a:spcPct val="120000"/>
              </a:lnSpc>
            </a:pPr>
            <a:r>
              <a:rPr lang="zh-CN" altLang="en-US" dirty="0"/>
              <a:t>例如：将</a:t>
            </a:r>
            <a:r>
              <a:rPr lang="en-US" altLang="zh-CN" dirty="0"/>
              <a:t>Student</a:t>
            </a:r>
            <a:r>
              <a:rPr lang="zh-CN" altLang="en-US" dirty="0"/>
              <a:t>表中所有女生记录定义为一个视图</a:t>
            </a:r>
            <a:endParaRPr lang="zh-CN" altLang="en-US" dirty="0"/>
          </a:p>
          <a:p>
            <a:pPr lvl="0" algn="just" eaLnBrk="1" hangingPunct="1">
              <a:lnSpc>
                <a:spcPct val="120000"/>
              </a:lnSpc>
            </a:pPr>
            <a:r>
              <a:rPr lang="zh-CN" altLang="en-US" sz="1000" dirty="0"/>
              <a:t>       </a:t>
            </a:r>
            <a:r>
              <a:rPr lang="en-US" altLang="zh-CN" sz="1000" dirty="0"/>
              <a:t>CREATE VIEW F_Student1(stdnum</a:t>
            </a:r>
            <a:r>
              <a:rPr lang="zh-CN" altLang="en-US" sz="1000" dirty="0"/>
              <a:t>，</a:t>
            </a:r>
            <a:r>
              <a:rPr lang="en-US" altLang="zh-CN" sz="1000" dirty="0"/>
              <a:t>name</a:t>
            </a:r>
            <a:r>
              <a:rPr lang="zh-CN" altLang="en-US" sz="1000" dirty="0"/>
              <a:t>，</a:t>
            </a:r>
            <a:r>
              <a:rPr lang="en-US" altLang="zh-CN" sz="1000" dirty="0"/>
              <a:t>sex</a:t>
            </a:r>
            <a:r>
              <a:rPr lang="zh-CN" altLang="en-US" sz="1000" dirty="0"/>
              <a:t>，</a:t>
            </a:r>
            <a:r>
              <a:rPr lang="en-US" altLang="zh-CN" sz="1000" dirty="0"/>
              <a:t>age</a:t>
            </a:r>
            <a:r>
              <a:rPr lang="zh-CN" altLang="en-US" sz="1000" dirty="0"/>
              <a:t>，</a:t>
            </a:r>
            <a:r>
              <a:rPr lang="en-US" altLang="zh-CN" sz="1000" dirty="0"/>
              <a:t>dept)</a:t>
            </a:r>
            <a:endParaRPr lang="en-US" altLang="zh-CN" sz="1000" dirty="0"/>
          </a:p>
          <a:p>
            <a:pPr lvl="0" algn="just" eaLnBrk="1" hangingPunct="1">
              <a:lnSpc>
                <a:spcPct val="120000"/>
              </a:lnSpc>
            </a:pPr>
            <a:r>
              <a:rPr lang="en-US" altLang="zh-CN" sz="1000" dirty="0"/>
              <a:t>         AS  </a:t>
            </a:r>
            <a:r>
              <a:rPr lang="en-US" altLang="zh-CN" sz="1000" dirty="0">
                <a:solidFill>
                  <a:srgbClr val="FF3399"/>
                </a:solidFill>
              </a:rPr>
              <a:t>SELECT * </a:t>
            </a:r>
            <a:r>
              <a:rPr lang="en-US" altLang="zh-CN" sz="1000" dirty="0"/>
              <a:t>FROM  Student  WHERE Ssex='</a:t>
            </a:r>
            <a:r>
              <a:rPr lang="zh-CN" altLang="en-US" sz="1000" dirty="0"/>
              <a:t>女</a:t>
            </a:r>
            <a:r>
              <a:rPr lang="en-US" altLang="zh-CN" sz="1000" dirty="0"/>
              <a:t>'</a:t>
            </a:r>
            <a:r>
              <a:rPr lang="zh-CN" altLang="en-US" sz="1000" dirty="0"/>
              <a:t>；</a:t>
            </a:r>
            <a:endParaRPr lang="zh-CN" altLang="en-US" sz="1000" dirty="0"/>
          </a:p>
          <a:p>
            <a:pPr lvl="0" eaLnBrk="1" hangingPunct="1">
              <a:lnSpc>
                <a:spcPct val="120000"/>
              </a:lnSpc>
            </a:pPr>
            <a:r>
              <a:rPr lang="zh-CN" altLang="en-US" sz="1100" dirty="0"/>
              <a:t>缺点：修改基表</a:t>
            </a:r>
            <a:r>
              <a:rPr lang="en-US" altLang="zh-CN" sz="1100" dirty="0"/>
              <a:t>Student</a:t>
            </a:r>
            <a:r>
              <a:rPr lang="zh-CN" altLang="en-US" sz="1100" dirty="0"/>
              <a:t>的结构后，</a:t>
            </a:r>
            <a:r>
              <a:rPr lang="en-US" altLang="zh-CN" sz="1100" dirty="0"/>
              <a:t>Student</a:t>
            </a:r>
            <a:r>
              <a:rPr lang="zh-CN" altLang="en-US" sz="1100" dirty="0"/>
              <a:t>表与</a:t>
            </a:r>
            <a:r>
              <a:rPr lang="en-US" altLang="zh-CN" sz="1100" dirty="0"/>
              <a:t>F_Student1</a:t>
            </a:r>
            <a:r>
              <a:rPr lang="zh-CN" altLang="en-US" sz="1100" dirty="0"/>
              <a:t>视图的映象关系被破坏，导致该视图不能正确工作。</a:t>
            </a:r>
            <a:endParaRPr lang="zh-CN" altLang="en-US" sz="1100" dirty="0"/>
          </a:p>
          <a:p>
            <a:pPr lvl="0" eaLnBrk="1" hangingPunct="1">
              <a:lnSpc>
                <a:spcPct val="120000"/>
              </a:lnSpc>
            </a:pPr>
            <a:endParaRPr lang="zh-CN" altLang="en-US" sz="1100" dirty="0"/>
          </a:p>
          <a:p>
            <a:pPr lvl="0" algn="just" eaLnBrk="1" hangingPunct="1"/>
            <a:r>
              <a:rPr lang="zh-CN" altLang="en-US" dirty="0"/>
              <a:t>如果：</a:t>
            </a:r>
            <a:r>
              <a:rPr lang="en-US" altLang="zh-CN" dirty="0"/>
              <a:t>CREATE VIEW </a:t>
            </a:r>
            <a:r>
              <a:rPr lang="en-US" altLang="zh-CN" sz="1000" dirty="0"/>
              <a:t>F_Student2 (stdnum</a:t>
            </a:r>
            <a:r>
              <a:rPr lang="zh-CN" altLang="en-US" sz="1000" dirty="0"/>
              <a:t>，</a:t>
            </a:r>
            <a:r>
              <a:rPr lang="en-US" altLang="zh-CN" sz="1000" dirty="0"/>
              <a:t>name</a:t>
            </a:r>
            <a:r>
              <a:rPr lang="zh-CN" altLang="en-US" sz="1000" dirty="0"/>
              <a:t>，</a:t>
            </a:r>
            <a:r>
              <a:rPr lang="en-US" altLang="zh-CN" sz="1000" dirty="0"/>
              <a:t>sex</a:t>
            </a:r>
            <a:r>
              <a:rPr lang="zh-CN" altLang="en-US" sz="1000" dirty="0"/>
              <a:t>，</a:t>
            </a:r>
            <a:r>
              <a:rPr lang="en-US" altLang="zh-CN" sz="1000" dirty="0"/>
              <a:t>age</a:t>
            </a:r>
            <a:r>
              <a:rPr lang="zh-CN" altLang="en-US" sz="1000" dirty="0"/>
              <a:t>，</a:t>
            </a:r>
            <a:r>
              <a:rPr lang="en-US" altLang="zh-CN" sz="1000" dirty="0"/>
              <a:t>dept)</a:t>
            </a:r>
            <a:endParaRPr lang="en-US" altLang="zh-CN" sz="1000" dirty="0"/>
          </a:p>
          <a:p>
            <a:pPr lvl="0" algn="just" eaLnBrk="1" hangingPunct="1"/>
            <a:r>
              <a:rPr lang="en-US" altLang="zh-CN" sz="1000" dirty="0"/>
              <a:t>      AS  SELECT Sno</a:t>
            </a:r>
            <a:r>
              <a:rPr lang="zh-CN" altLang="en-US" sz="1000" dirty="0"/>
              <a:t>，</a:t>
            </a:r>
            <a:r>
              <a:rPr lang="en-US" altLang="zh-CN" sz="1000" dirty="0"/>
              <a:t>Sname</a:t>
            </a:r>
            <a:r>
              <a:rPr lang="zh-CN" altLang="en-US" sz="1000" dirty="0"/>
              <a:t>，</a:t>
            </a:r>
            <a:r>
              <a:rPr lang="en-US" altLang="zh-CN" sz="1000" dirty="0"/>
              <a:t>Ssex</a:t>
            </a:r>
            <a:r>
              <a:rPr lang="zh-CN" altLang="en-US" sz="1000" dirty="0"/>
              <a:t>，</a:t>
            </a:r>
            <a:r>
              <a:rPr lang="en-US" altLang="zh-CN" sz="1000" dirty="0"/>
              <a:t>Sage</a:t>
            </a:r>
            <a:r>
              <a:rPr lang="zh-CN" altLang="en-US" sz="1000" dirty="0"/>
              <a:t>，</a:t>
            </a:r>
            <a:r>
              <a:rPr lang="en-US" altLang="zh-CN" sz="1000" dirty="0"/>
              <a:t>Sdept FROM  Student  WHERE Ssex='</a:t>
            </a:r>
            <a:r>
              <a:rPr lang="zh-CN" altLang="en-US" sz="1000" dirty="0"/>
              <a:t>女</a:t>
            </a:r>
            <a:r>
              <a:rPr lang="en-US" altLang="zh-CN" sz="1000" dirty="0"/>
              <a:t>'</a:t>
            </a:r>
            <a:r>
              <a:rPr lang="zh-CN" altLang="en-US" sz="1000" dirty="0"/>
              <a:t>；</a:t>
            </a:r>
            <a:endParaRPr lang="zh-CN" altLang="en-US" dirty="0"/>
          </a:p>
          <a:p>
            <a:pPr lvl="0" algn="just" eaLnBrk="1" hangingPunct="1"/>
            <a:r>
              <a:rPr lang="zh-CN" altLang="en-US" dirty="0"/>
              <a:t>为基表</a:t>
            </a:r>
            <a:r>
              <a:rPr lang="en-US" altLang="zh-CN" dirty="0"/>
              <a:t>Student</a:t>
            </a:r>
            <a:r>
              <a:rPr lang="zh-CN" altLang="en-US" dirty="0"/>
              <a:t>增加属性列不会破坏</a:t>
            </a:r>
            <a:r>
              <a:rPr lang="en-US" altLang="zh-CN" dirty="0"/>
              <a:t>Student</a:t>
            </a:r>
            <a:r>
              <a:rPr lang="zh-CN" altLang="en-US" dirty="0"/>
              <a:t>表与</a:t>
            </a:r>
            <a:r>
              <a:rPr lang="en-US" altLang="zh-CN" dirty="0"/>
              <a:t>F_Student2</a:t>
            </a:r>
            <a:r>
              <a:rPr lang="zh-CN" altLang="en-US" dirty="0"/>
              <a:t>视图的映象关系。</a:t>
            </a:r>
            <a:endParaRPr lang="zh-CN" altLang="en-US" dirty="0"/>
          </a:p>
          <a:p>
            <a:pPr lvl="0" eaLnBrk="1" hangingPunct="1">
              <a:lnSpc>
                <a:spcPct val="120000"/>
              </a:lnSpc>
            </a:pPr>
            <a:endParaRPr lang="zh-CN" altLang="en-US" sz="1100" dirty="0"/>
          </a:p>
          <a:p>
            <a:pPr lvl="0" eaLnBrk="1" hangingPunct="1"/>
            <a:endParaRPr lang="en-US" altLang="zh-CN" sz="10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1379" name="Rectangle 2"/>
          <p:cNvSpPr>
            <a:spLocks noRot="1" noTextEdit="1"/>
          </p:cNvSpPr>
          <p:nvPr>
            <p:ph type="sldImg"/>
          </p:nvPr>
        </p:nvSpPr>
        <p:spPr/>
      </p:sp>
      <p:sp>
        <p:nvSpPr>
          <p:cNvPr id="101380" name="Rectangle 3"/>
          <p:cNvSpPr>
            <a:spLocks noGrp="1"/>
          </p:cNvSpPr>
          <p:nvPr>
            <p:ph type="body" idx="1"/>
          </p:nvPr>
        </p:nvSpPr>
        <p:spPr/>
        <p:txBody>
          <a:bodyPr wrap="square" lIns="91440" tIns="45720" rIns="91440" bIns="45720" anchor="t" anchorCtr="0"/>
          <a:p>
            <a:pPr lvl="1" eaLnBrk="1" hangingPunct="1">
              <a:lnSpc>
                <a:spcPct val="140000"/>
              </a:lnSpc>
            </a:pPr>
            <a:endParaRPr lang="en-US" altLang="zh-CN" sz="10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2403" name="Rectangle 2"/>
          <p:cNvSpPr>
            <a:spLocks noRot="1" noTextEdit="1"/>
          </p:cNvSpPr>
          <p:nvPr>
            <p:ph type="sldImg"/>
          </p:nvPr>
        </p:nvSpPr>
        <p:spPr/>
      </p:sp>
      <p:sp>
        <p:nvSpPr>
          <p:cNvPr id="102404" name="Rectangle 3"/>
          <p:cNvSpPr>
            <a:spLocks noGrp="1"/>
          </p:cNvSpPr>
          <p:nvPr>
            <p:ph type="body" idx="1"/>
          </p:nvPr>
        </p:nvSpPr>
        <p:spPr/>
        <p:txBody>
          <a:bodyPr wrap="square" lIns="91440" tIns="45720" rIns="91440" bIns="45720" anchor="t" anchorCtr="0"/>
          <a:p>
            <a:pPr lvl="1" eaLnBrk="1" hangingPunct="1">
              <a:lnSpc>
                <a:spcPct val="140000"/>
              </a:lnSpc>
            </a:pPr>
            <a:r>
              <a:rPr lang="zh-CN" altLang="en-US" dirty="0"/>
              <a:t>基于多个基表的视图</a:t>
            </a:r>
            <a:endParaRPr lang="zh-CN" altLang="en-US" dirty="0"/>
          </a:p>
          <a:p>
            <a:pPr lvl="1" eaLnBrk="1" hangingPunct="1">
              <a:spcBef>
                <a:spcPct val="45000"/>
              </a:spcBef>
            </a:pPr>
            <a:r>
              <a:rPr lang="zh-CN" altLang="en-US" dirty="0"/>
              <a:t>视图包含了两个表的同名列</a:t>
            </a:r>
            <a:r>
              <a:rPr lang="en-US" altLang="zh-CN" dirty="0"/>
              <a:t>Sno</a:t>
            </a:r>
            <a:r>
              <a:rPr lang="zh-CN" altLang="en-US" dirty="0"/>
              <a:t>，必须在视图名后明确说明视图的各个属性列名。</a:t>
            </a:r>
            <a:r>
              <a:rPr lang="en-US" altLang="zh-CN" dirty="0"/>
              <a:t>(</a:t>
            </a:r>
            <a:r>
              <a:rPr lang="zh-CN" altLang="en-US" dirty="0"/>
              <a:t>在</a:t>
            </a:r>
            <a:r>
              <a:rPr lang="en-US" altLang="zh-CN" dirty="0"/>
              <a:t>SQLSERVER2000</a:t>
            </a:r>
            <a:r>
              <a:rPr lang="zh-CN" altLang="en-US" dirty="0"/>
              <a:t>中可以不用视图名后面的属性列说明</a:t>
            </a:r>
            <a:r>
              <a:rPr lang="en-US" altLang="zh-CN" dirty="0"/>
              <a:t>)</a:t>
            </a:r>
            <a:endParaRPr lang="en-US" altLang="zh-CN" sz="1400" dirty="0">
              <a:solidFill>
                <a:srgbClr val="0000CC"/>
              </a:solidFill>
            </a:endParaRPr>
          </a:p>
          <a:p>
            <a:pPr lvl="1" eaLnBrk="1" hangingPunct="1">
              <a:lnSpc>
                <a:spcPct val="140000"/>
              </a:lnSpc>
            </a:pPr>
            <a:endParaRPr lang="en-US"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3427" name="Rectangle 2"/>
          <p:cNvSpPr>
            <a:spLocks noRot="1" noTextEdit="1"/>
          </p:cNvSpPr>
          <p:nvPr>
            <p:ph type="sldImg"/>
          </p:nvPr>
        </p:nvSpPr>
        <p:spPr/>
      </p:sp>
      <p:sp>
        <p:nvSpPr>
          <p:cNvPr id="103428" name="Rectangle 3"/>
          <p:cNvSpPr>
            <a:spLocks noGrp="1"/>
          </p:cNvSpPr>
          <p:nvPr>
            <p:ph type="body" idx="1"/>
          </p:nvPr>
        </p:nvSpPr>
        <p:spPr/>
        <p:txBody>
          <a:bodyPr wrap="square" lIns="91440" tIns="45720" rIns="91440" bIns="45720" anchor="t" anchorCtr="0"/>
          <a:p>
            <a:pPr lvl="1" eaLnBrk="1" hangingPunct="1">
              <a:lnSpc>
                <a:spcPct val="140000"/>
              </a:lnSpc>
            </a:pPr>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4451" name="Rectangle 2"/>
          <p:cNvSpPr>
            <a:spLocks noRot="1" noTextEdit="1"/>
          </p:cNvSpPr>
          <p:nvPr>
            <p:ph type="sldImg"/>
          </p:nvPr>
        </p:nvSpPr>
        <p:spPr/>
      </p:sp>
      <p:sp>
        <p:nvSpPr>
          <p:cNvPr id="104452" name="Rectangle 3"/>
          <p:cNvSpPr>
            <a:spLocks noGrp="1"/>
          </p:cNvSpPr>
          <p:nvPr>
            <p:ph type="body" idx="1"/>
          </p:nvPr>
        </p:nvSpPr>
        <p:spPr/>
        <p:txBody>
          <a:bodyPr wrap="square" lIns="91440" tIns="45720" rIns="91440" bIns="45720" anchor="t" anchorCtr="0"/>
          <a:p>
            <a:pPr lvl="1" eaLnBrk="1" hangingPunct="1">
              <a:lnSpc>
                <a:spcPct val="140000"/>
              </a:lnSpc>
            </a:pPr>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5475" name="Rectangle 2"/>
          <p:cNvSpPr>
            <a:spLocks noRot="1" noTextEdit="1"/>
          </p:cNvSpPr>
          <p:nvPr>
            <p:ph type="sldImg"/>
          </p:nvPr>
        </p:nvSpPr>
        <p:spPr/>
      </p:sp>
      <p:sp>
        <p:nvSpPr>
          <p:cNvPr id="105476" name="Rectangle 3"/>
          <p:cNvSpPr>
            <a:spLocks noGrp="1"/>
          </p:cNvSpPr>
          <p:nvPr>
            <p:ph type="body" idx="1"/>
          </p:nvPr>
        </p:nvSpPr>
        <p:spPr/>
        <p:txBody>
          <a:bodyPr wrap="square" lIns="91440" tIns="45720" rIns="91440" bIns="45720" anchor="t" anchorCtr="0"/>
          <a:p>
            <a:pPr lvl="1" eaLnBrk="1" hangingPunct="1">
              <a:lnSpc>
                <a:spcPct val="140000"/>
              </a:lnSpc>
            </a:pPr>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6499" name="Rectangle 2"/>
          <p:cNvSpPr>
            <a:spLocks noRot="1" noTextEdit="1"/>
          </p:cNvSpPr>
          <p:nvPr>
            <p:ph type="sldImg"/>
          </p:nvPr>
        </p:nvSpPr>
        <p:spPr/>
      </p:sp>
      <p:sp>
        <p:nvSpPr>
          <p:cNvPr id="106500" name="Rectangle 3"/>
          <p:cNvSpPr>
            <a:spLocks noGrp="1"/>
          </p:cNvSpPr>
          <p:nvPr>
            <p:ph type="body" idx="1"/>
          </p:nvPr>
        </p:nvSpPr>
        <p:spPr/>
        <p:txBody>
          <a:bodyPr wrap="square" lIns="91440" tIns="45720" rIns="91440" bIns="45720" anchor="t" anchorCtr="0"/>
          <a:p>
            <a:pPr lvl="0" eaLnBrk="1" hangingPunct="1"/>
            <a:r>
              <a:rPr lang="zh-CN" altLang="en-US" dirty="0"/>
              <a:t>可以删除一个视图而不影响任何一个真实的表，这也就是为什么将视图称为虚表的原因。</a:t>
            </a:r>
            <a:endParaRPr lang="zh-CN" altLang="en-US" dirty="0"/>
          </a:p>
          <a:p>
            <a:pPr lvl="0" eaLnBrk="1" hangingPunct="1">
              <a:lnSpc>
                <a:spcPct val="130000"/>
              </a:lnSpc>
            </a:pPr>
            <a:r>
              <a:rPr lang="zh-CN" altLang="en-US" dirty="0"/>
              <a:t>由该视图导出的其他视图定义仍在数据字典中，但已不能使用，必须显式删除</a:t>
            </a:r>
            <a:endParaRPr lang="zh-CN" altLang="en-US" dirty="0"/>
          </a:p>
          <a:p>
            <a:pPr lvl="0" eaLnBrk="1" hangingPunct="1">
              <a:lnSpc>
                <a:spcPct val="130000"/>
              </a:lnSpc>
            </a:pPr>
            <a:r>
              <a:rPr lang="zh-CN" altLang="en-US" sz="1400" dirty="0"/>
              <a:t>删除基表后，由该基表导出的所有视图均无法使用，必须使用上述语句显式删除。</a:t>
            </a:r>
            <a:endParaRPr lang="zh-CN" altLang="en-US" dirty="0"/>
          </a:p>
          <a:p>
            <a:pPr lvl="0" eaLnBrk="1" hangingPunct="1"/>
            <a:endParaRPr lang="zh-CN" altLang="en-US" dirty="0"/>
          </a:p>
          <a:p>
            <a:pPr lvl="0" eaLnBrk="1" hangingPunct="1"/>
            <a:endParaRPr lang="en-US"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7523" name="Rectangle 2"/>
          <p:cNvSpPr>
            <a:spLocks noRot="1" noTextEdit="1"/>
          </p:cNvSpPr>
          <p:nvPr>
            <p:ph type="sldImg"/>
          </p:nvPr>
        </p:nvSpPr>
        <p:spPr/>
      </p:sp>
      <p:sp>
        <p:nvSpPr>
          <p:cNvPr id="10752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8547" name="Rectangle 2"/>
          <p:cNvSpPr>
            <a:spLocks noRot="1" noTextEdit="1"/>
          </p:cNvSpPr>
          <p:nvPr>
            <p:ph type="sldImg"/>
          </p:nvPr>
        </p:nvSpPr>
        <p:spPr/>
      </p:sp>
      <p:sp>
        <p:nvSpPr>
          <p:cNvPr id="108548" name="Rectangle 3"/>
          <p:cNvSpPr>
            <a:spLocks noGrp="1"/>
          </p:cNvSpPr>
          <p:nvPr>
            <p:ph type="body" idx="1"/>
          </p:nvPr>
        </p:nvSpPr>
        <p:spPr/>
        <p:txBody>
          <a:bodyPr wrap="square" lIns="91440" tIns="45720" rIns="91440" bIns="45720" anchor="t" anchorCtr="0"/>
          <a:p>
            <a:pPr lvl="0" eaLnBrk="1" hangingPunct="1"/>
            <a:r>
              <a:rPr lang="zh-CN" altLang="en-US" dirty="0"/>
              <a:t>视图的可更新性：</a:t>
            </a:r>
            <a:endParaRPr lang="zh-CN" altLang="en-US" dirty="0"/>
          </a:p>
          <a:p>
            <a:pPr lvl="0" eaLnBrk="1" hangingPunct="1">
              <a:buChar char="•"/>
            </a:pPr>
            <a:r>
              <a:rPr lang="zh-CN" altLang="en-US" dirty="0"/>
              <a:t>对基本表的任何更新操作都能够立即反映到涉及该基本表的所有视图中。但对视图的更新能够反映到它所涉及的底层基本表么？</a:t>
            </a:r>
            <a:endParaRPr lang="zh-CN" altLang="en-US" dirty="0"/>
          </a:p>
          <a:p>
            <a:pPr lvl="0" eaLnBrk="1" hangingPunct="1">
              <a:buChar char="•"/>
            </a:pPr>
            <a:r>
              <a:rPr lang="zh-CN" altLang="en-US" dirty="0"/>
              <a:t>为了是视图可更新，</a:t>
            </a:r>
            <a:r>
              <a:rPr lang="en-US" altLang="zh-CN" dirty="0"/>
              <a:t>DBMS</a:t>
            </a:r>
            <a:r>
              <a:rPr lang="zh-CN" altLang="en-US" dirty="0"/>
              <a:t>必须能够对于任何一个行或列都追</a:t>
            </a:r>
            <a:r>
              <a:rPr lang="zh-CN" altLang="en-US" dirty="0">
                <a:latin typeface="宋体" panose="02010600030101010101" pitchFamily="2" charset="-122"/>
              </a:rPr>
              <a:t>溯</a:t>
            </a:r>
            <a:r>
              <a:rPr lang="zh-CN" altLang="en-US" dirty="0"/>
              <a:t>到其源表中的相应的行或列。</a:t>
            </a:r>
            <a:endParaRPr lang="zh-CN" altLang="en-US" dirty="0"/>
          </a:p>
          <a:p>
            <a:pPr lvl="0" eaLnBrk="1" hangingPunct="1"/>
            <a:endParaRPr lang="zh-CN" altLang="en-US" dirty="0"/>
          </a:p>
          <a:p>
            <a:pPr lvl="0" eaLnBrk="1" hangingPunct="1"/>
            <a:r>
              <a:rPr lang="zh-CN" altLang="en-US" dirty="0"/>
              <a:t>视图可更新的充要条件：</a:t>
            </a:r>
            <a:endParaRPr lang="zh-CN" altLang="en-US" dirty="0"/>
          </a:p>
          <a:p>
            <a:pPr lvl="0" eaLnBrk="1" hangingPunct="1">
              <a:buChar char="•"/>
            </a:pPr>
            <a:r>
              <a:rPr lang="zh-CN" altLang="en-US" dirty="0"/>
              <a:t>没有指定</a:t>
            </a:r>
            <a:r>
              <a:rPr lang="en-US" altLang="zh-CN" dirty="0"/>
              <a:t>DISTINT</a:t>
            </a:r>
            <a:r>
              <a:rPr lang="zh-CN" altLang="en-US" dirty="0"/>
              <a:t>。</a:t>
            </a:r>
            <a:endParaRPr lang="zh-CN" altLang="en-US" dirty="0"/>
          </a:p>
          <a:p>
            <a:pPr lvl="0" eaLnBrk="1" hangingPunct="1">
              <a:buChar char="•"/>
            </a:pPr>
            <a:r>
              <a:rPr lang="zh-CN" altLang="en-US" dirty="0"/>
              <a:t>定义查询的</a:t>
            </a:r>
            <a:r>
              <a:rPr lang="en-US" altLang="zh-CN" dirty="0"/>
              <a:t>SELECT</a:t>
            </a:r>
            <a:r>
              <a:rPr lang="zh-CN" altLang="en-US" dirty="0"/>
              <a:t>列表中的每个元素均为列名，而不是常量、表达式或聚集函数，并且列名出现不能多于一次。</a:t>
            </a:r>
            <a:endParaRPr lang="zh-CN" altLang="en-US" dirty="0"/>
          </a:p>
          <a:p>
            <a:pPr lvl="0" eaLnBrk="1" hangingPunct="1">
              <a:buChar char="•"/>
            </a:pPr>
            <a:r>
              <a:rPr lang="en-US" altLang="zh-CN" dirty="0"/>
              <a:t>FROM</a:t>
            </a:r>
            <a:r>
              <a:rPr lang="zh-CN" altLang="en-US" dirty="0"/>
              <a:t>子句只能指定一个表，即视图必须有一个源表且用户拥有该表的操作权限。如果源表本身就是一个视图，那么视图必须满足这些条件。因此，排除了基于连接、交（</a:t>
            </a:r>
            <a:r>
              <a:rPr lang="en-US" altLang="zh-CN" dirty="0"/>
              <a:t>UNION</a:t>
            </a:r>
            <a:r>
              <a:rPr lang="zh-CN" altLang="en-US" dirty="0"/>
              <a:t>）、并（</a:t>
            </a:r>
            <a:r>
              <a:rPr lang="en-US" altLang="zh-CN" dirty="0"/>
              <a:t>INTERSECT</a:t>
            </a:r>
            <a:r>
              <a:rPr lang="zh-CN" altLang="en-US" dirty="0"/>
              <a:t>）或差（</a:t>
            </a:r>
            <a:r>
              <a:rPr lang="en-US" altLang="zh-CN" dirty="0"/>
              <a:t>MINUS</a:t>
            </a:r>
            <a:r>
              <a:rPr lang="zh-CN" altLang="en-US" dirty="0"/>
              <a:t>）操作的所有视图。</a:t>
            </a:r>
            <a:endParaRPr lang="zh-CN" altLang="en-US" dirty="0"/>
          </a:p>
          <a:p>
            <a:pPr lvl="0" eaLnBrk="1" hangingPunct="1">
              <a:buChar char="•"/>
            </a:pPr>
            <a:r>
              <a:rPr lang="en-US" altLang="zh-CN" dirty="0"/>
              <a:t>WHERE</a:t>
            </a:r>
            <a:r>
              <a:rPr lang="zh-CN" altLang="en-US" dirty="0"/>
              <a:t>子句不能包括任何引用了</a:t>
            </a:r>
            <a:r>
              <a:rPr lang="en-US" altLang="zh-CN" dirty="0"/>
              <a:t>FROM</a:t>
            </a:r>
            <a:r>
              <a:rPr lang="zh-CN" altLang="en-US" dirty="0"/>
              <a:t>子句中的表的嵌套</a:t>
            </a:r>
            <a:r>
              <a:rPr lang="en-US" altLang="zh-CN" dirty="0"/>
              <a:t>SELECT</a:t>
            </a:r>
            <a:r>
              <a:rPr lang="zh-CN" altLang="en-US" dirty="0"/>
              <a:t>操作。</a:t>
            </a:r>
            <a:endParaRPr lang="zh-CN" altLang="en-US" dirty="0"/>
          </a:p>
          <a:p>
            <a:pPr lvl="0" eaLnBrk="1" hangingPunct="1">
              <a:buChar char="•"/>
            </a:pPr>
            <a:r>
              <a:rPr lang="zh-CN" altLang="en-US" dirty="0"/>
              <a:t>定义查询中不能有</a:t>
            </a:r>
            <a:r>
              <a:rPr lang="en-US" altLang="zh-CN" dirty="0"/>
              <a:t>GROUP BY</a:t>
            </a:r>
            <a:r>
              <a:rPr lang="zh-CN" altLang="en-US" dirty="0"/>
              <a:t>或</a:t>
            </a:r>
            <a:r>
              <a:rPr lang="en-US" altLang="zh-CN" dirty="0"/>
              <a:t>HAVING</a:t>
            </a:r>
            <a:r>
              <a:rPr lang="zh-CN" altLang="en-US" dirty="0"/>
              <a:t>子句。</a:t>
            </a:r>
            <a:endParaRPr lang="zh-CN" altLang="en-US" dirty="0"/>
          </a:p>
          <a:p>
            <a:pPr lvl="0" eaLnBrk="1" hangingPunct="1"/>
            <a:endParaRPr lang="en-US"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9571" name="Rectangle 2"/>
          <p:cNvSpPr>
            <a:spLocks noRot="1" noTextEdit="1"/>
          </p:cNvSpPr>
          <p:nvPr>
            <p:ph type="sldImg"/>
          </p:nvPr>
        </p:nvSpPr>
        <p:spPr/>
      </p:sp>
      <p:sp>
        <p:nvSpPr>
          <p:cNvPr id="109572" name="Rectangle 3"/>
          <p:cNvSpPr>
            <a:spLocks noGrp="1"/>
          </p:cNvSpPr>
          <p:nvPr>
            <p:ph type="body" idx="1"/>
          </p:nvPr>
        </p:nvSpPr>
        <p:spPr/>
        <p:txBody>
          <a:bodyPr wrap="square" lIns="91440" tIns="45720" rIns="91440" bIns="45720" anchor="t" anchorCtr="0"/>
          <a:p>
            <a:pPr lvl="0" eaLnBrk="1" hangingPunct="1"/>
            <a:r>
              <a:rPr lang="zh-CN" altLang="en-US" dirty="0"/>
              <a:t>视图的可更新性：</a:t>
            </a:r>
            <a:endParaRPr lang="zh-CN" altLang="en-US" dirty="0"/>
          </a:p>
          <a:p>
            <a:pPr lvl="0" eaLnBrk="1" hangingPunct="1">
              <a:buChar char="•"/>
            </a:pPr>
            <a:r>
              <a:rPr lang="zh-CN" altLang="en-US" dirty="0"/>
              <a:t>对基本表的任何更新操作都能够立即反映到涉及该基本表的所有视图中。但对视图的更新能够反映到它所涉及的底层基本表么？</a:t>
            </a:r>
            <a:endParaRPr lang="zh-CN" altLang="en-US" dirty="0"/>
          </a:p>
          <a:p>
            <a:pPr lvl="0" eaLnBrk="1" hangingPunct="1">
              <a:buChar char="•"/>
            </a:pPr>
            <a:r>
              <a:rPr lang="zh-CN" altLang="en-US" dirty="0"/>
              <a:t>为了是视图可更新，</a:t>
            </a:r>
            <a:r>
              <a:rPr lang="en-US" altLang="zh-CN" dirty="0"/>
              <a:t>DBMS</a:t>
            </a:r>
            <a:r>
              <a:rPr lang="zh-CN" altLang="en-US" dirty="0"/>
              <a:t>必须能够对于任何一个行或列都追</a:t>
            </a:r>
            <a:r>
              <a:rPr lang="zh-CN" altLang="en-US" dirty="0">
                <a:latin typeface="宋体" panose="02010600030101010101" pitchFamily="2" charset="-122"/>
              </a:rPr>
              <a:t>溯</a:t>
            </a:r>
            <a:r>
              <a:rPr lang="zh-CN" altLang="en-US" dirty="0"/>
              <a:t>到其源表中的相应的行或列。</a:t>
            </a:r>
            <a:endParaRPr lang="zh-CN" altLang="en-US" dirty="0"/>
          </a:p>
          <a:p>
            <a:pPr lvl="0" eaLnBrk="1" hangingPunct="1"/>
            <a:endParaRPr lang="zh-CN" altLang="en-US" dirty="0"/>
          </a:p>
          <a:p>
            <a:pPr lvl="0" eaLnBrk="1" hangingPunct="1"/>
            <a:r>
              <a:rPr lang="zh-CN" altLang="en-US" dirty="0"/>
              <a:t>视图可更新的充要条件：</a:t>
            </a:r>
            <a:endParaRPr lang="zh-CN" altLang="en-US" dirty="0"/>
          </a:p>
          <a:p>
            <a:pPr lvl="0" eaLnBrk="1" hangingPunct="1">
              <a:buChar char="•"/>
            </a:pPr>
            <a:r>
              <a:rPr lang="zh-CN" altLang="en-US" dirty="0"/>
              <a:t>没有指定</a:t>
            </a:r>
            <a:r>
              <a:rPr lang="en-US" altLang="zh-CN" dirty="0"/>
              <a:t>DISTINT</a:t>
            </a:r>
            <a:r>
              <a:rPr lang="zh-CN" altLang="en-US" dirty="0"/>
              <a:t>。</a:t>
            </a:r>
            <a:endParaRPr lang="zh-CN" altLang="en-US" dirty="0"/>
          </a:p>
          <a:p>
            <a:pPr lvl="0" eaLnBrk="1" hangingPunct="1">
              <a:buChar char="•"/>
            </a:pPr>
            <a:r>
              <a:rPr lang="zh-CN" altLang="en-US" dirty="0"/>
              <a:t>定义查询的</a:t>
            </a:r>
            <a:r>
              <a:rPr lang="en-US" altLang="zh-CN" dirty="0"/>
              <a:t>SELECT</a:t>
            </a:r>
            <a:r>
              <a:rPr lang="zh-CN" altLang="en-US" dirty="0"/>
              <a:t>列表中的每个元素均为列名，而不是常量、表达式或聚集函数，并且列名出现不能多于一次。</a:t>
            </a:r>
            <a:endParaRPr lang="zh-CN" altLang="en-US" dirty="0"/>
          </a:p>
          <a:p>
            <a:pPr lvl="0" eaLnBrk="1" hangingPunct="1">
              <a:buChar char="•"/>
            </a:pPr>
            <a:r>
              <a:rPr lang="en-US" altLang="zh-CN" dirty="0"/>
              <a:t>FROM</a:t>
            </a:r>
            <a:r>
              <a:rPr lang="zh-CN" altLang="en-US" dirty="0"/>
              <a:t>子句只能指定一个表，即视图必须有一个源表且用户拥有该表的操作权限。如果源表本身就是一个视图，那么视图必须满足这些条件。因此，排除了基于连接、交（</a:t>
            </a:r>
            <a:r>
              <a:rPr lang="en-US" altLang="zh-CN" dirty="0"/>
              <a:t>UNION</a:t>
            </a:r>
            <a:r>
              <a:rPr lang="zh-CN" altLang="en-US" dirty="0"/>
              <a:t>）、并（</a:t>
            </a:r>
            <a:r>
              <a:rPr lang="en-US" altLang="zh-CN" dirty="0"/>
              <a:t>INTERSECT</a:t>
            </a:r>
            <a:r>
              <a:rPr lang="zh-CN" altLang="en-US" dirty="0"/>
              <a:t>）或差（</a:t>
            </a:r>
            <a:r>
              <a:rPr lang="en-US" altLang="zh-CN" dirty="0"/>
              <a:t>MINUS</a:t>
            </a:r>
            <a:r>
              <a:rPr lang="zh-CN" altLang="en-US" dirty="0"/>
              <a:t>）操作的所有视图。</a:t>
            </a:r>
            <a:endParaRPr lang="zh-CN" altLang="en-US" dirty="0"/>
          </a:p>
          <a:p>
            <a:pPr lvl="0" eaLnBrk="1" hangingPunct="1">
              <a:buChar char="•"/>
            </a:pPr>
            <a:r>
              <a:rPr lang="en-US" altLang="zh-CN" dirty="0"/>
              <a:t>WHERE</a:t>
            </a:r>
            <a:r>
              <a:rPr lang="zh-CN" altLang="en-US" dirty="0"/>
              <a:t>子句不能包括任何引用了</a:t>
            </a:r>
            <a:r>
              <a:rPr lang="en-US" altLang="zh-CN" dirty="0"/>
              <a:t>FROM</a:t>
            </a:r>
            <a:r>
              <a:rPr lang="zh-CN" altLang="en-US" dirty="0"/>
              <a:t>子句中的表的嵌套</a:t>
            </a:r>
            <a:r>
              <a:rPr lang="en-US" altLang="zh-CN" dirty="0"/>
              <a:t>SELECT</a:t>
            </a:r>
            <a:r>
              <a:rPr lang="zh-CN" altLang="en-US" dirty="0"/>
              <a:t>操作。</a:t>
            </a:r>
            <a:endParaRPr lang="zh-CN" altLang="en-US" dirty="0"/>
          </a:p>
          <a:p>
            <a:pPr lvl="0" eaLnBrk="1" hangingPunct="1">
              <a:buChar char="•"/>
            </a:pPr>
            <a:r>
              <a:rPr lang="zh-CN" altLang="en-US" dirty="0"/>
              <a:t>定义查询中不能有</a:t>
            </a:r>
            <a:r>
              <a:rPr lang="en-US" altLang="zh-CN" dirty="0"/>
              <a:t>GROUP BY</a:t>
            </a:r>
            <a:r>
              <a:rPr lang="zh-CN" altLang="en-US" dirty="0"/>
              <a:t>或</a:t>
            </a:r>
            <a:r>
              <a:rPr lang="en-US" altLang="zh-CN" dirty="0"/>
              <a:t>HAVING</a:t>
            </a:r>
            <a:r>
              <a:rPr lang="zh-CN" altLang="en-US" dirty="0"/>
              <a:t>子句。</a:t>
            </a:r>
            <a:endParaRPr lang="zh-CN" altLang="en-US" dirty="0"/>
          </a:p>
          <a:p>
            <a:pPr lvl="0" eaLnBrk="1" hangingPunct="1"/>
            <a:endParaRPr lang="en-US"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0595" name="Rectangle 2"/>
          <p:cNvSpPr>
            <a:spLocks noRot="1" noTextEdit="1"/>
          </p:cNvSpPr>
          <p:nvPr>
            <p:ph type="sldImg"/>
          </p:nvPr>
        </p:nvSpPr>
        <p:spPr/>
      </p:sp>
      <p:sp>
        <p:nvSpPr>
          <p:cNvPr id="110596" name="Rectangle 3"/>
          <p:cNvSpPr>
            <a:spLocks noGrp="1"/>
          </p:cNvSpPr>
          <p:nvPr>
            <p:ph type="body" idx="1"/>
          </p:nvPr>
        </p:nvSpPr>
        <p:spPr/>
        <p:txBody>
          <a:bodyPr wrap="square" lIns="91440" tIns="45720" rIns="91440" bIns="45720" anchor="t" anchorCtr="0"/>
          <a:p>
            <a:pPr marL="228600" lvl="0" indent="-228600" eaLnBrk="1" hangingPunct="1">
              <a:lnSpc>
                <a:spcPct val="80000"/>
              </a:lnSpc>
            </a:pPr>
            <a:r>
              <a:rPr lang="en-US" altLang="zh-CN" sz="800" dirty="0"/>
              <a:t>1. </a:t>
            </a:r>
            <a:r>
              <a:rPr lang="zh-CN" altLang="en-US" sz="800" dirty="0"/>
              <a:t>视图能够</a:t>
            </a:r>
            <a:r>
              <a:rPr lang="zh-CN" altLang="en-US" sz="800" dirty="0">
                <a:solidFill>
                  <a:srgbClr val="D32DB7"/>
                </a:solidFill>
              </a:rPr>
              <a:t>简化</a:t>
            </a:r>
            <a:r>
              <a:rPr lang="zh-CN" altLang="en-US" sz="800" dirty="0"/>
              <a:t>用户的操作</a:t>
            </a:r>
            <a:endParaRPr lang="zh-CN" altLang="en-US" sz="800" dirty="0"/>
          </a:p>
          <a:p>
            <a:pPr marL="228600" lvl="0" indent="-228600" eaLnBrk="1" hangingPunct="1">
              <a:lnSpc>
                <a:spcPct val="180000"/>
              </a:lnSpc>
            </a:pPr>
            <a:r>
              <a:rPr lang="zh-CN" altLang="en-US" sz="600" dirty="0"/>
              <a:t>	当视图中数据不是直接来自基本表时，定义视图能够简化用户的操作</a:t>
            </a:r>
            <a:endParaRPr lang="zh-CN" altLang="en-US" sz="800" dirty="0"/>
          </a:p>
          <a:p>
            <a:pPr marL="685800" lvl="1" indent="-228600" eaLnBrk="1" hangingPunct="1">
              <a:lnSpc>
                <a:spcPct val="180000"/>
              </a:lnSpc>
              <a:buChar char="•"/>
            </a:pPr>
            <a:r>
              <a:rPr lang="zh-CN" altLang="en-US" sz="800" dirty="0"/>
              <a:t>基于多张表连接形成的视图</a:t>
            </a:r>
            <a:endParaRPr lang="zh-CN" altLang="en-US" sz="800" dirty="0"/>
          </a:p>
          <a:p>
            <a:pPr marL="685800" lvl="1" indent="-228600" eaLnBrk="1" hangingPunct="1">
              <a:lnSpc>
                <a:spcPct val="180000"/>
              </a:lnSpc>
              <a:buChar char="•"/>
            </a:pPr>
            <a:r>
              <a:rPr lang="zh-CN" altLang="en-US" sz="800" dirty="0"/>
              <a:t>基于复杂嵌套查询的视图</a:t>
            </a:r>
            <a:endParaRPr lang="zh-CN" altLang="en-US" sz="800" dirty="0"/>
          </a:p>
          <a:p>
            <a:pPr marL="685800" lvl="1" indent="-228600" eaLnBrk="1" hangingPunct="1">
              <a:lnSpc>
                <a:spcPct val="180000"/>
              </a:lnSpc>
              <a:buChar char="•"/>
            </a:pPr>
            <a:r>
              <a:rPr lang="zh-CN" altLang="en-US" sz="800" dirty="0"/>
              <a:t>含导出属性的视图</a:t>
            </a:r>
            <a:endParaRPr lang="zh-CN" altLang="en-US" sz="800" dirty="0"/>
          </a:p>
          <a:p>
            <a:pPr marL="228600" lvl="0" indent="-228600" eaLnBrk="1" hangingPunct="1">
              <a:lnSpc>
                <a:spcPct val="180000"/>
              </a:lnSpc>
            </a:pPr>
            <a:r>
              <a:rPr lang="en-US" altLang="zh-CN" sz="500" dirty="0"/>
              <a:t>2. </a:t>
            </a:r>
            <a:r>
              <a:rPr lang="zh-CN" altLang="en-US" sz="500" dirty="0"/>
              <a:t>视图使用户能以</a:t>
            </a:r>
            <a:r>
              <a:rPr lang="zh-CN" altLang="en-US" sz="500" dirty="0">
                <a:solidFill>
                  <a:srgbClr val="D32DB7"/>
                </a:solidFill>
              </a:rPr>
              <a:t>多种角度</a:t>
            </a:r>
            <a:r>
              <a:rPr lang="zh-CN" altLang="en-US" sz="500" dirty="0"/>
              <a:t>看待同一数据</a:t>
            </a:r>
            <a:endParaRPr lang="zh-CN" altLang="en-US" sz="800" dirty="0"/>
          </a:p>
          <a:p>
            <a:pPr marL="228600" lvl="0" indent="-228600" eaLnBrk="1" hangingPunct="1">
              <a:lnSpc>
                <a:spcPct val="80000"/>
              </a:lnSpc>
            </a:pPr>
            <a:r>
              <a:rPr lang="zh-CN" altLang="en-US" sz="800" dirty="0"/>
              <a:t>	视图机制能使不同用户以不同方式看待同一数据，适应数据库共享的需要</a:t>
            </a:r>
            <a:endParaRPr lang="zh-CN" altLang="en-US" sz="800" dirty="0"/>
          </a:p>
          <a:p>
            <a:pPr marL="228600" lvl="0" indent="-228600" eaLnBrk="1" hangingPunct="1">
              <a:lnSpc>
                <a:spcPct val="80000"/>
              </a:lnSpc>
            </a:pPr>
            <a:r>
              <a:rPr lang="en-US" altLang="zh-CN" sz="300" dirty="0"/>
              <a:t>3. </a:t>
            </a:r>
            <a:r>
              <a:rPr lang="zh-CN" altLang="en-US" sz="300" dirty="0"/>
              <a:t>对重构数据库提供了一定程度的逻辑独立性</a:t>
            </a:r>
            <a:endParaRPr lang="zh-CN" altLang="en-US" sz="300" dirty="0"/>
          </a:p>
          <a:p>
            <a:pPr marL="228600" lvl="0" indent="-228600" eaLnBrk="1" hangingPunct="1">
              <a:lnSpc>
                <a:spcPct val="80000"/>
              </a:lnSpc>
            </a:pPr>
            <a:r>
              <a:rPr lang="zh-CN" altLang="en-US" sz="900" dirty="0"/>
              <a:t>	例：数据库逻辑结构发生改变</a:t>
            </a:r>
            <a:endParaRPr lang="zh-CN" altLang="en-US" sz="900" dirty="0"/>
          </a:p>
          <a:p>
            <a:pPr marL="228600" lvl="0" indent="-228600" eaLnBrk="1" hangingPunct="1">
              <a:lnSpc>
                <a:spcPct val="80000"/>
              </a:lnSpc>
            </a:pPr>
            <a:r>
              <a:rPr lang="zh-CN" altLang="en-US" sz="900" dirty="0"/>
              <a:t>	学生关系</a:t>
            </a:r>
            <a:r>
              <a:rPr lang="en-US" altLang="zh-CN" sz="800" dirty="0"/>
              <a:t>Student(Sno</a:t>
            </a:r>
            <a:r>
              <a:rPr lang="zh-CN" altLang="en-US" sz="800" dirty="0"/>
              <a:t>，</a:t>
            </a:r>
            <a:r>
              <a:rPr lang="en-US" altLang="zh-CN" sz="800" dirty="0"/>
              <a:t>Sname</a:t>
            </a:r>
            <a:r>
              <a:rPr lang="zh-CN" altLang="en-US" sz="800" dirty="0"/>
              <a:t>，</a:t>
            </a:r>
            <a:r>
              <a:rPr lang="en-US" altLang="zh-CN" sz="800" dirty="0"/>
              <a:t>Ssex</a:t>
            </a:r>
            <a:r>
              <a:rPr lang="zh-CN" altLang="en-US" sz="800" dirty="0"/>
              <a:t>，</a:t>
            </a:r>
            <a:r>
              <a:rPr lang="en-US" altLang="zh-CN" sz="800" dirty="0"/>
              <a:t>Sage</a:t>
            </a:r>
            <a:r>
              <a:rPr lang="zh-CN" altLang="en-US" sz="800" dirty="0"/>
              <a:t>，</a:t>
            </a:r>
            <a:r>
              <a:rPr lang="en-US" altLang="zh-CN" sz="800" dirty="0"/>
              <a:t>Sdept)</a:t>
            </a:r>
            <a:r>
              <a:rPr lang="en-US" altLang="zh-CN" sz="900" dirty="0"/>
              <a:t> 	“</a:t>
            </a:r>
            <a:r>
              <a:rPr lang="zh-CN" altLang="en-US" sz="900" dirty="0"/>
              <a:t>垂直”地分成两个基本表：</a:t>
            </a:r>
            <a:r>
              <a:rPr lang="en-US" altLang="zh-CN" sz="800" dirty="0"/>
              <a:t>SX(Sno</a:t>
            </a:r>
            <a:r>
              <a:rPr lang="zh-CN" altLang="en-US" sz="800" dirty="0"/>
              <a:t>，</a:t>
            </a:r>
            <a:r>
              <a:rPr lang="en-US" altLang="zh-CN" sz="800" dirty="0"/>
              <a:t>Sname</a:t>
            </a:r>
            <a:r>
              <a:rPr lang="zh-CN" altLang="en-US" sz="800" dirty="0"/>
              <a:t>，</a:t>
            </a:r>
            <a:r>
              <a:rPr lang="en-US" altLang="zh-CN" sz="800" dirty="0"/>
              <a:t>Sage)      SY(Sno</a:t>
            </a:r>
            <a:r>
              <a:rPr lang="zh-CN" altLang="en-US" sz="800" dirty="0"/>
              <a:t>，</a:t>
            </a:r>
            <a:r>
              <a:rPr lang="en-US" altLang="zh-CN" sz="800" dirty="0"/>
              <a:t>Ssex</a:t>
            </a:r>
            <a:r>
              <a:rPr lang="zh-CN" altLang="en-US" sz="800" dirty="0"/>
              <a:t>，</a:t>
            </a:r>
            <a:r>
              <a:rPr lang="en-US" altLang="zh-CN" sz="800" dirty="0"/>
              <a:t>Sdept)</a:t>
            </a:r>
            <a:endParaRPr lang="en-US" altLang="zh-CN" sz="800" dirty="0"/>
          </a:p>
          <a:p>
            <a:pPr marL="228600" lvl="0" indent="-228600" eaLnBrk="1" hangingPunct="1">
              <a:lnSpc>
                <a:spcPct val="120000"/>
              </a:lnSpc>
            </a:pPr>
            <a:r>
              <a:rPr lang="en-US" altLang="zh-CN" sz="900" dirty="0"/>
              <a:t>	</a:t>
            </a:r>
            <a:r>
              <a:rPr lang="zh-CN" altLang="en-US" sz="900" dirty="0"/>
              <a:t>通过建立一个视图</a:t>
            </a:r>
            <a:r>
              <a:rPr lang="en-US" altLang="zh-CN" sz="900" dirty="0"/>
              <a:t>Student,</a:t>
            </a:r>
            <a:r>
              <a:rPr lang="zh-CN" altLang="en-US" sz="900" dirty="0"/>
              <a:t>使用户的外模式保持不变，从而对原</a:t>
            </a:r>
            <a:r>
              <a:rPr lang="en-US" altLang="zh-CN" sz="900" dirty="0"/>
              <a:t>Student</a:t>
            </a:r>
            <a:r>
              <a:rPr lang="zh-CN" altLang="en-US" sz="900" dirty="0"/>
              <a:t>表的查询程序不必修改</a:t>
            </a:r>
            <a:endParaRPr lang="zh-CN" altLang="en-US" sz="900" dirty="0"/>
          </a:p>
          <a:p>
            <a:pPr marL="228600" lvl="0" indent="-228600" eaLnBrk="1" hangingPunct="1">
              <a:lnSpc>
                <a:spcPct val="120000"/>
              </a:lnSpc>
            </a:pPr>
            <a:r>
              <a:rPr lang="zh-CN" altLang="en-US" sz="800" dirty="0"/>
              <a:t>   </a:t>
            </a:r>
            <a:r>
              <a:rPr lang="en-US" altLang="zh-CN" sz="800" dirty="0"/>
              <a:t>CREATE VIEW  Student(Sno</a:t>
            </a:r>
            <a:r>
              <a:rPr lang="zh-CN" altLang="en-US" sz="800" dirty="0"/>
              <a:t>，</a:t>
            </a:r>
            <a:r>
              <a:rPr lang="en-US" altLang="zh-CN" sz="800" dirty="0"/>
              <a:t>Sname</a:t>
            </a:r>
            <a:r>
              <a:rPr lang="zh-CN" altLang="en-US" sz="800" dirty="0"/>
              <a:t>，</a:t>
            </a:r>
            <a:r>
              <a:rPr lang="en-US" altLang="zh-CN" sz="800" dirty="0"/>
              <a:t>Ssex</a:t>
            </a:r>
            <a:r>
              <a:rPr lang="zh-CN" altLang="en-US" sz="800" dirty="0"/>
              <a:t>，</a:t>
            </a:r>
            <a:r>
              <a:rPr lang="en-US" altLang="zh-CN" sz="800" dirty="0"/>
              <a:t>Sage</a:t>
            </a:r>
            <a:r>
              <a:rPr lang="zh-CN" altLang="en-US" sz="800" dirty="0"/>
              <a:t>，</a:t>
            </a:r>
            <a:r>
              <a:rPr lang="en-US" altLang="zh-CN" sz="800" dirty="0"/>
              <a:t>Sdept)</a:t>
            </a:r>
            <a:endParaRPr lang="en-US" altLang="zh-CN" sz="800" dirty="0"/>
          </a:p>
          <a:p>
            <a:pPr marL="685800" lvl="1" indent="-228600" eaLnBrk="1" hangingPunct="1">
              <a:lnSpc>
                <a:spcPct val="120000"/>
              </a:lnSpc>
            </a:pPr>
            <a:r>
              <a:rPr lang="en-US" altLang="zh-CN" sz="800" dirty="0"/>
              <a:t>AS  </a:t>
            </a:r>
            <a:endParaRPr lang="en-US" altLang="zh-CN" sz="800" dirty="0"/>
          </a:p>
          <a:p>
            <a:pPr marL="685800" lvl="1" indent="-228600" eaLnBrk="1" hangingPunct="1">
              <a:lnSpc>
                <a:spcPct val="120000"/>
              </a:lnSpc>
            </a:pPr>
            <a:r>
              <a:rPr lang="en-US" altLang="zh-CN" sz="800" dirty="0"/>
              <a:t>SELECT  SX.Sno</a:t>
            </a:r>
            <a:r>
              <a:rPr lang="zh-CN" altLang="en-US" sz="800" dirty="0"/>
              <a:t>，</a:t>
            </a:r>
            <a:r>
              <a:rPr lang="en-US" altLang="zh-CN" sz="800" dirty="0"/>
              <a:t>SX.Sname</a:t>
            </a:r>
            <a:r>
              <a:rPr lang="zh-CN" altLang="en-US" sz="800" dirty="0"/>
              <a:t>，</a:t>
            </a:r>
            <a:r>
              <a:rPr lang="en-US" altLang="zh-CN" sz="800" dirty="0"/>
              <a:t>SY.Ssex</a:t>
            </a:r>
            <a:r>
              <a:rPr lang="zh-CN" altLang="en-US" sz="800" dirty="0"/>
              <a:t>，</a:t>
            </a:r>
            <a:r>
              <a:rPr lang="en-US" altLang="zh-CN" sz="800" dirty="0"/>
              <a:t>SX.Sage</a:t>
            </a:r>
            <a:r>
              <a:rPr lang="zh-CN" altLang="en-US" sz="800" dirty="0"/>
              <a:t>，</a:t>
            </a:r>
            <a:r>
              <a:rPr lang="en-US" altLang="zh-CN" sz="800" dirty="0"/>
              <a:t>SY.Sdept</a:t>
            </a:r>
            <a:endParaRPr lang="en-US" altLang="zh-CN" sz="800" dirty="0"/>
          </a:p>
          <a:p>
            <a:pPr marL="685800" lvl="1" indent="-228600" eaLnBrk="1" hangingPunct="1">
              <a:lnSpc>
                <a:spcPct val="120000"/>
              </a:lnSpc>
            </a:pPr>
            <a:r>
              <a:rPr lang="en-US" altLang="zh-CN" sz="800" dirty="0"/>
              <a:t>FROM  SX</a:t>
            </a:r>
            <a:r>
              <a:rPr lang="zh-CN" altLang="en-US" sz="800" dirty="0"/>
              <a:t>，</a:t>
            </a:r>
            <a:r>
              <a:rPr lang="en-US" altLang="zh-CN" sz="800" dirty="0"/>
              <a:t>SY</a:t>
            </a:r>
            <a:endParaRPr lang="en-US" altLang="zh-CN" sz="800" dirty="0"/>
          </a:p>
          <a:p>
            <a:pPr marL="685800" lvl="1" indent="-228600" eaLnBrk="1" hangingPunct="1">
              <a:lnSpc>
                <a:spcPct val="120000"/>
              </a:lnSpc>
            </a:pPr>
            <a:r>
              <a:rPr lang="en-US" altLang="zh-CN" sz="800" dirty="0"/>
              <a:t>WHERE  SX.Sno=SY.Sno</a:t>
            </a:r>
            <a:r>
              <a:rPr lang="zh-CN" altLang="en-US" sz="800" dirty="0"/>
              <a:t>；</a:t>
            </a:r>
            <a:endParaRPr lang="zh-CN" altLang="en-US" sz="800" dirty="0"/>
          </a:p>
          <a:p>
            <a:pPr marL="228600" lvl="0" indent="-228600" eaLnBrk="1" hangingPunct="1">
              <a:lnSpc>
                <a:spcPct val="170000"/>
              </a:lnSpc>
            </a:pPr>
            <a:r>
              <a:rPr lang="zh-CN" altLang="en-US" sz="800" dirty="0"/>
              <a:t>物理独立性与逻辑独立性的概念</a:t>
            </a:r>
            <a:endParaRPr lang="zh-CN" altLang="en-US" sz="800" dirty="0"/>
          </a:p>
          <a:p>
            <a:pPr marL="228600" lvl="0" indent="-228600" eaLnBrk="1" hangingPunct="1">
              <a:lnSpc>
                <a:spcPct val="170000"/>
              </a:lnSpc>
            </a:pPr>
            <a:r>
              <a:rPr lang="zh-CN" altLang="en-US" sz="800" dirty="0"/>
              <a:t>视图在一定程度上保证了数据的逻辑独立性</a:t>
            </a:r>
            <a:endParaRPr lang="zh-CN" altLang="en-US" sz="800" dirty="0"/>
          </a:p>
          <a:p>
            <a:pPr marL="228600" lvl="0" indent="-228600" eaLnBrk="1" hangingPunct="1">
              <a:lnSpc>
                <a:spcPct val="170000"/>
              </a:lnSpc>
            </a:pPr>
            <a:r>
              <a:rPr lang="zh-CN" altLang="en-US" sz="800" dirty="0"/>
              <a:t>视图只能在一定程度上提供数据的逻辑独立性：由于对视图的更新是有条件的，因此应用程序中修改数据的语句可能仍会因基本表结构的改变而改变。</a:t>
            </a:r>
            <a:endParaRPr lang="zh-CN" altLang="en-US" sz="300" dirty="0"/>
          </a:p>
          <a:p>
            <a:pPr marL="228600" lvl="0" indent="-228600" eaLnBrk="1" hangingPunct="1">
              <a:lnSpc>
                <a:spcPct val="80000"/>
              </a:lnSpc>
            </a:pPr>
            <a:endParaRPr lang="zh-CN" altLang="en-US" sz="300" dirty="0"/>
          </a:p>
          <a:p>
            <a:pPr marL="228600" lvl="0" indent="-228600" eaLnBrk="1" hangingPunct="1">
              <a:lnSpc>
                <a:spcPct val="80000"/>
              </a:lnSpc>
            </a:pPr>
            <a:r>
              <a:rPr lang="en-US" altLang="zh-CN" sz="600" dirty="0"/>
              <a:t>4. </a:t>
            </a:r>
            <a:r>
              <a:rPr lang="zh-CN" altLang="en-US" sz="600" dirty="0"/>
              <a:t>能够对机密数据提供安全保护</a:t>
            </a:r>
            <a:endParaRPr lang="zh-CN" altLang="en-US" sz="600" dirty="0"/>
          </a:p>
          <a:p>
            <a:pPr marL="228600" lvl="0" indent="-228600" eaLnBrk="1" hangingPunct="1">
              <a:lnSpc>
                <a:spcPct val="150000"/>
              </a:lnSpc>
            </a:pPr>
            <a:r>
              <a:rPr lang="zh-CN" altLang="en-US" sz="800" dirty="0"/>
              <a:t>	对不同用户定义不同视图，使每个用户只能看到他有权看到的数据</a:t>
            </a:r>
            <a:endParaRPr lang="zh-CN" altLang="en-US" sz="800" dirty="0"/>
          </a:p>
          <a:p>
            <a:pPr marL="228600" lvl="0" indent="-228600" eaLnBrk="1" hangingPunct="1">
              <a:lnSpc>
                <a:spcPct val="150000"/>
              </a:lnSpc>
            </a:pPr>
            <a:r>
              <a:rPr lang="zh-CN" altLang="en-US" sz="800" dirty="0"/>
              <a:t>	通过</a:t>
            </a:r>
            <a:r>
              <a:rPr lang="en-US" altLang="zh-CN" sz="800" dirty="0"/>
              <a:t>WITH CHECK OPTION</a:t>
            </a:r>
            <a:r>
              <a:rPr lang="zh-CN" altLang="en-US" sz="800" dirty="0"/>
              <a:t>对关键数据定义操作时间限制</a:t>
            </a:r>
            <a:endParaRPr lang="zh-CN" altLang="en-US" sz="800" dirty="0"/>
          </a:p>
          <a:p>
            <a:pPr marL="228600" lvl="0" indent="-228600" eaLnBrk="1" hangingPunct="1">
              <a:lnSpc>
                <a:spcPct val="110000"/>
              </a:lnSpc>
            </a:pPr>
            <a:r>
              <a:rPr lang="zh-CN" altLang="en-US" sz="900" dirty="0"/>
              <a:t>例如：建立</a:t>
            </a:r>
            <a:r>
              <a:rPr lang="en-US" altLang="zh-CN" sz="900" dirty="0"/>
              <a:t>1</a:t>
            </a:r>
            <a:r>
              <a:rPr lang="zh-CN" altLang="en-US" sz="900" dirty="0"/>
              <a:t>号课程的选课视图，并要求透过该视图进行的更新操作只涉及</a:t>
            </a:r>
            <a:r>
              <a:rPr lang="en-US" altLang="zh-CN" sz="900" dirty="0"/>
              <a:t>1</a:t>
            </a:r>
            <a:r>
              <a:rPr lang="zh-CN" altLang="en-US" sz="900" dirty="0"/>
              <a:t>号课程，同时对该视图的任何操作只能在工作时间进行。</a:t>
            </a:r>
            <a:endParaRPr lang="zh-CN" altLang="en-US" sz="1000" dirty="0"/>
          </a:p>
          <a:p>
            <a:pPr marL="228600" lvl="0" indent="-228600" eaLnBrk="1" hangingPunct="1">
              <a:lnSpc>
                <a:spcPct val="110000"/>
              </a:lnSpc>
            </a:pPr>
            <a:r>
              <a:rPr lang="zh-CN" altLang="en-US" sz="1000" dirty="0"/>
              <a:t>    </a:t>
            </a:r>
            <a:r>
              <a:rPr lang="en-US" altLang="zh-CN" sz="800" dirty="0"/>
              <a:t>CREATE VIEW IS_SC</a:t>
            </a:r>
            <a:endParaRPr lang="en-US" altLang="zh-CN" sz="800" dirty="0"/>
          </a:p>
          <a:p>
            <a:pPr marL="228600" lvl="0" indent="-228600" eaLnBrk="1" hangingPunct="1">
              <a:lnSpc>
                <a:spcPct val="110000"/>
              </a:lnSpc>
            </a:pPr>
            <a:r>
              <a:rPr lang="en-US" altLang="zh-CN" sz="800" dirty="0"/>
              <a:t>               AS </a:t>
            </a:r>
            <a:endParaRPr lang="en-US" altLang="zh-CN" sz="800" dirty="0"/>
          </a:p>
          <a:p>
            <a:pPr marL="228600" lvl="0" indent="-228600" eaLnBrk="1" hangingPunct="1">
              <a:lnSpc>
                <a:spcPct val="110000"/>
              </a:lnSpc>
            </a:pPr>
            <a:r>
              <a:rPr lang="en-US" altLang="zh-CN" sz="800" dirty="0"/>
              <a:t>     SELECT Sno</a:t>
            </a:r>
            <a:r>
              <a:rPr lang="zh-CN" altLang="en-US" sz="800" dirty="0"/>
              <a:t>，</a:t>
            </a:r>
            <a:r>
              <a:rPr lang="en-US" altLang="zh-CN" sz="800" dirty="0"/>
              <a:t>Cno</a:t>
            </a:r>
            <a:r>
              <a:rPr lang="zh-CN" altLang="en-US" sz="800" dirty="0"/>
              <a:t>，</a:t>
            </a:r>
            <a:r>
              <a:rPr lang="en-US" altLang="zh-CN" sz="800" dirty="0"/>
              <a:t>Grade</a:t>
            </a:r>
            <a:endParaRPr lang="en-US" altLang="zh-CN" sz="800" dirty="0"/>
          </a:p>
          <a:p>
            <a:pPr marL="228600" lvl="0" indent="-228600" eaLnBrk="1" hangingPunct="1">
              <a:lnSpc>
                <a:spcPct val="110000"/>
              </a:lnSpc>
            </a:pPr>
            <a:r>
              <a:rPr lang="en-US" altLang="zh-CN" sz="800" dirty="0"/>
              <a:t>     FROM  SC</a:t>
            </a:r>
            <a:endParaRPr lang="en-US" altLang="zh-CN" sz="800" dirty="0"/>
          </a:p>
          <a:p>
            <a:pPr marL="228600" lvl="0" indent="-228600" eaLnBrk="1" hangingPunct="1">
              <a:lnSpc>
                <a:spcPct val="110000"/>
              </a:lnSpc>
            </a:pPr>
            <a:r>
              <a:rPr lang="en-US" altLang="zh-CN" sz="800" dirty="0"/>
              <a:t>     WHERE  Cno= '1'  </a:t>
            </a:r>
            <a:endParaRPr lang="en-US" altLang="zh-CN" sz="800" dirty="0"/>
          </a:p>
          <a:p>
            <a:pPr marL="228600" lvl="0" indent="-228600" eaLnBrk="1" hangingPunct="1">
              <a:lnSpc>
                <a:spcPct val="110000"/>
              </a:lnSpc>
            </a:pPr>
            <a:r>
              <a:rPr lang="en-US" altLang="zh-CN" sz="800" dirty="0"/>
              <a:t>     AND  TO_CHAR(SYSDATE,'HH24')  BETWEEN  9  AND  17 </a:t>
            </a:r>
            <a:endParaRPr lang="en-US" altLang="zh-CN" sz="800" dirty="0"/>
          </a:p>
          <a:p>
            <a:pPr marL="228600" lvl="0" indent="-228600" eaLnBrk="1" hangingPunct="1">
              <a:lnSpc>
                <a:spcPct val="110000"/>
              </a:lnSpc>
            </a:pPr>
            <a:r>
              <a:rPr lang="en-US" altLang="zh-CN" sz="800" dirty="0"/>
              <a:t>     AND  TO_CHAR(SYSDATE,'D')  BETWEEN  2  AND  6 </a:t>
            </a:r>
            <a:endParaRPr lang="en-US" altLang="zh-CN" sz="800" dirty="0"/>
          </a:p>
          <a:p>
            <a:pPr marL="228600" lvl="0" indent="-228600" eaLnBrk="1" hangingPunct="1">
              <a:lnSpc>
                <a:spcPct val="110000"/>
              </a:lnSpc>
            </a:pPr>
            <a:r>
              <a:rPr lang="en-US" altLang="zh-CN" sz="800" dirty="0"/>
              <a:t>     WITH CHECK OPTION;</a:t>
            </a:r>
            <a:endParaRPr lang="en-US" altLang="zh-CN" sz="800" dirty="0"/>
          </a:p>
          <a:p>
            <a:pPr marL="228600" lvl="0" indent="-228600" eaLnBrk="1" hangingPunct="1">
              <a:lnSpc>
                <a:spcPct val="80000"/>
              </a:lnSpc>
            </a:pPr>
            <a:endParaRPr lang="en-US" altLang="zh-CN" sz="6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1619" name="Rectangle 2"/>
          <p:cNvSpPr>
            <a:spLocks noRot="1" noTextEdit="1"/>
          </p:cNvSpPr>
          <p:nvPr>
            <p:ph type="sldImg"/>
          </p:nvPr>
        </p:nvSpPr>
        <p:spPr/>
      </p:sp>
      <p:sp>
        <p:nvSpPr>
          <p:cNvPr id="111620" name="Rectangle 3"/>
          <p:cNvSpPr>
            <a:spLocks noGrp="1"/>
          </p:cNvSpPr>
          <p:nvPr>
            <p:ph type="body" idx="1"/>
          </p:nvPr>
        </p:nvSpPr>
        <p:spPr/>
        <p:txBody>
          <a:bodyPr wrap="square" lIns="91440" tIns="45720" rIns="91440" bIns="45720" anchor="t" anchorCtr="0"/>
          <a:p>
            <a:pPr marL="228600" lvl="0" indent="-228600" eaLnBrk="1" hangingPunct="1">
              <a:lnSpc>
                <a:spcPct val="80000"/>
              </a:lnSpc>
            </a:pPr>
            <a:endParaRPr lang="zh-CN" altLang="zh-CN" sz="6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2643" name="Rectangle 2"/>
          <p:cNvSpPr>
            <a:spLocks noRot="1" noTextEdit="1"/>
          </p:cNvSpPr>
          <p:nvPr>
            <p:ph type="sldImg"/>
          </p:nvPr>
        </p:nvSpPr>
        <p:spPr/>
      </p:sp>
      <p:sp>
        <p:nvSpPr>
          <p:cNvPr id="1126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3667" name="Rectangle 2"/>
          <p:cNvSpPr>
            <a:spLocks noRot="1" noTextEdit="1"/>
          </p:cNvSpPr>
          <p:nvPr>
            <p:ph type="sldImg"/>
          </p:nvPr>
        </p:nvSpPr>
        <p:spPr/>
      </p:sp>
      <p:sp>
        <p:nvSpPr>
          <p:cNvPr id="11366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4691" name="Rectangle 2"/>
          <p:cNvSpPr>
            <a:spLocks noRot="1" noTextEdit="1"/>
          </p:cNvSpPr>
          <p:nvPr>
            <p:ph type="sldImg"/>
          </p:nvPr>
        </p:nvSpPr>
        <p:spPr/>
      </p:sp>
      <p:sp>
        <p:nvSpPr>
          <p:cNvPr id="114692" name="Rectangle 3"/>
          <p:cNvSpPr>
            <a:spLocks noGrp="1"/>
          </p:cNvSpPr>
          <p:nvPr>
            <p:ph type="body" idx="1"/>
          </p:nvPr>
        </p:nvSpPr>
        <p:spPr/>
        <p:txBody>
          <a:bodyPr wrap="square" lIns="91440" tIns="45720" rIns="91440" bIns="45720" anchor="t" anchorCtr="0"/>
          <a:p>
            <a:pPr lvl="0" eaLnBrk="1" hangingPunct="1"/>
            <a:r>
              <a:rPr lang="zh-CN" altLang="en-US" dirty="0"/>
              <a:t>李春葆 </a:t>
            </a:r>
            <a:r>
              <a:rPr lang="en-US" altLang="zh-CN" dirty="0"/>
              <a:t>P93/5.41</a:t>
            </a:r>
            <a:endParaRPr lang="en-US" altLang="zh-CN" dirty="0"/>
          </a:p>
          <a:p>
            <a:pPr lvl="0" eaLnBrk="1" hangingPunct="1"/>
            <a:endParaRPr lang="en-US" altLang="zh-CN" dirty="0"/>
          </a:p>
          <a:p>
            <a:pPr lvl="0" eaLnBrk="1" hangingPunct="1"/>
            <a:r>
              <a:rPr lang="en-US" altLang="zh-CN" dirty="0"/>
              <a:t>(1)	CREATE VIEW RVIEW</a:t>
            </a:r>
            <a:endParaRPr lang="en-US" altLang="zh-CN" dirty="0"/>
          </a:p>
          <a:p>
            <a:pPr lvl="0" eaLnBrk="1" hangingPunct="1"/>
            <a:r>
              <a:rPr lang="en-US" altLang="zh-CN" dirty="0"/>
              <a:t>	AS</a:t>
            </a:r>
            <a:endParaRPr lang="en-US" altLang="zh-CN" dirty="0"/>
          </a:p>
          <a:p>
            <a:pPr lvl="0" eaLnBrk="1" hangingPunct="1"/>
            <a:r>
              <a:rPr lang="en-US" altLang="zh-CN" dirty="0"/>
              <a:t>	SELECT A, MAX(C), MIN(C)</a:t>
            </a:r>
            <a:endParaRPr lang="en-US" altLang="zh-CN" dirty="0"/>
          </a:p>
          <a:p>
            <a:pPr lvl="0" eaLnBrk="1" hangingPunct="1"/>
            <a:r>
              <a:rPr lang="en-US" altLang="zh-CN" dirty="0"/>
              <a:t>	FROM R</a:t>
            </a:r>
            <a:endParaRPr lang="en-US" altLang="zh-CN" dirty="0"/>
          </a:p>
          <a:p>
            <a:pPr lvl="0" eaLnBrk="1" hangingPunct="1"/>
            <a:r>
              <a:rPr lang="en-US" altLang="zh-CN" dirty="0"/>
              <a:t>	GROUP BY A ;</a:t>
            </a:r>
            <a:endParaRPr lang="en-US" altLang="zh-CN" dirty="0"/>
          </a:p>
          <a:p>
            <a:pPr lvl="0" eaLnBrk="1" hangingPunct="1"/>
            <a:r>
              <a:rPr lang="en-US" altLang="zh-CN" dirty="0"/>
              <a:t>(2)	SELECT *</a:t>
            </a:r>
            <a:endParaRPr lang="en-US" altLang="zh-CN" dirty="0"/>
          </a:p>
          <a:p>
            <a:pPr lvl="0" eaLnBrk="1" hangingPunct="1"/>
            <a:r>
              <a:rPr lang="en-US" altLang="zh-CN" dirty="0"/>
              <a:t>	FROM RVIEW</a:t>
            </a:r>
            <a:endParaRPr lang="en-US" altLang="zh-CN" dirty="0"/>
          </a:p>
          <a:p>
            <a:pPr lvl="0" eaLnBrk="1" hangingPunct="1"/>
            <a:r>
              <a:rPr lang="en-US" altLang="zh-CN" dirty="0"/>
              <a:t>	WHERE A=’98’ ;</a:t>
            </a:r>
            <a:endParaRPr lang="en-US"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5715" name="Rectangle 2"/>
          <p:cNvSpPr>
            <a:spLocks noRot="1" noTextEdit="1"/>
          </p:cNvSpPr>
          <p:nvPr>
            <p:ph type="sldImg"/>
          </p:nvPr>
        </p:nvSpPr>
        <p:spPr/>
      </p:sp>
      <p:sp>
        <p:nvSpPr>
          <p:cNvPr id="1157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audio" Target="../media/audio1.wav"/><Relationship Id="rId4" Type="http://schemas.openxmlformats.org/officeDocument/2006/relationships/image" Target="../media/image2.wmf"/><Relationship Id="rId3" Type="http://schemas.openxmlformats.org/officeDocument/2006/relationships/control" Target="../activeX/activeX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audio" Target="../media/audio1.wav"/><Relationship Id="rId4" Type="http://schemas.openxmlformats.org/officeDocument/2006/relationships/image" Target="../media/image3.wmf"/><Relationship Id="rId3" Type="http://schemas.openxmlformats.org/officeDocument/2006/relationships/control" Target="../activeX/activeX2.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audio" Target="../media/audio1.wav"/><Relationship Id="rId4" Type="http://schemas.openxmlformats.org/officeDocument/2006/relationships/image" Target="../media/image4.wmf"/><Relationship Id="rId3" Type="http://schemas.openxmlformats.org/officeDocument/2006/relationships/control" Target="../activeX/activeX3.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audio" Target="../media/audio1.wav"/><Relationship Id="rId4" Type="http://schemas.openxmlformats.org/officeDocument/2006/relationships/image" Target="../media/image5.wmf"/><Relationship Id="rId3" Type="http://schemas.openxmlformats.org/officeDocument/2006/relationships/control" Target="../activeX/activeX4.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audio" Target="../media/audio1.wav"/><Relationship Id="rId4" Type="http://schemas.openxmlformats.org/officeDocument/2006/relationships/image" Target="../media/image6.wmf"/><Relationship Id="rId3" Type="http://schemas.openxmlformats.org/officeDocument/2006/relationships/control" Target="../activeX/activeX5.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audio" Target="../media/audio1.wav"/><Relationship Id="rId4" Type="http://schemas.openxmlformats.org/officeDocument/2006/relationships/image" Target="../media/image6.wmf"/><Relationship Id="rId3" Type="http://schemas.openxmlformats.org/officeDocument/2006/relationships/control" Target="../activeX/activeX6.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audio" Target="../media/audio1.wav"/><Relationship Id="rId4" Type="http://schemas.openxmlformats.org/officeDocument/2006/relationships/image" Target="../media/image6.wmf"/><Relationship Id="rId3" Type="http://schemas.openxmlformats.org/officeDocument/2006/relationships/control" Target="../activeX/activeX7.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audio" Target="../media/audio1.wav"/><Relationship Id="rId4" Type="http://schemas.openxmlformats.org/officeDocument/2006/relationships/image" Target="../media/image7.wmf"/><Relationship Id="rId3" Type="http://schemas.openxmlformats.org/officeDocument/2006/relationships/control" Target="../activeX/activeX8.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audio" Target="../media/audio1.wav"/><Relationship Id="rId4" Type="http://schemas.openxmlformats.org/officeDocument/2006/relationships/image" Target="../media/image8.wmf"/><Relationship Id="rId3" Type="http://schemas.openxmlformats.org/officeDocument/2006/relationships/control" Target="../activeX/activeX9.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audio" Target="../media/audio1.wav"/><Relationship Id="rId4" Type="http://schemas.openxmlformats.org/officeDocument/2006/relationships/image" Target="../media/image8.wmf"/><Relationship Id="rId3" Type="http://schemas.openxmlformats.org/officeDocument/2006/relationships/control" Target="../activeX/activeX10.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audio" Target="../media/audio1.wav"/><Relationship Id="rId4" Type="http://schemas.openxmlformats.org/officeDocument/2006/relationships/image" Target="../media/image9.wmf"/><Relationship Id="rId3" Type="http://schemas.openxmlformats.org/officeDocument/2006/relationships/control" Target="../activeX/activeX1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audio" Target="../media/audio1.wav"/><Relationship Id="rId4" Type="http://schemas.openxmlformats.org/officeDocument/2006/relationships/image" Target="../media/image10.wmf"/><Relationship Id="rId3" Type="http://schemas.openxmlformats.org/officeDocument/2006/relationships/control" Target="../activeX/activeX12.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rgbClr val="FFFFFF"/>
        </a:solidFill>
        <a:effectLst/>
      </p:bgPr>
    </p:bg>
    <p:spTree>
      <p:nvGrpSpPr>
        <p:cNvPr id="1" name=""/>
        <p:cNvGrpSpPr/>
        <p:nvPr/>
      </p:nvGrpSpPr>
      <p:grpSpPr>
        <a:xfrm>
          <a:off x="0" y="0"/>
          <a:ext cx="0" cy="0"/>
          <a:chOff x="0" y="0"/>
          <a:chExt cx="0" cy="0"/>
        </a:xfrm>
      </p:grpSpPr>
      <p:sp>
        <p:nvSpPr>
          <p:cNvPr id="4111" name="Rectangle 15"/>
          <p:cNvSpPr>
            <a:spLocks noGrp="1" noChangeArrowheads="1"/>
          </p:cNvSpPr>
          <p:nvPr>
            <p:ph type="ctrTitle" sz="quarter"/>
          </p:nvPr>
        </p:nvSpPr>
        <p:spPr>
          <a:xfrm>
            <a:off x="900113" y="1219200"/>
            <a:ext cx="7772400" cy="1143000"/>
          </a:xfrm>
        </p:spPr>
        <p:txBody>
          <a:bodyPr/>
          <a:lstStyle>
            <a:lvl1pPr>
              <a:defRPr/>
            </a:lvl1pPr>
          </a:lstStyle>
          <a:p>
            <a:r>
              <a:rPr lang="en-US" altLang="zh-CN"/>
              <a:t>Click to edit Master title style</a:t>
            </a:r>
            <a:endParaRPr lang="en-US" altLang="zh-CN"/>
          </a:p>
        </p:txBody>
      </p:sp>
      <p:sp>
        <p:nvSpPr>
          <p:cNvPr id="4112" name="Rectangle 16"/>
          <p:cNvSpPr>
            <a:spLocks noGrp="1" noChangeArrowheads="1"/>
          </p:cNvSpPr>
          <p:nvPr>
            <p:ph type="subTitle" sz="quarter" idx="1"/>
          </p:nvPr>
        </p:nvSpPr>
        <p:spPr>
          <a:xfrm>
            <a:off x="611188" y="2819400"/>
            <a:ext cx="8380412" cy="3200400"/>
          </a:xfrm>
        </p:spPr>
        <p:txBody>
          <a:bodyPr lIns="92075" tIns="46038" rIns="92075" bIns="46038"/>
          <a:lstStyle>
            <a:lvl1pPr marL="0" indent="0" algn="ctr">
              <a:buFont typeface="Wingdings" panose="05000000000000000000" pitchFamily="2" charset="2"/>
              <a:buNone/>
              <a:defRPr/>
            </a:lvl1pPr>
          </a:lstStyle>
          <a:p>
            <a:r>
              <a:rPr lang="en-US" altLang="zh-CN"/>
              <a:t>Click to edit Master subtitle style</a:t>
            </a:r>
            <a:endParaRPr lang="en-US" altLang="zh-CN"/>
          </a:p>
        </p:txBody>
      </p:sp>
      <p:sp>
        <p:nvSpPr>
          <p:cNvPr id="7" name="Rectangle 17"/>
          <p:cNvSpPr>
            <a:spLocks noGrp="1" noChangeArrowheads="1"/>
          </p:cNvSpPr>
          <p:nvPr>
            <p:ph type="dt" sz="quarter" idx="2"/>
          </p:nvPr>
        </p:nvSpPr>
        <p:spPr>
          <a:xfrm>
            <a:off x="152400" y="6248400"/>
            <a:ext cx="1905000" cy="457200"/>
          </a:xfrm>
          <a:prstGeom prst="rect">
            <a:avLst/>
          </a:prstGeom>
        </p:spPr>
        <p:txBody>
          <a:bodyPr/>
          <a:lstStyle>
            <a:lvl1pPr>
              <a:defRPr i="1">
                <a:latin typeface="+mj-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1" u="none" strike="noStrike" kern="1200" cap="none" spc="0" normalizeH="0" baseline="0" noProof="0">
              <a:ln>
                <a:noFill/>
              </a:ln>
              <a:solidFill>
                <a:srgbClr val="0000FF"/>
              </a:solidFill>
              <a:effectLst/>
              <a:uLnTx/>
              <a:uFillTx/>
              <a:latin typeface="+mj-lt"/>
              <a:ea typeface="黑体" panose="02010609060101010101" pitchFamily="2" charset="-122"/>
              <a:cs typeface="+mn-cs"/>
            </a:endParaRPr>
          </a:p>
        </p:txBody>
      </p:sp>
      <p:sp>
        <p:nvSpPr>
          <p:cNvPr id="8" name="Rectangle 18"/>
          <p:cNvSpPr>
            <a:spLocks noGrp="1" noChangeArrowheads="1"/>
          </p:cNvSpPr>
          <p:nvPr>
            <p:ph type="ftr" sz="quarter" idx="3"/>
          </p:nvPr>
        </p:nvSpPr>
        <p:spPr>
          <a:xfrm>
            <a:off x="3124200" y="6248400"/>
            <a:ext cx="2895600" cy="457200"/>
          </a:xfrm>
          <a:prstGeom prst="rect">
            <a:avLst/>
          </a:prstGeom>
        </p:spPr>
        <p:txBody>
          <a:bodyPr/>
          <a:lstStyle>
            <a:lvl1pPr>
              <a:defRPr i="1">
                <a:latin typeface="+mj-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1" u="none" strike="noStrike" kern="1200" cap="none" spc="0" normalizeH="0" baseline="0" noProof="0">
              <a:ln>
                <a:noFill/>
              </a:ln>
              <a:solidFill>
                <a:srgbClr val="0000FF"/>
              </a:solidFill>
              <a:effectLst/>
              <a:uLnTx/>
              <a:uFillTx/>
              <a:latin typeface="+mj-lt"/>
              <a:ea typeface="黑体" panose="02010609060101010101" pitchFamily="2" charset="-122"/>
              <a:cs typeface="+mn-cs"/>
            </a:endParaRPr>
          </a:p>
        </p:txBody>
      </p:sp>
      <p:sp>
        <p:nvSpPr>
          <p:cNvPr id="9" name="Rectangle 19"/>
          <p:cNvSpPr>
            <a:spLocks noGrp="1" noChangeArrowheads="1"/>
          </p:cNvSpPr>
          <p:nvPr>
            <p:ph type="sldNum" sz="quarter" idx="4"/>
          </p:nvPr>
        </p:nvSpPr>
        <p:spPr>
          <a:xfrm>
            <a:off x="7162800" y="6248400"/>
            <a:ext cx="1905000" cy="457200"/>
          </a:xfrm>
          <a:prstGeom prst="rect">
            <a:avLst/>
          </a:prstGeom>
        </p:spPr>
        <p:txBody>
          <a:bodyPr/>
          <a:p>
            <a:pPr lvl="0" eaLnBrk="1" hangingPunct="1">
              <a:buNone/>
            </a:pPr>
            <a:fld id="{9A0DB2DC-4C9A-4742-B13C-FB6460FD3503}" type="slidenum">
              <a:rPr lang="en-US" altLang="zh-CN" i="1" dirty="0"/>
            </a:fld>
            <a:endParaRPr lang="en-US" altLang="zh-CN" i="1" dirty="0"/>
          </a:p>
        </p:txBody>
      </p:sp>
    </p:spTree>
  </p:cSld>
  <p:clrMapOvr>
    <a:masterClrMapping/>
  </p:clrMapOvr>
  <p:transition>
    <p:random/>
    <p:sndAc>
      <p:stSnd>
        <p:snd r:embed="rId2" name="CAMERA.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PhAnim="0" showMasterSp="0">
  <p:cSld name="标题和内容">
    <p:bg>
      <p:bgPr>
        <a:solidFill>
          <a:srgbClr val="FFFFFF"/>
        </a:solidFill>
        <a:effectLst/>
      </p:bgPr>
    </p:bg>
    <p:spTree>
      <p:nvGrpSpPr>
        <p:cNvPr id="1" name=""/>
        <p:cNvGrpSpPr/>
        <p:nvPr/>
      </p:nvGrpSpPr>
      <p:grpSpPr>
        <a:xfrm>
          <a:off x="0" y="0"/>
          <a:ext cx="0" cy="0"/>
          <a:chOff x="0" y="0"/>
          <a:chExt cx="0" cy="0"/>
        </a:xfrm>
      </p:grpSpPr>
      <p:pic>
        <p:nvPicPr>
          <p:cNvPr id="9" name="Picture 27" descr="paint"/>
          <p:cNvPicPr>
            <a:picLocks noChangeAspect="1"/>
          </p:cNvPicPr>
          <p:nvPr userDrawn="1"/>
        </p:nvPicPr>
        <p:blipFill>
          <a:blip r:embed="rId2">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
        <p:nvSpPr>
          <p:cNvPr id="7" name="Text Box 24"/>
          <p:cNvSpPr txBox="1">
            <a:spLocks noChangeArrowheads="1"/>
          </p:cNvSpPr>
          <p:nvPr/>
        </p:nvSpPr>
        <p:spPr bwMode="auto">
          <a:xfrm>
            <a:off x="8526463" y="0"/>
            <a:ext cx="617538" cy="457200"/>
          </a:xfrm>
          <a:prstGeom prst="rect">
            <a:avLst/>
          </a:prstGeom>
          <a:noFill/>
          <a:ln w="12700">
            <a:noFill/>
            <a:miter lim="800000"/>
          </a:ln>
          <a:effectLst/>
        </p:spPr>
        <p:txBody>
          <a:bodyPr>
            <a:spAutoFit/>
          </a:bodyPr>
          <a:p>
            <a:pPr lvl="0" algn="r" eaLnBrk="0" hangingPunct="0">
              <a:buNone/>
            </a:pPr>
            <a:fld id="{9A0DB2DC-4C9A-4742-B13C-FB6460FD3503}" type="slidenum">
              <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8" name="Rectangle 25"/>
          <p:cNvSpPr>
            <a:spLocks noChangeArrowheads="1"/>
          </p:cNvSpPr>
          <p:nvPr/>
        </p:nvSpPr>
        <p:spPr bwMode="auto">
          <a:xfrm>
            <a:off x="1828800" y="6461125"/>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黑体" panose="02010609060101010101" pitchFamily="2" charset="-122"/>
              </a:defRPr>
            </a:lvl1pPr>
            <a:lvl2pPr marL="742950" indent="-285750" eaLnBrk="0" hangingPunct="0">
              <a:defRPr sz="4000" b="1">
                <a:solidFill>
                  <a:srgbClr val="0000FF"/>
                </a:solidFill>
                <a:latin typeface="Arial" panose="020B0604020202020204" pitchFamily="34" charset="0"/>
                <a:ea typeface="黑体" panose="02010609060101010101" pitchFamily="2" charset="-122"/>
              </a:defRPr>
            </a:lvl2pPr>
            <a:lvl3pPr marL="1143000" indent="-228600" eaLnBrk="0" hangingPunct="0">
              <a:defRPr sz="4000" b="1">
                <a:solidFill>
                  <a:srgbClr val="0000FF"/>
                </a:solidFill>
                <a:latin typeface="Arial" panose="020B0604020202020204" pitchFamily="34" charset="0"/>
                <a:ea typeface="黑体" panose="02010609060101010101" pitchFamily="2" charset="-122"/>
              </a:defRPr>
            </a:lvl3pPr>
            <a:lvl4pPr marL="1600200" indent="-228600" eaLnBrk="0" hangingPunct="0">
              <a:defRPr sz="4000" b="1">
                <a:solidFill>
                  <a:srgbClr val="0000FF"/>
                </a:solidFill>
                <a:latin typeface="Arial" panose="020B0604020202020204" pitchFamily="34" charset="0"/>
                <a:ea typeface="黑体" panose="02010609060101010101" pitchFamily="2" charset="-122"/>
              </a:defRPr>
            </a:lvl4pPr>
            <a:lvl5pPr marL="2057400" indent="-228600" eaLnBrk="0" hangingPunct="0">
              <a:defRPr sz="4000" b="1">
                <a:solidFill>
                  <a:srgbClr val="0000FF"/>
                </a:solidFill>
                <a:latin typeface="Arial" panose="020B0604020202020204" pitchFamily="34" charset="0"/>
                <a:ea typeface="黑体" panose="02010609060101010101" pitchFamily="2" charset="-122"/>
              </a:defRPr>
            </a:lvl5pPr>
            <a:lvl6pPr marL="25146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6pPr>
            <a:lvl7pPr marL="29718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7pPr>
            <a:lvl8pPr marL="34290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8pPr>
            <a:lvl9pPr marL="38862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smtClean="0">
              <a:ln>
                <a:noFill/>
              </a:ln>
              <a:solidFill>
                <a:srgbClr val="808000"/>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 name="日期占位符 3"/>
          <p:cNvSpPr>
            <a:spLocks noGrp="1"/>
          </p:cNvSpPr>
          <p:nvPr>
            <p:ph type="dt" sz="half" idx="2"/>
          </p:nvPr>
        </p:nvSpPr>
        <p:spPr>
          <a:xfrm>
            <a:off x="1295400" y="6248400"/>
            <a:ext cx="19050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1" name="页脚占位符 4"/>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2" name="灯片编号占位符 5"/>
          <p:cNvSpPr>
            <a:spLocks noGrp="1"/>
          </p:cNvSpPr>
          <p:nvPr>
            <p:ph type="sldNum" sz="quarter" idx="4"/>
          </p:nvPr>
        </p:nvSpPr>
        <p:spPr>
          <a:xfrm>
            <a:off x="7162800" y="6248400"/>
            <a:ext cx="1905000" cy="457200"/>
          </a:xfrm>
          <a:prstGeom prst="rect">
            <a:avLst/>
          </a:prstGeom>
        </p:spPr>
        <p:txBody>
          <a:bodyPr/>
          <a:p>
            <a:pPr lvl="0" eaLnBrk="1" hangingPunct="1">
              <a:buNone/>
            </a:pPr>
            <a:fld id="{9A0DB2DC-4C9A-4742-B13C-FB6460FD3503}" type="slidenum">
              <a:rPr lang="en-US" altLang="zh-CN" dirty="0"/>
            </a:fld>
            <a:endParaRPr lang="en-US" altLang="zh-CN" dirty="0"/>
          </a:p>
        </p:txBody>
      </p:sp>
    </p:spTree>
    <p:controls>
      <mc:AlternateContent xmlns:mc="http://schemas.openxmlformats.org/markup-compatibility/2006">
        <mc:Choice xmlns:v="urn:schemas-microsoft-com:vml" Requires="v">
          <p:control spid="15363" name="" r:id="rId3" imgW="684213" imgH="569913"/>
        </mc:Choice>
        <mc:Fallback>
          <p:control name="" r:id="rId3" imgW="684213" imgH="569913">
            <p:pic>
              <p:nvPicPr>
                <p:cNvPr id="0" name="Host Control  15362"/>
                <p:cNvPicPr/>
                <p:nvPr userDrawn="1"/>
              </p:nvPicPr>
              <p:blipFill>
                <a:blip r:embed="rId4"/>
                <a:stretch>
                  <a:fillRect/>
                </a:stretch>
              </p:blipFill>
              <p:spPr>
                <a:xfrm>
                  <a:off x="0" y="6245225"/>
                  <a:ext cx="684213" cy="569913"/>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PhAnim="0" showMasterSp="0">
  <p:cSld name="节标题">
    <p:bg>
      <p:bgPr>
        <a:solidFill>
          <a:srgbClr val="FFFFFF"/>
        </a:solidFill>
        <a:effectLst/>
      </p:bgPr>
    </p:bg>
    <p:spTree>
      <p:nvGrpSpPr>
        <p:cNvPr id="1" name=""/>
        <p:cNvGrpSpPr/>
        <p:nvPr/>
      </p:nvGrpSpPr>
      <p:grpSpPr>
        <a:xfrm>
          <a:off x="0" y="0"/>
          <a:ext cx="0" cy="0"/>
          <a:chOff x="0" y="0"/>
          <a:chExt cx="0" cy="0"/>
        </a:xfrm>
      </p:grpSpPr>
      <p:pic>
        <p:nvPicPr>
          <p:cNvPr id="9" name="Picture 27" descr="paint"/>
          <p:cNvPicPr>
            <a:picLocks noChangeAspect="1"/>
          </p:cNvPicPr>
          <p:nvPr userDrawn="1"/>
        </p:nvPicPr>
        <p:blipFill>
          <a:blip r:embed="rId2">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
        <p:nvSpPr>
          <p:cNvPr id="7" name="Text Box 24"/>
          <p:cNvSpPr txBox="1">
            <a:spLocks noChangeArrowheads="1"/>
          </p:cNvSpPr>
          <p:nvPr/>
        </p:nvSpPr>
        <p:spPr bwMode="auto">
          <a:xfrm>
            <a:off x="8526463" y="0"/>
            <a:ext cx="617538" cy="457200"/>
          </a:xfrm>
          <a:prstGeom prst="rect">
            <a:avLst/>
          </a:prstGeom>
          <a:noFill/>
          <a:ln w="12700">
            <a:noFill/>
            <a:miter lim="800000"/>
          </a:ln>
          <a:effectLst/>
        </p:spPr>
        <p:txBody>
          <a:bodyPr>
            <a:spAutoFit/>
          </a:bodyPr>
          <a:p>
            <a:pPr lvl="0" algn="r" eaLnBrk="0" hangingPunct="0">
              <a:buNone/>
            </a:pPr>
            <a:fld id="{9A0DB2DC-4C9A-4742-B13C-FB6460FD3503}" type="slidenum">
              <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8" name="Rectangle 25"/>
          <p:cNvSpPr>
            <a:spLocks noChangeArrowheads="1"/>
          </p:cNvSpPr>
          <p:nvPr/>
        </p:nvSpPr>
        <p:spPr bwMode="auto">
          <a:xfrm>
            <a:off x="1828800" y="6461125"/>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黑体" panose="02010609060101010101" pitchFamily="2" charset="-122"/>
              </a:defRPr>
            </a:lvl1pPr>
            <a:lvl2pPr marL="742950" indent="-285750" eaLnBrk="0" hangingPunct="0">
              <a:defRPr sz="4000" b="1">
                <a:solidFill>
                  <a:srgbClr val="0000FF"/>
                </a:solidFill>
                <a:latin typeface="Arial" panose="020B0604020202020204" pitchFamily="34" charset="0"/>
                <a:ea typeface="黑体" panose="02010609060101010101" pitchFamily="2" charset="-122"/>
              </a:defRPr>
            </a:lvl2pPr>
            <a:lvl3pPr marL="1143000" indent="-228600" eaLnBrk="0" hangingPunct="0">
              <a:defRPr sz="4000" b="1">
                <a:solidFill>
                  <a:srgbClr val="0000FF"/>
                </a:solidFill>
                <a:latin typeface="Arial" panose="020B0604020202020204" pitchFamily="34" charset="0"/>
                <a:ea typeface="黑体" panose="02010609060101010101" pitchFamily="2" charset="-122"/>
              </a:defRPr>
            </a:lvl3pPr>
            <a:lvl4pPr marL="1600200" indent="-228600" eaLnBrk="0" hangingPunct="0">
              <a:defRPr sz="4000" b="1">
                <a:solidFill>
                  <a:srgbClr val="0000FF"/>
                </a:solidFill>
                <a:latin typeface="Arial" panose="020B0604020202020204" pitchFamily="34" charset="0"/>
                <a:ea typeface="黑体" panose="02010609060101010101" pitchFamily="2" charset="-122"/>
              </a:defRPr>
            </a:lvl4pPr>
            <a:lvl5pPr marL="2057400" indent="-228600" eaLnBrk="0" hangingPunct="0">
              <a:defRPr sz="4000" b="1">
                <a:solidFill>
                  <a:srgbClr val="0000FF"/>
                </a:solidFill>
                <a:latin typeface="Arial" panose="020B0604020202020204" pitchFamily="34" charset="0"/>
                <a:ea typeface="黑体" panose="02010609060101010101" pitchFamily="2" charset="-122"/>
              </a:defRPr>
            </a:lvl5pPr>
            <a:lvl6pPr marL="25146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6pPr>
            <a:lvl7pPr marL="29718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7pPr>
            <a:lvl8pPr marL="34290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8pPr>
            <a:lvl9pPr marL="38862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smtClean="0">
              <a:ln>
                <a:noFill/>
              </a:ln>
              <a:solidFill>
                <a:srgbClr val="808000"/>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10" name="日期占位符 3"/>
          <p:cNvSpPr>
            <a:spLocks noGrp="1"/>
          </p:cNvSpPr>
          <p:nvPr>
            <p:ph type="dt" sz="half" idx="2"/>
          </p:nvPr>
        </p:nvSpPr>
        <p:spPr>
          <a:xfrm>
            <a:off x="1295400" y="6248400"/>
            <a:ext cx="19050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1" name="页脚占位符 4"/>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2" name="灯片编号占位符 5"/>
          <p:cNvSpPr>
            <a:spLocks noGrp="1"/>
          </p:cNvSpPr>
          <p:nvPr>
            <p:ph type="sldNum" sz="quarter" idx="4"/>
          </p:nvPr>
        </p:nvSpPr>
        <p:spPr>
          <a:xfrm>
            <a:off x="7162800" y="6248400"/>
            <a:ext cx="1905000" cy="457200"/>
          </a:xfrm>
          <a:prstGeom prst="rect">
            <a:avLst/>
          </a:prstGeom>
        </p:spPr>
        <p:txBody>
          <a:bodyPr/>
          <a:p>
            <a:pPr lvl="0" eaLnBrk="1" hangingPunct="1">
              <a:buNone/>
            </a:pPr>
            <a:fld id="{9A0DB2DC-4C9A-4742-B13C-FB6460FD3503}" type="slidenum">
              <a:rPr lang="en-US" altLang="zh-CN" dirty="0"/>
            </a:fld>
            <a:endParaRPr lang="en-US" altLang="zh-CN" dirty="0"/>
          </a:p>
        </p:txBody>
      </p:sp>
    </p:spTree>
    <p:controls>
      <mc:AlternateContent xmlns:mc="http://schemas.openxmlformats.org/markup-compatibility/2006">
        <mc:Choice xmlns:v="urn:schemas-microsoft-com:vml" Requires="v">
          <p:control spid="16387" name="" r:id="rId3" imgW="684213" imgH="569913"/>
        </mc:Choice>
        <mc:Fallback>
          <p:control name="" r:id="rId3" imgW="684213" imgH="569913">
            <p:pic>
              <p:nvPicPr>
                <p:cNvPr id="0" name="Host Control  16386"/>
                <p:cNvPicPr/>
                <p:nvPr userDrawn="1"/>
              </p:nvPicPr>
              <p:blipFill>
                <a:blip r:embed="rId4"/>
                <a:stretch>
                  <a:fillRect/>
                </a:stretch>
              </p:blipFill>
              <p:spPr>
                <a:xfrm>
                  <a:off x="0" y="6245225"/>
                  <a:ext cx="684213" cy="569913"/>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PhAnim="0" showMasterSp="0">
  <p:cSld name="两栏内容">
    <p:bg>
      <p:bgPr>
        <a:solidFill>
          <a:srgbClr val="FFFFFF"/>
        </a:solidFill>
        <a:effectLst/>
      </p:bgPr>
    </p:bg>
    <p:spTree>
      <p:nvGrpSpPr>
        <p:cNvPr id="1" name=""/>
        <p:cNvGrpSpPr/>
        <p:nvPr/>
      </p:nvGrpSpPr>
      <p:grpSpPr>
        <a:xfrm>
          <a:off x="0" y="0"/>
          <a:ext cx="0" cy="0"/>
          <a:chOff x="0" y="0"/>
          <a:chExt cx="0" cy="0"/>
        </a:xfrm>
      </p:grpSpPr>
      <p:pic>
        <p:nvPicPr>
          <p:cNvPr id="9" name="Picture 27" descr="paint"/>
          <p:cNvPicPr>
            <a:picLocks noChangeAspect="1"/>
          </p:cNvPicPr>
          <p:nvPr userDrawn="1"/>
        </p:nvPicPr>
        <p:blipFill>
          <a:blip r:embed="rId2">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
        <p:nvSpPr>
          <p:cNvPr id="7" name="Text Box 24"/>
          <p:cNvSpPr txBox="1">
            <a:spLocks noChangeArrowheads="1"/>
          </p:cNvSpPr>
          <p:nvPr/>
        </p:nvSpPr>
        <p:spPr bwMode="auto">
          <a:xfrm>
            <a:off x="8526463" y="0"/>
            <a:ext cx="617538" cy="457200"/>
          </a:xfrm>
          <a:prstGeom prst="rect">
            <a:avLst/>
          </a:prstGeom>
          <a:noFill/>
          <a:ln w="12700">
            <a:noFill/>
            <a:miter lim="800000"/>
          </a:ln>
          <a:effectLst/>
        </p:spPr>
        <p:txBody>
          <a:bodyPr>
            <a:spAutoFit/>
          </a:bodyPr>
          <a:p>
            <a:pPr lvl="0" algn="r" eaLnBrk="0" hangingPunct="0">
              <a:buNone/>
            </a:pPr>
            <a:fld id="{9A0DB2DC-4C9A-4742-B13C-FB6460FD3503}" type="slidenum">
              <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8" name="Rectangle 25"/>
          <p:cNvSpPr>
            <a:spLocks noChangeArrowheads="1"/>
          </p:cNvSpPr>
          <p:nvPr/>
        </p:nvSpPr>
        <p:spPr bwMode="auto">
          <a:xfrm>
            <a:off x="1828800" y="6461125"/>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黑体" panose="02010609060101010101" pitchFamily="2" charset="-122"/>
              </a:defRPr>
            </a:lvl1pPr>
            <a:lvl2pPr marL="742950" indent="-285750" eaLnBrk="0" hangingPunct="0">
              <a:defRPr sz="4000" b="1">
                <a:solidFill>
                  <a:srgbClr val="0000FF"/>
                </a:solidFill>
                <a:latin typeface="Arial" panose="020B0604020202020204" pitchFamily="34" charset="0"/>
                <a:ea typeface="黑体" panose="02010609060101010101" pitchFamily="2" charset="-122"/>
              </a:defRPr>
            </a:lvl2pPr>
            <a:lvl3pPr marL="1143000" indent="-228600" eaLnBrk="0" hangingPunct="0">
              <a:defRPr sz="4000" b="1">
                <a:solidFill>
                  <a:srgbClr val="0000FF"/>
                </a:solidFill>
                <a:latin typeface="Arial" panose="020B0604020202020204" pitchFamily="34" charset="0"/>
                <a:ea typeface="黑体" panose="02010609060101010101" pitchFamily="2" charset="-122"/>
              </a:defRPr>
            </a:lvl3pPr>
            <a:lvl4pPr marL="1600200" indent="-228600" eaLnBrk="0" hangingPunct="0">
              <a:defRPr sz="4000" b="1">
                <a:solidFill>
                  <a:srgbClr val="0000FF"/>
                </a:solidFill>
                <a:latin typeface="Arial" panose="020B0604020202020204" pitchFamily="34" charset="0"/>
                <a:ea typeface="黑体" panose="02010609060101010101" pitchFamily="2" charset="-122"/>
              </a:defRPr>
            </a:lvl4pPr>
            <a:lvl5pPr marL="2057400" indent="-228600" eaLnBrk="0" hangingPunct="0">
              <a:defRPr sz="4000" b="1">
                <a:solidFill>
                  <a:srgbClr val="0000FF"/>
                </a:solidFill>
                <a:latin typeface="Arial" panose="020B0604020202020204" pitchFamily="34" charset="0"/>
                <a:ea typeface="黑体" panose="02010609060101010101" pitchFamily="2" charset="-122"/>
              </a:defRPr>
            </a:lvl5pPr>
            <a:lvl6pPr marL="25146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6pPr>
            <a:lvl7pPr marL="29718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7pPr>
            <a:lvl8pPr marL="34290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8pPr>
            <a:lvl9pPr marL="38862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smtClean="0">
              <a:ln>
                <a:noFill/>
              </a:ln>
              <a:solidFill>
                <a:srgbClr val="808000"/>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52400" y="836613"/>
            <a:ext cx="4348163" cy="5653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2963" y="836613"/>
            <a:ext cx="4348162" cy="5653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 name="日期占位符 4"/>
          <p:cNvSpPr>
            <a:spLocks noGrp="1"/>
          </p:cNvSpPr>
          <p:nvPr>
            <p:ph type="dt" sz="half" idx="12"/>
          </p:nvPr>
        </p:nvSpPr>
        <p:spPr>
          <a:xfrm>
            <a:off x="1295400" y="6248400"/>
            <a:ext cx="19050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1" name="页脚占位符 5"/>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2" name="灯片编号占位符 6"/>
          <p:cNvSpPr>
            <a:spLocks noGrp="1"/>
          </p:cNvSpPr>
          <p:nvPr>
            <p:ph type="sldNum" sz="quarter" idx="4"/>
          </p:nvPr>
        </p:nvSpPr>
        <p:spPr>
          <a:xfrm>
            <a:off x="7162800" y="6248400"/>
            <a:ext cx="1905000" cy="457200"/>
          </a:xfrm>
          <a:prstGeom prst="rect">
            <a:avLst/>
          </a:prstGeom>
        </p:spPr>
        <p:txBody>
          <a:bodyPr/>
          <a:p>
            <a:pPr lvl="0" eaLnBrk="1" hangingPunct="1">
              <a:buNone/>
            </a:pPr>
            <a:fld id="{9A0DB2DC-4C9A-4742-B13C-FB6460FD3503}" type="slidenum">
              <a:rPr lang="en-US" altLang="zh-CN" dirty="0"/>
            </a:fld>
            <a:endParaRPr lang="en-US" altLang="zh-CN" dirty="0"/>
          </a:p>
        </p:txBody>
      </p:sp>
    </p:spTree>
    <p:controls>
      <mc:AlternateContent xmlns:mc="http://schemas.openxmlformats.org/markup-compatibility/2006">
        <mc:Choice xmlns:v="urn:schemas-microsoft-com:vml" Requires="v">
          <p:control spid="17411" name="" r:id="rId3" imgW="684213" imgH="569913"/>
        </mc:Choice>
        <mc:Fallback>
          <p:control name="" r:id="rId3" imgW="684213" imgH="569913">
            <p:pic>
              <p:nvPicPr>
                <p:cNvPr id="0" name="Host Control  17410"/>
                <p:cNvPicPr/>
                <p:nvPr userDrawn="1"/>
              </p:nvPicPr>
              <p:blipFill>
                <a:blip r:embed="rId4"/>
                <a:stretch>
                  <a:fillRect/>
                </a:stretch>
              </p:blipFill>
              <p:spPr>
                <a:xfrm>
                  <a:off x="0" y="6245225"/>
                  <a:ext cx="684213" cy="569913"/>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PhAnim="0" showMasterSp="0">
  <p:cSld name="比较">
    <p:bg>
      <p:bgPr>
        <a:solidFill>
          <a:srgbClr val="FFFFFF"/>
        </a:solidFill>
        <a:effectLst/>
      </p:bgPr>
    </p:bg>
    <p:spTree>
      <p:nvGrpSpPr>
        <p:cNvPr id="1" name=""/>
        <p:cNvGrpSpPr/>
        <p:nvPr/>
      </p:nvGrpSpPr>
      <p:grpSpPr>
        <a:xfrm>
          <a:off x="0" y="0"/>
          <a:ext cx="0" cy="0"/>
          <a:chOff x="0" y="0"/>
          <a:chExt cx="0" cy="0"/>
        </a:xfrm>
      </p:grpSpPr>
      <p:pic>
        <p:nvPicPr>
          <p:cNvPr id="9" name="Picture 27" descr="paint"/>
          <p:cNvPicPr>
            <a:picLocks noChangeAspect="1"/>
          </p:cNvPicPr>
          <p:nvPr userDrawn="1"/>
        </p:nvPicPr>
        <p:blipFill>
          <a:blip r:embed="rId2">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
        <p:nvSpPr>
          <p:cNvPr id="7" name="Text Box 24"/>
          <p:cNvSpPr txBox="1">
            <a:spLocks noChangeArrowheads="1"/>
          </p:cNvSpPr>
          <p:nvPr/>
        </p:nvSpPr>
        <p:spPr bwMode="auto">
          <a:xfrm>
            <a:off x="8526463" y="0"/>
            <a:ext cx="617538" cy="457200"/>
          </a:xfrm>
          <a:prstGeom prst="rect">
            <a:avLst/>
          </a:prstGeom>
          <a:noFill/>
          <a:ln w="12700">
            <a:noFill/>
            <a:miter lim="800000"/>
          </a:ln>
          <a:effectLst/>
        </p:spPr>
        <p:txBody>
          <a:bodyPr>
            <a:spAutoFit/>
          </a:bodyPr>
          <a:p>
            <a:pPr lvl="0" algn="r" eaLnBrk="0" hangingPunct="0">
              <a:buNone/>
            </a:pPr>
            <a:fld id="{9A0DB2DC-4C9A-4742-B13C-FB6460FD3503}" type="slidenum">
              <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8" name="Rectangle 25"/>
          <p:cNvSpPr>
            <a:spLocks noChangeArrowheads="1"/>
          </p:cNvSpPr>
          <p:nvPr/>
        </p:nvSpPr>
        <p:spPr bwMode="auto">
          <a:xfrm>
            <a:off x="1828800" y="6461125"/>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黑体" panose="02010609060101010101" pitchFamily="2" charset="-122"/>
              </a:defRPr>
            </a:lvl1pPr>
            <a:lvl2pPr marL="742950" indent="-285750" eaLnBrk="0" hangingPunct="0">
              <a:defRPr sz="4000" b="1">
                <a:solidFill>
                  <a:srgbClr val="0000FF"/>
                </a:solidFill>
                <a:latin typeface="Arial" panose="020B0604020202020204" pitchFamily="34" charset="0"/>
                <a:ea typeface="黑体" panose="02010609060101010101" pitchFamily="2" charset="-122"/>
              </a:defRPr>
            </a:lvl2pPr>
            <a:lvl3pPr marL="1143000" indent="-228600" eaLnBrk="0" hangingPunct="0">
              <a:defRPr sz="4000" b="1">
                <a:solidFill>
                  <a:srgbClr val="0000FF"/>
                </a:solidFill>
                <a:latin typeface="Arial" panose="020B0604020202020204" pitchFamily="34" charset="0"/>
                <a:ea typeface="黑体" panose="02010609060101010101" pitchFamily="2" charset="-122"/>
              </a:defRPr>
            </a:lvl3pPr>
            <a:lvl4pPr marL="1600200" indent="-228600" eaLnBrk="0" hangingPunct="0">
              <a:defRPr sz="4000" b="1">
                <a:solidFill>
                  <a:srgbClr val="0000FF"/>
                </a:solidFill>
                <a:latin typeface="Arial" panose="020B0604020202020204" pitchFamily="34" charset="0"/>
                <a:ea typeface="黑体" panose="02010609060101010101" pitchFamily="2" charset="-122"/>
              </a:defRPr>
            </a:lvl4pPr>
            <a:lvl5pPr marL="2057400" indent="-228600" eaLnBrk="0" hangingPunct="0">
              <a:defRPr sz="4000" b="1">
                <a:solidFill>
                  <a:srgbClr val="0000FF"/>
                </a:solidFill>
                <a:latin typeface="Arial" panose="020B0604020202020204" pitchFamily="34" charset="0"/>
                <a:ea typeface="黑体" panose="02010609060101010101" pitchFamily="2" charset="-122"/>
              </a:defRPr>
            </a:lvl5pPr>
            <a:lvl6pPr marL="25146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6pPr>
            <a:lvl7pPr marL="29718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7pPr>
            <a:lvl8pPr marL="34290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8pPr>
            <a:lvl9pPr marL="38862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smtClean="0">
              <a:ln>
                <a:noFill/>
              </a:ln>
              <a:solidFill>
                <a:srgbClr val="808000"/>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 name="日期占位符 6"/>
          <p:cNvSpPr>
            <a:spLocks noGrp="1"/>
          </p:cNvSpPr>
          <p:nvPr>
            <p:ph type="dt" sz="half" idx="12"/>
          </p:nvPr>
        </p:nvSpPr>
        <p:spPr>
          <a:xfrm>
            <a:off x="1295400" y="6248400"/>
            <a:ext cx="19050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1" name="页脚占位符 7"/>
          <p:cNvSpPr>
            <a:spLocks noGrp="1"/>
          </p:cNvSpPr>
          <p:nvPr>
            <p:ph type="ftr" sz="quarter" idx="13"/>
          </p:nvPr>
        </p:nvSpPr>
        <p:spPr>
          <a:xfrm>
            <a:off x="3733800" y="6248400"/>
            <a:ext cx="28956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2" name="灯片编号占位符 8"/>
          <p:cNvSpPr>
            <a:spLocks noGrp="1"/>
          </p:cNvSpPr>
          <p:nvPr>
            <p:ph type="sldNum" sz="quarter" idx="14"/>
          </p:nvPr>
        </p:nvSpPr>
        <p:spPr>
          <a:xfrm>
            <a:off x="7162800" y="6248400"/>
            <a:ext cx="1905000" cy="457200"/>
          </a:xfrm>
          <a:prstGeom prst="rect">
            <a:avLst/>
          </a:prstGeom>
        </p:spPr>
        <p:txBody>
          <a:bodyPr/>
          <a:p>
            <a:pPr lvl="0" eaLnBrk="1" hangingPunct="1">
              <a:buNone/>
            </a:pPr>
            <a:fld id="{9A0DB2DC-4C9A-4742-B13C-FB6460FD3503}" type="slidenum">
              <a:rPr lang="en-US" altLang="zh-CN" dirty="0"/>
            </a:fld>
            <a:endParaRPr lang="en-US" altLang="zh-CN" dirty="0"/>
          </a:p>
        </p:txBody>
      </p:sp>
    </p:spTree>
    <p:controls>
      <mc:AlternateContent xmlns:mc="http://schemas.openxmlformats.org/markup-compatibility/2006">
        <mc:Choice xmlns:v="urn:schemas-microsoft-com:vml" Requires="v">
          <p:control spid="18435" name="" r:id="rId3" imgW="684213" imgH="569913"/>
        </mc:Choice>
        <mc:Fallback>
          <p:control name="" r:id="rId3" imgW="684213" imgH="569913">
            <p:pic>
              <p:nvPicPr>
                <p:cNvPr id="0" name="Host Control  18434"/>
                <p:cNvPicPr/>
                <p:nvPr userDrawn="1"/>
              </p:nvPicPr>
              <p:blipFill>
                <a:blip r:embed="rId4"/>
                <a:stretch>
                  <a:fillRect/>
                </a:stretch>
              </p:blipFill>
              <p:spPr>
                <a:xfrm>
                  <a:off x="0" y="6245225"/>
                  <a:ext cx="684213" cy="569913"/>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PhAnim="0" showMasterSp="0">
  <p:cSld name="仅标题">
    <p:bg>
      <p:bgPr>
        <a:solidFill>
          <a:srgbClr val="FFFFFF"/>
        </a:solidFill>
        <a:effectLst/>
      </p:bgPr>
    </p:bg>
    <p:spTree>
      <p:nvGrpSpPr>
        <p:cNvPr id="1" name=""/>
        <p:cNvGrpSpPr/>
        <p:nvPr/>
      </p:nvGrpSpPr>
      <p:grpSpPr>
        <a:xfrm>
          <a:off x="0" y="0"/>
          <a:ext cx="0" cy="0"/>
          <a:chOff x="0" y="0"/>
          <a:chExt cx="0" cy="0"/>
        </a:xfrm>
      </p:grpSpPr>
      <p:pic>
        <p:nvPicPr>
          <p:cNvPr id="9" name="Picture 27" descr="paint"/>
          <p:cNvPicPr>
            <a:picLocks noChangeAspect="1"/>
          </p:cNvPicPr>
          <p:nvPr userDrawn="1"/>
        </p:nvPicPr>
        <p:blipFill>
          <a:blip r:embed="rId2">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
        <p:nvSpPr>
          <p:cNvPr id="7" name="Text Box 24"/>
          <p:cNvSpPr txBox="1">
            <a:spLocks noChangeArrowheads="1"/>
          </p:cNvSpPr>
          <p:nvPr/>
        </p:nvSpPr>
        <p:spPr bwMode="auto">
          <a:xfrm>
            <a:off x="8526463" y="0"/>
            <a:ext cx="617538" cy="457200"/>
          </a:xfrm>
          <a:prstGeom prst="rect">
            <a:avLst/>
          </a:prstGeom>
          <a:noFill/>
          <a:ln w="12700">
            <a:noFill/>
            <a:miter lim="800000"/>
          </a:ln>
          <a:effectLst/>
        </p:spPr>
        <p:txBody>
          <a:bodyPr>
            <a:spAutoFit/>
          </a:bodyPr>
          <a:p>
            <a:pPr lvl="0" algn="r" eaLnBrk="0" hangingPunct="0">
              <a:buNone/>
            </a:pPr>
            <a:fld id="{9A0DB2DC-4C9A-4742-B13C-FB6460FD3503}" type="slidenum">
              <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8" name="Rectangle 25"/>
          <p:cNvSpPr>
            <a:spLocks noChangeArrowheads="1"/>
          </p:cNvSpPr>
          <p:nvPr/>
        </p:nvSpPr>
        <p:spPr bwMode="auto">
          <a:xfrm>
            <a:off x="1828800" y="6461125"/>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黑体" panose="02010609060101010101" pitchFamily="2" charset="-122"/>
              </a:defRPr>
            </a:lvl1pPr>
            <a:lvl2pPr marL="742950" indent="-285750" eaLnBrk="0" hangingPunct="0">
              <a:defRPr sz="4000" b="1">
                <a:solidFill>
                  <a:srgbClr val="0000FF"/>
                </a:solidFill>
                <a:latin typeface="Arial" panose="020B0604020202020204" pitchFamily="34" charset="0"/>
                <a:ea typeface="黑体" panose="02010609060101010101" pitchFamily="2" charset="-122"/>
              </a:defRPr>
            </a:lvl2pPr>
            <a:lvl3pPr marL="1143000" indent="-228600" eaLnBrk="0" hangingPunct="0">
              <a:defRPr sz="4000" b="1">
                <a:solidFill>
                  <a:srgbClr val="0000FF"/>
                </a:solidFill>
                <a:latin typeface="Arial" panose="020B0604020202020204" pitchFamily="34" charset="0"/>
                <a:ea typeface="黑体" panose="02010609060101010101" pitchFamily="2" charset="-122"/>
              </a:defRPr>
            </a:lvl3pPr>
            <a:lvl4pPr marL="1600200" indent="-228600" eaLnBrk="0" hangingPunct="0">
              <a:defRPr sz="4000" b="1">
                <a:solidFill>
                  <a:srgbClr val="0000FF"/>
                </a:solidFill>
                <a:latin typeface="Arial" panose="020B0604020202020204" pitchFamily="34" charset="0"/>
                <a:ea typeface="黑体" panose="02010609060101010101" pitchFamily="2" charset="-122"/>
              </a:defRPr>
            </a:lvl4pPr>
            <a:lvl5pPr marL="2057400" indent="-228600" eaLnBrk="0" hangingPunct="0">
              <a:defRPr sz="4000" b="1">
                <a:solidFill>
                  <a:srgbClr val="0000FF"/>
                </a:solidFill>
                <a:latin typeface="Arial" panose="020B0604020202020204" pitchFamily="34" charset="0"/>
                <a:ea typeface="黑体" panose="02010609060101010101" pitchFamily="2" charset="-122"/>
              </a:defRPr>
            </a:lvl5pPr>
            <a:lvl6pPr marL="25146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6pPr>
            <a:lvl7pPr marL="29718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7pPr>
            <a:lvl8pPr marL="34290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8pPr>
            <a:lvl9pPr marL="38862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smtClean="0">
              <a:ln>
                <a:noFill/>
              </a:ln>
              <a:solidFill>
                <a:srgbClr val="808000"/>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10" name="日期占位符 2"/>
          <p:cNvSpPr>
            <a:spLocks noGrp="1"/>
          </p:cNvSpPr>
          <p:nvPr>
            <p:ph type="dt" sz="half" idx="2"/>
          </p:nvPr>
        </p:nvSpPr>
        <p:spPr>
          <a:xfrm>
            <a:off x="1295400" y="6248400"/>
            <a:ext cx="19050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1" name="页脚占位符 3"/>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2" name="灯片编号占位符 4"/>
          <p:cNvSpPr>
            <a:spLocks noGrp="1"/>
          </p:cNvSpPr>
          <p:nvPr>
            <p:ph type="sldNum" sz="quarter" idx="4"/>
          </p:nvPr>
        </p:nvSpPr>
        <p:spPr>
          <a:xfrm>
            <a:off x="7162800" y="6248400"/>
            <a:ext cx="1905000" cy="457200"/>
          </a:xfrm>
          <a:prstGeom prst="rect">
            <a:avLst/>
          </a:prstGeom>
        </p:spPr>
        <p:txBody>
          <a:bodyPr/>
          <a:p>
            <a:pPr lvl="0" eaLnBrk="1" hangingPunct="1">
              <a:buNone/>
            </a:pPr>
            <a:fld id="{9A0DB2DC-4C9A-4742-B13C-FB6460FD3503}" type="slidenum">
              <a:rPr lang="en-US" altLang="zh-CN" dirty="0"/>
            </a:fld>
            <a:endParaRPr lang="en-US" altLang="zh-CN" dirty="0"/>
          </a:p>
        </p:txBody>
      </p:sp>
    </p:spTree>
    <p:controls>
      <mc:AlternateContent xmlns:mc="http://schemas.openxmlformats.org/markup-compatibility/2006">
        <mc:Choice xmlns:v="urn:schemas-microsoft-com:vml" Requires="v">
          <p:control spid="19459" name="" r:id="rId3" imgW="684213" imgH="569913"/>
        </mc:Choice>
        <mc:Fallback>
          <p:control name="" r:id="rId3" imgW="684213" imgH="569913">
            <p:pic>
              <p:nvPicPr>
                <p:cNvPr id="0" name="Host Control  19458"/>
                <p:cNvPicPr/>
                <p:nvPr userDrawn="1"/>
              </p:nvPicPr>
              <p:blipFill>
                <a:blip r:embed="rId4"/>
                <a:stretch>
                  <a:fillRect/>
                </a:stretch>
              </p:blipFill>
              <p:spPr>
                <a:xfrm>
                  <a:off x="0" y="6245225"/>
                  <a:ext cx="684213" cy="569913"/>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PhAnim="0" showMasterSp="0">
  <p:cSld name="空白">
    <p:bg>
      <p:bgPr>
        <a:solidFill>
          <a:srgbClr val="FFFFFF"/>
        </a:solidFill>
        <a:effectLst/>
      </p:bgPr>
    </p:bg>
    <p:spTree>
      <p:nvGrpSpPr>
        <p:cNvPr id="1" name=""/>
        <p:cNvGrpSpPr/>
        <p:nvPr/>
      </p:nvGrpSpPr>
      <p:grpSpPr>
        <a:xfrm>
          <a:off x="0" y="0"/>
          <a:ext cx="0" cy="0"/>
          <a:chOff x="0" y="0"/>
          <a:chExt cx="0" cy="0"/>
        </a:xfrm>
      </p:grpSpPr>
      <p:pic>
        <p:nvPicPr>
          <p:cNvPr id="9" name="Picture 27" descr="paint"/>
          <p:cNvPicPr>
            <a:picLocks noChangeAspect="1"/>
          </p:cNvPicPr>
          <p:nvPr userDrawn="1"/>
        </p:nvPicPr>
        <p:blipFill>
          <a:blip r:embed="rId2">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
        <p:nvSpPr>
          <p:cNvPr id="7" name="Text Box 24"/>
          <p:cNvSpPr txBox="1">
            <a:spLocks noChangeArrowheads="1"/>
          </p:cNvSpPr>
          <p:nvPr/>
        </p:nvSpPr>
        <p:spPr bwMode="auto">
          <a:xfrm>
            <a:off x="8526463" y="0"/>
            <a:ext cx="617538" cy="457200"/>
          </a:xfrm>
          <a:prstGeom prst="rect">
            <a:avLst/>
          </a:prstGeom>
          <a:noFill/>
          <a:ln w="12700">
            <a:noFill/>
            <a:miter lim="800000"/>
          </a:ln>
          <a:effectLst/>
        </p:spPr>
        <p:txBody>
          <a:bodyPr>
            <a:spAutoFit/>
          </a:bodyPr>
          <a:p>
            <a:pPr lvl="0" algn="r" eaLnBrk="0" hangingPunct="0">
              <a:buNone/>
            </a:pPr>
            <a:fld id="{9A0DB2DC-4C9A-4742-B13C-FB6460FD3503}" type="slidenum">
              <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8" name="Rectangle 25"/>
          <p:cNvSpPr>
            <a:spLocks noChangeArrowheads="1"/>
          </p:cNvSpPr>
          <p:nvPr/>
        </p:nvSpPr>
        <p:spPr bwMode="auto">
          <a:xfrm>
            <a:off x="1828800" y="6461125"/>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黑体" panose="02010609060101010101" pitchFamily="2" charset="-122"/>
              </a:defRPr>
            </a:lvl1pPr>
            <a:lvl2pPr marL="742950" indent="-285750" eaLnBrk="0" hangingPunct="0">
              <a:defRPr sz="4000" b="1">
                <a:solidFill>
                  <a:srgbClr val="0000FF"/>
                </a:solidFill>
                <a:latin typeface="Arial" panose="020B0604020202020204" pitchFamily="34" charset="0"/>
                <a:ea typeface="黑体" panose="02010609060101010101" pitchFamily="2" charset="-122"/>
              </a:defRPr>
            </a:lvl2pPr>
            <a:lvl3pPr marL="1143000" indent="-228600" eaLnBrk="0" hangingPunct="0">
              <a:defRPr sz="4000" b="1">
                <a:solidFill>
                  <a:srgbClr val="0000FF"/>
                </a:solidFill>
                <a:latin typeface="Arial" panose="020B0604020202020204" pitchFamily="34" charset="0"/>
                <a:ea typeface="黑体" panose="02010609060101010101" pitchFamily="2" charset="-122"/>
              </a:defRPr>
            </a:lvl3pPr>
            <a:lvl4pPr marL="1600200" indent="-228600" eaLnBrk="0" hangingPunct="0">
              <a:defRPr sz="4000" b="1">
                <a:solidFill>
                  <a:srgbClr val="0000FF"/>
                </a:solidFill>
                <a:latin typeface="Arial" panose="020B0604020202020204" pitchFamily="34" charset="0"/>
                <a:ea typeface="黑体" panose="02010609060101010101" pitchFamily="2" charset="-122"/>
              </a:defRPr>
            </a:lvl4pPr>
            <a:lvl5pPr marL="2057400" indent="-228600" eaLnBrk="0" hangingPunct="0">
              <a:defRPr sz="4000" b="1">
                <a:solidFill>
                  <a:srgbClr val="0000FF"/>
                </a:solidFill>
                <a:latin typeface="Arial" panose="020B0604020202020204" pitchFamily="34" charset="0"/>
                <a:ea typeface="黑体" panose="02010609060101010101" pitchFamily="2" charset="-122"/>
              </a:defRPr>
            </a:lvl5pPr>
            <a:lvl6pPr marL="25146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6pPr>
            <a:lvl7pPr marL="29718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7pPr>
            <a:lvl8pPr marL="34290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8pPr>
            <a:lvl9pPr marL="38862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smtClean="0">
              <a:ln>
                <a:noFill/>
              </a:ln>
              <a:solidFill>
                <a:srgbClr val="808000"/>
              </a:solidFill>
              <a:effectLst/>
              <a:uLnTx/>
              <a:uFillTx/>
              <a:latin typeface="Arial" panose="020B0604020202020204" pitchFamily="34" charset="0"/>
              <a:ea typeface="楷体_GB2312" pitchFamily="49" charset="-122"/>
              <a:cs typeface="+mn-cs"/>
            </a:endParaRPr>
          </a:p>
        </p:txBody>
      </p:sp>
      <p:sp>
        <p:nvSpPr>
          <p:cNvPr id="10" name="日期占位符 1"/>
          <p:cNvSpPr>
            <a:spLocks noGrp="1"/>
          </p:cNvSpPr>
          <p:nvPr>
            <p:ph type="dt" sz="half" idx="2"/>
          </p:nvPr>
        </p:nvSpPr>
        <p:spPr>
          <a:xfrm>
            <a:off x="1295400" y="6248400"/>
            <a:ext cx="19050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1" name="页脚占位符 2"/>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2" name="灯片编号占位符 3"/>
          <p:cNvSpPr>
            <a:spLocks noGrp="1"/>
          </p:cNvSpPr>
          <p:nvPr>
            <p:ph type="sldNum" sz="quarter" idx="4"/>
          </p:nvPr>
        </p:nvSpPr>
        <p:spPr>
          <a:xfrm>
            <a:off x="7162800" y="6248400"/>
            <a:ext cx="1905000" cy="457200"/>
          </a:xfrm>
          <a:prstGeom prst="rect">
            <a:avLst/>
          </a:prstGeom>
        </p:spPr>
        <p:txBody>
          <a:bodyPr/>
          <a:p>
            <a:pPr lvl="0" eaLnBrk="1" hangingPunct="1">
              <a:buNone/>
            </a:pPr>
            <a:fld id="{9A0DB2DC-4C9A-4742-B13C-FB6460FD3503}" type="slidenum">
              <a:rPr lang="en-US" altLang="zh-CN" dirty="0"/>
            </a:fld>
            <a:endParaRPr lang="en-US" altLang="zh-CN" dirty="0"/>
          </a:p>
        </p:txBody>
      </p:sp>
    </p:spTree>
    <p:controls>
      <mc:AlternateContent xmlns:mc="http://schemas.openxmlformats.org/markup-compatibility/2006">
        <mc:Choice xmlns:v="urn:schemas-microsoft-com:vml" Requires="v">
          <p:control spid="20483" name="" r:id="rId3" imgW="684213" imgH="569913"/>
        </mc:Choice>
        <mc:Fallback>
          <p:control name="" r:id="rId3" imgW="684213" imgH="569913">
            <p:pic>
              <p:nvPicPr>
                <p:cNvPr id="0" name="Host Control  20482"/>
                <p:cNvPicPr/>
                <p:nvPr userDrawn="1"/>
              </p:nvPicPr>
              <p:blipFill>
                <a:blip r:embed="rId4"/>
                <a:stretch>
                  <a:fillRect/>
                </a:stretch>
              </p:blipFill>
              <p:spPr>
                <a:xfrm>
                  <a:off x="0" y="6245225"/>
                  <a:ext cx="684213" cy="569913"/>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PhAnim="0" showMasterSp="0">
  <p:cSld name="内容与标题">
    <p:bg>
      <p:bgPr>
        <a:solidFill>
          <a:srgbClr val="FFFFFF"/>
        </a:solidFill>
        <a:effectLst/>
      </p:bgPr>
    </p:bg>
    <p:spTree>
      <p:nvGrpSpPr>
        <p:cNvPr id="1" name=""/>
        <p:cNvGrpSpPr/>
        <p:nvPr/>
      </p:nvGrpSpPr>
      <p:grpSpPr>
        <a:xfrm>
          <a:off x="0" y="0"/>
          <a:ext cx="0" cy="0"/>
          <a:chOff x="0" y="0"/>
          <a:chExt cx="0" cy="0"/>
        </a:xfrm>
      </p:grpSpPr>
      <p:pic>
        <p:nvPicPr>
          <p:cNvPr id="9" name="Picture 27" descr="paint"/>
          <p:cNvPicPr>
            <a:picLocks noChangeAspect="1"/>
          </p:cNvPicPr>
          <p:nvPr userDrawn="1"/>
        </p:nvPicPr>
        <p:blipFill>
          <a:blip r:embed="rId2">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
        <p:nvSpPr>
          <p:cNvPr id="7" name="Text Box 24"/>
          <p:cNvSpPr txBox="1">
            <a:spLocks noChangeArrowheads="1"/>
          </p:cNvSpPr>
          <p:nvPr/>
        </p:nvSpPr>
        <p:spPr bwMode="auto">
          <a:xfrm>
            <a:off x="8526463" y="0"/>
            <a:ext cx="617538" cy="457200"/>
          </a:xfrm>
          <a:prstGeom prst="rect">
            <a:avLst/>
          </a:prstGeom>
          <a:noFill/>
          <a:ln w="12700">
            <a:noFill/>
            <a:miter lim="800000"/>
          </a:ln>
          <a:effectLst/>
        </p:spPr>
        <p:txBody>
          <a:bodyPr>
            <a:spAutoFit/>
          </a:bodyPr>
          <a:p>
            <a:pPr lvl="0" algn="r" eaLnBrk="0" hangingPunct="0">
              <a:buNone/>
            </a:pPr>
            <a:fld id="{9A0DB2DC-4C9A-4742-B13C-FB6460FD3503}" type="slidenum">
              <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8" name="Rectangle 25"/>
          <p:cNvSpPr>
            <a:spLocks noChangeArrowheads="1"/>
          </p:cNvSpPr>
          <p:nvPr/>
        </p:nvSpPr>
        <p:spPr bwMode="auto">
          <a:xfrm>
            <a:off x="1828800" y="6461125"/>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黑体" panose="02010609060101010101" pitchFamily="2" charset="-122"/>
              </a:defRPr>
            </a:lvl1pPr>
            <a:lvl2pPr marL="742950" indent="-285750" eaLnBrk="0" hangingPunct="0">
              <a:defRPr sz="4000" b="1">
                <a:solidFill>
                  <a:srgbClr val="0000FF"/>
                </a:solidFill>
                <a:latin typeface="Arial" panose="020B0604020202020204" pitchFamily="34" charset="0"/>
                <a:ea typeface="黑体" panose="02010609060101010101" pitchFamily="2" charset="-122"/>
              </a:defRPr>
            </a:lvl2pPr>
            <a:lvl3pPr marL="1143000" indent="-228600" eaLnBrk="0" hangingPunct="0">
              <a:defRPr sz="4000" b="1">
                <a:solidFill>
                  <a:srgbClr val="0000FF"/>
                </a:solidFill>
                <a:latin typeface="Arial" panose="020B0604020202020204" pitchFamily="34" charset="0"/>
                <a:ea typeface="黑体" panose="02010609060101010101" pitchFamily="2" charset="-122"/>
              </a:defRPr>
            </a:lvl3pPr>
            <a:lvl4pPr marL="1600200" indent="-228600" eaLnBrk="0" hangingPunct="0">
              <a:defRPr sz="4000" b="1">
                <a:solidFill>
                  <a:srgbClr val="0000FF"/>
                </a:solidFill>
                <a:latin typeface="Arial" panose="020B0604020202020204" pitchFamily="34" charset="0"/>
                <a:ea typeface="黑体" panose="02010609060101010101" pitchFamily="2" charset="-122"/>
              </a:defRPr>
            </a:lvl4pPr>
            <a:lvl5pPr marL="2057400" indent="-228600" eaLnBrk="0" hangingPunct="0">
              <a:defRPr sz="4000" b="1">
                <a:solidFill>
                  <a:srgbClr val="0000FF"/>
                </a:solidFill>
                <a:latin typeface="Arial" panose="020B0604020202020204" pitchFamily="34" charset="0"/>
                <a:ea typeface="黑体" panose="02010609060101010101" pitchFamily="2" charset="-122"/>
              </a:defRPr>
            </a:lvl5pPr>
            <a:lvl6pPr marL="25146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6pPr>
            <a:lvl7pPr marL="29718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7pPr>
            <a:lvl8pPr marL="34290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8pPr>
            <a:lvl9pPr marL="38862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smtClean="0">
              <a:ln>
                <a:noFill/>
              </a:ln>
              <a:solidFill>
                <a:srgbClr val="808000"/>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10" name="日期占位符 4"/>
          <p:cNvSpPr>
            <a:spLocks noGrp="1"/>
          </p:cNvSpPr>
          <p:nvPr>
            <p:ph type="dt" sz="half" idx="12"/>
          </p:nvPr>
        </p:nvSpPr>
        <p:spPr>
          <a:xfrm>
            <a:off x="1295400" y="6248400"/>
            <a:ext cx="19050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1" name="页脚占位符 5"/>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2" name="灯片编号占位符 6"/>
          <p:cNvSpPr>
            <a:spLocks noGrp="1"/>
          </p:cNvSpPr>
          <p:nvPr>
            <p:ph type="sldNum" sz="quarter" idx="4"/>
          </p:nvPr>
        </p:nvSpPr>
        <p:spPr>
          <a:xfrm>
            <a:off x="7162800" y="6248400"/>
            <a:ext cx="1905000" cy="457200"/>
          </a:xfrm>
          <a:prstGeom prst="rect">
            <a:avLst/>
          </a:prstGeom>
        </p:spPr>
        <p:txBody>
          <a:bodyPr/>
          <a:p>
            <a:pPr lvl="0" eaLnBrk="1" hangingPunct="1">
              <a:buNone/>
            </a:pPr>
            <a:fld id="{9A0DB2DC-4C9A-4742-B13C-FB6460FD3503}" type="slidenum">
              <a:rPr lang="en-US" altLang="zh-CN" dirty="0"/>
            </a:fld>
            <a:endParaRPr lang="en-US" altLang="zh-CN" dirty="0"/>
          </a:p>
        </p:txBody>
      </p:sp>
    </p:spTree>
    <p:controls>
      <mc:AlternateContent xmlns:mc="http://schemas.openxmlformats.org/markup-compatibility/2006">
        <mc:Choice xmlns:v="urn:schemas-microsoft-com:vml" Requires="v">
          <p:control spid="21507" name="" r:id="rId3" imgW="684213" imgH="569913"/>
        </mc:Choice>
        <mc:Fallback>
          <p:control name="" r:id="rId3" imgW="684213" imgH="569913">
            <p:pic>
              <p:nvPicPr>
                <p:cNvPr id="0" name="Host Control  21506"/>
                <p:cNvPicPr/>
                <p:nvPr userDrawn="1"/>
              </p:nvPicPr>
              <p:blipFill>
                <a:blip r:embed="rId4"/>
                <a:stretch>
                  <a:fillRect/>
                </a:stretch>
              </p:blipFill>
              <p:spPr>
                <a:xfrm>
                  <a:off x="0" y="6245225"/>
                  <a:ext cx="684213" cy="569913"/>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PhAnim="0" showMasterSp="0">
  <p:cSld name="图片与标题">
    <p:bg>
      <p:bgPr>
        <a:solidFill>
          <a:srgbClr val="FFFFFF"/>
        </a:solidFill>
        <a:effectLst/>
      </p:bgPr>
    </p:bg>
    <p:spTree>
      <p:nvGrpSpPr>
        <p:cNvPr id="1" name=""/>
        <p:cNvGrpSpPr/>
        <p:nvPr/>
      </p:nvGrpSpPr>
      <p:grpSpPr>
        <a:xfrm>
          <a:off x="0" y="0"/>
          <a:ext cx="0" cy="0"/>
          <a:chOff x="0" y="0"/>
          <a:chExt cx="0" cy="0"/>
        </a:xfrm>
      </p:grpSpPr>
      <p:pic>
        <p:nvPicPr>
          <p:cNvPr id="9" name="Picture 27" descr="paint"/>
          <p:cNvPicPr>
            <a:picLocks noChangeAspect="1"/>
          </p:cNvPicPr>
          <p:nvPr userDrawn="1"/>
        </p:nvPicPr>
        <p:blipFill>
          <a:blip r:embed="rId2">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
        <p:nvSpPr>
          <p:cNvPr id="7" name="Text Box 24"/>
          <p:cNvSpPr txBox="1">
            <a:spLocks noChangeArrowheads="1"/>
          </p:cNvSpPr>
          <p:nvPr/>
        </p:nvSpPr>
        <p:spPr bwMode="auto">
          <a:xfrm>
            <a:off x="8526463" y="0"/>
            <a:ext cx="617538" cy="457200"/>
          </a:xfrm>
          <a:prstGeom prst="rect">
            <a:avLst/>
          </a:prstGeom>
          <a:noFill/>
          <a:ln w="12700">
            <a:noFill/>
            <a:miter lim="800000"/>
          </a:ln>
          <a:effectLst/>
        </p:spPr>
        <p:txBody>
          <a:bodyPr>
            <a:spAutoFit/>
          </a:bodyPr>
          <a:p>
            <a:pPr lvl="0" algn="r" eaLnBrk="0" hangingPunct="0">
              <a:buNone/>
            </a:pPr>
            <a:fld id="{9A0DB2DC-4C9A-4742-B13C-FB6460FD3503}" type="slidenum">
              <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8" name="Rectangle 25"/>
          <p:cNvSpPr>
            <a:spLocks noChangeArrowheads="1"/>
          </p:cNvSpPr>
          <p:nvPr/>
        </p:nvSpPr>
        <p:spPr bwMode="auto">
          <a:xfrm>
            <a:off x="1828800" y="6461125"/>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黑体" panose="02010609060101010101" pitchFamily="2" charset="-122"/>
              </a:defRPr>
            </a:lvl1pPr>
            <a:lvl2pPr marL="742950" indent="-285750" eaLnBrk="0" hangingPunct="0">
              <a:defRPr sz="4000" b="1">
                <a:solidFill>
                  <a:srgbClr val="0000FF"/>
                </a:solidFill>
                <a:latin typeface="Arial" panose="020B0604020202020204" pitchFamily="34" charset="0"/>
                <a:ea typeface="黑体" panose="02010609060101010101" pitchFamily="2" charset="-122"/>
              </a:defRPr>
            </a:lvl2pPr>
            <a:lvl3pPr marL="1143000" indent="-228600" eaLnBrk="0" hangingPunct="0">
              <a:defRPr sz="4000" b="1">
                <a:solidFill>
                  <a:srgbClr val="0000FF"/>
                </a:solidFill>
                <a:latin typeface="Arial" panose="020B0604020202020204" pitchFamily="34" charset="0"/>
                <a:ea typeface="黑体" panose="02010609060101010101" pitchFamily="2" charset="-122"/>
              </a:defRPr>
            </a:lvl3pPr>
            <a:lvl4pPr marL="1600200" indent="-228600" eaLnBrk="0" hangingPunct="0">
              <a:defRPr sz="4000" b="1">
                <a:solidFill>
                  <a:srgbClr val="0000FF"/>
                </a:solidFill>
                <a:latin typeface="Arial" panose="020B0604020202020204" pitchFamily="34" charset="0"/>
                <a:ea typeface="黑体" panose="02010609060101010101" pitchFamily="2" charset="-122"/>
              </a:defRPr>
            </a:lvl4pPr>
            <a:lvl5pPr marL="2057400" indent="-228600" eaLnBrk="0" hangingPunct="0">
              <a:defRPr sz="4000" b="1">
                <a:solidFill>
                  <a:srgbClr val="0000FF"/>
                </a:solidFill>
                <a:latin typeface="Arial" panose="020B0604020202020204" pitchFamily="34" charset="0"/>
                <a:ea typeface="黑体" panose="02010609060101010101" pitchFamily="2" charset="-122"/>
              </a:defRPr>
            </a:lvl5pPr>
            <a:lvl6pPr marL="25146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6pPr>
            <a:lvl7pPr marL="29718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7pPr>
            <a:lvl8pPr marL="34290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8pPr>
            <a:lvl9pPr marL="38862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smtClean="0">
              <a:ln>
                <a:noFill/>
              </a:ln>
              <a:solidFill>
                <a:srgbClr val="808000"/>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endParaRPr kumimoji="1" lang="zh-CN" altLang="en-US" sz="3200" b="1" i="0" u="none" strike="noStrike" kern="0" cap="none" spc="0" normalizeH="0" baseline="0" noProof="0" smtClean="0">
              <a:ln>
                <a:noFill/>
              </a:ln>
              <a:solidFill>
                <a:srgbClr val="000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10" name="日期占位符 4"/>
          <p:cNvSpPr>
            <a:spLocks noGrp="1"/>
          </p:cNvSpPr>
          <p:nvPr>
            <p:ph type="dt" sz="half" idx="12"/>
          </p:nvPr>
        </p:nvSpPr>
        <p:spPr>
          <a:xfrm>
            <a:off x="1295400" y="6248400"/>
            <a:ext cx="19050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1" name="页脚占位符 5"/>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2" name="灯片编号占位符 6"/>
          <p:cNvSpPr>
            <a:spLocks noGrp="1"/>
          </p:cNvSpPr>
          <p:nvPr>
            <p:ph type="sldNum" sz="quarter" idx="4"/>
          </p:nvPr>
        </p:nvSpPr>
        <p:spPr>
          <a:xfrm>
            <a:off x="7162800" y="6248400"/>
            <a:ext cx="1905000" cy="457200"/>
          </a:xfrm>
          <a:prstGeom prst="rect">
            <a:avLst/>
          </a:prstGeom>
        </p:spPr>
        <p:txBody>
          <a:bodyPr/>
          <a:p>
            <a:pPr lvl="0" eaLnBrk="1" hangingPunct="1">
              <a:buNone/>
            </a:pPr>
            <a:fld id="{9A0DB2DC-4C9A-4742-B13C-FB6460FD3503}" type="slidenum">
              <a:rPr lang="en-US" altLang="zh-CN" dirty="0"/>
            </a:fld>
            <a:endParaRPr lang="en-US" altLang="zh-CN" dirty="0"/>
          </a:p>
        </p:txBody>
      </p:sp>
    </p:spTree>
    <p:controls>
      <mc:AlternateContent xmlns:mc="http://schemas.openxmlformats.org/markup-compatibility/2006">
        <mc:Choice xmlns:v="urn:schemas-microsoft-com:vml" Requires="v">
          <p:control spid="22531" name="" r:id="rId3" imgW="684213" imgH="569913"/>
        </mc:Choice>
        <mc:Fallback>
          <p:control name="" r:id="rId3" imgW="684213" imgH="569913">
            <p:pic>
              <p:nvPicPr>
                <p:cNvPr id="0" name="Host Control  22530"/>
                <p:cNvPicPr/>
                <p:nvPr userDrawn="1"/>
              </p:nvPicPr>
              <p:blipFill>
                <a:blip r:embed="rId4"/>
                <a:stretch>
                  <a:fillRect/>
                </a:stretch>
              </p:blipFill>
              <p:spPr>
                <a:xfrm>
                  <a:off x="0" y="6245225"/>
                  <a:ext cx="684213" cy="569913"/>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PhAnim="0" showMasterSp="0">
  <p:cSld name="标题和竖排文字">
    <p:bg>
      <p:bgPr>
        <a:solidFill>
          <a:srgbClr val="FFFFFF"/>
        </a:solidFill>
        <a:effectLst/>
      </p:bgPr>
    </p:bg>
    <p:spTree>
      <p:nvGrpSpPr>
        <p:cNvPr id="1" name=""/>
        <p:cNvGrpSpPr/>
        <p:nvPr/>
      </p:nvGrpSpPr>
      <p:grpSpPr>
        <a:xfrm>
          <a:off x="0" y="0"/>
          <a:ext cx="0" cy="0"/>
          <a:chOff x="0" y="0"/>
          <a:chExt cx="0" cy="0"/>
        </a:xfrm>
      </p:grpSpPr>
      <p:pic>
        <p:nvPicPr>
          <p:cNvPr id="9" name="Picture 27" descr="paint"/>
          <p:cNvPicPr>
            <a:picLocks noChangeAspect="1"/>
          </p:cNvPicPr>
          <p:nvPr userDrawn="1"/>
        </p:nvPicPr>
        <p:blipFill>
          <a:blip r:embed="rId2">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
        <p:nvSpPr>
          <p:cNvPr id="7" name="Text Box 24"/>
          <p:cNvSpPr txBox="1">
            <a:spLocks noChangeArrowheads="1"/>
          </p:cNvSpPr>
          <p:nvPr/>
        </p:nvSpPr>
        <p:spPr bwMode="auto">
          <a:xfrm>
            <a:off x="8526463" y="0"/>
            <a:ext cx="617538" cy="457200"/>
          </a:xfrm>
          <a:prstGeom prst="rect">
            <a:avLst/>
          </a:prstGeom>
          <a:noFill/>
          <a:ln w="12700">
            <a:noFill/>
            <a:miter lim="800000"/>
          </a:ln>
          <a:effectLst/>
        </p:spPr>
        <p:txBody>
          <a:bodyPr>
            <a:spAutoFit/>
          </a:bodyPr>
          <a:p>
            <a:pPr lvl="0" algn="r" eaLnBrk="0" hangingPunct="0">
              <a:buNone/>
            </a:pPr>
            <a:fld id="{9A0DB2DC-4C9A-4742-B13C-FB6460FD3503}" type="slidenum">
              <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8" name="Rectangle 25"/>
          <p:cNvSpPr>
            <a:spLocks noChangeArrowheads="1"/>
          </p:cNvSpPr>
          <p:nvPr/>
        </p:nvSpPr>
        <p:spPr bwMode="auto">
          <a:xfrm>
            <a:off x="1828800" y="6461125"/>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黑体" panose="02010609060101010101" pitchFamily="2" charset="-122"/>
              </a:defRPr>
            </a:lvl1pPr>
            <a:lvl2pPr marL="742950" indent="-285750" eaLnBrk="0" hangingPunct="0">
              <a:defRPr sz="4000" b="1">
                <a:solidFill>
                  <a:srgbClr val="0000FF"/>
                </a:solidFill>
                <a:latin typeface="Arial" panose="020B0604020202020204" pitchFamily="34" charset="0"/>
                <a:ea typeface="黑体" panose="02010609060101010101" pitchFamily="2" charset="-122"/>
              </a:defRPr>
            </a:lvl2pPr>
            <a:lvl3pPr marL="1143000" indent="-228600" eaLnBrk="0" hangingPunct="0">
              <a:defRPr sz="4000" b="1">
                <a:solidFill>
                  <a:srgbClr val="0000FF"/>
                </a:solidFill>
                <a:latin typeface="Arial" panose="020B0604020202020204" pitchFamily="34" charset="0"/>
                <a:ea typeface="黑体" panose="02010609060101010101" pitchFamily="2" charset="-122"/>
              </a:defRPr>
            </a:lvl3pPr>
            <a:lvl4pPr marL="1600200" indent="-228600" eaLnBrk="0" hangingPunct="0">
              <a:defRPr sz="4000" b="1">
                <a:solidFill>
                  <a:srgbClr val="0000FF"/>
                </a:solidFill>
                <a:latin typeface="Arial" panose="020B0604020202020204" pitchFamily="34" charset="0"/>
                <a:ea typeface="黑体" panose="02010609060101010101" pitchFamily="2" charset="-122"/>
              </a:defRPr>
            </a:lvl4pPr>
            <a:lvl5pPr marL="2057400" indent="-228600" eaLnBrk="0" hangingPunct="0">
              <a:defRPr sz="4000" b="1">
                <a:solidFill>
                  <a:srgbClr val="0000FF"/>
                </a:solidFill>
                <a:latin typeface="Arial" panose="020B0604020202020204" pitchFamily="34" charset="0"/>
                <a:ea typeface="黑体" panose="02010609060101010101" pitchFamily="2" charset="-122"/>
              </a:defRPr>
            </a:lvl5pPr>
            <a:lvl6pPr marL="25146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6pPr>
            <a:lvl7pPr marL="29718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7pPr>
            <a:lvl8pPr marL="34290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8pPr>
            <a:lvl9pPr marL="38862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smtClean="0">
              <a:ln>
                <a:noFill/>
              </a:ln>
              <a:solidFill>
                <a:srgbClr val="808000"/>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 name="日期占位符 3"/>
          <p:cNvSpPr>
            <a:spLocks noGrp="1"/>
          </p:cNvSpPr>
          <p:nvPr>
            <p:ph type="dt" sz="half" idx="2"/>
          </p:nvPr>
        </p:nvSpPr>
        <p:spPr>
          <a:xfrm>
            <a:off x="1295400" y="6248400"/>
            <a:ext cx="19050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1" name="页脚占位符 4"/>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2" name="灯片编号占位符 5"/>
          <p:cNvSpPr>
            <a:spLocks noGrp="1"/>
          </p:cNvSpPr>
          <p:nvPr>
            <p:ph type="sldNum" sz="quarter" idx="4"/>
          </p:nvPr>
        </p:nvSpPr>
        <p:spPr>
          <a:xfrm>
            <a:off x="7162800" y="6248400"/>
            <a:ext cx="1905000" cy="457200"/>
          </a:xfrm>
          <a:prstGeom prst="rect">
            <a:avLst/>
          </a:prstGeom>
        </p:spPr>
        <p:txBody>
          <a:bodyPr/>
          <a:p>
            <a:pPr lvl="0" eaLnBrk="1" hangingPunct="1">
              <a:buNone/>
            </a:pPr>
            <a:fld id="{9A0DB2DC-4C9A-4742-B13C-FB6460FD3503}" type="slidenum">
              <a:rPr lang="en-US" altLang="zh-CN" dirty="0"/>
            </a:fld>
            <a:endParaRPr lang="en-US" altLang="zh-CN" dirty="0"/>
          </a:p>
        </p:txBody>
      </p:sp>
    </p:spTree>
    <p:controls>
      <mc:AlternateContent xmlns:mc="http://schemas.openxmlformats.org/markup-compatibility/2006">
        <mc:Choice xmlns:v="urn:schemas-microsoft-com:vml" Requires="v">
          <p:control spid="23555" name="" r:id="rId3" imgW="684213" imgH="569913"/>
        </mc:Choice>
        <mc:Fallback>
          <p:control name="" r:id="rId3" imgW="684213" imgH="569913">
            <p:pic>
              <p:nvPicPr>
                <p:cNvPr id="0" name="Host Control  23554"/>
                <p:cNvPicPr/>
                <p:nvPr userDrawn="1"/>
              </p:nvPicPr>
              <p:blipFill>
                <a:blip r:embed="rId4"/>
                <a:stretch>
                  <a:fillRect/>
                </a:stretch>
              </p:blipFill>
              <p:spPr>
                <a:xfrm>
                  <a:off x="0" y="6245225"/>
                  <a:ext cx="684213" cy="569913"/>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PhAnim="0" showMasterSp="0">
  <p:cSld name="垂直排列标题与文本">
    <p:bg>
      <p:bgPr>
        <a:solidFill>
          <a:srgbClr val="FFFFFF"/>
        </a:solidFill>
        <a:effectLst/>
      </p:bgPr>
    </p:bg>
    <p:spTree>
      <p:nvGrpSpPr>
        <p:cNvPr id="1" name=""/>
        <p:cNvGrpSpPr/>
        <p:nvPr/>
      </p:nvGrpSpPr>
      <p:grpSpPr>
        <a:xfrm>
          <a:off x="0" y="0"/>
          <a:ext cx="0" cy="0"/>
          <a:chOff x="0" y="0"/>
          <a:chExt cx="0" cy="0"/>
        </a:xfrm>
      </p:grpSpPr>
      <p:pic>
        <p:nvPicPr>
          <p:cNvPr id="9" name="Picture 27" descr="paint"/>
          <p:cNvPicPr>
            <a:picLocks noChangeAspect="1"/>
          </p:cNvPicPr>
          <p:nvPr userDrawn="1"/>
        </p:nvPicPr>
        <p:blipFill>
          <a:blip r:embed="rId2">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
        <p:nvSpPr>
          <p:cNvPr id="7" name="Text Box 24"/>
          <p:cNvSpPr txBox="1">
            <a:spLocks noChangeArrowheads="1"/>
          </p:cNvSpPr>
          <p:nvPr/>
        </p:nvSpPr>
        <p:spPr bwMode="auto">
          <a:xfrm>
            <a:off x="8526463" y="0"/>
            <a:ext cx="617538" cy="457200"/>
          </a:xfrm>
          <a:prstGeom prst="rect">
            <a:avLst/>
          </a:prstGeom>
          <a:noFill/>
          <a:ln w="12700">
            <a:noFill/>
            <a:miter lim="800000"/>
          </a:ln>
          <a:effectLst/>
        </p:spPr>
        <p:txBody>
          <a:bodyPr>
            <a:spAutoFit/>
          </a:bodyPr>
          <a:p>
            <a:pPr lvl="0" algn="r" eaLnBrk="0" hangingPunct="0">
              <a:buNone/>
            </a:pPr>
            <a:fld id="{9A0DB2DC-4C9A-4742-B13C-FB6460FD3503}" type="slidenum">
              <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8" name="Rectangle 25"/>
          <p:cNvSpPr>
            <a:spLocks noChangeArrowheads="1"/>
          </p:cNvSpPr>
          <p:nvPr/>
        </p:nvSpPr>
        <p:spPr bwMode="auto">
          <a:xfrm>
            <a:off x="1828800" y="6461125"/>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黑体" panose="02010609060101010101" pitchFamily="2" charset="-122"/>
              </a:defRPr>
            </a:lvl1pPr>
            <a:lvl2pPr marL="742950" indent="-285750" eaLnBrk="0" hangingPunct="0">
              <a:defRPr sz="4000" b="1">
                <a:solidFill>
                  <a:srgbClr val="0000FF"/>
                </a:solidFill>
                <a:latin typeface="Arial" panose="020B0604020202020204" pitchFamily="34" charset="0"/>
                <a:ea typeface="黑体" panose="02010609060101010101" pitchFamily="2" charset="-122"/>
              </a:defRPr>
            </a:lvl2pPr>
            <a:lvl3pPr marL="1143000" indent="-228600" eaLnBrk="0" hangingPunct="0">
              <a:defRPr sz="4000" b="1">
                <a:solidFill>
                  <a:srgbClr val="0000FF"/>
                </a:solidFill>
                <a:latin typeface="Arial" panose="020B0604020202020204" pitchFamily="34" charset="0"/>
                <a:ea typeface="黑体" panose="02010609060101010101" pitchFamily="2" charset="-122"/>
              </a:defRPr>
            </a:lvl3pPr>
            <a:lvl4pPr marL="1600200" indent="-228600" eaLnBrk="0" hangingPunct="0">
              <a:defRPr sz="4000" b="1">
                <a:solidFill>
                  <a:srgbClr val="0000FF"/>
                </a:solidFill>
                <a:latin typeface="Arial" panose="020B0604020202020204" pitchFamily="34" charset="0"/>
                <a:ea typeface="黑体" panose="02010609060101010101" pitchFamily="2" charset="-122"/>
              </a:defRPr>
            </a:lvl4pPr>
            <a:lvl5pPr marL="2057400" indent="-228600" eaLnBrk="0" hangingPunct="0">
              <a:defRPr sz="4000" b="1">
                <a:solidFill>
                  <a:srgbClr val="0000FF"/>
                </a:solidFill>
                <a:latin typeface="Arial" panose="020B0604020202020204" pitchFamily="34" charset="0"/>
                <a:ea typeface="黑体" panose="02010609060101010101" pitchFamily="2" charset="-122"/>
              </a:defRPr>
            </a:lvl5pPr>
            <a:lvl6pPr marL="25146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6pPr>
            <a:lvl7pPr marL="29718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7pPr>
            <a:lvl8pPr marL="34290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8pPr>
            <a:lvl9pPr marL="38862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smtClean="0">
              <a:ln>
                <a:noFill/>
              </a:ln>
              <a:solidFill>
                <a:srgbClr val="808000"/>
              </a:solidFill>
              <a:effectLst/>
              <a:uLnTx/>
              <a:uFillTx/>
              <a:latin typeface="Arial" panose="020B0604020202020204" pitchFamily="34" charset="0"/>
              <a:ea typeface="楷体_GB2312" pitchFamily="49" charset="-122"/>
              <a:cs typeface="+mn-cs"/>
            </a:endParaRPr>
          </a:p>
        </p:txBody>
      </p:sp>
      <p:sp>
        <p:nvSpPr>
          <p:cNvPr id="2" name="竖排标题 1"/>
          <p:cNvSpPr>
            <a:spLocks noGrp="1"/>
          </p:cNvSpPr>
          <p:nvPr>
            <p:ph type="title" orient="vert"/>
          </p:nvPr>
        </p:nvSpPr>
        <p:spPr>
          <a:xfrm>
            <a:off x="6789738" y="115888"/>
            <a:ext cx="2211387" cy="63738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52400" y="115888"/>
            <a:ext cx="6484938" cy="63738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 name="日期占位符 3"/>
          <p:cNvSpPr>
            <a:spLocks noGrp="1"/>
          </p:cNvSpPr>
          <p:nvPr>
            <p:ph type="dt" sz="half" idx="2"/>
          </p:nvPr>
        </p:nvSpPr>
        <p:spPr>
          <a:xfrm>
            <a:off x="1295400" y="6248400"/>
            <a:ext cx="19050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1" name="页脚占位符 4"/>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2" name="灯片编号占位符 5"/>
          <p:cNvSpPr>
            <a:spLocks noGrp="1"/>
          </p:cNvSpPr>
          <p:nvPr>
            <p:ph type="sldNum" sz="quarter" idx="4"/>
          </p:nvPr>
        </p:nvSpPr>
        <p:spPr>
          <a:xfrm>
            <a:off x="7162800" y="6248400"/>
            <a:ext cx="1905000" cy="457200"/>
          </a:xfrm>
          <a:prstGeom prst="rect">
            <a:avLst/>
          </a:prstGeom>
        </p:spPr>
        <p:txBody>
          <a:bodyPr/>
          <a:p>
            <a:pPr lvl="0" eaLnBrk="1" hangingPunct="1">
              <a:buNone/>
            </a:pPr>
            <a:fld id="{9A0DB2DC-4C9A-4742-B13C-FB6460FD3503}" type="slidenum">
              <a:rPr lang="en-US" altLang="zh-CN" dirty="0"/>
            </a:fld>
            <a:endParaRPr lang="en-US" altLang="zh-CN" dirty="0"/>
          </a:p>
        </p:txBody>
      </p:sp>
    </p:spTree>
    <p:controls>
      <mc:AlternateContent xmlns:mc="http://schemas.openxmlformats.org/markup-compatibility/2006">
        <mc:Choice xmlns:v="urn:schemas-microsoft-com:vml" Requires="v">
          <p:control spid="24579" name="" r:id="rId3" imgW="684213" imgH="569913"/>
        </mc:Choice>
        <mc:Fallback>
          <p:control name="" r:id="rId3" imgW="684213" imgH="569913">
            <p:pic>
              <p:nvPicPr>
                <p:cNvPr id="0" name="Host Control  24578"/>
                <p:cNvPicPr/>
                <p:nvPr userDrawn="1"/>
              </p:nvPicPr>
              <p:blipFill>
                <a:blip r:embed="rId4"/>
                <a:stretch>
                  <a:fillRect/>
                </a:stretch>
              </p:blipFill>
              <p:spPr>
                <a:xfrm>
                  <a:off x="0" y="6245225"/>
                  <a:ext cx="684213" cy="569913"/>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showMasterPhAnim="0" showMasterSp="0">
  <p:cSld name="标题，文本与内容">
    <p:bg>
      <p:bgPr>
        <a:solidFill>
          <a:srgbClr val="FFFFFF"/>
        </a:solidFill>
        <a:effectLst/>
      </p:bgPr>
    </p:bg>
    <p:spTree>
      <p:nvGrpSpPr>
        <p:cNvPr id="1" name=""/>
        <p:cNvGrpSpPr/>
        <p:nvPr/>
      </p:nvGrpSpPr>
      <p:grpSpPr>
        <a:xfrm>
          <a:off x="0" y="0"/>
          <a:ext cx="0" cy="0"/>
          <a:chOff x="0" y="0"/>
          <a:chExt cx="0" cy="0"/>
        </a:xfrm>
      </p:grpSpPr>
      <p:pic>
        <p:nvPicPr>
          <p:cNvPr id="9" name="Picture 27" descr="paint"/>
          <p:cNvPicPr>
            <a:picLocks noChangeAspect="1"/>
          </p:cNvPicPr>
          <p:nvPr userDrawn="1"/>
        </p:nvPicPr>
        <p:blipFill>
          <a:blip r:embed="rId2">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
        <p:nvSpPr>
          <p:cNvPr id="7" name="Text Box 24"/>
          <p:cNvSpPr txBox="1">
            <a:spLocks noChangeArrowheads="1"/>
          </p:cNvSpPr>
          <p:nvPr/>
        </p:nvSpPr>
        <p:spPr bwMode="auto">
          <a:xfrm>
            <a:off x="8526463" y="0"/>
            <a:ext cx="617538" cy="457200"/>
          </a:xfrm>
          <a:prstGeom prst="rect">
            <a:avLst/>
          </a:prstGeom>
          <a:noFill/>
          <a:ln w="12700">
            <a:noFill/>
            <a:miter lim="800000"/>
          </a:ln>
          <a:effectLst/>
        </p:spPr>
        <p:txBody>
          <a:bodyPr>
            <a:spAutoFit/>
          </a:bodyPr>
          <a:p>
            <a:pPr lvl="0" algn="r" eaLnBrk="0" hangingPunct="0">
              <a:buNone/>
            </a:pPr>
            <a:fld id="{9A0DB2DC-4C9A-4742-B13C-FB6460FD3503}" type="slidenum">
              <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8" name="Rectangle 25"/>
          <p:cNvSpPr>
            <a:spLocks noChangeArrowheads="1"/>
          </p:cNvSpPr>
          <p:nvPr/>
        </p:nvSpPr>
        <p:spPr bwMode="auto">
          <a:xfrm>
            <a:off x="1828800" y="6461125"/>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黑体" panose="02010609060101010101" pitchFamily="2" charset="-122"/>
              </a:defRPr>
            </a:lvl1pPr>
            <a:lvl2pPr marL="742950" indent="-285750" eaLnBrk="0" hangingPunct="0">
              <a:defRPr sz="4000" b="1">
                <a:solidFill>
                  <a:srgbClr val="0000FF"/>
                </a:solidFill>
                <a:latin typeface="Arial" panose="020B0604020202020204" pitchFamily="34" charset="0"/>
                <a:ea typeface="黑体" panose="02010609060101010101" pitchFamily="2" charset="-122"/>
              </a:defRPr>
            </a:lvl2pPr>
            <a:lvl3pPr marL="1143000" indent="-228600" eaLnBrk="0" hangingPunct="0">
              <a:defRPr sz="4000" b="1">
                <a:solidFill>
                  <a:srgbClr val="0000FF"/>
                </a:solidFill>
                <a:latin typeface="Arial" panose="020B0604020202020204" pitchFamily="34" charset="0"/>
                <a:ea typeface="黑体" panose="02010609060101010101" pitchFamily="2" charset="-122"/>
              </a:defRPr>
            </a:lvl3pPr>
            <a:lvl4pPr marL="1600200" indent="-228600" eaLnBrk="0" hangingPunct="0">
              <a:defRPr sz="4000" b="1">
                <a:solidFill>
                  <a:srgbClr val="0000FF"/>
                </a:solidFill>
                <a:latin typeface="Arial" panose="020B0604020202020204" pitchFamily="34" charset="0"/>
                <a:ea typeface="黑体" panose="02010609060101010101" pitchFamily="2" charset="-122"/>
              </a:defRPr>
            </a:lvl4pPr>
            <a:lvl5pPr marL="2057400" indent="-228600" eaLnBrk="0" hangingPunct="0">
              <a:defRPr sz="4000" b="1">
                <a:solidFill>
                  <a:srgbClr val="0000FF"/>
                </a:solidFill>
                <a:latin typeface="Arial" panose="020B0604020202020204" pitchFamily="34" charset="0"/>
                <a:ea typeface="黑体" panose="02010609060101010101" pitchFamily="2" charset="-122"/>
              </a:defRPr>
            </a:lvl5pPr>
            <a:lvl6pPr marL="25146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6pPr>
            <a:lvl7pPr marL="29718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7pPr>
            <a:lvl8pPr marL="34290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8pPr>
            <a:lvl9pPr marL="38862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smtClean="0">
              <a:ln>
                <a:noFill/>
              </a:ln>
              <a:solidFill>
                <a:srgbClr val="808000"/>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179388" y="115888"/>
            <a:ext cx="8659812" cy="5032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52400" y="836613"/>
            <a:ext cx="4348163" cy="5653087"/>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2963" y="836613"/>
            <a:ext cx="4348162" cy="5653087"/>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 name="日期占位符 4"/>
          <p:cNvSpPr>
            <a:spLocks noGrp="1"/>
          </p:cNvSpPr>
          <p:nvPr>
            <p:ph type="dt" sz="half" idx="12"/>
          </p:nvPr>
        </p:nvSpPr>
        <p:spPr>
          <a:xfrm>
            <a:off x="1295400" y="6248400"/>
            <a:ext cx="19050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1" name="页脚占位符 5"/>
          <p:cNvSpPr>
            <a:spLocks noGrp="1"/>
          </p:cNvSpPr>
          <p:nvPr>
            <p:ph type="ftr" sz="quarter" idx="3"/>
          </p:nvPr>
        </p:nvSpPr>
        <p:spPr>
          <a:xfrm>
            <a:off x="3733800" y="6248400"/>
            <a:ext cx="28956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2" name="灯片编号占位符 6"/>
          <p:cNvSpPr>
            <a:spLocks noGrp="1"/>
          </p:cNvSpPr>
          <p:nvPr>
            <p:ph type="sldNum" sz="quarter" idx="4"/>
          </p:nvPr>
        </p:nvSpPr>
        <p:spPr>
          <a:xfrm>
            <a:off x="7162800" y="6248400"/>
            <a:ext cx="1905000" cy="457200"/>
          </a:xfrm>
          <a:prstGeom prst="rect">
            <a:avLst/>
          </a:prstGeom>
        </p:spPr>
        <p:txBody>
          <a:bodyPr/>
          <a:p>
            <a:pPr lvl="0" eaLnBrk="1" hangingPunct="1">
              <a:buNone/>
            </a:pPr>
            <a:fld id="{9A0DB2DC-4C9A-4742-B13C-FB6460FD3503}" type="slidenum">
              <a:rPr lang="en-US" altLang="zh-CN" dirty="0"/>
            </a:fld>
            <a:endParaRPr lang="en-US" altLang="zh-CN" dirty="0"/>
          </a:p>
        </p:txBody>
      </p:sp>
    </p:spTree>
    <p:controls>
      <mc:AlternateContent xmlns:mc="http://schemas.openxmlformats.org/markup-compatibility/2006">
        <mc:Choice xmlns:v="urn:schemas-microsoft-com:vml" Requires="v">
          <p:control spid="25603" name="" r:id="rId3" imgW="684213" imgH="569913"/>
        </mc:Choice>
        <mc:Fallback>
          <p:control name="" r:id="rId3" imgW="684213" imgH="569913">
            <p:pic>
              <p:nvPicPr>
                <p:cNvPr id="0" name="Host Control  25602"/>
                <p:cNvPicPr/>
                <p:nvPr userDrawn="1"/>
              </p:nvPicPr>
              <p:blipFill>
                <a:blip r:embed="rId4"/>
                <a:stretch>
                  <a:fillRect/>
                </a:stretch>
              </p:blipFill>
              <p:spPr>
                <a:xfrm>
                  <a:off x="0" y="6245225"/>
                  <a:ext cx="684213" cy="569913"/>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showMasterPhAnim="0" showMasterSp="0">
  <p:cSld name="标题，文本与两项内容">
    <p:bg>
      <p:bgPr>
        <a:solidFill>
          <a:srgbClr val="FFFFFF"/>
        </a:solidFill>
        <a:effectLst/>
      </p:bgPr>
    </p:bg>
    <p:spTree>
      <p:nvGrpSpPr>
        <p:cNvPr id="1" name=""/>
        <p:cNvGrpSpPr/>
        <p:nvPr/>
      </p:nvGrpSpPr>
      <p:grpSpPr>
        <a:xfrm>
          <a:off x="0" y="0"/>
          <a:ext cx="0" cy="0"/>
          <a:chOff x="0" y="0"/>
          <a:chExt cx="0" cy="0"/>
        </a:xfrm>
      </p:grpSpPr>
      <p:pic>
        <p:nvPicPr>
          <p:cNvPr id="9" name="Picture 27" descr="paint"/>
          <p:cNvPicPr>
            <a:picLocks noChangeAspect="1"/>
          </p:cNvPicPr>
          <p:nvPr userDrawn="1"/>
        </p:nvPicPr>
        <p:blipFill>
          <a:blip r:embed="rId2">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
        <p:nvSpPr>
          <p:cNvPr id="7" name="Text Box 24"/>
          <p:cNvSpPr txBox="1">
            <a:spLocks noChangeArrowheads="1"/>
          </p:cNvSpPr>
          <p:nvPr/>
        </p:nvSpPr>
        <p:spPr bwMode="auto">
          <a:xfrm>
            <a:off x="8526463" y="0"/>
            <a:ext cx="617538" cy="457200"/>
          </a:xfrm>
          <a:prstGeom prst="rect">
            <a:avLst/>
          </a:prstGeom>
          <a:noFill/>
          <a:ln w="12700">
            <a:noFill/>
            <a:miter lim="800000"/>
          </a:ln>
          <a:effectLst/>
        </p:spPr>
        <p:txBody>
          <a:bodyPr>
            <a:spAutoFit/>
          </a:bodyPr>
          <a:p>
            <a:pPr lvl="0" algn="r" eaLnBrk="0" hangingPunct="0">
              <a:buNone/>
            </a:pPr>
            <a:fld id="{9A0DB2DC-4C9A-4742-B13C-FB6460FD3503}" type="slidenum">
              <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8" name="Rectangle 25"/>
          <p:cNvSpPr>
            <a:spLocks noChangeArrowheads="1"/>
          </p:cNvSpPr>
          <p:nvPr/>
        </p:nvSpPr>
        <p:spPr bwMode="auto">
          <a:xfrm>
            <a:off x="1828800" y="6461125"/>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黑体" panose="02010609060101010101" pitchFamily="2" charset="-122"/>
              </a:defRPr>
            </a:lvl1pPr>
            <a:lvl2pPr marL="742950" indent="-285750" eaLnBrk="0" hangingPunct="0">
              <a:defRPr sz="4000" b="1">
                <a:solidFill>
                  <a:srgbClr val="0000FF"/>
                </a:solidFill>
                <a:latin typeface="Arial" panose="020B0604020202020204" pitchFamily="34" charset="0"/>
                <a:ea typeface="黑体" panose="02010609060101010101" pitchFamily="2" charset="-122"/>
              </a:defRPr>
            </a:lvl2pPr>
            <a:lvl3pPr marL="1143000" indent="-228600" eaLnBrk="0" hangingPunct="0">
              <a:defRPr sz="4000" b="1">
                <a:solidFill>
                  <a:srgbClr val="0000FF"/>
                </a:solidFill>
                <a:latin typeface="Arial" panose="020B0604020202020204" pitchFamily="34" charset="0"/>
                <a:ea typeface="黑体" panose="02010609060101010101" pitchFamily="2" charset="-122"/>
              </a:defRPr>
            </a:lvl3pPr>
            <a:lvl4pPr marL="1600200" indent="-228600" eaLnBrk="0" hangingPunct="0">
              <a:defRPr sz="4000" b="1">
                <a:solidFill>
                  <a:srgbClr val="0000FF"/>
                </a:solidFill>
                <a:latin typeface="Arial" panose="020B0604020202020204" pitchFamily="34" charset="0"/>
                <a:ea typeface="黑体" panose="02010609060101010101" pitchFamily="2" charset="-122"/>
              </a:defRPr>
            </a:lvl4pPr>
            <a:lvl5pPr marL="2057400" indent="-228600" eaLnBrk="0" hangingPunct="0">
              <a:defRPr sz="4000" b="1">
                <a:solidFill>
                  <a:srgbClr val="0000FF"/>
                </a:solidFill>
                <a:latin typeface="Arial" panose="020B0604020202020204" pitchFamily="34" charset="0"/>
                <a:ea typeface="黑体" panose="02010609060101010101" pitchFamily="2" charset="-122"/>
              </a:defRPr>
            </a:lvl5pPr>
            <a:lvl6pPr marL="25146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6pPr>
            <a:lvl7pPr marL="29718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7pPr>
            <a:lvl8pPr marL="34290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8pPr>
            <a:lvl9pPr marL="38862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smtClean="0">
              <a:ln>
                <a:noFill/>
              </a:ln>
              <a:solidFill>
                <a:srgbClr val="808000"/>
              </a:solidFill>
              <a:effectLst/>
              <a:uLnTx/>
              <a:uFillTx/>
              <a:latin typeface="Arial" panose="020B0604020202020204" pitchFamily="34" charset="0"/>
              <a:ea typeface="楷体_GB2312" pitchFamily="49" charset="-122"/>
              <a:cs typeface="+mn-cs"/>
            </a:endParaRPr>
          </a:p>
        </p:txBody>
      </p:sp>
      <p:sp>
        <p:nvSpPr>
          <p:cNvPr id="2" name="标题 1"/>
          <p:cNvSpPr>
            <a:spLocks noGrp="1"/>
          </p:cNvSpPr>
          <p:nvPr>
            <p:ph type="title"/>
          </p:nvPr>
        </p:nvSpPr>
        <p:spPr>
          <a:xfrm>
            <a:off x="179388" y="115888"/>
            <a:ext cx="8659812" cy="5032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52400" y="836613"/>
            <a:ext cx="4348163" cy="5653087"/>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52963" y="836613"/>
            <a:ext cx="4348162" cy="27495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52963" y="3738563"/>
            <a:ext cx="4348162" cy="2751137"/>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 name="日期占位符 5"/>
          <p:cNvSpPr>
            <a:spLocks noGrp="1"/>
          </p:cNvSpPr>
          <p:nvPr>
            <p:ph type="dt" sz="half" idx="12"/>
          </p:nvPr>
        </p:nvSpPr>
        <p:spPr>
          <a:xfrm>
            <a:off x="1295400" y="6248400"/>
            <a:ext cx="19050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1" name="页脚占位符 6"/>
          <p:cNvSpPr>
            <a:spLocks noGrp="1"/>
          </p:cNvSpPr>
          <p:nvPr>
            <p:ph type="ftr" sz="quarter" idx="13"/>
          </p:nvPr>
        </p:nvSpPr>
        <p:spPr>
          <a:xfrm>
            <a:off x="3733800" y="6248400"/>
            <a:ext cx="2895600" cy="457200"/>
          </a:xfrm>
          <a:prstGeom prst="rect">
            <a:avLst/>
          </a:prstGeo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
        <p:nvSpPr>
          <p:cNvPr id="12" name="灯片编号占位符 7"/>
          <p:cNvSpPr>
            <a:spLocks noGrp="1"/>
          </p:cNvSpPr>
          <p:nvPr>
            <p:ph type="sldNum" sz="quarter" idx="4"/>
          </p:nvPr>
        </p:nvSpPr>
        <p:spPr>
          <a:xfrm>
            <a:off x="7162800" y="6248400"/>
            <a:ext cx="1905000" cy="457200"/>
          </a:xfrm>
          <a:prstGeom prst="rect">
            <a:avLst/>
          </a:prstGeom>
        </p:spPr>
        <p:txBody>
          <a:bodyPr/>
          <a:p>
            <a:pPr lvl="0" eaLnBrk="1" hangingPunct="1">
              <a:buNone/>
            </a:pPr>
            <a:fld id="{9A0DB2DC-4C9A-4742-B13C-FB6460FD3503}" type="slidenum">
              <a:rPr lang="en-US" altLang="zh-CN" dirty="0"/>
            </a:fld>
            <a:endParaRPr lang="en-US" altLang="zh-CN" dirty="0"/>
          </a:p>
        </p:txBody>
      </p:sp>
    </p:spTree>
    <p:controls>
      <mc:AlternateContent xmlns:mc="http://schemas.openxmlformats.org/markup-compatibility/2006">
        <mc:Choice xmlns:v="urn:schemas-microsoft-com:vml" Requires="v">
          <p:control spid="26627" name="" r:id="rId3" imgW="684213" imgH="569913"/>
        </mc:Choice>
        <mc:Fallback>
          <p:control name="" r:id="rId3" imgW="684213" imgH="569913">
            <p:pic>
              <p:nvPicPr>
                <p:cNvPr id="0" name="Host Control  26626"/>
                <p:cNvPicPr/>
                <p:nvPr userDrawn="1"/>
              </p:nvPicPr>
              <p:blipFill>
                <a:blip r:embed="rId4"/>
                <a:stretch>
                  <a:fillRect/>
                </a:stretch>
              </p:blipFill>
              <p:spPr>
                <a:xfrm>
                  <a:off x="0" y="6245225"/>
                  <a:ext cx="684213" cy="569913"/>
                </a:xfrm>
                <a:prstGeom prst="rect">
                  <a:avLst/>
                </a:prstGeom>
              </p:spPr>
            </p:pic>
          </p:control>
        </mc:Fallback>
      </mc:AlternateContent>
    </p:controls>
  </p:cSld>
  <p:clrMapOvr>
    <a:masterClrMapping/>
  </p:clrMapOvr>
  <p:transition>
    <p:random/>
    <p:sndAc>
      <p:stSnd>
        <p:snd r:embed="rId5"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vmlDrawing" Target="../drawings/vmlDrawing13.vml"/><Relationship Id="rId17" Type="http://schemas.openxmlformats.org/officeDocument/2006/relationships/audio" Target="../media/audio1.wav"/><Relationship Id="rId16" Type="http://schemas.openxmlformats.org/officeDocument/2006/relationships/image" Target="../media/image11.wmf"/><Relationship Id="rId15" Type="http://schemas.openxmlformats.org/officeDocument/2006/relationships/control" Target="../activeX/activeX13.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082" name="Rectangle 10"/>
          <p:cNvSpPr>
            <a:spLocks noGrp="1" noChangeArrowheads="1"/>
          </p:cNvSpPr>
          <p:nvPr>
            <p:ph type="title"/>
          </p:nvPr>
        </p:nvSpPr>
        <p:spPr bwMode="auto">
          <a:xfrm>
            <a:off x="179388" y="115888"/>
            <a:ext cx="8659813" cy="503238"/>
          </a:xfrm>
          <a:prstGeom prst="rect">
            <a:avLst/>
          </a:prstGeom>
          <a:noFill/>
          <a:ln w="9525">
            <a:noFill/>
            <a:miter lim="800000"/>
          </a:ln>
          <a:effectLst/>
        </p:spPr>
        <p:txBody>
          <a:bodyPr vert="horz" wrap="square" lIns="92075" tIns="46038" rIns="92075" bIns="46038" numCol="1" anchor="ctr" anchorCtr="0" compatLnSpc="1"/>
          <a:lstStyle/>
          <a:p>
            <a:pPr lvl="0"/>
            <a:r>
              <a:rPr lang="en-US" altLang="zh-CN" dirty="0" smtClean="0"/>
              <a:t>Click to edit Master title style</a:t>
            </a:r>
            <a:endParaRPr lang="en-US" altLang="zh-CN" dirty="0" smtClean="0"/>
          </a:p>
        </p:txBody>
      </p:sp>
      <p:sp>
        <p:nvSpPr>
          <p:cNvPr id="1029" name="Rectangle 23"/>
          <p:cNvSpPr>
            <a:spLocks noGrp="1"/>
          </p:cNvSpPr>
          <p:nvPr>
            <p:ph type="body" idx="1"/>
          </p:nvPr>
        </p:nvSpPr>
        <p:spPr>
          <a:xfrm>
            <a:off x="152400" y="836613"/>
            <a:ext cx="8848725" cy="5653087"/>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096" name="Text Box 24"/>
          <p:cNvSpPr txBox="1">
            <a:spLocks noChangeArrowheads="1"/>
          </p:cNvSpPr>
          <p:nvPr/>
        </p:nvSpPr>
        <p:spPr bwMode="auto">
          <a:xfrm>
            <a:off x="8526463" y="0"/>
            <a:ext cx="617538" cy="457200"/>
          </a:xfrm>
          <a:prstGeom prst="rect">
            <a:avLst/>
          </a:prstGeom>
          <a:noFill/>
          <a:ln w="12700">
            <a:noFill/>
            <a:miter lim="800000"/>
          </a:ln>
          <a:effectLst/>
        </p:spPr>
        <p:txBody>
          <a:bodyPr>
            <a:spAutoFit/>
          </a:bodyPr>
          <a:p>
            <a:pPr lvl="0" algn="r" eaLnBrk="0" hangingPunct="0">
              <a:buNone/>
            </a:pPr>
            <a:fld id="{9A0DB2DC-4C9A-4742-B13C-FB6460FD3503}" type="slidenum">
              <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FF0000"/>
              </a:solidFill>
              <a:effectLst>
                <a:outerShdw blurRad="38100" dist="38100" dir="2700000">
                  <a:srgbClr val="C0C0C0"/>
                </a:outerShdw>
              </a:effectLst>
              <a:latin typeface="Arial" panose="020B0604020202020204" pitchFamily="34" charset="0"/>
              <a:ea typeface="楷体_GB2312" pitchFamily="49" charset="-122"/>
            </a:endParaRPr>
          </a:p>
        </p:txBody>
      </p:sp>
      <p:sp>
        <p:nvSpPr>
          <p:cNvPr id="1031" name="Rectangle 25"/>
          <p:cNvSpPr>
            <a:spLocks noChangeArrowheads="1"/>
          </p:cNvSpPr>
          <p:nvPr/>
        </p:nvSpPr>
        <p:spPr bwMode="auto">
          <a:xfrm>
            <a:off x="1828800" y="6461125"/>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黑体" panose="02010609060101010101" pitchFamily="2" charset="-122"/>
              </a:defRPr>
            </a:lvl1pPr>
            <a:lvl2pPr marL="742950" indent="-285750" eaLnBrk="0" hangingPunct="0">
              <a:defRPr sz="4000" b="1">
                <a:solidFill>
                  <a:srgbClr val="0000FF"/>
                </a:solidFill>
                <a:latin typeface="Arial" panose="020B0604020202020204" pitchFamily="34" charset="0"/>
                <a:ea typeface="黑体" panose="02010609060101010101" pitchFamily="2" charset="-122"/>
              </a:defRPr>
            </a:lvl2pPr>
            <a:lvl3pPr marL="1143000" indent="-228600" eaLnBrk="0" hangingPunct="0">
              <a:defRPr sz="4000" b="1">
                <a:solidFill>
                  <a:srgbClr val="0000FF"/>
                </a:solidFill>
                <a:latin typeface="Arial" panose="020B0604020202020204" pitchFamily="34" charset="0"/>
                <a:ea typeface="黑体" panose="02010609060101010101" pitchFamily="2" charset="-122"/>
              </a:defRPr>
            </a:lvl3pPr>
            <a:lvl4pPr marL="1600200" indent="-228600" eaLnBrk="0" hangingPunct="0">
              <a:defRPr sz="4000" b="1">
                <a:solidFill>
                  <a:srgbClr val="0000FF"/>
                </a:solidFill>
                <a:latin typeface="Arial" panose="020B0604020202020204" pitchFamily="34" charset="0"/>
                <a:ea typeface="黑体" panose="02010609060101010101" pitchFamily="2" charset="-122"/>
              </a:defRPr>
            </a:lvl4pPr>
            <a:lvl5pPr marL="2057400" indent="-228600" eaLnBrk="0" hangingPunct="0">
              <a:defRPr sz="4000" b="1">
                <a:solidFill>
                  <a:srgbClr val="0000FF"/>
                </a:solidFill>
                <a:latin typeface="Arial" panose="020B0604020202020204" pitchFamily="34" charset="0"/>
                <a:ea typeface="黑体" panose="02010609060101010101" pitchFamily="2" charset="-122"/>
              </a:defRPr>
            </a:lvl5pPr>
            <a:lvl6pPr marL="25146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6pPr>
            <a:lvl7pPr marL="29718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7pPr>
            <a:lvl8pPr marL="34290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8pPr>
            <a:lvl9pPr marL="3886200" indent="-228600" algn="ctr" eaLnBrk="0" fontAlgn="base" hangingPunct="0">
              <a:spcBef>
                <a:spcPct val="0"/>
              </a:spcBef>
              <a:spcAft>
                <a:spcPct val="0"/>
              </a:spcAft>
              <a:defRPr sz="4000" b="1">
                <a:solidFill>
                  <a:srgbClr val="0000FF"/>
                </a:solidFill>
                <a:latin typeface="Arial" panose="020B0604020202020204" pitchFamily="34" charset="0"/>
                <a:ea typeface="黑体" panose="0201060906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smtClean="0">
              <a:ln>
                <a:noFill/>
              </a:ln>
              <a:solidFill>
                <a:srgbClr val="808000"/>
              </a:solidFill>
              <a:effectLst/>
              <a:uLnTx/>
              <a:uFillTx/>
              <a:latin typeface="Arial" panose="020B0604020202020204" pitchFamily="34" charset="0"/>
              <a:ea typeface="楷体_GB2312" pitchFamily="49" charset="-122"/>
              <a:cs typeface="+mn-cs"/>
            </a:endParaRPr>
          </a:p>
        </p:txBody>
      </p:sp>
      <p:pic>
        <p:nvPicPr>
          <p:cNvPr id="3099" name="Picture 27" descr="paint"/>
          <p:cNvPicPr>
            <a:picLocks noChangeAspect="1"/>
          </p:cNvPicPr>
          <p:nvPr userDrawn="1"/>
        </p:nvPicPr>
        <p:blipFill>
          <a:blip r:embed="rId14">
            <a:clrChange>
              <a:clrFrom>
                <a:srgbClr val="C0C0C0"/>
              </a:clrFrom>
              <a:clrTo>
                <a:srgbClr val="C0C0C0">
                  <a:alpha val="0"/>
                </a:srgbClr>
              </a:clrTo>
            </a:clrChange>
          </a:blip>
          <a:stretch>
            <a:fillRect/>
          </a:stretch>
        </p:blipFill>
        <p:spPr>
          <a:xfrm>
            <a:off x="0" y="693738"/>
            <a:ext cx="4716463" cy="142875"/>
          </a:xfrm>
          <a:prstGeom prst="rect">
            <a:avLst/>
          </a:prstGeom>
          <a:noFill/>
          <a:ln w="9525">
            <a:noFill/>
          </a:ln>
        </p:spPr>
      </p:pic>
    </p:spTree>
    <p:controls>
      <mc:AlternateContent xmlns:mc="http://schemas.openxmlformats.org/markup-compatibility/2006">
        <mc:Choice xmlns:v="urn:schemas-microsoft-com:vml" Requires="v">
          <p:control spid="1026" name="" r:id="rId15" imgW="684213" imgH="569913"/>
        </mc:Choice>
        <mc:Fallback>
          <p:control name="" r:id="rId15" imgW="684213" imgH="569913">
            <p:pic>
              <p:nvPicPr>
                <p:cNvPr id="0" name="Host Control  1025"/>
                <p:cNvPicPr/>
                <p:nvPr userDrawn="1"/>
              </p:nvPicPr>
              <p:blipFill>
                <a:blip r:embed="rId16"/>
                <a:stretch>
                  <a:fillRect/>
                </a:stretch>
              </p:blipFill>
              <p:spPr>
                <a:xfrm>
                  <a:off x="0" y="6245225"/>
                  <a:ext cx="684213" cy="569913"/>
                </a:xfrm>
                <a:prstGeom prst="rect">
                  <a:avLst/>
                </a:prstGeom>
              </p:spPr>
            </p:pic>
          </p:control>
        </mc:Fallback>
      </mc:AlternateContent>
    </p:controls>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random/>
    <p:sndAc>
      <p:stSnd>
        <p:snd r:embed="rId17"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099"/>
                                        </p:tgtEl>
                                        <p:attrNameLst>
                                          <p:attrName>style.visibility</p:attrName>
                                        </p:attrNameLst>
                                      </p:cBhvr>
                                      <p:to>
                                        <p:strVal val="visible"/>
                                      </p:to>
                                    </p:set>
                                    <p:animEffect transition="in" filter="wipe(left)">
                                      <p:cBhvr>
                                        <p:cTn id="7" dur="500"/>
                                        <p:tgtEl>
                                          <p:spTgt spid="3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2pPr>
      <a:lvl3pPr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3pPr>
      <a:lvl4pPr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4pPr>
      <a:lvl5pPr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5pPr>
      <a:lvl6pPr marL="457200"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6pPr>
      <a:lvl7pPr marL="914400"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7pPr>
      <a:lvl8pPr marL="1371600"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8pPr>
      <a:lvl9pPr marL="1828800"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9pPr>
    </p:titleStyle>
    <p:body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b="1">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vl6pPr marL="27927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6pPr>
      <a:lvl7pPr marL="32499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7pPr>
      <a:lvl8pPr marL="37071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8pPr>
      <a:lvl9pPr marL="41643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audio1.wav"/><Relationship Id="rId1"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1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2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16.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29.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2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29.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7650" name="Picture 2" descr="Multi_3"/>
          <p:cNvPicPr>
            <a:picLocks noChangeAspect="1"/>
          </p:cNvPicPr>
          <p:nvPr/>
        </p:nvPicPr>
        <p:blipFill>
          <a:blip r:embed="rId1">
            <a:clrChange>
              <a:clrFrom>
                <a:srgbClr val="4800A1"/>
              </a:clrFrom>
              <a:clrTo>
                <a:srgbClr val="4800A1">
                  <a:alpha val="0"/>
                </a:srgbClr>
              </a:clrTo>
            </a:clrChange>
          </a:blip>
          <a:stretch>
            <a:fillRect/>
          </a:stretch>
        </p:blipFill>
        <p:spPr>
          <a:xfrm>
            <a:off x="684213" y="4868863"/>
            <a:ext cx="1905000" cy="1450975"/>
          </a:xfrm>
          <a:prstGeom prst="rect">
            <a:avLst/>
          </a:prstGeom>
          <a:noFill/>
          <a:ln w="9525">
            <a:noFill/>
          </a:ln>
        </p:spPr>
      </p:pic>
      <p:sp>
        <p:nvSpPr>
          <p:cNvPr id="27651" name="Rectangle 4"/>
          <p:cNvSpPr/>
          <p:nvPr/>
        </p:nvSpPr>
        <p:spPr>
          <a:xfrm>
            <a:off x="468313" y="1052513"/>
            <a:ext cx="8497887" cy="1143000"/>
          </a:xfrm>
          <a:prstGeom prst="rect">
            <a:avLst/>
          </a:prstGeom>
          <a:noFill/>
          <a:ln w="12700">
            <a:noFill/>
          </a:ln>
          <a:effectLst>
            <a:outerShdw dist="35921" dir="2699999" algn="ctr" rotWithShape="0">
              <a:schemeClr val="bg2">
                <a:alpha val="50000"/>
              </a:schemeClr>
            </a:outerShdw>
          </a:effectLst>
        </p:spPr>
        <p:txBody>
          <a:bodyPr lIns="90488" tIns="44450" rIns="90488" bIns="4445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a:buClrTx/>
              <a:buSzTx/>
              <a:buFontTx/>
              <a:buNone/>
            </a:pPr>
            <a:r>
              <a:rPr lang="zh-CN" altLang="en-US" sz="5400" dirty="0">
                <a:solidFill>
                  <a:srgbClr val="FF3300"/>
                </a:solidFill>
                <a:latin typeface="Arial" panose="020B0604020202020204" pitchFamily="34" charset="0"/>
                <a:ea typeface="华文新魏" panose="02010800040101010101" pitchFamily="2" charset="-122"/>
              </a:rPr>
              <a:t>数据库</a:t>
            </a:r>
            <a:r>
              <a:rPr lang="zh-CN" altLang="en-US" sz="5400" dirty="0">
                <a:solidFill>
                  <a:srgbClr val="FF3300"/>
                </a:solidFill>
                <a:latin typeface="Arial" panose="020B0604020202020204" pitchFamily="34" charset="0"/>
                <a:ea typeface="华文新魏" panose="02010800040101010101" pitchFamily="2" charset="-122"/>
              </a:rPr>
              <a:t>系统</a:t>
            </a:r>
            <a:endParaRPr lang="zh-CN" altLang="en-US" sz="5400" dirty="0">
              <a:solidFill>
                <a:srgbClr val="FF3300"/>
              </a:solidFill>
              <a:latin typeface="Arial" panose="020B0604020202020204" pitchFamily="34" charset="0"/>
              <a:ea typeface="华文新魏" panose="02010800040101010101" pitchFamily="2" charset="-122"/>
            </a:endParaRPr>
          </a:p>
        </p:txBody>
      </p:sp>
      <p:sp>
        <p:nvSpPr>
          <p:cNvPr id="27652" name="Text Box 5"/>
          <p:cNvSpPr txBox="1"/>
          <p:nvPr/>
        </p:nvSpPr>
        <p:spPr>
          <a:xfrm>
            <a:off x="1588" y="6513513"/>
            <a:ext cx="9144000" cy="420687"/>
          </a:xfrm>
          <a:prstGeom prst="rect">
            <a:avLst/>
          </a:prstGeom>
          <a:gradFill rotWithShape="0">
            <a:gsLst>
              <a:gs pos="0">
                <a:srgbClr val="FFFFFF"/>
              </a:gs>
              <a:gs pos="100000">
                <a:srgbClr val="3333CC"/>
              </a:gs>
            </a:gsLst>
            <a:lin ang="5400000" scaled="1"/>
            <a:tileRect/>
          </a:gradFill>
          <a:ln w="9525">
            <a:noFill/>
          </a:ln>
        </p:spPr>
        <p:txBody>
          <a:bodyPr lIns="92075" tIns="46038" rIns="92075" bIns="46038">
            <a:spAutoFit/>
          </a:bodyPr>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nSpc>
                <a:spcPct val="90000"/>
              </a:lnSpc>
              <a:spcBef>
                <a:spcPct val="50000"/>
              </a:spcBef>
              <a:buClrTx/>
              <a:buSzTx/>
              <a:buFontTx/>
              <a:buNone/>
            </a:pPr>
            <a:endParaRPr lang="zh-CN" altLang="zh-CN" sz="2400" dirty="0">
              <a:solidFill>
                <a:schemeClr val="tx1"/>
              </a:solidFill>
              <a:latin typeface="华文中宋" panose="02010600040101010101" pitchFamily="2" charset="-122"/>
              <a:ea typeface="华文中宋" panose="02010600040101010101" pitchFamily="2" charset="-122"/>
            </a:endParaRPr>
          </a:p>
        </p:txBody>
      </p:sp>
      <p:sp>
        <p:nvSpPr>
          <p:cNvPr id="27653" name="Text Box 6"/>
          <p:cNvSpPr txBox="1"/>
          <p:nvPr/>
        </p:nvSpPr>
        <p:spPr>
          <a:xfrm>
            <a:off x="0" y="-76200"/>
            <a:ext cx="9144000" cy="420688"/>
          </a:xfrm>
          <a:prstGeom prst="rect">
            <a:avLst/>
          </a:prstGeom>
          <a:gradFill rotWithShape="0">
            <a:gsLst>
              <a:gs pos="0">
                <a:srgbClr val="3333CC"/>
              </a:gs>
              <a:gs pos="100000">
                <a:srgbClr val="FFFFFF"/>
              </a:gs>
            </a:gsLst>
            <a:lin ang="5400000" scaled="1"/>
            <a:tileRect/>
          </a:gradFill>
          <a:ln w="9525">
            <a:noFill/>
          </a:ln>
        </p:spPr>
        <p:txBody>
          <a:bodyPr lIns="92075" tIns="46038" rIns="92075" bIns="46038">
            <a:spAutoFit/>
          </a:bodyPr>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nSpc>
                <a:spcPct val="90000"/>
              </a:lnSpc>
              <a:spcBef>
                <a:spcPct val="50000"/>
              </a:spcBef>
              <a:buClrTx/>
              <a:buSzTx/>
              <a:buFontTx/>
              <a:buNone/>
            </a:pPr>
            <a:endParaRPr lang="zh-CN" altLang="zh-CN" sz="2400" dirty="0">
              <a:solidFill>
                <a:schemeClr val="tx1"/>
              </a:solidFill>
              <a:latin typeface="华文中宋" panose="02010600040101010101" pitchFamily="2" charset="-122"/>
              <a:ea typeface="华文中宋" panose="02010600040101010101" pitchFamily="2" charset="-122"/>
            </a:endParaRPr>
          </a:p>
        </p:txBody>
      </p:sp>
      <p:sp>
        <p:nvSpPr>
          <p:cNvPr id="27654" name="Rectangle 7"/>
          <p:cNvSpPr/>
          <p:nvPr/>
        </p:nvSpPr>
        <p:spPr>
          <a:xfrm>
            <a:off x="611188" y="2924175"/>
            <a:ext cx="8137525" cy="1009650"/>
          </a:xfrm>
          <a:prstGeom prst="rect">
            <a:avLst/>
          </a:prstGeom>
          <a:noFill/>
          <a:ln w="9525">
            <a:noFill/>
          </a:ln>
        </p:spPr>
        <p:txBody>
          <a:bodyPr anchor="b"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buClrTx/>
              <a:buSzTx/>
              <a:buFontTx/>
              <a:buNone/>
            </a:pPr>
            <a:r>
              <a:rPr lang="zh-CN" altLang="en-US" sz="5400" dirty="0">
                <a:solidFill>
                  <a:srgbClr val="0000CC"/>
                </a:solidFill>
                <a:latin typeface="华文新魏" panose="02010800040101010101" pitchFamily="2" charset="-122"/>
                <a:ea typeface="华文新魏" panose="02010800040101010101" pitchFamily="2" charset="-122"/>
              </a:rPr>
              <a:t>第</a:t>
            </a:r>
            <a:r>
              <a:rPr lang="en-US" altLang="zh-CN" sz="5400" dirty="0">
                <a:solidFill>
                  <a:srgbClr val="0000CC"/>
                </a:solidFill>
                <a:latin typeface="华文新魏" panose="02010800040101010101" pitchFamily="2" charset="-122"/>
                <a:ea typeface="华文新魏" panose="02010800040101010101" pitchFamily="2" charset="-122"/>
              </a:rPr>
              <a:t>5</a:t>
            </a:r>
            <a:r>
              <a:rPr lang="zh-CN" altLang="en-US" sz="5400" dirty="0">
                <a:solidFill>
                  <a:srgbClr val="0000CC"/>
                </a:solidFill>
                <a:latin typeface="华文新魏" panose="02010800040101010101" pitchFamily="2" charset="-122"/>
                <a:ea typeface="华文新魏" panose="02010800040101010101" pitchFamily="2" charset="-122"/>
              </a:rPr>
              <a:t>章 关系数据库语言</a:t>
            </a:r>
            <a:r>
              <a:rPr lang="en-US" altLang="zh-CN" sz="5400" dirty="0">
                <a:solidFill>
                  <a:srgbClr val="0000CC"/>
                </a:solidFill>
                <a:latin typeface="华文新魏" panose="02010800040101010101" pitchFamily="2" charset="-122"/>
                <a:ea typeface="华文新魏" panose="02010800040101010101" pitchFamily="2" charset="-122"/>
              </a:rPr>
              <a:t>SQL</a:t>
            </a:r>
            <a:endParaRPr lang="en-US" altLang="zh-CN" sz="5400" dirty="0">
              <a:solidFill>
                <a:srgbClr val="0000CC"/>
              </a:solidFill>
              <a:latin typeface="华文新魏" panose="02010800040101010101" pitchFamily="2" charset="-122"/>
              <a:ea typeface="华文新魏" panose="02010800040101010101" pitchFamily="2" charset="-122"/>
            </a:endParaRPr>
          </a:p>
        </p:txBody>
      </p:sp>
    </p:spTree>
  </p:cSld>
  <p:clrMapOvr>
    <a:masterClrMapping/>
  </p:clrMapOvr>
  <p:transition>
    <p:random/>
    <p:sndAc>
      <p:stSnd>
        <p:snd r:embed="rId2" name="CAMERA.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638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主要内容</a:t>
            </a:r>
            <a:endPar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8675" name="Rectangle 3"/>
          <p:cNvSpPr>
            <a:spLocks noGrp="1"/>
          </p:cNvSpPr>
          <p:nvPr>
            <p:ph idx="1"/>
          </p:nvPr>
        </p:nvSpPr>
        <p:spPr>
          <a:xfrm>
            <a:off x="1231900" y="1000125"/>
            <a:ext cx="7372350" cy="5235575"/>
          </a:xfrm>
        </p:spPr>
        <p:txBody>
          <a:bodyPr vert="horz" wrap="square" lIns="91440" tIns="45720" rIns="91440" bIns="45720" anchor="t" anchorCtr="0"/>
          <a:p>
            <a:pPr>
              <a:spcBef>
                <a:spcPts val="600"/>
              </a:spcBef>
              <a:buNone/>
            </a:pPr>
            <a:r>
              <a:rPr lang="en-US" altLang="zh-CN" dirty="0">
                <a:latin typeface="Arial" panose="020B0604020202020204" pitchFamily="34" charset="0"/>
              </a:rPr>
              <a:t>5.1 SQL</a:t>
            </a:r>
            <a:r>
              <a:rPr lang="zh-CN" altLang="en-US" dirty="0">
                <a:latin typeface="Arial" panose="020B0604020202020204" pitchFamily="34" charset="0"/>
              </a:rPr>
              <a:t>概述</a:t>
            </a:r>
            <a:endParaRPr lang="zh-CN" altLang="en-US" dirty="0">
              <a:latin typeface="Arial" panose="020B0604020202020204" pitchFamily="34" charset="0"/>
            </a:endParaRPr>
          </a:p>
          <a:p>
            <a:pPr algn="just">
              <a:spcBef>
                <a:spcPts val="600"/>
              </a:spcBef>
              <a:buNone/>
            </a:pPr>
            <a:r>
              <a:rPr lang="en-US" altLang="zh-CN" dirty="0">
                <a:latin typeface="Arial" panose="020B0604020202020204" pitchFamily="34" charset="0"/>
              </a:rPr>
              <a:t>5.2 </a:t>
            </a:r>
            <a:r>
              <a:rPr lang="zh-CN" altLang="en-US" dirty="0">
                <a:latin typeface="Arial" panose="020B0604020202020204" pitchFamily="34" charset="0"/>
              </a:rPr>
              <a:t>数据定义</a:t>
            </a:r>
            <a:endParaRPr lang="zh-CN" altLang="en-US" dirty="0">
              <a:latin typeface="Arial" panose="020B0604020202020204" pitchFamily="34" charset="0"/>
            </a:endParaRPr>
          </a:p>
          <a:p>
            <a:pPr algn="just">
              <a:spcBef>
                <a:spcPts val="600"/>
              </a:spcBef>
              <a:buNone/>
            </a:pPr>
            <a:r>
              <a:rPr lang="en-US" altLang="zh-CN" dirty="0">
                <a:latin typeface="Arial" panose="020B0604020202020204" pitchFamily="34" charset="0"/>
              </a:rPr>
              <a:t>5.3 </a:t>
            </a:r>
            <a:r>
              <a:rPr lang="zh-CN" altLang="en-US" dirty="0">
                <a:latin typeface="Arial" panose="020B0604020202020204" pitchFamily="34" charset="0"/>
              </a:rPr>
              <a:t>数据查询</a:t>
            </a:r>
            <a:endParaRPr lang="zh-CN" altLang="en-US" dirty="0">
              <a:latin typeface="Arial" panose="020B0604020202020204" pitchFamily="34" charset="0"/>
            </a:endParaRPr>
          </a:p>
          <a:p>
            <a:pPr algn="just">
              <a:spcBef>
                <a:spcPts val="600"/>
              </a:spcBef>
              <a:buNone/>
            </a:pPr>
            <a:r>
              <a:rPr lang="en-US" altLang="zh-CN" dirty="0">
                <a:solidFill>
                  <a:srgbClr val="0000CC"/>
                </a:solidFill>
                <a:latin typeface="Arial" panose="020B0604020202020204" pitchFamily="34" charset="0"/>
              </a:rPr>
              <a:t>5.4 </a:t>
            </a:r>
            <a:r>
              <a:rPr lang="zh-CN" altLang="en-US" dirty="0">
                <a:solidFill>
                  <a:srgbClr val="0000CC"/>
                </a:solidFill>
                <a:latin typeface="Arial" panose="020B0604020202020204" pitchFamily="34" charset="0"/>
              </a:rPr>
              <a:t>数据更新</a:t>
            </a:r>
            <a:endParaRPr lang="zh-CN" altLang="en-US" dirty="0">
              <a:solidFill>
                <a:srgbClr val="0000CC"/>
              </a:solidFill>
              <a:latin typeface="Arial" panose="020B0604020202020204" pitchFamily="34" charset="0"/>
            </a:endParaRPr>
          </a:p>
          <a:p>
            <a:pPr algn="just">
              <a:spcBef>
                <a:spcPts val="600"/>
              </a:spcBef>
              <a:buNone/>
            </a:pPr>
            <a:r>
              <a:rPr lang="en-US" altLang="zh-CN" dirty="0">
                <a:latin typeface="Arial" panose="020B0604020202020204" pitchFamily="34" charset="0"/>
              </a:rPr>
              <a:t>5.5 </a:t>
            </a:r>
            <a:r>
              <a:rPr lang="zh-CN" altLang="en-US" dirty="0">
                <a:latin typeface="Arial" panose="020B0604020202020204" pitchFamily="34" charset="0"/>
              </a:rPr>
              <a:t>视图</a:t>
            </a:r>
            <a:endParaRPr lang="zh-CN" altLang="en-US" dirty="0">
              <a:latin typeface="Arial" panose="020B0604020202020204" pitchFamily="34" charset="0"/>
            </a:endParaRPr>
          </a:p>
          <a:p>
            <a:pPr algn="just">
              <a:spcBef>
                <a:spcPts val="600"/>
              </a:spcBef>
              <a:buNone/>
            </a:pPr>
            <a:r>
              <a:rPr lang="en-US" altLang="zh-CN" dirty="0">
                <a:latin typeface="Arial" panose="020B0604020202020204" pitchFamily="34" charset="0"/>
              </a:rPr>
              <a:t>5.6 </a:t>
            </a:r>
            <a:r>
              <a:rPr lang="zh-CN" altLang="en-US" dirty="0">
                <a:latin typeface="Arial" panose="020B0604020202020204" pitchFamily="34" charset="0"/>
              </a:rPr>
              <a:t>数据控制</a:t>
            </a:r>
            <a:endParaRPr lang="zh-CN" altLang="en-US" dirty="0">
              <a:latin typeface="Arial" panose="020B0604020202020204" pitchFamily="34" charset="0"/>
            </a:endParaRPr>
          </a:p>
          <a:p>
            <a:pPr algn="just">
              <a:buNone/>
            </a:pPr>
            <a:endParaRPr lang="en-US" altLang="zh-CN" dirty="0">
              <a:latin typeface="Arial" panose="020B0604020202020204" pitchFamily="34" charset="0"/>
            </a:endParaRPr>
          </a:p>
        </p:txBody>
      </p:sp>
    </p:spTree>
  </p:cSld>
  <p:clrMapOvr>
    <a:masterClrMapping/>
  </p:clrMapOvr>
  <p:transition>
    <p:random/>
    <p:sndAc>
      <p:stSnd>
        <p:snd r:embed="rId1" name="CAMERA.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idx="1"/>
          </p:nvPr>
        </p:nvSpPr>
        <p:spPr>
          <a:xfrm>
            <a:off x="152400" y="1143000"/>
            <a:ext cx="8705850" cy="4987925"/>
          </a:xfrm>
        </p:spPr>
        <p:txBody>
          <a:bodyPr vert="horz" wrap="square" lIns="91440" tIns="45720" rIns="91440" bIns="45720" anchor="t" anchorCtr="0"/>
          <a:p>
            <a:pPr marL="365125" indent="-365125">
              <a:lnSpc>
                <a:spcPct val="105000"/>
              </a:lnSpc>
              <a:buNone/>
            </a:pPr>
            <a:r>
              <a:rPr lang="en-US" altLang="zh-CN" dirty="0">
                <a:latin typeface="Arial" panose="020B0604020202020204" pitchFamily="34" charset="0"/>
              </a:rPr>
              <a:t>        </a:t>
            </a:r>
            <a:r>
              <a:rPr lang="en-US" altLang="zh-CN" dirty="0">
                <a:solidFill>
                  <a:srgbClr val="0000CC"/>
                </a:solidFill>
                <a:latin typeface="Arial" panose="020B0604020202020204" pitchFamily="34" charset="0"/>
              </a:rPr>
              <a:t>5.4</a:t>
            </a:r>
            <a:r>
              <a:rPr lang="en-US" altLang="zh-CN" dirty="0">
                <a:solidFill>
                  <a:srgbClr val="0000CC"/>
                </a:solidFill>
                <a:latin typeface="Arial" panose="020B0604020202020204" pitchFamily="34" charset="0"/>
              </a:rPr>
              <a:t>.1 </a:t>
            </a:r>
            <a:r>
              <a:rPr lang="zh-CN" altLang="en-US" dirty="0">
                <a:solidFill>
                  <a:srgbClr val="0000CC"/>
                </a:solidFill>
                <a:latin typeface="Arial" panose="020B0604020202020204" pitchFamily="34" charset="0"/>
              </a:rPr>
              <a:t>插入数据</a:t>
            </a:r>
            <a:endParaRPr lang="zh-CN" altLang="en-US" dirty="0">
              <a:solidFill>
                <a:srgbClr val="0000CC"/>
              </a:solidFill>
              <a:latin typeface="Arial" panose="020B0604020202020204" pitchFamily="34" charset="0"/>
            </a:endParaRPr>
          </a:p>
          <a:p>
            <a:pPr marL="365125" indent="-365125">
              <a:lnSpc>
                <a:spcPct val="120000"/>
              </a:lnSpc>
              <a:buNone/>
            </a:pPr>
            <a:r>
              <a:rPr lang="zh-CN" altLang="en-US"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rPr>
              <a:t>、插入单个元组</a:t>
            </a:r>
            <a:endParaRPr lang="zh-CN" altLang="en-US" dirty="0">
              <a:solidFill>
                <a:srgbClr val="0000CC"/>
              </a:solidFill>
              <a:latin typeface="Arial" panose="020B0604020202020204" pitchFamily="34" charset="0"/>
            </a:endParaRPr>
          </a:p>
          <a:p>
            <a:pPr marL="365125" indent="-365125">
              <a:lnSpc>
                <a:spcPct val="120000"/>
              </a:lnSpc>
              <a:buNone/>
            </a:pPr>
            <a:r>
              <a:rPr lang="zh-CN" altLang="en-US"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rPr>
              <a:t>2</a:t>
            </a:r>
            <a:r>
              <a:rPr lang="zh-CN" altLang="en-US" dirty="0">
                <a:solidFill>
                  <a:srgbClr val="0000CC"/>
                </a:solidFill>
                <a:latin typeface="Arial" panose="020B0604020202020204" pitchFamily="34" charset="0"/>
              </a:rPr>
              <a:t>、插入子查询结果</a:t>
            </a:r>
            <a:endParaRPr lang="zh-CN" altLang="en-US" dirty="0">
              <a:solidFill>
                <a:srgbClr val="0000CC"/>
              </a:solidFill>
              <a:latin typeface="Arial" panose="020B0604020202020204" pitchFamily="34" charset="0"/>
            </a:endParaRPr>
          </a:p>
          <a:p>
            <a:pPr marL="365125" indent="-365125">
              <a:lnSpc>
                <a:spcPct val="120000"/>
              </a:lnSpc>
              <a:spcBef>
                <a:spcPts val="1200"/>
              </a:spcBef>
              <a:buNone/>
            </a:pPr>
            <a:r>
              <a:rPr lang="zh-CN" altLang="en-US" dirty="0">
                <a:latin typeface="Arial" panose="020B0604020202020204" pitchFamily="34" charset="0"/>
              </a:rPr>
              <a:t>		</a:t>
            </a:r>
            <a:r>
              <a:rPr lang="en-US" altLang="zh-CN" dirty="0">
                <a:latin typeface="Arial" panose="020B0604020202020204" pitchFamily="34" charset="0"/>
              </a:rPr>
              <a:t>5.4</a:t>
            </a:r>
            <a:r>
              <a:rPr lang="en-US" altLang="zh-CN" dirty="0">
                <a:latin typeface="Arial" panose="020B0604020202020204" pitchFamily="34" charset="0"/>
              </a:rPr>
              <a:t>.2 </a:t>
            </a:r>
            <a:r>
              <a:rPr lang="zh-CN" altLang="en-US" dirty="0">
                <a:latin typeface="Arial" panose="020B0604020202020204" pitchFamily="34" charset="0"/>
              </a:rPr>
              <a:t>修改数据</a:t>
            </a:r>
            <a:endParaRPr lang="zh-CN" altLang="en-US" dirty="0">
              <a:latin typeface="Arial" panose="020B0604020202020204" pitchFamily="34" charset="0"/>
            </a:endParaRPr>
          </a:p>
          <a:p>
            <a:pPr marL="365125" indent="-365125">
              <a:lnSpc>
                <a:spcPct val="120000"/>
              </a:lnSpc>
              <a:buNone/>
            </a:pPr>
            <a:r>
              <a:rPr lang="zh-CN" altLang="en-US" dirty="0">
                <a:latin typeface="Arial" panose="020B0604020202020204" pitchFamily="34" charset="0"/>
              </a:rPr>
              <a:t>		</a:t>
            </a:r>
            <a:r>
              <a:rPr lang="en-US" altLang="zh-CN" dirty="0">
                <a:latin typeface="Arial" panose="020B0604020202020204" pitchFamily="34" charset="0"/>
              </a:rPr>
              <a:t>5.4</a:t>
            </a:r>
            <a:r>
              <a:rPr lang="en-US" altLang="zh-CN" dirty="0">
                <a:latin typeface="Arial" panose="020B0604020202020204" pitchFamily="34" charset="0"/>
              </a:rPr>
              <a:t>.3 </a:t>
            </a:r>
            <a:r>
              <a:rPr lang="zh-CN" altLang="en-US" dirty="0">
                <a:latin typeface="Arial" panose="020B0604020202020204" pitchFamily="34" charset="0"/>
              </a:rPr>
              <a:t>删除数据</a:t>
            </a:r>
            <a:endParaRPr lang="zh-CN" altLang="en-US" dirty="0">
              <a:latin typeface="Arial" panose="020B0604020202020204" pitchFamily="34" charset="0"/>
            </a:endParaRPr>
          </a:p>
        </p:txBody>
      </p:sp>
      <p:sp>
        <p:nvSpPr>
          <p:cNvPr id="14029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5.4 </a:t>
            </a: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数据更新</a:t>
            </a:r>
            <a:endPar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40293" name="AutoShape 5">
            <a:hlinkClick r:id="rId1" action="ppaction://hlinksldjump"/>
          </p:cNvPr>
          <p:cNvSpPr>
            <a:spLocks noChangeArrowheads="1"/>
          </p:cNvSpPr>
          <p:nvPr/>
        </p:nvSpPr>
        <p:spPr bwMode="auto">
          <a:xfrm>
            <a:off x="8286750" y="6143625"/>
            <a:ext cx="576263" cy="6191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2" name="CAMERA.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idx="1"/>
          </p:nvPr>
        </p:nvSpPr>
        <p:spPr>
          <a:xfrm>
            <a:off x="152400" y="981075"/>
            <a:ext cx="8777288" cy="5273675"/>
          </a:xfrm>
        </p:spPr>
        <p:txBody>
          <a:bodyPr vert="horz" wrap="square" lIns="91440" tIns="45720" rIns="91440" bIns="45720" anchor="t" anchorCtr="0"/>
          <a:p>
            <a:pPr marL="365125" indent="-365125"/>
            <a:r>
              <a:rPr lang="zh-CN" altLang="en-US" dirty="0">
                <a:latin typeface="Arial" panose="020B0604020202020204" pitchFamily="34" charset="0"/>
              </a:rPr>
              <a:t>基本语法：</a:t>
            </a:r>
            <a:endParaRPr lang="zh-CN" altLang="en-US" dirty="0">
              <a:latin typeface="Arial" panose="020B0604020202020204" pitchFamily="34" charset="0"/>
            </a:endParaRPr>
          </a:p>
          <a:p>
            <a:pPr marL="365125" indent="-365125">
              <a:spcBef>
                <a:spcPct val="50000"/>
              </a:spcBef>
              <a:buNone/>
            </a:pPr>
            <a:r>
              <a:rPr lang="zh-CN" altLang="en-US" dirty="0">
                <a:latin typeface="Arial" panose="020B0604020202020204" pitchFamily="34" charset="0"/>
              </a:rPr>
              <a:t>    </a:t>
            </a:r>
            <a:r>
              <a:rPr lang="en-US" altLang="zh-CN" sz="3200" dirty="0">
                <a:solidFill>
                  <a:srgbClr val="FF0000"/>
                </a:solidFill>
                <a:latin typeface="Arial" panose="020B0604020202020204" pitchFamily="34" charset="0"/>
              </a:rPr>
              <a:t>INSERT</a:t>
            </a:r>
            <a:endParaRPr lang="en-US" altLang="zh-CN" sz="3200" dirty="0">
              <a:solidFill>
                <a:srgbClr val="FF0000"/>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a:t>
            </a:r>
            <a:r>
              <a:rPr lang="en-US" altLang="zh-CN" sz="3200" dirty="0">
                <a:solidFill>
                  <a:srgbClr val="FF0000"/>
                </a:solidFill>
                <a:latin typeface="Arial" panose="020B0604020202020204" pitchFamily="34" charset="0"/>
              </a:rPr>
              <a:t>INTO</a:t>
            </a:r>
            <a:r>
              <a:rPr lang="en-US" altLang="zh-CN" sz="3200" dirty="0">
                <a:solidFill>
                  <a:srgbClr val="0000CC"/>
                </a:solidFill>
                <a:latin typeface="Arial" panose="020B0604020202020204" pitchFamily="34" charset="0"/>
              </a:rPr>
              <a:t>  &lt;</a:t>
            </a:r>
            <a:r>
              <a:rPr lang="zh-CN" altLang="en-US" sz="3200" dirty="0">
                <a:solidFill>
                  <a:srgbClr val="0000CC"/>
                </a:solidFill>
                <a:latin typeface="Arial" panose="020B0604020202020204" pitchFamily="34" charset="0"/>
              </a:rPr>
              <a:t>表名</a:t>
            </a:r>
            <a:r>
              <a:rPr lang="en-US" altLang="zh-CN" sz="3200" dirty="0">
                <a:solidFill>
                  <a:srgbClr val="0000CC"/>
                </a:solidFill>
                <a:latin typeface="Arial" panose="020B0604020202020204" pitchFamily="34" charset="0"/>
              </a:rPr>
              <a:t>&gt; [ (&lt;</a:t>
            </a:r>
            <a:r>
              <a:rPr lang="zh-CN" altLang="en-US" sz="3200" dirty="0">
                <a:solidFill>
                  <a:srgbClr val="0000CC"/>
                </a:solidFill>
                <a:latin typeface="Arial" panose="020B0604020202020204" pitchFamily="34" charset="0"/>
              </a:rPr>
              <a:t>列名</a:t>
            </a:r>
            <a:r>
              <a:rPr lang="en-US" altLang="zh-CN" sz="3200" dirty="0">
                <a:solidFill>
                  <a:srgbClr val="0000CC"/>
                </a:solidFill>
                <a:latin typeface="Arial" panose="020B0604020202020204" pitchFamily="34" charset="0"/>
              </a:rPr>
              <a:t>1&gt;[,&lt;</a:t>
            </a:r>
            <a:r>
              <a:rPr lang="zh-CN" altLang="en-US" sz="3200" dirty="0">
                <a:solidFill>
                  <a:srgbClr val="0000CC"/>
                </a:solidFill>
                <a:latin typeface="Arial" panose="020B0604020202020204" pitchFamily="34" charset="0"/>
              </a:rPr>
              <a:t>列名</a:t>
            </a:r>
            <a:r>
              <a:rPr lang="en-US" altLang="zh-CN" sz="3200" dirty="0">
                <a:solidFill>
                  <a:srgbClr val="0000CC"/>
                </a:solidFill>
                <a:latin typeface="Arial" panose="020B0604020202020204" pitchFamily="34" charset="0"/>
              </a:rPr>
              <a:t>2 &gt;…) ]</a:t>
            </a:r>
            <a:endParaRPr lang="en-US" altLang="zh-CN" sz="3200" dirty="0">
              <a:solidFill>
                <a:srgbClr val="0000CC"/>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a:t>
            </a:r>
            <a:r>
              <a:rPr lang="en-US" altLang="zh-CN" sz="3200" dirty="0">
                <a:solidFill>
                  <a:srgbClr val="FF0000"/>
                </a:solidFill>
                <a:latin typeface="Arial" panose="020B0604020202020204" pitchFamily="34" charset="0"/>
              </a:rPr>
              <a:t>VALUES </a:t>
            </a:r>
            <a:r>
              <a:rPr lang="en-US" altLang="zh-CN" sz="3200" dirty="0">
                <a:solidFill>
                  <a:srgbClr val="0000CC"/>
                </a:solidFill>
                <a:latin typeface="Arial" panose="020B0604020202020204" pitchFamily="34" charset="0"/>
              </a:rPr>
              <a:t> (&lt;</a:t>
            </a:r>
            <a:r>
              <a:rPr lang="zh-CN" altLang="en-US" sz="3200" dirty="0">
                <a:solidFill>
                  <a:srgbClr val="0000CC"/>
                </a:solidFill>
                <a:latin typeface="Arial" panose="020B0604020202020204" pitchFamily="34" charset="0"/>
              </a:rPr>
              <a:t>常量</a:t>
            </a:r>
            <a:r>
              <a:rPr lang="en-US" altLang="zh-CN" sz="3200" dirty="0">
                <a:solidFill>
                  <a:srgbClr val="0000CC"/>
                </a:solidFill>
                <a:latin typeface="Arial" panose="020B0604020202020204" pitchFamily="34" charset="0"/>
              </a:rPr>
              <a:t>1&gt; [,&lt;</a:t>
            </a:r>
            <a:r>
              <a:rPr lang="zh-CN" altLang="en-US" sz="3200" dirty="0">
                <a:solidFill>
                  <a:srgbClr val="0000CC"/>
                </a:solidFill>
                <a:latin typeface="Arial" panose="020B0604020202020204" pitchFamily="34" charset="0"/>
              </a:rPr>
              <a:t>常量</a:t>
            </a:r>
            <a:r>
              <a:rPr lang="en-US" altLang="zh-CN" sz="3200" dirty="0">
                <a:solidFill>
                  <a:srgbClr val="0000CC"/>
                </a:solidFill>
                <a:latin typeface="Arial" panose="020B0604020202020204" pitchFamily="34" charset="0"/>
              </a:rPr>
              <a:t>2&gt;]…  ) </a:t>
            </a:r>
            <a:r>
              <a:rPr lang="zh-CN" altLang="en-US" sz="3200" dirty="0">
                <a:solidFill>
                  <a:srgbClr val="0000CC"/>
                </a:solidFill>
                <a:latin typeface="Arial" panose="020B0604020202020204" pitchFamily="34" charset="0"/>
              </a:rPr>
              <a:t>；</a:t>
            </a:r>
            <a:endParaRPr lang="en-US" altLang="zh-CN" sz="3200" dirty="0">
              <a:solidFill>
                <a:srgbClr val="0000CC"/>
              </a:solidFill>
              <a:latin typeface="Arial" panose="020B0604020202020204" pitchFamily="34" charset="0"/>
            </a:endParaRPr>
          </a:p>
          <a:p>
            <a:pPr marL="365125" indent="-365125"/>
            <a:endParaRPr lang="en-US" altLang="zh-CN" dirty="0">
              <a:solidFill>
                <a:srgbClr val="0000CC"/>
              </a:solidFill>
              <a:latin typeface="Arial" panose="020B0604020202020204" pitchFamily="34" charset="0"/>
            </a:endParaRPr>
          </a:p>
          <a:p>
            <a:pPr marL="365125" indent="-365125"/>
            <a:r>
              <a:rPr lang="zh-CN" altLang="en-US" dirty="0">
                <a:latin typeface="Arial" panose="020B0604020202020204" pitchFamily="34" charset="0"/>
              </a:rPr>
              <a:t>功能：</a:t>
            </a:r>
            <a:br>
              <a:rPr lang="zh-CN" altLang="en-US" dirty="0">
                <a:latin typeface="Arial" panose="020B0604020202020204" pitchFamily="34" charset="0"/>
              </a:rPr>
            </a:br>
            <a:r>
              <a:rPr lang="zh-CN" altLang="en-US" dirty="0">
                <a:latin typeface="Arial" panose="020B0604020202020204" pitchFamily="34" charset="0"/>
              </a:rPr>
              <a:t>     </a:t>
            </a:r>
            <a:r>
              <a:rPr lang="zh-CN" altLang="en-US" sz="3200" dirty="0">
                <a:latin typeface="Arial" panose="020B0604020202020204" pitchFamily="34" charset="0"/>
              </a:rPr>
              <a:t>向表中插入一个新的元组，其值为指定的数值。</a:t>
            </a:r>
            <a:endParaRPr lang="zh-CN" altLang="en-US" sz="3200" dirty="0">
              <a:latin typeface="Arial" panose="020B0604020202020204" pitchFamily="34" charset="0"/>
            </a:endParaRPr>
          </a:p>
        </p:txBody>
      </p:sp>
      <p:sp>
        <p:nvSpPr>
          <p:cNvPr id="2765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插入单个元组</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0724" name="Rectangle 4"/>
          <p:cNvSpPr/>
          <p:nvPr/>
        </p:nvSpPr>
        <p:spPr>
          <a:xfrm>
            <a:off x="428625" y="1771650"/>
            <a:ext cx="8143875" cy="1728788"/>
          </a:xfrm>
          <a:prstGeom prst="rect">
            <a:avLst/>
          </a:prstGeom>
          <a:noFill/>
          <a:ln w="28575" cap="flat" cmpd="sng">
            <a:solidFill>
              <a:srgbClr val="FF3300"/>
            </a:solidFill>
            <a:prstDash val="solid"/>
            <a:miter/>
            <a:headEnd type="none" w="med" len="med"/>
            <a:tailEnd type="none" w="med" len="med"/>
          </a:ln>
        </p:spPr>
        <p:txBody>
          <a:bodyPr wrap="none"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en-US" sz="4000" dirty="0">
              <a:solidFill>
                <a:srgbClr val="0000FF"/>
              </a:solidFill>
              <a:latin typeface="Arial" panose="020B0604020202020204" pitchFamily="34" charset="0"/>
            </a:endParaRPr>
          </a:p>
        </p:txBody>
      </p:sp>
    </p:spTree>
  </p:cSld>
  <p:clrMapOvr>
    <a:masterClrMapping/>
  </p:clrMapOvr>
  <p:transition>
    <p:random/>
    <p:sndAc>
      <p:stSnd>
        <p:snd r:embed="rId1" name="CAMERA.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Grp="1" noChangeArrowheads="1"/>
          </p:cNvSpPr>
          <p:nvPr>
            <p:ph idx="1"/>
          </p:nvPr>
        </p:nvSpPr>
        <p:spPr>
          <a:xfrm>
            <a:off x="152400" y="765175"/>
            <a:ext cx="8740775" cy="5543550"/>
          </a:xfrm>
        </p:spPr>
        <p:txBody>
          <a:bodyPr vert="horz" wrap="square" lIns="91440" tIns="45720" rIns="91440" bIns="45720" numCol="1" anchor="t" anchorCtr="0" compatLnSpc="1"/>
          <a:lstStyle/>
          <a:p>
            <a:pPr marL="365125" marR="0" lvl="0" indent="-365125" algn="l" defTabSz="914400" rtl="0" eaLnBrk="0" fontAlgn="base" latinLnBrk="0" hangingPunct="0">
              <a:lnSpc>
                <a:spcPct val="100000"/>
              </a:lnSpc>
              <a:spcBef>
                <a:spcPct val="50000"/>
              </a:spcBef>
              <a:spcAft>
                <a:spcPct val="0"/>
              </a:spcAft>
              <a:buClr>
                <a:srgbClr val="FF0000"/>
              </a:buClr>
              <a:buSzPct val="65000"/>
              <a:buFont typeface="Wingdings" panose="05000000000000000000" pitchFamily="2" charset="2"/>
              <a:buNone/>
              <a:defRPr/>
            </a:pPr>
            <a:r>
              <a:rPr kumimoji="1" lang="en-US" altLang="zh-CN" sz="36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   </a:t>
            </a:r>
            <a:r>
              <a:rPr kumimoji="1"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INSERT</a:t>
            </a:r>
            <a:endParaRPr kumimoji="1"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endParaRPr>
          </a:p>
          <a:p>
            <a:pPr marL="365125" marR="0" lvl="0" indent="-365125"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a:t>
            </a:r>
            <a:r>
              <a:rPr kumimoji="1"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INTO</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表名</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&gt; [ (&lt;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列名</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1&gt;[,&lt;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列名</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2 &gt;…) ]</a:t>
            </a:r>
            <a:endPar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a:p>
            <a:pPr marL="365125" marR="0" lvl="0" indent="-365125"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a:t>
            </a:r>
            <a:r>
              <a:rPr kumimoji="1"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VALUES </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常量</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1&gt; [,&lt;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常量</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2&gt;]…  ) </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a:t>
            </a:r>
            <a:endPar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a:p>
            <a:pPr marL="357505" marR="0" lvl="0" indent="-357505" algn="l" defTabSz="914400" rtl="0" eaLnBrk="0" fontAlgn="base" latinLnBrk="0" hangingPunct="0">
              <a:lnSpc>
                <a:spcPct val="100000"/>
              </a:lnSpc>
              <a:spcBef>
                <a:spcPts val="2400"/>
              </a:spcBef>
              <a:spcAft>
                <a:spcPct val="0"/>
              </a:spcAft>
              <a:buClr>
                <a:srgbClr val="FF0000"/>
              </a:buClr>
              <a:buSzPct val="65000"/>
              <a:buFont typeface="Wingdings" panose="05000000000000000000" pitchFamily="2" charset="2"/>
              <a:buChar char="n"/>
              <a:defRPr/>
            </a:pP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INTO</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子句</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901700" marR="0" lvl="1" indent="-360680"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Char char="n"/>
              <a:defRPr/>
            </a:pP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指定要插入数据的表名及属性列</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901700" marR="0" lvl="1" indent="-360680" algn="l" defTabSz="914400" rtl="0" eaLnBrk="0" fontAlgn="base" latinLnBrk="0" hangingPunct="0">
              <a:lnSpc>
                <a:spcPct val="100000"/>
              </a:lnSpc>
              <a:spcBef>
                <a:spcPts val="600"/>
              </a:spcBef>
              <a:spcAft>
                <a:spcPct val="0"/>
              </a:spcAft>
              <a:buClr>
                <a:srgbClr val="0033CC"/>
              </a:buClr>
              <a:buSzPct val="65000"/>
              <a:buFont typeface="Wingdings" panose="05000000000000000000" pitchFamily="2" charset="2"/>
              <a:buChar char="n"/>
              <a:defRPr/>
            </a:pPr>
            <a:r>
              <a:rPr kumimoji="1" lang="zh-CN" altLang="en-US" sz="3200" b="1" i="0" u="none" strike="noStrike" kern="0" cap="none" spc="0" normalizeH="0" baseline="0" noProof="0" dirty="0" smtClean="0">
                <a:ln>
                  <a:noFill/>
                </a:ln>
                <a:solidFill>
                  <a:srgbClr val="C00000"/>
                </a:solidFill>
                <a:effectLst/>
                <a:uLnTx/>
                <a:uFillTx/>
                <a:latin typeface="Arial" panose="020B0604020202020204" pitchFamily="34" charset="0"/>
                <a:ea typeface="+mn-ea"/>
              </a:rPr>
              <a:t>没有指定属性列</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a:t>
            </a:r>
            <a:r>
              <a:rPr kumimoji="1" lang="zh-CN" altLang="en-US" sz="2800" b="1" i="0" u="none" strike="noStrike" kern="0" cap="none" spc="0" normalizeH="0" baseline="0" noProof="0" dirty="0" smtClean="0">
                <a:ln>
                  <a:noFill/>
                </a:ln>
                <a:solidFill>
                  <a:srgbClr val="000000"/>
                </a:solidFill>
                <a:effectLst/>
                <a:uLnTx/>
                <a:uFillTx/>
                <a:latin typeface="Arial" panose="020B0604020202020204" pitchFamily="34" charset="0"/>
                <a:ea typeface="+mn-ea"/>
              </a:rPr>
              <a:t>表示要插入的是一个完整的元组，且属性列顺序与表定义中的顺序一致</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901700" marR="0" lvl="1" indent="-360680" algn="l" defTabSz="914400" rtl="0" eaLnBrk="0" fontAlgn="base" latinLnBrk="0" hangingPunct="0">
              <a:lnSpc>
                <a:spcPct val="100000"/>
              </a:lnSpc>
              <a:spcBef>
                <a:spcPts val="600"/>
              </a:spcBef>
              <a:spcAft>
                <a:spcPct val="0"/>
              </a:spcAft>
              <a:buClr>
                <a:srgbClr val="0033CC"/>
              </a:buClr>
              <a:buSzPct val="65000"/>
              <a:buFont typeface="Wingdings" panose="05000000000000000000" pitchFamily="2" charset="2"/>
              <a:buChar char="n"/>
              <a:defRPr/>
            </a:pPr>
            <a:r>
              <a:rPr kumimoji="1" lang="zh-CN" altLang="en-US" sz="3200" b="1" i="0" u="none" strike="noStrike" kern="0" cap="none" spc="0" normalizeH="0" baseline="0" noProof="0" dirty="0" smtClean="0">
                <a:ln>
                  <a:noFill/>
                </a:ln>
                <a:solidFill>
                  <a:srgbClr val="C00000"/>
                </a:solidFill>
                <a:effectLst/>
                <a:uLnTx/>
                <a:uFillTx/>
                <a:latin typeface="Arial" panose="020B0604020202020204" pitchFamily="34" charset="0"/>
                <a:ea typeface="+mn-ea"/>
              </a:rPr>
              <a:t>指定部分属性列</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a:t>
            </a:r>
            <a:r>
              <a:rPr kumimoji="1" lang="zh-CN" altLang="en-US" sz="2800" b="1" i="0" u="none" strike="noStrike" kern="0" cap="none" spc="0" normalizeH="0" baseline="0" noProof="0" dirty="0" smtClean="0">
                <a:ln>
                  <a:noFill/>
                </a:ln>
                <a:solidFill>
                  <a:srgbClr val="000000"/>
                </a:solidFill>
                <a:effectLst/>
                <a:uLnTx/>
                <a:uFillTx/>
                <a:latin typeface="Arial" panose="020B0604020202020204" pitchFamily="34" charset="0"/>
                <a:ea typeface="+mn-ea"/>
              </a:rPr>
              <a:t>插入的元组在其余属性列上取空值</a:t>
            </a:r>
            <a:r>
              <a:rPr kumimoji="1" lang="zh-CN" altLang="en-US" sz="2400" b="1" i="0" u="none" strike="noStrike" kern="0" cap="none" spc="0" normalizeH="0" baseline="0" noProof="0" dirty="0" smtClean="0">
                <a:ln>
                  <a:noFill/>
                </a:ln>
                <a:solidFill>
                  <a:srgbClr val="000000"/>
                </a:solidFill>
                <a:effectLst/>
                <a:uLnTx/>
                <a:uFillTx/>
                <a:latin typeface="Arial" panose="020B0604020202020204" pitchFamily="34" charset="0"/>
                <a:ea typeface="+mn-ea"/>
              </a:rPr>
              <a:t> </a:t>
            </a:r>
            <a:endParaRPr kumimoji="1" lang="zh-CN" altLang="en-US" sz="28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901700" marR="0" lvl="1" indent="-360680" algn="l" defTabSz="914400" rtl="0" eaLnBrk="0" fontAlgn="base" latinLnBrk="0" hangingPunct="0">
              <a:lnSpc>
                <a:spcPct val="100000"/>
              </a:lnSpc>
              <a:spcBef>
                <a:spcPts val="600"/>
              </a:spcBef>
              <a:spcAft>
                <a:spcPct val="0"/>
              </a:spcAft>
              <a:buClr>
                <a:srgbClr val="0033CC"/>
              </a:buClr>
              <a:buSzPct val="65000"/>
              <a:buFont typeface="Wingdings" panose="05000000000000000000" pitchFamily="2" charset="2"/>
              <a:buChar char="n"/>
              <a:defRPr/>
            </a:pP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属性列的顺序可与表定义中的顺序不一致</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p:txBody>
      </p:sp>
      <p:sp>
        <p:nvSpPr>
          <p:cNvPr id="14848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插入单个元组的规则</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1748" name="Rectangle 5"/>
          <p:cNvSpPr/>
          <p:nvPr/>
        </p:nvSpPr>
        <p:spPr>
          <a:xfrm>
            <a:off x="285750" y="854075"/>
            <a:ext cx="8072438" cy="1584325"/>
          </a:xfrm>
          <a:prstGeom prst="rect">
            <a:avLst/>
          </a:prstGeom>
          <a:noFill/>
          <a:ln w="28575" cap="flat" cmpd="sng">
            <a:solidFill>
              <a:srgbClr val="FF3300"/>
            </a:solidFill>
            <a:prstDash val="solid"/>
            <a:miter/>
            <a:headEnd type="none" w="med" len="med"/>
            <a:tailEnd type="none" w="med" len="med"/>
          </a:ln>
        </p:spPr>
        <p:txBody>
          <a:bodyPr wrap="none"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en-US" sz="4000" dirty="0">
              <a:solidFill>
                <a:srgbClr val="0000FF"/>
              </a:solidFill>
              <a:latin typeface="Arial" panose="020B0604020202020204" pitchFamily="34" charset="0"/>
            </a:endParaRPr>
          </a:p>
        </p:txBody>
      </p:sp>
    </p:spTree>
  </p:cSld>
  <p:clrMapOvr>
    <a:masterClrMapping/>
  </p:clrMapOvr>
  <p:transition>
    <p:random/>
    <p:sndAc>
      <p:stSnd>
        <p:snd r:embed="rId1" name="CAMERA.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42" name="Rectangle 2"/>
          <p:cNvSpPr>
            <a:spLocks noGrp="1" noChangeArrowheads="1"/>
          </p:cNvSpPr>
          <p:nvPr>
            <p:ph idx="1"/>
          </p:nvPr>
        </p:nvSpPr>
        <p:spPr>
          <a:xfrm>
            <a:off x="152400" y="765175"/>
            <a:ext cx="8740775" cy="5543550"/>
          </a:xfrm>
        </p:spPr>
        <p:txBody>
          <a:bodyPr vert="horz" wrap="square" lIns="91440" tIns="45720" rIns="91440" bIns="45720" numCol="1" anchor="t" anchorCtr="0" compatLnSpc="1"/>
          <a:lstStyle/>
          <a:p>
            <a:pPr marL="365125" marR="0" lvl="0" indent="-365125" algn="l" defTabSz="914400" rtl="0" eaLnBrk="0" fontAlgn="base" latinLnBrk="0" hangingPunct="0">
              <a:lnSpc>
                <a:spcPct val="100000"/>
              </a:lnSpc>
              <a:spcBef>
                <a:spcPct val="50000"/>
              </a:spcBef>
              <a:spcAft>
                <a:spcPct val="0"/>
              </a:spcAft>
              <a:buClr>
                <a:srgbClr val="FF0000"/>
              </a:buClr>
              <a:buSzPct val="65000"/>
              <a:buFont typeface="Wingdings" panose="05000000000000000000" pitchFamily="2" charset="2"/>
              <a:buNone/>
              <a:defRPr/>
            </a:pP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INSERT</a:t>
            </a:r>
            <a:endParaRPr kumimoji="1"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endParaRPr>
          </a:p>
          <a:p>
            <a:pPr marL="365125" marR="0" lvl="0" indent="-365125"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a:t>
            </a:r>
            <a:r>
              <a:rPr kumimoji="1"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INTO</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表名</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&gt; [ (&lt;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列名</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1&gt;[,&lt;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列名</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2 &gt;…) ]</a:t>
            </a:r>
            <a:endPar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a:p>
            <a:pPr marL="365125" marR="0" lvl="0" indent="-365125"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a:t>
            </a:r>
            <a:r>
              <a:rPr kumimoji="1"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VALUES </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常量</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1&gt; [,&lt;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常量</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2&gt;]…  ) </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a:t>
            </a:r>
            <a:endPar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a:p>
            <a:pPr marL="357505" marR="0" lvl="0" indent="-357505"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Char char="n"/>
              <a:defRPr/>
            </a:pPr>
            <a:endPar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57505" marR="0" lvl="0" indent="-357505"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Char char="n"/>
              <a:defRPr/>
            </a:pP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VALUES</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子句</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901700" marR="0" lvl="1" indent="-360680"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Char char="n"/>
              <a:defRPr/>
            </a:pP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提供的值必须与</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INTO</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子句匹配：</a:t>
            </a:r>
            <a:endPar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901700" marR="0" lvl="1" indent="-360680"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None/>
              <a:defRPr/>
            </a:pP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     值的顺序</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901700" marR="0" lvl="1" indent="-360680"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None/>
              <a:defRPr/>
            </a:pP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     值的个数</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901700" marR="0" lvl="1" indent="-360680"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None/>
              <a:defRPr/>
            </a:pP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     值的类型</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p:txBody>
      </p:sp>
      <p:sp>
        <p:nvSpPr>
          <p:cNvPr id="82944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插入单个元组的规则</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2772" name="Rectangle 5"/>
          <p:cNvSpPr/>
          <p:nvPr/>
        </p:nvSpPr>
        <p:spPr>
          <a:xfrm>
            <a:off x="285750" y="854075"/>
            <a:ext cx="8072438" cy="1584325"/>
          </a:xfrm>
          <a:prstGeom prst="rect">
            <a:avLst/>
          </a:prstGeom>
          <a:noFill/>
          <a:ln w="28575" cap="flat" cmpd="sng">
            <a:solidFill>
              <a:srgbClr val="FF3300"/>
            </a:solidFill>
            <a:prstDash val="solid"/>
            <a:miter/>
            <a:headEnd type="none" w="med" len="med"/>
            <a:tailEnd type="none" w="med" len="med"/>
          </a:ln>
        </p:spPr>
        <p:txBody>
          <a:bodyPr wrap="none"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en-US" sz="4000" dirty="0">
              <a:solidFill>
                <a:srgbClr val="0000FF"/>
              </a:solidFill>
              <a:latin typeface="Arial" panose="020B0604020202020204" pitchFamily="34" charset="0"/>
            </a:endParaRPr>
          </a:p>
        </p:txBody>
      </p:sp>
    </p:spTree>
  </p:cSld>
  <p:clrMapOvr>
    <a:masterClrMapping/>
  </p:clrMapOvr>
  <p:transition>
    <p:random/>
    <p:sndAc>
      <p:stSnd>
        <p:snd r:embed="rId1" name="CAMERA.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idx="1"/>
          </p:nvPr>
        </p:nvSpPr>
        <p:spPr>
          <a:xfrm>
            <a:off x="107950" y="963613"/>
            <a:ext cx="8821738" cy="5273675"/>
          </a:xfrm>
        </p:spPr>
        <p:txBody>
          <a:bodyPr vert="horz" wrap="square" lIns="91440" tIns="45720" rIns="91440" bIns="45720" anchor="t" anchorCtr="0"/>
          <a:p>
            <a:pPr marL="365125" indent="-365125"/>
            <a:r>
              <a:rPr lang="zh-CN" altLang="en-US" sz="3200" dirty="0">
                <a:latin typeface="Arial" panose="020B0604020202020204" pitchFamily="34" charset="0"/>
              </a:rPr>
              <a:t>将新课程 </a:t>
            </a:r>
            <a:r>
              <a:rPr lang="en-US" altLang="zh-CN" sz="3200" dirty="0">
                <a:latin typeface="Arial" panose="020B0604020202020204" pitchFamily="34" charset="0"/>
              </a:rPr>
              <a:t>( </a:t>
            </a:r>
            <a:r>
              <a:rPr lang="zh-CN" altLang="en-US" sz="3200" dirty="0">
                <a:latin typeface="Arial" panose="020B0604020202020204" pitchFamily="34" charset="0"/>
              </a:rPr>
              <a:t>课程号</a:t>
            </a:r>
            <a:r>
              <a:rPr lang="en-US" altLang="zh-CN" sz="3200" dirty="0">
                <a:latin typeface="Arial" panose="020B0604020202020204" pitchFamily="34" charset="0"/>
              </a:rPr>
              <a:t>:C5, </a:t>
            </a:r>
            <a:r>
              <a:rPr lang="zh-CN" altLang="en-US" sz="3200" dirty="0">
                <a:latin typeface="Arial" panose="020B0604020202020204" pitchFamily="34" charset="0"/>
              </a:rPr>
              <a:t>课程名</a:t>
            </a:r>
            <a:r>
              <a:rPr lang="en-US" altLang="zh-CN" sz="3200" dirty="0">
                <a:latin typeface="Arial" panose="020B0604020202020204" pitchFamily="34" charset="0"/>
              </a:rPr>
              <a:t>:OS, </a:t>
            </a:r>
            <a:r>
              <a:rPr lang="zh-CN" altLang="en-US" sz="3200" dirty="0">
                <a:latin typeface="Arial" panose="020B0604020202020204" pitchFamily="34" charset="0"/>
              </a:rPr>
              <a:t>学时</a:t>
            </a:r>
            <a:r>
              <a:rPr lang="en-US" altLang="zh-CN" sz="3200" dirty="0">
                <a:latin typeface="Arial" panose="020B0604020202020204" pitchFamily="34" charset="0"/>
              </a:rPr>
              <a:t>: 40) </a:t>
            </a:r>
            <a:r>
              <a:rPr lang="zh-CN" altLang="en-US" sz="3200" dirty="0">
                <a:latin typeface="Arial" panose="020B0604020202020204" pitchFamily="34" charset="0"/>
              </a:rPr>
              <a:t>插入到</a:t>
            </a:r>
            <a:r>
              <a:rPr lang="en-US" altLang="zh-CN" sz="3200" dirty="0">
                <a:latin typeface="Arial" panose="020B0604020202020204" pitchFamily="34" charset="0"/>
              </a:rPr>
              <a:t>C</a:t>
            </a:r>
            <a:r>
              <a:rPr lang="zh-CN" altLang="en-US" sz="3200" dirty="0">
                <a:latin typeface="Arial" panose="020B0604020202020204" pitchFamily="34" charset="0"/>
              </a:rPr>
              <a:t>表中。</a:t>
            </a:r>
            <a:endParaRPr lang="zh-CN" altLang="en-US" sz="3200" dirty="0">
              <a:latin typeface="Arial" panose="020B0604020202020204" pitchFamily="34" charset="0"/>
              <a:ea typeface="华文中宋" panose="02010600040101010101" pitchFamily="2" charset="-122"/>
            </a:endParaRPr>
          </a:p>
          <a:p>
            <a:pPr marL="365125" indent="-365125">
              <a:spcBef>
                <a:spcPts val="600"/>
              </a:spcBef>
              <a:buNone/>
            </a:pPr>
            <a:r>
              <a:rPr lang="zh-CN" altLang="en-US" sz="3200" dirty="0">
                <a:latin typeface="Arial" panose="020B0604020202020204" pitchFamily="34" charset="0"/>
                <a:ea typeface="华文中宋" panose="02010600040101010101" pitchFamily="2" charset="-122"/>
              </a:rPr>
              <a:t>      </a:t>
            </a:r>
            <a:r>
              <a:rPr lang="en-US" altLang="zh-CN" sz="3200" dirty="0">
                <a:solidFill>
                  <a:srgbClr val="FF0000"/>
                </a:solidFill>
                <a:latin typeface="Arial" panose="020B0604020202020204" pitchFamily="34" charset="0"/>
                <a:ea typeface="华文中宋" panose="02010600040101010101" pitchFamily="2" charset="-122"/>
              </a:rPr>
              <a:t>INSERT   INTO</a:t>
            </a:r>
            <a:r>
              <a:rPr lang="en-US" altLang="zh-CN" sz="3200" dirty="0">
                <a:solidFill>
                  <a:srgbClr val="0000CC"/>
                </a:solidFill>
                <a:latin typeface="Arial" panose="020B0604020202020204" pitchFamily="34" charset="0"/>
                <a:ea typeface="华文中宋" panose="02010600040101010101" pitchFamily="2" charset="-122"/>
              </a:rPr>
              <a:t>  C</a:t>
            </a:r>
            <a:endParaRPr lang="en-US" altLang="zh-CN" sz="3200" dirty="0">
              <a:solidFill>
                <a:srgbClr val="0000CC"/>
              </a:solidFill>
              <a:latin typeface="Arial" panose="020B0604020202020204" pitchFamily="34" charset="0"/>
              <a:ea typeface="华文中宋" panose="02010600040101010101" pitchFamily="2" charset="-122"/>
            </a:endParaRPr>
          </a:p>
          <a:p>
            <a:pPr marL="365125" indent="-365125">
              <a:buNone/>
            </a:pPr>
            <a:r>
              <a:rPr lang="en-US" altLang="zh-CN" sz="3200" dirty="0">
                <a:solidFill>
                  <a:srgbClr val="0000CC"/>
                </a:solidFill>
                <a:latin typeface="Arial" panose="020B0604020202020204" pitchFamily="34" charset="0"/>
                <a:ea typeface="华文中宋" panose="02010600040101010101" pitchFamily="2" charset="-122"/>
              </a:rPr>
              <a:t>      </a:t>
            </a:r>
            <a:r>
              <a:rPr lang="en-US" altLang="zh-CN" sz="3200" dirty="0">
                <a:solidFill>
                  <a:srgbClr val="FF0000"/>
                </a:solidFill>
                <a:latin typeface="Arial" panose="020B0604020202020204" pitchFamily="34" charset="0"/>
                <a:ea typeface="华文中宋" panose="02010600040101010101" pitchFamily="2" charset="-122"/>
              </a:rPr>
              <a:t>VALUES</a:t>
            </a:r>
            <a:r>
              <a:rPr lang="en-US" altLang="zh-CN" sz="3200" dirty="0">
                <a:solidFill>
                  <a:srgbClr val="0000CC"/>
                </a:solidFill>
                <a:latin typeface="Arial" panose="020B0604020202020204" pitchFamily="34" charset="0"/>
                <a:ea typeface="华文中宋" panose="02010600040101010101" pitchFamily="2" charset="-122"/>
              </a:rPr>
              <a:t> ( 'C5', 'OS', 40 ) ;</a:t>
            </a:r>
            <a:endParaRPr lang="en-US" altLang="zh-CN" sz="3200" dirty="0">
              <a:solidFill>
                <a:srgbClr val="0000CC"/>
              </a:solidFill>
              <a:latin typeface="Arial" panose="020B0604020202020204" pitchFamily="34" charset="0"/>
              <a:ea typeface="华文中宋" panose="02010600040101010101" pitchFamily="2" charset="-122"/>
            </a:endParaRPr>
          </a:p>
          <a:p>
            <a:pPr marL="365125" indent="-365125">
              <a:buNone/>
            </a:pPr>
            <a:endParaRPr lang="en-US" altLang="zh-CN" sz="3200" dirty="0">
              <a:solidFill>
                <a:srgbClr val="0000CC"/>
              </a:solidFill>
              <a:latin typeface="Arial" panose="020B0604020202020204" pitchFamily="34" charset="0"/>
              <a:ea typeface="华文中宋" panose="02010600040101010101" pitchFamily="2" charset="-122"/>
            </a:endParaRPr>
          </a:p>
          <a:p>
            <a:pPr marL="365125" indent="-365125"/>
            <a:r>
              <a:rPr lang="zh-CN" altLang="en-US" sz="3200" dirty="0">
                <a:latin typeface="Arial" panose="020B0604020202020204" pitchFamily="34" charset="0"/>
              </a:rPr>
              <a:t>将新学生 </a:t>
            </a:r>
            <a:r>
              <a:rPr lang="en-US" altLang="zh-CN" sz="3200" dirty="0">
                <a:latin typeface="Arial" panose="020B0604020202020204" pitchFamily="34" charset="0"/>
              </a:rPr>
              <a:t>( </a:t>
            </a:r>
            <a:r>
              <a:rPr lang="zh-CN" altLang="en-US" sz="3200" dirty="0">
                <a:latin typeface="Arial" panose="020B0604020202020204" pitchFamily="34" charset="0"/>
              </a:rPr>
              <a:t>学号</a:t>
            </a:r>
            <a:r>
              <a:rPr lang="en-US" altLang="zh-CN" sz="3200" dirty="0">
                <a:latin typeface="Arial" panose="020B0604020202020204" pitchFamily="34" charset="0"/>
              </a:rPr>
              <a:t>:100989, </a:t>
            </a:r>
            <a:r>
              <a:rPr lang="zh-CN" altLang="en-US" sz="3200" dirty="0">
                <a:latin typeface="Arial" panose="020B0604020202020204" pitchFamily="34" charset="0"/>
              </a:rPr>
              <a:t>姓名</a:t>
            </a:r>
            <a:r>
              <a:rPr lang="en-US" altLang="zh-CN" sz="3200" dirty="0">
                <a:latin typeface="Arial" panose="020B0604020202020204" pitchFamily="34" charset="0"/>
              </a:rPr>
              <a:t>:</a:t>
            </a:r>
            <a:r>
              <a:rPr lang="zh-CN" altLang="en-US" sz="3200" dirty="0">
                <a:latin typeface="Arial" panose="020B0604020202020204" pitchFamily="34" charset="0"/>
              </a:rPr>
              <a:t>陈冬</a:t>
            </a:r>
            <a:r>
              <a:rPr lang="en-US" altLang="zh-CN" sz="3200" dirty="0">
                <a:latin typeface="Arial" panose="020B0604020202020204" pitchFamily="34" charset="0"/>
              </a:rPr>
              <a:t>, </a:t>
            </a:r>
            <a:r>
              <a:rPr lang="zh-CN" altLang="en-US" sz="3200" dirty="0">
                <a:latin typeface="Arial" panose="020B0604020202020204" pitchFamily="34" charset="0"/>
              </a:rPr>
              <a:t>性别</a:t>
            </a:r>
            <a:r>
              <a:rPr lang="en-US" altLang="zh-CN" sz="3200" dirty="0">
                <a:latin typeface="Arial" panose="020B0604020202020204" pitchFamily="34" charset="0"/>
              </a:rPr>
              <a:t>:</a:t>
            </a:r>
            <a:r>
              <a:rPr lang="zh-CN" altLang="en-US" sz="3200" dirty="0">
                <a:latin typeface="Arial" panose="020B0604020202020204" pitchFamily="34" charset="0"/>
              </a:rPr>
              <a:t>男</a:t>
            </a:r>
            <a:r>
              <a:rPr lang="en-US" altLang="zh-CN" sz="3200" dirty="0">
                <a:latin typeface="Arial" panose="020B0604020202020204" pitchFamily="34" charset="0"/>
              </a:rPr>
              <a:t>, </a:t>
            </a:r>
            <a:r>
              <a:rPr lang="zh-CN" altLang="en-US" sz="3200" dirty="0">
                <a:latin typeface="Arial" panose="020B0604020202020204" pitchFamily="34" charset="0"/>
              </a:rPr>
              <a:t>所在系</a:t>
            </a:r>
            <a:r>
              <a:rPr lang="en-US" altLang="zh-CN" sz="3200" dirty="0">
                <a:latin typeface="Arial" panose="020B0604020202020204" pitchFamily="34" charset="0"/>
              </a:rPr>
              <a:t>:IS, </a:t>
            </a:r>
            <a:r>
              <a:rPr lang="zh-CN" altLang="en-US" sz="3200" dirty="0">
                <a:latin typeface="Arial" panose="020B0604020202020204" pitchFamily="34" charset="0"/>
              </a:rPr>
              <a:t>年龄</a:t>
            </a:r>
            <a:r>
              <a:rPr lang="en-US" altLang="zh-CN" sz="3200" dirty="0">
                <a:latin typeface="Arial" panose="020B0604020202020204" pitchFamily="34" charset="0"/>
              </a:rPr>
              <a:t>:18 ) </a:t>
            </a:r>
            <a:r>
              <a:rPr lang="zh-CN" altLang="en-US" sz="3200" dirty="0">
                <a:latin typeface="Arial" panose="020B0604020202020204" pitchFamily="34" charset="0"/>
              </a:rPr>
              <a:t>插入到</a:t>
            </a:r>
            <a:r>
              <a:rPr lang="en-US" altLang="zh-CN" sz="3200" dirty="0">
                <a:latin typeface="Arial" panose="020B0604020202020204" pitchFamily="34" charset="0"/>
              </a:rPr>
              <a:t>S</a:t>
            </a:r>
            <a:r>
              <a:rPr lang="zh-CN" altLang="en-US" sz="3200" dirty="0">
                <a:latin typeface="Arial" panose="020B0604020202020204" pitchFamily="34" charset="0"/>
              </a:rPr>
              <a:t>表中。</a:t>
            </a:r>
            <a:endParaRPr lang="zh-CN" altLang="en-US" sz="3200" dirty="0">
              <a:latin typeface="Arial" panose="020B0604020202020204" pitchFamily="34" charset="0"/>
            </a:endParaRPr>
          </a:p>
          <a:p>
            <a:pPr marL="365125" indent="-365125">
              <a:spcBef>
                <a:spcPts val="600"/>
              </a:spcBef>
              <a:buNone/>
            </a:pPr>
            <a:r>
              <a:rPr lang="zh-CN" altLang="en-US" sz="3200" dirty="0">
                <a:latin typeface="Arial" panose="020B0604020202020204" pitchFamily="34" charset="0"/>
              </a:rPr>
              <a:t>     </a:t>
            </a:r>
            <a:r>
              <a:rPr lang="en-US" altLang="zh-CN" sz="3200" dirty="0">
                <a:solidFill>
                  <a:srgbClr val="FF0000"/>
                </a:solidFill>
                <a:latin typeface="Arial" panose="020B0604020202020204" pitchFamily="34" charset="0"/>
              </a:rPr>
              <a:t>INSERT   INTO</a:t>
            </a:r>
            <a:r>
              <a:rPr lang="en-US" altLang="zh-CN" sz="3200" dirty="0">
                <a:solidFill>
                  <a:srgbClr val="0000CC"/>
                </a:solidFill>
                <a:latin typeface="Arial" panose="020B0604020202020204" pitchFamily="34" charset="0"/>
              </a:rPr>
              <a:t>  S</a:t>
            </a:r>
            <a:endParaRPr lang="en-US" altLang="zh-CN" sz="3200" dirty="0">
              <a:solidFill>
                <a:srgbClr val="0000CC"/>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a:t>
            </a:r>
            <a:r>
              <a:rPr lang="en-US" altLang="zh-CN" sz="3200" dirty="0">
                <a:solidFill>
                  <a:srgbClr val="FF0000"/>
                </a:solidFill>
                <a:latin typeface="Arial" panose="020B0604020202020204" pitchFamily="34" charset="0"/>
              </a:rPr>
              <a:t>VALUES</a:t>
            </a:r>
            <a:r>
              <a:rPr lang="en-US" altLang="zh-CN" sz="3200" dirty="0">
                <a:solidFill>
                  <a:srgbClr val="0000CC"/>
                </a:solidFill>
                <a:latin typeface="Arial" panose="020B0604020202020204" pitchFamily="34" charset="0"/>
              </a:rPr>
              <a:t> ( '100989', '</a:t>
            </a:r>
            <a:r>
              <a:rPr lang="zh-CN" altLang="en-US" sz="3200" dirty="0">
                <a:solidFill>
                  <a:srgbClr val="0000CC"/>
                </a:solidFill>
                <a:latin typeface="Arial" panose="020B0604020202020204" pitchFamily="34" charset="0"/>
              </a:rPr>
              <a:t>陈冬</a:t>
            </a:r>
            <a:r>
              <a:rPr lang="en-US" altLang="zh-CN" sz="3200" dirty="0">
                <a:solidFill>
                  <a:srgbClr val="0000CC"/>
                </a:solidFill>
                <a:latin typeface="Arial" panose="020B0604020202020204" pitchFamily="34" charset="0"/>
              </a:rPr>
              <a:t>', '</a:t>
            </a:r>
            <a:r>
              <a:rPr lang="zh-CN" altLang="en-US" sz="3200" dirty="0">
                <a:solidFill>
                  <a:srgbClr val="0000CC"/>
                </a:solidFill>
                <a:latin typeface="Arial" panose="020B0604020202020204" pitchFamily="34" charset="0"/>
              </a:rPr>
              <a:t>男</a:t>
            </a:r>
            <a:r>
              <a:rPr lang="en-US" altLang="zh-CN" sz="3200" dirty="0">
                <a:solidFill>
                  <a:srgbClr val="0000CC"/>
                </a:solidFill>
                <a:latin typeface="Arial" panose="020B0604020202020204" pitchFamily="34" charset="0"/>
              </a:rPr>
              <a:t>', 18, 'IS' );</a:t>
            </a:r>
            <a:endParaRPr lang="en-US" altLang="zh-CN" sz="3200" dirty="0">
              <a:solidFill>
                <a:srgbClr val="0000CC"/>
              </a:solidFill>
              <a:latin typeface="Arial" panose="020B0604020202020204" pitchFamily="34" charset="0"/>
            </a:endParaRPr>
          </a:p>
        </p:txBody>
      </p:sp>
      <p:sp>
        <p:nvSpPr>
          <p:cNvPr id="31949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插入单个元组</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1</a:t>
            </a:r>
            <a:endPar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idx="1"/>
          </p:nvPr>
        </p:nvSpPr>
        <p:spPr>
          <a:xfrm>
            <a:off x="152400" y="1143000"/>
            <a:ext cx="8812213" cy="5273675"/>
          </a:xfrm>
        </p:spPr>
        <p:txBody>
          <a:bodyPr vert="horz" wrap="square" lIns="91440" tIns="45720" rIns="91440" bIns="45720" anchor="t" anchorCtr="0"/>
          <a:p>
            <a:pPr marL="365125" indent="-365125"/>
            <a:r>
              <a:rPr lang="zh-CN" altLang="en-US" dirty="0">
                <a:latin typeface="Arial" panose="020B0604020202020204" pitchFamily="34" charset="0"/>
              </a:rPr>
              <a:t>在</a:t>
            </a:r>
            <a:r>
              <a:rPr lang="en-US" altLang="zh-CN" dirty="0">
                <a:latin typeface="Arial" panose="020B0604020202020204" pitchFamily="34" charset="0"/>
              </a:rPr>
              <a:t>SC</a:t>
            </a:r>
            <a:r>
              <a:rPr lang="zh-CN" altLang="en-US" dirty="0">
                <a:latin typeface="Arial" panose="020B0604020202020204" pitchFamily="34" charset="0"/>
              </a:rPr>
              <a:t>表中，插入一条选课记录</a:t>
            </a:r>
            <a:r>
              <a:rPr lang="en-US" altLang="zh-CN" dirty="0">
                <a:latin typeface="Arial" panose="020B0604020202020204" pitchFamily="34" charset="0"/>
              </a:rPr>
              <a:t>( </a:t>
            </a:r>
            <a:r>
              <a:rPr lang="zh-CN" altLang="en-US" dirty="0">
                <a:latin typeface="Arial" panose="020B0604020202020204" pitchFamily="34" charset="0"/>
              </a:rPr>
              <a:t>学号</a:t>
            </a:r>
            <a:r>
              <a:rPr lang="en-US" altLang="zh-CN" dirty="0">
                <a:latin typeface="Arial" panose="020B0604020202020204" pitchFamily="34" charset="0"/>
              </a:rPr>
              <a:t>: 090939, </a:t>
            </a:r>
            <a:r>
              <a:rPr lang="zh-CN" altLang="en-US" dirty="0">
                <a:latin typeface="Arial" panose="020B0604020202020204" pitchFamily="34" charset="0"/>
              </a:rPr>
              <a:t>课程号</a:t>
            </a:r>
            <a:r>
              <a:rPr lang="en-US" altLang="zh-CN" dirty="0">
                <a:latin typeface="Arial" panose="020B0604020202020204" pitchFamily="34" charset="0"/>
              </a:rPr>
              <a:t>:C1 )</a:t>
            </a:r>
            <a:r>
              <a:rPr lang="zh-CN" altLang="en-US" dirty="0">
                <a:latin typeface="Arial" panose="020B0604020202020204" pitchFamily="34" charset="0"/>
              </a:rPr>
              <a:t>。</a:t>
            </a:r>
            <a:endParaRPr lang="zh-CN" altLang="en-US" dirty="0">
              <a:latin typeface="Arial" panose="020B0604020202020204" pitchFamily="34" charset="0"/>
            </a:endParaRPr>
          </a:p>
          <a:p>
            <a:pPr marL="365125" indent="-365125">
              <a:spcBef>
                <a:spcPct val="40000"/>
              </a:spcBef>
              <a:buNone/>
            </a:pPr>
            <a:r>
              <a:rPr lang="zh-CN" altLang="en-US" dirty="0">
                <a:latin typeface="Arial" panose="020B0604020202020204" pitchFamily="34" charset="0"/>
              </a:rPr>
              <a:t>      </a:t>
            </a:r>
            <a:r>
              <a:rPr lang="en-US" altLang="zh-CN" dirty="0">
                <a:solidFill>
                  <a:srgbClr val="FF0000"/>
                </a:solidFill>
                <a:latin typeface="Arial" panose="020B0604020202020204" pitchFamily="34" charset="0"/>
              </a:rPr>
              <a:t>INSERT  INTO</a:t>
            </a:r>
            <a:r>
              <a:rPr lang="en-US" altLang="zh-CN" dirty="0">
                <a:solidFill>
                  <a:srgbClr val="0000CC"/>
                </a:solidFill>
                <a:latin typeface="Arial" panose="020B0604020202020204" pitchFamily="34" charset="0"/>
              </a:rPr>
              <a:t>  SC </a:t>
            </a:r>
            <a:r>
              <a:rPr lang="en-US" altLang="zh-CN" dirty="0">
                <a:latin typeface="Arial" panose="020B0604020202020204" pitchFamily="34" charset="0"/>
              </a:rPr>
              <a:t>(Sno, Cno)</a:t>
            </a:r>
            <a:endParaRPr lang="en-US" altLang="zh-CN" dirty="0">
              <a:latin typeface="Arial" panose="020B0604020202020204" pitchFamily="34" charset="0"/>
            </a:endParaRPr>
          </a:p>
          <a:p>
            <a:pPr marL="365125" indent="-365125">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VALUES</a:t>
            </a:r>
            <a:r>
              <a:rPr lang="en-US" altLang="zh-CN" dirty="0">
                <a:solidFill>
                  <a:srgbClr val="0000CC"/>
                </a:solidFill>
                <a:latin typeface="Arial" panose="020B0604020202020204" pitchFamily="34" charset="0"/>
              </a:rPr>
              <a:t> ( '090939' , 'C1' );</a:t>
            </a:r>
            <a:endParaRPr lang="en-US" altLang="zh-CN" dirty="0">
              <a:solidFill>
                <a:srgbClr val="0000CC"/>
              </a:solidFill>
              <a:latin typeface="Arial" panose="020B0604020202020204" pitchFamily="34" charset="0"/>
            </a:endParaRPr>
          </a:p>
          <a:p>
            <a:pPr marL="365125" indent="-365125">
              <a:buNone/>
            </a:pPr>
            <a:endParaRPr lang="en-US" altLang="zh-CN" dirty="0">
              <a:solidFill>
                <a:srgbClr val="0000CC"/>
              </a:solidFill>
              <a:latin typeface="Arial" panose="020B0604020202020204" pitchFamily="34" charset="0"/>
            </a:endParaRPr>
          </a:p>
          <a:p>
            <a:pPr marL="365125" indent="-365125">
              <a:buNone/>
            </a:pPr>
            <a:r>
              <a:rPr lang="zh-CN" altLang="en-US" sz="3200" dirty="0">
                <a:latin typeface="Arial" panose="020B0604020202020204" pitchFamily="34" charset="0"/>
              </a:rPr>
              <a:t>注：</a:t>
            </a:r>
            <a:endParaRPr lang="zh-CN" altLang="en-US" sz="3200" dirty="0">
              <a:latin typeface="Arial" panose="020B0604020202020204" pitchFamily="34" charset="0"/>
            </a:endParaRPr>
          </a:p>
          <a:p>
            <a:pPr marL="365125" indent="-365125"/>
            <a:r>
              <a:rPr lang="zh-CN" altLang="en-US" sz="3200" dirty="0">
                <a:latin typeface="Arial" panose="020B0604020202020204" pitchFamily="34" charset="0"/>
              </a:rPr>
              <a:t>新插入的记录在</a:t>
            </a:r>
            <a:r>
              <a:rPr lang="en-US" altLang="zh-CN" sz="3200" dirty="0">
                <a:latin typeface="Arial" panose="020B0604020202020204" pitchFamily="34" charset="0"/>
              </a:rPr>
              <a:t>Score</a:t>
            </a:r>
            <a:r>
              <a:rPr lang="zh-CN" altLang="en-US" sz="3200" dirty="0">
                <a:latin typeface="Arial" panose="020B0604020202020204" pitchFamily="34" charset="0"/>
              </a:rPr>
              <a:t>列上取空值</a:t>
            </a:r>
            <a:endParaRPr lang="zh-CN" altLang="en-US" sz="3200" dirty="0">
              <a:latin typeface="Arial" panose="020B0604020202020204" pitchFamily="34" charset="0"/>
            </a:endParaRPr>
          </a:p>
        </p:txBody>
      </p:sp>
      <p:sp>
        <p:nvSpPr>
          <p:cNvPr id="65843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插入单个元组</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2</a:t>
            </a:r>
            <a:endPar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idx="1"/>
          </p:nvPr>
        </p:nvSpPr>
        <p:spPr>
          <a:xfrm>
            <a:off x="152400" y="1143000"/>
            <a:ext cx="8777288" cy="5273675"/>
          </a:xfrm>
        </p:spPr>
        <p:txBody>
          <a:bodyPr vert="horz" wrap="square" lIns="91440" tIns="45720" rIns="91440" bIns="45720" anchor="t" anchorCtr="0"/>
          <a:p>
            <a:pPr marL="365125" indent="-365125"/>
            <a:r>
              <a:rPr lang="zh-CN" altLang="en-US" dirty="0">
                <a:latin typeface="Arial" panose="020B0604020202020204" pitchFamily="34" charset="0"/>
              </a:rPr>
              <a:t>基本语法：</a:t>
            </a:r>
            <a:endParaRPr lang="zh-CN" altLang="en-US" dirty="0">
              <a:latin typeface="Arial" panose="020B0604020202020204" pitchFamily="34" charset="0"/>
            </a:endParaRPr>
          </a:p>
          <a:p>
            <a:pPr marL="365125" indent="-365125">
              <a:spcBef>
                <a:spcPct val="55000"/>
              </a:spcBef>
              <a:buNone/>
            </a:pPr>
            <a:r>
              <a:rPr lang="zh-CN" altLang="en-US" dirty="0">
                <a:latin typeface="Arial" panose="020B0604020202020204" pitchFamily="34" charset="0"/>
              </a:rPr>
              <a:t>   </a:t>
            </a:r>
            <a:r>
              <a:rPr lang="en-US" altLang="zh-CN" sz="3200" dirty="0">
                <a:solidFill>
                  <a:srgbClr val="FF0000"/>
                </a:solidFill>
                <a:latin typeface="Arial" panose="020B0604020202020204" pitchFamily="34" charset="0"/>
              </a:rPr>
              <a:t>INSERT</a:t>
            </a:r>
            <a:endParaRPr lang="en-US" altLang="zh-CN" sz="3200" dirty="0">
              <a:solidFill>
                <a:srgbClr val="FF0000"/>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a:t>
            </a:r>
            <a:r>
              <a:rPr lang="en-US" altLang="zh-CN" sz="3200" dirty="0">
                <a:solidFill>
                  <a:srgbClr val="FF0000"/>
                </a:solidFill>
                <a:latin typeface="Arial" panose="020B0604020202020204" pitchFamily="34" charset="0"/>
              </a:rPr>
              <a:t>INTO</a:t>
            </a:r>
            <a:r>
              <a:rPr lang="en-US" altLang="zh-CN" sz="3200" dirty="0">
                <a:solidFill>
                  <a:srgbClr val="0000CC"/>
                </a:solidFill>
                <a:latin typeface="Arial" panose="020B0604020202020204" pitchFamily="34" charset="0"/>
              </a:rPr>
              <a:t>  &lt;</a:t>
            </a:r>
            <a:r>
              <a:rPr lang="zh-CN" altLang="en-US" sz="3200" dirty="0">
                <a:solidFill>
                  <a:srgbClr val="0000CC"/>
                </a:solidFill>
                <a:latin typeface="Arial" panose="020B0604020202020204" pitchFamily="34" charset="0"/>
              </a:rPr>
              <a:t>表名</a:t>
            </a:r>
            <a:r>
              <a:rPr lang="en-US" altLang="zh-CN" sz="3200" dirty="0">
                <a:solidFill>
                  <a:srgbClr val="0000CC"/>
                </a:solidFill>
                <a:latin typeface="Arial" panose="020B0604020202020204" pitchFamily="34" charset="0"/>
              </a:rPr>
              <a:t>&gt;  [ (&lt;</a:t>
            </a:r>
            <a:r>
              <a:rPr lang="zh-CN" altLang="en-US" sz="3200" dirty="0">
                <a:solidFill>
                  <a:srgbClr val="0000CC"/>
                </a:solidFill>
                <a:latin typeface="Arial" panose="020B0604020202020204" pitchFamily="34" charset="0"/>
              </a:rPr>
              <a:t>属性列</a:t>
            </a:r>
            <a:r>
              <a:rPr lang="en-US" altLang="zh-CN" sz="3200" dirty="0">
                <a:solidFill>
                  <a:srgbClr val="0000CC"/>
                </a:solidFill>
                <a:latin typeface="Arial" panose="020B0604020202020204" pitchFamily="34" charset="0"/>
              </a:rPr>
              <a:t>1&gt;[,&lt;</a:t>
            </a:r>
            <a:r>
              <a:rPr lang="zh-CN" altLang="en-US" sz="3200" dirty="0">
                <a:solidFill>
                  <a:srgbClr val="0000CC"/>
                </a:solidFill>
                <a:latin typeface="Arial" panose="020B0604020202020204" pitchFamily="34" charset="0"/>
              </a:rPr>
              <a:t>属性列</a:t>
            </a:r>
            <a:r>
              <a:rPr lang="en-US" altLang="zh-CN" sz="3200" dirty="0">
                <a:solidFill>
                  <a:srgbClr val="0000CC"/>
                </a:solidFill>
                <a:latin typeface="Arial" panose="020B0604020202020204" pitchFamily="34" charset="0"/>
              </a:rPr>
              <a:t>2 &gt;…) ]</a:t>
            </a:r>
            <a:endParaRPr lang="en-US" altLang="zh-CN" sz="3200" dirty="0">
              <a:solidFill>
                <a:srgbClr val="0000CC"/>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&lt;</a:t>
            </a:r>
            <a:r>
              <a:rPr lang="zh-CN" altLang="en-US" sz="3200" dirty="0">
                <a:solidFill>
                  <a:srgbClr val="0000CC"/>
                </a:solidFill>
                <a:latin typeface="Arial" panose="020B0604020202020204" pitchFamily="34" charset="0"/>
              </a:rPr>
              <a:t>子查询</a:t>
            </a:r>
            <a:r>
              <a:rPr lang="en-US" altLang="zh-CN" sz="3200" dirty="0">
                <a:solidFill>
                  <a:srgbClr val="0000CC"/>
                </a:solidFill>
                <a:latin typeface="Arial" panose="020B0604020202020204" pitchFamily="34" charset="0"/>
              </a:rPr>
              <a:t>&gt; ;</a:t>
            </a:r>
            <a:endParaRPr lang="en-US" altLang="zh-CN" sz="3200" dirty="0">
              <a:solidFill>
                <a:srgbClr val="0000CC"/>
              </a:solidFill>
              <a:latin typeface="Arial" panose="020B0604020202020204" pitchFamily="34" charset="0"/>
            </a:endParaRPr>
          </a:p>
          <a:p>
            <a:pPr marL="365125" indent="-365125">
              <a:buNone/>
            </a:pPr>
            <a:endParaRPr lang="en-US" altLang="zh-CN" dirty="0">
              <a:solidFill>
                <a:srgbClr val="0000CC"/>
              </a:solidFill>
              <a:latin typeface="Arial" panose="020B0604020202020204" pitchFamily="34" charset="0"/>
            </a:endParaRPr>
          </a:p>
          <a:p>
            <a:pPr marL="365125" indent="-365125"/>
            <a:r>
              <a:rPr lang="zh-CN" altLang="en-US" dirty="0">
                <a:latin typeface="Arial" panose="020B0604020202020204" pitchFamily="34" charset="0"/>
              </a:rPr>
              <a:t>功能：</a:t>
            </a:r>
            <a:endParaRPr lang="zh-CN" altLang="en-US" dirty="0">
              <a:latin typeface="Arial" panose="020B0604020202020204" pitchFamily="34" charset="0"/>
            </a:endParaRPr>
          </a:p>
          <a:p>
            <a:pPr marL="365125" indent="-365125">
              <a:buNone/>
            </a:pPr>
            <a:r>
              <a:rPr lang="zh-CN" altLang="en-US" dirty="0">
                <a:latin typeface="Arial" panose="020B0604020202020204" pitchFamily="34" charset="0"/>
              </a:rPr>
              <a:t>       </a:t>
            </a:r>
            <a:r>
              <a:rPr lang="zh-CN" altLang="en-US" sz="3200" dirty="0">
                <a:latin typeface="Arial" panose="020B0604020202020204" pitchFamily="34" charset="0"/>
              </a:rPr>
              <a:t>将一个</a:t>
            </a:r>
            <a:r>
              <a:rPr lang="en-US" altLang="zh-CN" sz="3200" dirty="0">
                <a:latin typeface="Arial" panose="020B0604020202020204" pitchFamily="34" charset="0"/>
              </a:rPr>
              <a:t>SELECT </a:t>
            </a:r>
            <a:r>
              <a:rPr lang="zh-CN" altLang="en-US" sz="3200" dirty="0">
                <a:latin typeface="Arial" panose="020B0604020202020204" pitchFamily="34" charset="0"/>
              </a:rPr>
              <a:t>语句的输出结果输入到另一个表中去。</a:t>
            </a:r>
            <a:endParaRPr lang="zh-CN" altLang="en-US" dirty="0">
              <a:latin typeface="Arial" panose="020B0604020202020204" pitchFamily="34" charset="0"/>
            </a:endParaRPr>
          </a:p>
        </p:txBody>
      </p:sp>
      <p:sp>
        <p:nvSpPr>
          <p:cNvPr id="14745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插入子查询结果</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5844" name="Rectangle 4"/>
          <p:cNvSpPr/>
          <p:nvPr/>
        </p:nvSpPr>
        <p:spPr>
          <a:xfrm>
            <a:off x="285750" y="1916113"/>
            <a:ext cx="8572500" cy="1873250"/>
          </a:xfrm>
          <a:prstGeom prst="rect">
            <a:avLst/>
          </a:prstGeom>
          <a:noFill/>
          <a:ln w="28575" cap="flat" cmpd="sng">
            <a:solidFill>
              <a:srgbClr val="FF3300"/>
            </a:solidFill>
            <a:prstDash val="solid"/>
            <a:miter/>
            <a:headEnd type="none" w="med" len="med"/>
            <a:tailEnd type="none" w="med" len="med"/>
          </a:ln>
        </p:spPr>
        <p:txBody>
          <a:bodyPr wrap="none"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en-US" sz="4000" dirty="0">
              <a:solidFill>
                <a:srgbClr val="0000FF"/>
              </a:solidFill>
              <a:latin typeface="Arial" panose="020B0604020202020204" pitchFamily="34" charset="0"/>
            </a:endParaRPr>
          </a:p>
        </p:txBody>
      </p:sp>
    </p:spTree>
  </p:cSld>
  <p:clrMapOvr>
    <a:masterClrMapping/>
  </p:clrMapOvr>
  <p:transition>
    <p:random/>
    <p:sndAc>
      <p:stSnd>
        <p:snd r:embed="rId1" name="CAMERA.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3538" name="Rectangle 2"/>
          <p:cNvSpPr>
            <a:spLocks noGrp="1" noChangeArrowheads="1"/>
          </p:cNvSpPr>
          <p:nvPr>
            <p:ph idx="1"/>
          </p:nvPr>
        </p:nvSpPr>
        <p:spPr>
          <a:xfrm>
            <a:off x="152400" y="765175"/>
            <a:ext cx="8777288" cy="5543550"/>
          </a:xfrm>
        </p:spPr>
        <p:txBody>
          <a:bodyPr vert="horz" wrap="square" lIns="91440" tIns="45720" rIns="91440" bIns="45720" numCol="1" anchor="t" anchorCtr="0" compatLnSpc="1"/>
          <a:lstStyle/>
          <a:p>
            <a:pPr marL="268605" marR="0" lvl="0" indent="-268605" algn="l" defTabSz="914400" rtl="0" eaLnBrk="0" fontAlgn="base" latinLnBrk="0" hangingPunct="0">
              <a:lnSpc>
                <a:spcPct val="100000"/>
              </a:lnSpc>
              <a:spcBef>
                <a:spcPts val="1200"/>
              </a:spcBef>
              <a:spcAft>
                <a:spcPct val="0"/>
              </a:spcAft>
              <a:buClr>
                <a:srgbClr val="FF0000"/>
              </a:buClr>
              <a:buSzPct val="65000"/>
              <a:buFont typeface="Wingdings" panose="05000000000000000000" pitchFamily="2" charset="2"/>
              <a:buNone/>
              <a:defRPr/>
            </a:pP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INSERT</a:t>
            </a:r>
            <a:endParaRPr kumimoji="1"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endParaRPr>
          </a:p>
          <a:p>
            <a:pPr marL="268605" marR="0" lvl="0" indent="-268605"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a:t>
            </a:r>
            <a:r>
              <a:rPr kumimoji="1"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INTO</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表名</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&gt; [ (&lt;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属性列</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1&gt;[,&lt;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属性列</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2 &gt;…) ]</a:t>
            </a:r>
            <a:endPar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a:p>
            <a:pPr marL="268605" marR="0" lvl="0" indent="-268605"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&lt;</a:t>
            </a:r>
            <a:r>
              <a:rPr kumimoji="1" lang="zh-CN" altLang="en-US"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子查询</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&gt; ;</a:t>
            </a:r>
            <a:endPar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a:p>
            <a:pPr marL="268605" marR="0" lvl="0" indent="-268605" algn="l" defTabSz="914400" rtl="0" eaLnBrk="0" fontAlgn="base" latinLnBrk="0" hangingPunct="0">
              <a:lnSpc>
                <a:spcPct val="100000"/>
              </a:lnSpc>
              <a:spcBef>
                <a:spcPts val="2400"/>
              </a:spcBef>
              <a:spcAft>
                <a:spcPct val="0"/>
              </a:spcAft>
              <a:buClr>
                <a:srgbClr val="FF0000"/>
              </a:buClr>
              <a:buSzPct val="65000"/>
              <a:buFont typeface="Wingdings" panose="05000000000000000000" pitchFamily="2" charset="2"/>
              <a:buChar char="n"/>
              <a:defRPr/>
            </a:pP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INTO</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子句</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与插入单个元组类似</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t>
            </a:r>
            <a:endPar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268605" marR="0" lvl="0" indent="-268605" algn="l" defTabSz="914400" rtl="0" eaLnBrk="0" fontAlgn="base" latinLnBrk="0" hangingPunct="0">
              <a:lnSpc>
                <a:spcPct val="100000"/>
              </a:lnSpc>
              <a:spcBef>
                <a:spcPts val="1700"/>
              </a:spcBef>
              <a:spcAft>
                <a:spcPct val="0"/>
              </a:spcAft>
              <a:buClr>
                <a:srgbClr val="FF0000"/>
              </a:buClr>
              <a:buSzPct val="65000"/>
              <a:buFont typeface="Wingdings" panose="05000000000000000000" pitchFamily="2" charset="2"/>
              <a:buChar char="n"/>
              <a:defRPr/>
            </a:pP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子查询</a:t>
            </a:r>
            <a:endPar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633730" marR="0" lvl="1" indent="-279400"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Char char="n"/>
              <a:defRPr/>
            </a:pP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SELECT</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子句目标列必须与</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INTO</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子句匹配：</a:t>
            </a:r>
            <a:endPar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633730" marR="0" lvl="1" indent="-279400"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None/>
              <a:defRPr/>
            </a:pP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       值的顺序</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806450" marR="0" lvl="1" indent="-265430"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None/>
              <a:defRPr/>
            </a:pP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     值的个数</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806450" marR="0" lvl="1" indent="-265430"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None/>
              <a:defRPr/>
            </a:pP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     值的类型</a:t>
            </a:r>
            <a:endParaRPr kumimoji="1" lang="zh-CN" altLang="en-US" sz="28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p:txBody>
      </p:sp>
      <p:sp>
        <p:nvSpPr>
          <p:cNvPr id="83353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插入子查询结果规则</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6868" name="Rectangle 4"/>
          <p:cNvSpPr/>
          <p:nvPr/>
        </p:nvSpPr>
        <p:spPr>
          <a:xfrm>
            <a:off x="250825" y="857250"/>
            <a:ext cx="8607425" cy="1643063"/>
          </a:xfrm>
          <a:prstGeom prst="rect">
            <a:avLst/>
          </a:prstGeom>
          <a:noFill/>
          <a:ln w="28575" cap="flat" cmpd="sng">
            <a:solidFill>
              <a:srgbClr val="FF3300"/>
            </a:solidFill>
            <a:prstDash val="solid"/>
            <a:miter/>
            <a:headEnd type="none" w="med" len="med"/>
            <a:tailEnd type="none" w="med" len="med"/>
          </a:ln>
        </p:spPr>
        <p:txBody>
          <a:bodyPr wrap="none"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en-US" sz="4000" dirty="0">
              <a:solidFill>
                <a:srgbClr val="0000FF"/>
              </a:solidFill>
              <a:latin typeface="Arial" panose="020B0604020202020204" pitchFamily="34" charset="0"/>
            </a:endParaRPr>
          </a:p>
        </p:txBody>
      </p:sp>
    </p:spTree>
  </p:cSld>
  <p:clrMapOvr>
    <a:masterClrMapping/>
  </p:clrMapOvr>
  <p:transition>
    <p:random/>
    <p:sndAc>
      <p:stSnd>
        <p:snd r:embed="rId1" name="CAMERA.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2"/>
          <p:cNvSpPr>
            <a:spLocks noGrp="1" noChangeArrowheads="1"/>
          </p:cNvSpPr>
          <p:nvPr>
            <p:ph idx="1"/>
          </p:nvPr>
        </p:nvSpPr>
        <p:spPr>
          <a:xfrm>
            <a:off x="152400" y="981075"/>
            <a:ext cx="8812213" cy="5472113"/>
          </a:xfrm>
        </p:spPr>
        <p:txBody>
          <a:bodyPr vert="horz" wrap="square" lIns="91440" tIns="45720" rIns="91440" bIns="45720" numCol="1" anchor="t" anchorCtr="0" compatLnSpc="1"/>
          <a:lstStyle/>
          <a:p>
            <a:pPr marL="354330" marR="0" lvl="0" indent="-35433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Char char="n"/>
              <a:defRPr/>
            </a:pPr>
            <a:r>
              <a:rPr kumimoji="1" lang="zh-CN" altLang="en-US" sz="3200" b="1" i="0" u="none" strike="noStrike" kern="0" cap="none" spc="0" normalizeH="0" baseline="0" noProof="0" dirty="0" smtClean="0">
                <a:ln>
                  <a:noFill/>
                </a:ln>
                <a:solidFill>
                  <a:srgbClr val="000000"/>
                </a:solidFill>
                <a:effectLst/>
                <a:uLnTx/>
                <a:uFillTx/>
                <a:latin typeface="+mn-lt"/>
                <a:ea typeface="+mn-ea"/>
                <a:cs typeface="+mn-cs"/>
              </a:rPr>
              <a:t>每个学生都要学习高等数学</a:t>
            </a:r>
            <a:r>
              <a:rPr kumimoji="1" lang="en-US" altLang="zh-CN" sz="3200" b="1" i="0" u="none" strike="noStrike" kern="0" cap="none" spc="0" normalizeH="0" baseline="0" noProof="0" dirty="0" smtClean="0">
                <a:ln>
                  <a:noFill/>
                </a:ln>
                <a:solidFill>
                  <a:srgbClr val="000000"/>
                </a:solidFill>
                <a:effectLst/>
                <a:uLnTx/>
                <a:uFillTx/>
                <a:latin typeface="+mn-lt"/>
                <a:ea typeface="+mn-ea"/>
                <a:cs typeface="+mn-cs"/>
              </a:rPr>
              <a:t>(</a:t>
            </a:r>
            <a:r>
              <a:rPr kumimoji="1" lang="zh-CN" altLang="en-US" sz="3200" b="1" i="0" u="none" strike="noStrike" kern="0" cap="none" spc="0" normalizeH="0" baseline="0" noProof="0" dirty="0" smtClean="0">
                <a:ln>
                  <a:noFill/>
                </a:ln>
                <a:solidFill>
                  <a:srgbClr val="000000"/>
                </a:solidFill>
                <a:effectLst/>
                <a:uLnTx/>
                <a:uFillTx/>
                <a:latin typeface="+mn-lt"/>
                <a:ea typeface="+mn-ea"/>
                <a:cs typeface="+mn-cs"/>
              </a:rPr>
              <a:t>课程号为</a:t>
            </a:r>
            <a:r>
              <a:rPr kumimoji="1" lang="en-US" altLang="zh-CN" sz="3200" b="1" i="0" u="none" strike="noStrike" kern="0" cap="none" spc="0" normalizeH="0" baseline="0" noProof="0" dirty="0" smtClean="0">
                <a:ln>
                  <a:noFill/>
                </a:ln>
                <a:solidFill>
                  <a:srgbClr val="000000"/>
                </a:solidFill>
                <a:effectLst/>
                <a:uLnTx/>
                <a:uFillTx/>
                <a:latin typeface="+mj-lt"/>
                <a:ea typeface="+mn-ea"/>
                <a:cs typeface="+mn-cs"/>
              </a:rPr>
              <a:t>C1</a:t>
            </a:r>
            <a:r>
              <a:rPr kumimoji="1" lang="en-US" altLang="zh-CN" sz="3200" b="1" i="0" u="none" strike="noStrike" kern="0" cap="none" spc="0" normalizeH="0" baseline="0" noProof="0" dirty="0" smtClean="0">
                <a:ln>
                  <a:noFill/>
                </a:ln>
                <a:solidFill>
                  <a:srgbClr val="000000"/>
                </a:solidFill>
                <a:effectLst/>
                <a:uLnTx/>
                <a:uFillTx/>
                <a:latin typeface="+mn-lt"/>
                <a:ea typeface="+mn-ea"/>
                <a:cs typeface="+mn-cs"/>
              </a:rPr>
              <a:t>)</a:t>
            </a:r>
            <a:r>
              <a:rPr kumimoji="1" lang="zh-CN" altLang="en-US" sz="3200" b="1" i="0" u="none" strike="noStrike" kern="0" cap="none" spc="0" normalizeH="0" baseline="0" noProof="0" dirty="0" smtClean="0">
                <a:ln>
                  <a:noFill/>
                </a:ln>
                <a:solidFill>
                  <a:srgbClr val="000000"/>
                </a:solidFill>
                <a:effectLst/>
                <a:uLnTx/>
                <a:uFillTx/>
                <a:latin typeface="+mn-lt"/>
                <a:ea typeface="+mn-ea"/>
                <a:cs typeface="+mn-cs"/>
              </a:rPr>
              <a:t>，将高等数学选课信息加入到</a:t>
            </a:r>
            <a:r>
              <a:rPr kumimoji="1" lang="en-US" altLang="zh-CN" sz="3200" b="1" i="0" u="none" strike="noStrike" kern="0" cap="none" spc="0" normalizeH="0" baseline="0" noProof="0" dirty="0" smtClean="0">
                <a:ln>
                  <a:noFill/>
                </a:ln>
                <a:solidFill>
                  <a:srgbClr val="000000"/>
                </a:solidFill>
                <a:effectLst/>
                <a:uLnTx/>
                <a:uFillTx/>
                <a:latin typeface="+mj-lt"/>
                <a:ea typeface="+mn-ea"/>
                <a:cs typeface="+mn-cs"/>
              </a:rPr>
              <a:t>SC</a:t>
            </a:r>
            <a:r>
              <a:rPr kumimoji="1" lang="zh-CN" altLang="en-US" sz="3200" b="1" i="0" u="none" strike="noStrike" kern="0" cap="none" spc="0" normalizeH="0" baseline="0" noProof="0" dirty="0" smtClean="0">
                <a:ln>
                  <a:noFill/>
                </a:ln>
                <a:solidFill>
                  <a:srgbClr val="000000"/>
                </a:solidFill>
                <a:effectLst/>
                <a:uLnTx/>
                <a:uFillTx/>
                <a:latin typeface="+mn-lt"/>
                <a:ea typeface="+mn-ea"/>
                <a:cs typeface="+mn-cs"/>
              </a:rPr>
              <a:t>表中。</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54330" marR="0" lvl="0" indent="-354330" algn="l" defTabSz="914400" rtl="0" eaLnBrk="0" fontAlgn="base" latinLnBrk="0" hangingPunct="0">
              <a:lnSpc>
                <a:spcPct val="100000"/>
              </a:lnSpc>
              <a:spcBef>
                <a:spcPct val="25000"/>
              </a:spcBef>
              <a:spcAft>
                <a:spcPct val="0"/>
              </a:spcAft>
              <a:buClr>
                <a:srgbClr val="FF0000"/>
              </a:buClr>
              <a:buSzPct val="65000"/>
              <a:buFont typeface="Wingdings" panose="05000000000000000000" pitchFamily="2" charset="2"/>
              <a:buNone/>
              <a:defRPr/>
            </a:pP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向表中插入批量数据</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54330" marR="0" lvl="0" indent="-354330" algn="l" defTabSz="914400" rtl="0" eaLnBrk="0" fontAlgn="base" latinLnBrk="0" hangingPunct="0">
              <a:lnSpc>
                <a:spcPct val="100000"/>
              </a:lnSpc>
              <a:spcBef>
                <a:spcPct val="50000"/>
              </a:spcBef>
              <a:spcAft>
                <a:spcPct val="0"/>
              </a:spcAft>
              <a:buClr>
                <a:srgbClr val="FF0000"/>
              </a:buClr>
              <a:buSzPct val="65000"/>
              <a:buFont typeface="Wingdings" panose="05000000000000000000" pitchFamily="2" charset="2"/>
              <a:buNone/>
              <a:defRPr/>
            </a:pP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6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INSERT  INTO</a:t>
            </a:r>
            <a:r>
              <a:rPr kumimoji="1"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SC(</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Sno</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Cno</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t>
            </a:r>
            <a:endPar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54330" marR="0" lvl="0" indent="-35433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r>
              <a:rPr kumimoji="1"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SELECT  </a:t>
            </a:r>
            <a:r>
              <a:rPr kumimoji="1" lang="en-US" altLang="zh-CN" sz="3600" b="1" i="0" u="none" strike="noStrike" kern="0" cap="none" spc="0" normalizeH="0" baseline="0" noProof="0" dirty="0" err="1" smtClean="0">
                <a:ln>
                  <a:noFill/>
                </a:ln>
                <a:solidFill>
                  <a:srgbClr val="0000CC"/>
                </a:solidFill>
                <a:effectLst/>
                <a:uLnTx/>
                <a:uFillTx/>
                <a:latin typeface="Arial" panose="020B0604020202020204" pitchFamily="34" charset="0"/>
                <a:ea typeface="+mn-ea"/>
                <a:cs typeface="+mn-cs"/>
              </a:rPr>
              <a:t>Sno</a:t>
            </a:r>
            <a:r>
              <a:rPr kumimoji="1"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a:t>
            </a:r>
            <a:r>
              <a:rPr kumimoji="1"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华文中宋" panose="02010600040101010101" pitchFamily="2" charset="-122"/>
                <a:cs typeface="+mn-cs"/>
              </a:rPr>
              <a:t>'C1' </a:t>
            </a:r>
            <a:endPar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a:p>
            <a:pPr marL="354330" marR="0" lvl="0" indent="-35433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r>
              <a:rPr kumimoji="1"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FROM  S  </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endPar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p:txBody>
      </p:sp>
      <p:sp>
        <p:nvSpPr>
          <p:cNvPr id="15257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插入子查询结果</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1</a:t>
            </a:r>
            <a:endPar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idx="1"/>
          </p:nvPr>
        </p:nvSpPr>
        <p:spPr>
          <a:xfrm>
            <a:off x="107950" y="836613"/>
            <a:ext cx="8893175" cy="5616575"/>
          </a:xfrm>
        </p:spPr>
        <p:txBody>
          <a:bodyPr vert="horz" wrap="square" lIns="91440" tIns="45720" rIns="91440" bIns="45720" anchor="t" anchorCtr="0"/>
          <a:p>
            <a:pPr marL="354330" indent="-354330">
              <a:lnSpc>
                <a:spcPct val="90000"/>
              </a:lnSpc>
              <a:buNone/>
            </a:pPr>
            <a:r>
              <a:rPr lang="en-US" altLang="zh-CN" sz="3200" dirty="0"/>
              <a:t>        </a:t>
            </a:r>
            <a:r>
              <a:rPr lang="zh-CN" altLang="en-US" sz="3200" dirty="0"/>
              <a:t>对每一个系，求学生的平均年龄，并把结果存入数据库中。</a:t>
            </a:r>
            <a:endParaRPr lang="zh-CN" altLang="en-US" sz="3200" dirty="0">
              <a:latin typeface="Arial" panose="020B0604020202020204" pitchFamily="34" charset="0"/>
            </a:endParaRPr>
          </a:p>
          <a:p>
            <a:pPr marL="354330" indent="-354330">
              <a:lnSpc>
                <a:spcPct val="90000"/>
              </a:lnSpc>
              <a:spcBef>
                <a:spcPct val="25000"/>
              </a:spcBef>
            </a:pPr>
            <a:r>
              <a:rPr lang="zh-CN" altLang="en-US" sz="3200" dirty="0">
                <a:latin typeface="Arial" panose="020B0604020202020204" pitchFamily="34" charset="0"/>
              </a:rPr>
              <a:t>创建一个表</a:t>
            </a:r>
            <a:endParaRPr lang="zh-CN" altLang="en-US" sz="3200" dirty="0">
              <a:latin typeface="Arial" panose="020B0604020202020204" pitchFamily="34" charset="0"/>
            </a:endParaRPr>
          </a:p>
          <a:p>
            <a:pPr marL="354330" indent="-354330">
              <a:lnSpc>
                <a:spcPct val="90000"/>
              </a:lnSpc>
              <a:spcBef>
                <a:spcPct val="15000"/>
              </a:spcBef>
              <a:buNone/>
            </a:pPr>
            <a:r>
              <a:rPr lang="zh-CN" altLang="en-US" sz="3200" dirty="0">
                <a:latin typeface="Arial" panose="020B0604020202020204" pitchFamily="34" charset="0"/>
              </a:rPr>
              <a:t>      </a:t>
            </a:r>
            <a:r>
              <a:rPr lang="en-US" altLang="zh-CN" sz="3200" dirty="0">
                <a:solidFill>
                  <a:srgbClr val="FF0000"/>
                </a:solidFill>
                <a:latin typeface="Arial" panose="020B0604020202020204" pitchFamily="34" charset="0"/>
              </a:rPr>
              <a:t>CREATE  TABLE</a:t>
            </a:r>
            <a:r>
              <a:rPr lang="en-US" altLang="zh-CN" sz="3200" dirty="0">
                <a:solidFill>
                  <a:srgbClr val="0000CC"/>
                </a:solidFill>
                <a:latin typeface="Arial" panose="020B0604020202020204" pitchFamily="34" charset="0"/>
              </a:rPr>
              <a:t>   Deptage</a:t>
            </a:r>
            <a:endParaRPr lang="en-US" altLang="zh-CN" sz="3200" dirty="0">
              <a:solidFill>
                <a:srgbClr val="0000CC"/>
              </a:solidFill>
              <a:latin typeface="Arial" panose="020B0604020202020204" pitchFamily="34" charset="0"/>
            </a:endParaRPr>
          </a:p>
          <a:p>
            <a:pPr marL="354330" indent="-354330">
              <a:lnSpc>
                <a:spcPct val="90000"/>
              </a:lnSpc>
              <a:buNone/>
            </a:pPr>
            <a:r>
              <a:rPr lang="en-US" altLang="zh-CN" sz="3200" dirty="0">
                <a:latin typeface="Arial" panose="020B0604020202020204" pitchFamily="34" charset="0"/>
              </a:rPr>
              <a:t>          </a:t>
            </a:r>
            <a:r>
              <a:rPr lang="en-US" altLang="zh-CN" sz="3200" dirty="0">
                <a:solidFill>
                  <a:srgbClr val="0000CC"/>
                </a:solidFill>
                <a:latin typeface="Arial" panose="020B0604020202020204" pitchFamily="34" charset="0"/>
              </a:rPr>
              <a:t>( Sdept  CHAR(15),</a:t>
            </a:r>
            <a:r>
              <a:rPr lang="en-US" altLang="zh-CN" sz="3200" dirty="0">
                <a:latin typeface="Arial" panose="020B0604020202020204" pitchFamily="34" charset="0"/>
              </a:rPr>
              <a:t>             --</a:t>
            </a:r>
            <a:r>
              <a:rPr lang="zh-CN" altLang="en-US" sz="2800" dirty="0">
                <a:latin typeface="Arial" panose="020B0604020202020204" pitchFamily="34" charset="0"/>
              </a:rPr>
              <a:t>系名</a:t>
            </a:r>
            <a:endParaRPr lang="zh-CN" altLang="en-US" sz="3200" dirty="0">
              <a:latin typeface="Arial" panose="020B0604020202020204" pitchFamily="34" charset="0"/>
            </a:endParaRPr>
          </a:p>
          <a:p>
            <a:pPr marL="354330" indent="-354330">
              <a:lnSpc>
                <a:spcPct val="90000"/>
              </a:lnSpc>
              <a:buNone/>
            </a:pPr>
            <a:r>
              <a:rPr lang="zh-CN" altLang="en-US" sz="3200" dirty="0">
                <a:latin typeface="Arial" panose="020B0604020202020204" pitchFamily="34" charset="0"/>
              </a:rPr>
              <a:t>            </a:t>
            </a:r>
            <a:r>
              <a:rPr lang="en-US" altLang="zh-CN" sz="3200" dirty="0">
                <a:solidFill>
                  <a:srgbClr val="0000CC"/>
                </a:solidFill>
                <a:latin typeface="Arial" panose="020B0604020202020204" pitchFamily="34" charset="0"/>
              </a:rPr>
              <a:t>Avgage  SMALLINT );</a:t>
            </a:r>
            <a:r>
              <a:rPr lang="en-US" altLang="zh-CN" sz="3200" dirty="0">
                <a:latin typeface="Arial" panose="020B0604020202020204" pitchFamily="34" charset="0"/>
              </a:rPr>
              <a:t>      --</a:t>
            </a:r>
            <a:r>
              <a:rPr lang="zh-CN" altLang="en-US" sz="2800" dirty="0">
                <a:latin typeface="Arial" panose="020B0604020202020204" pitchFamily="34" charset="0"/>
              </a:rPr>
              <a:t>平均年龄</a:t>
            </a:r>
            <a:endParaRPr lang="zh-CN" altLang="en-US" sz="2800" dirty="0">
              <a:latin typeface="Arial" panose="020B0604020202020204" pitchFamily="34" charset="0"/>
            </a:endParaRPr>
          </a:p>
          <a:p>
            <a:pPr marL="354330" indent="-354330">
              <a:lnSpc>
                <a:spcPct val="90000"/>
              </a:lnSpc>
              <a:spcBef>
                <a:spcPct val="35000"/>
              </a:spcBef>
            </a:pPr>
            <a:r>
              <a:rPr lang="zh-CN" altLang="en-US" sz="3200" dirty="0">
                <a:latin typeface="Arial" panose="020B0604020202020204" pitchFamily="34" charset="0"/>
              </a:rPr>
              <a:t>向表中插入数据</a:t>
            </a:r>
            <a:endParaRPr lang="zh-CN" altLang="en-US" sz="3200" dirty="0">
              <a:latin typeface="Arial" panose="020B0604020202020204" pitchFamily="34" charset="0"/>
            </a:endParaRPr>
          </a:p>
          <a:p>
            <a:pPr marL="354330" indent="-354330">
              <a:lnSpc>
                <a:spcPct val="90000"/>
              </a:lnSpc>
              <a:spcBef>
                <a:spcPct val="15000"/>
              </a:spcBef>
              <a:buNone/>
            </a:pPr>
            <a:r>
              <a:rPr lang="zh-CN" altLang="en-US" sz="3200" dirty="0">
                <a:latin typeface="Arial" panose="020B0604020202020204" pitchFamily="34" charset="0"/>
              </a:rPr>
              <a:t>      </a:t>
            </a:r>
            <a:r>
              <a:rPr lang="en-US" altLang="zh-CN" sz="3200" dirty="0">
                <a:solidFill>
                  <a:srgbClr val="FF0000"/>
                </a:solidFill>
                <a:latin typeface="Arial" panose="020B0604020202020204" pitchFamily="34" charset="0"/>
              </a:rPr>
              <a:t>INSERT  INTO </a:t>
            </a:r>
            <a:r>
              <a:rPr lang="en-US" altLang="zh-CN" sz="3200" dirty="0">
                <a:solidFill>
                  <a:srgbClr val="0000CC"/>
                </a:solidFill>
                <a:latin typeface="Arial" panose="020B0604020202020204" pitchFamily="34" charset="0"/>
              </a:rPr>
              <a:t> Deptage(Sdept, Avgage)</a:t>
            </a:r>
            <a:endParaRPr lang="en-US" altLang="zh-CN" sz="3200" dirty="0">
              <a:solidFill>
                <a:srgbClr val="0000CC"/>
              </a:solidFill>
              <a:latin typeface="Arial" panose="020B0604020202020204" pitchFamily="34" charset="0"/>
            </a:endParaRPr>
          </a:p>
          <a:p>
            <a:pPr marL="354330" indent="-354330">
              <a:lnSpc>
                <a:spcPct val="90000"/>
              </a:lnSpc>
              <a:spcBef>
                <a:spcPts val="600"/>
              </a:spcBef>
              <a:buNone/>
            </a:pPr>
            <a:r>
              <a:rPr lang="en-US" altLang="zh-CN" sz="3200" dirty="0">
                <a:solidFill>
                  <a:srgbClr val="0000CC"/>
                </a:solidFill>
                <a:latin typeface="Arial" panose="020B0604020202020204" pitchFamily="34" charset="0"/>
              </a:rPr>
              <a:t>      </a:t>
            </a:r>
            <a:r>
              <a:rPr lang="en-US" altLang="zh-CN" sz="3200" dirty="0">
                <a:latin typeface="Arial" panose="020B0604020202020204" pitchFamily="34" charset="0"/>
              </a:rPr>
              <a:t>SELECT  Sdept,  AVG(Sage)</a:t>
            </a:r>
            <a:endParaRPr lang="en-US" altLang="zh-CN" sz="3200" dirty="0">
              <a:latin typeface="Arial" panose="020B0604020202020204" pitchFamily="34" charset="0"/>
            </a:endParaRPr>
          </a:p>
          <a:p>
            <a:pPr marL="354330" indent="-354330">
              <a:lnSpc>
                <a:spcPct val="90000"/>
              </a:lnSpc>
              <a:spcBef>
                <a:spcPts val="600"/>
              </a:spcBef>
              <a:buNone/>
            </a:pPr>
            <a:r>
              <a:rPr lang="en-US" altLang="zh-CN" sz="3200" dirty="0">
                <a:latin typeface="Arial" panose="020B0604020202020204" pitchFamily="34" charset="0"/>
              </a:rPr>
              <a:t>      FROM   S</a:t>
            </a:r>
            <a:endParaRPr lang="en-US" altLang="zh-CN" sz="3200" dirty="0">
              <a:latin typeface="Arial" panose="020B0604020202020204" pitchFamily="34" charset="0"/>
            </a:endParaRPr>
          </a:p>
          <a:p>
            <a:pPr marL="354330" indent="-354330">
              <a:lnSpc>
                <a:spcPct val="90000"/>
              </a:lnSpc>
              <a:spcBef>
                <a:spcPts val="600"/>
              </a:spcBef>
              <a:buNone/>
            </a:pPr>
            <a:r>
              <a:rPr lang="en-US" altLang="zh-CN" sz="3200" dirty="0">
                <a:latin typeface="Arial" panose="020B0604020202020204" pitchFamily="34" charset="0"/>
              </a:rPr>
              <a:t>      GROUP BY   Sdept ; </a:t>
            </a:r>
            <a:endParaRPr lang="en-US" altLang="zh-CN" sz="3200" dirty="0">
              <a:latin typeface="Arial" panose="020B0604020202020204" pitchFamily="34" charset="0"/>
            </a:endParaRPr>
          </a:p>
        </p:txBody>
      </p:sp>
      <p:sp>
        <p:nvSpPr>
          <p:cNvPr id="86016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插入子查询结果</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2</a:t>
            </a:r>
            <a:endPar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idx="1"/>
          </p:nvPr>
        </p:nvSpPr>
        <p:spPr>
          <a:xfrm>
            <a:off x="152400" y="928688"/>
            <a:ext cx="8812213" cy="5273675"/>
          </a:xfrm>
        </p:spPr>
        <p:txBody>
          <a:bodyPr vert="horz" wrap="square" lIns="91440" tIns="45720" rIns="91440" bIns="45720" anchor="t" anchorCtr="0"/>
          <a:p>
            <a:pPr marL="354330" indent="-354330">
              <a:lnSpc>
                <a:spcPct val="80000"/>
              </a:lnSpc>
              <a:buNone/>
            </a:pPr>
            <a:r>
              <a:rPr lang="en-US" altLang="zh-CN" sz="3200" dirty="0"/>
              <a:t>       </a:t>
            </a:r>
            <a:r>
              <a:rPr lang="zh-CN" altLang="en-US" sz="3200" dirty="0"/>
              <a:t>求学生选修课程的平均成绩，并把结果存入数据库中。</a:t>
            </a:r>
            <a:endParaRPr lang="zh-CN" altLang="en-US" sz="3200" dirty="0">
              <a:latin typeface="Arial" panose="020B0604020202020204" pitchFamily="34" charset="0"/>
            </a:endParaRPr>
          </a:p>
          <a:p>
            <a:pPr marL="354330" indent="-354330">
              <a:lnSpc>
                <a:spcPct val="80000"/>
              </a:lnSpc>
              <a:spcBef>
                <a:spcPct val="35000"/>
              </a:spcBef>
            </a:pPr>
            <a:r>
              <a:rPr lang="zh-CN" altLang="en-US" sz="3200" dirty="0">
                <a:latin typeface="Arial" panose="020B0604020202020204" pitchFamily="34" charset="0"/>
              </a:rPr>
              <a:t>创建一个表</a:t>
            </a:r>
            <a:endParaRPr lang="zh-CN" altLang="en-US" sz="3200" dirty="0">
              <a:latin typeface="Arial" panose="020B0604020202020204" pitchFamily="34" charset="0"/>
            </a:endParaRPr>
          </a:p>
          <a:p>
            <a:pPr marL="354330" indent="-354330">
              <a:lnSpc>
                <a:spcPct val="90000"/>
              </a:lnSpc>
              <a:spcBef>
                <a:spcPts val="600"/>
              </a:spcBef>
              <a:buNone/>
            </a:pPr>
            <a:r>
              <a:rPr lang="zh-CN" altLang="en-US" sz="3200" dirty="0">
                <a:latin typeface="Arial" panose="020B0604020202020204" pitchFamily="34" charset="0"/>
              </a:rPr>
              <a:t>      </a:t>
            </a:r>
            <a:r>
              <a:rPr lang="en-US" altLang="zh-CN" sz="3200" dirty="0">
                <a:solidFill>
                  <a:srgbClr val="FF0000"/>
                </a:solidFill>
                <a:latin typeface="Arial" panose="020B0604020202020204" pitchFamily="34" charset="0"/>
              </a:rPr>
              <a:t>CREATE  TABLE</a:t>
            </a:r>
            <a:r>
              <a:rPr lang="en-US" altLang="zh-CN" sz="3200" dirty="0">
                <a:solidFill>
                  <a:srgbClr val="0000CC"/>
                </a:solidFill>
                <a:latin typeface="Arial" panose="020B0604020202020204" pitchFamily="34" charset="0"/>
              </a:rPr>
              <a:t>   AvgScore</a:t>
            </a:r>
            <a:endParaRPr lang="en-US" altLang="zh-CN" sz="3200" dirty="0">
              <a:solidFill>
                <a:srgbClr val="0000CC"/>
              </a:solidFill>
              <a:latin typeface="Arial" panose="020B0604020202020204" pitchFamily="34" charset="0"/>
            </a:endParaRPr>
          </a:p>
          <a:p>
            <a:pPr marL="354330" indent="-354330">
              <a:lnSpc>
                <a:spcPct val="90000"/>
              </a:lnSpc>
              <a:buNone/>
            </a:pPr>
            <a:r>
              <a:rPr lang="en-US" altLang="zh-CN" sz="3200" dirty="0">
                <a:solidFill>
                  <a:srgbClr val="0000CC"/>
                </a:solidFill>
                <a:latin typeface="Arial" panose="020B0604020202020204" pitchFamily="34" charset="0"/>
              </a:rPr>
              <a:t>          ( Sno  CHAR(6) ,                  </a:t>
            </a:r>
            <a:r>
              <a:rPr lang="en-US" altLang="zh-CN" sz="3200" dirty="0">
                <a:latin typeface="Arial" panose="020B0604020202020204" pitchFamily="34" charset="0"/>
              </a:rPr>
              <a:t>--</a:t>
            </a:r>
            <a:r>
              <a:rPr lang="zh-CN" altLang="en-US" sz="2800" dirty="0">
                <a:latin typeface="Arial" panose="020B0604020202020204" pitchFamily="34" charset="0"/>
              </a:rPr>
              <a:t>学号</a:t>
            </a:r>
            <a:endParaRPr lang="en-US" altLang="zh-CN" sz="3200" dirty="0">
              <a:solidFill>
                <a:srgbClr val="0000CC"/>
              </a:solidFill>
              <a:latin typeface="Arial" panose="020B0604020202020204" pitchFamily="34" charset="0"/>
            </a:endParaRPr>
          </a:p>
          <a:p>
            <a:pPr marL="354330" indent="-354330">
              <a:lnSpc>
                <a:spcPct val="90000"/>
              </a:lnSpc>
              <a:buNone/>
            </a:pPr>
            <a:r>
              <a:rPr lang="en-US" altLang="zh-CN" sz="3200" dirty="0">
                <a:solidFill>
                  <a:srgbClr val="0000CC"/>
                </a:solidFill>
                <a:latin typeface="Arial" panose="020B0604020202020204" pitchFamily="34" charset="0"/>
              </a:rPr>
              <a:t>            Score  SMALLINT ) ;</a:t>
            </a:r>
            <a:r>
              <a:rPr lang="en-US" altLang="zh-CN" sz="3200" dirty="0">
                <a:latin typeface="Arial" panose="020B0604020202020204" pitchFamily="34" charset="0"/>
              </a:rPr>
              <a:t>         --</a:t>
            </a:r>
            <a:r>
              <a:rPr lang="zh-CN" altLang="en-US" sz="2800" dirty="0">
                <a:latin typeface="Arial" panose="020B0604020202020204" pitchFamily="34" charset="0"/>
              </a:rPr>
              <a:t>平均成绩</a:t>
            </a:r>
            <a:endParaRPr lang="en-US" altLang="zh-CN" sz="3200" dirty="0">
              <a:latin typeface="Arial" panose="020B0604020202020204" pitchFamily="34" charset="0"/>
            </a:endParaRPr>
          </a:p>
          <a:p>
            <a:pPr marL="354330" indent="-354330">
              <a:lnSpc>
                <a:spcPct val="80000"/>
              </a:lnSpc>
              <a:spcBef>
                <a:spcPct val="45000"/>
              </a:spcBef>
            </a:pPr>
            <a:r>
              <a:rPr lang="zh-CN" altLang="en-US" sz="3200" dirty="0">
                <a:latin typeface="Arial" panose="020B0604020202020204" pitchFamily="34" charset="0"/>
              </a:rPr>
              <a:t>向表中插入数据</a:t>
            </a:r>
            <a:endParaRPr lang="zh-CN" altLang="en-US" sz="3200" dirty="0">
              <a:latin typeface="Arial" panose="020B0604020202020204" pitchFamily="34" charset="0"/>
            </a:endParaRPr>
          </a:p>
          <a:p>
            <a:pPr marL="354330" indent="-354330">
              <a:lnSpc>
                <a:spcPct val="90000"/>
              </a:lnSpc>
              <a:spcBef>
                <a:spcPct val="25000"/>
              </a:spcBef>
              <a:buNone/>
            </a:pPr>
            <a:r>
              <a:rPr lang="zh-CN" altLang="en-US" sz="3200" dirty="0">
                <a:latin typeface="Arial" panose="020B0604020202020204" pitchFamily="34" charset="0"/>
              </a:rPr>
              <a:t>      </a:t>
            </a:r>
            <a:r>
              <a:rPr lang="en-US" altLang="zh-CN" sz="3200" dirty="0">
                <a:solidFill>
                  <a:srgbClr val="FF0000"/>
                </a:solidFill>
                <a:latin typeface="Arial" panose="020B0604020202020204" pitchFamily="34" charset="0"/>
              </a:rPr>
              <a:t>INSERT   INTO</a:t>
            </a:r>
            <a:r>
              <a:rPr lang="en-US" altLang="zh-CN" sz="3200" dirty="0">
                <a:solidFill>
                  <a:srgbClr val="0000CC"/>
                </a:solidFill>
                <a:latin typeface="Arial" panose="020B0604020202020204" pitchFamily="34" charset="0"/>
              </a:rPr>
              <a:t>  AvgScore(Sno, Score)</a:t>
            </a:r>
            <a:endParaRPr lang="en-US" altLang="zh-CN" sz="3200" dirty="0">
              <a:solidFill>
                <a:srgbClr val="0000CC"/>
              </a:solidFill>
              <a:latin typeface="Arial" panose="020B0604020202020204" pitchFamily="34" charset="0"/>
            </a:endParaRPr>
          </a:p>
          <a:p>
            <a:pPr marL="354330" indent="-354330">
              <a:lnSpc>
                <a:spcPct val="90000"/>
              </a:lnSpc>
              <a:spcBef>
                <a:spcPts val="600"/>
              </a:spcBef>
              <a:buNone/>
            </a:pPr>
            <a:r>
              <a:rPr lang="en-US" altLang="zh-CN" sz="3200" dirty="0">
                <a:solidFill>
                  <a:srgbClr val="0000CC"/>
                </a:solidFill>
                <a:latin typeface="Arial" panose="020B0604020202020204" pitchFamily="34" charset="0"/>
              </a:rPr>
              <a:t>      </a:t>
            </a:r>
            <a:r>
              <a:rPr lang="en-US" altLang="zh-CN" sz="3200" dirty="0">
                <a:latin typeface="Arial" panose="020B0604020202020204" pitchFamily="34" charset="0"/>
              </a:rPr>
              <a:t>SELECT  Sno,  AVG(Score)</a:t>
            </a:r>
            <a:endParaRPr lang="en-US" altLang="zh-CN" sz="3200" dirty="0">
              <a:latin typeface="Arial" panose="020B0604020202020204" pitchFamily="34" charset="0"/>
            </a:endParaRPr>
          </a:p>
          <a:p>
            <a:pPr marL="354330" indent="-354330">
              <a:lnSpc>
                <a:spcPct val="90000"/>
              </a:lnSpc>
              <a:spcBef>
                <a:spcPts val="600"/>
              </a:spcBef>
              <a:buNone/>
            </a:pPr>
            <a:r>
              <a:rPr lang="en-US" altLang="zh-CN" sz="3200" dirty="0">
                <a:latin typeface="Arial" panose="020B0604020202020204" pitchFamily="34" charset="0"/>
              </a:rPr>
              <a:t>      FROM   SC</a:t>
            </a:r>
            <a:endParaRPr lang="en-US" altLang="zh-CN" sz="3200" dirty="0">
              <a:latin typeface="Arial" panose="020B0604020202020204" pitchFamily="34" charset="0"/>
            </a:endParaRPr>
          </a:p>
          <a:p>
            <a:pPr marL="354330" indent="-354330">
              <a:lnSpc>
                <a:spcPct val="90000"/>
              </a:lnSpc>
              <a:spcBef>
                <a:spcPts val="600"/>
              </a:spcBef>
              <a:buNone/>
            </a:pPr>
            <a:r>
              <a:rPr lang="en-US" altLang="zh-CN" sz="3200" dirty="0">
                <a:latin typeface="Arial" panose="020B0604020202020204" pitchFamily="34" charset="0"/>
              </a:rPr>
              <a:t>      GROUP BY  Sno; </a:t>
            </a:r>
            <a:endParaRPr lang="en-US" altLang="zh-CN" sz="3200" dirty="0">
              <a:latin typeface="Arial" panose="020B0604020202020204" pitchFamily="34" charset="0"/>
            </a:endParaRPr>
          </a:p>
        </p:txBody>
      </p:sp>
      <p:sp>
        <p:nvSpPr>
          <p:cNvPr id="80896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插入子查询结果</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3</a:t>
            </a:r>
            <a:endPar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1506" name="Rectangle 2"/>
          <p:cNvSpPr>
            <a:spLocks noGrp="1"/>
          </p:cNvSpPr>
          <p:nvPr>
            <p:ph idx="1"/>
          </p:nvPr>
        </p:nvSpPr>
        <p:spPr>
          <a:xfrm>
            <a:off x="107950" y="908050"/>
            <a:ext cx="8991600" cy="3097213"/>
          </a:xfrm>
        </p:spPr>
        <p:txBody>
          <a:bodyPr vert="horz" wrap="square" lIns="91440" tIns="45720" rIns="91440" bIns="45720" anchor="t" anchorCtr="0"/>
          <a:p>
            <a:pPr marL="263525" indent="-263525">
              <a:lnSpc>
                <a:spcPct val="95000"/>
              </a:lnSpc>
              <a:buNone/>
            </a:pPr>
            <a:r>
              <a:rPr lang="en-US" altLang="zh-CN" sz="3200" dirty="0">
                <a:latin typeface="Arial" panose="020B0604020202020204" pitchFamily="34" charset="0"/>
              </a:rPr>
              <a:t>          DBMS</a:t>
            </a:r>
            <a:r>
              <a:rPr lang="zh-CN" altLang="en-US" sz="3200" dirty="0">
                <a:latin typeface="Arial" panose="020B0604020202020204" pitchFamily="34" charset="0"/>
              </a:rPr>
              <a:t>在执行插入语句时自动检查插入元组是否破坏表上已定义的完整性规则。</a:t>
            </a:r>
            <a:endParaRPr lang="zh-CN" altLang="en-US" sz="3200" dirty="0">
              <a:latin typeface="Arial" panose="020B0604020202020204" pitchFamily="34" charset="0"/>
            </a:endParaRPr>
          </a:p>
          <a:p>
            <a:pPr marL="263525" indent="-263525">
              <a:spcBef>
                <a:spcPct val="20000"/>
              </a:spcBef>
            </a:pPr>
            <a:r>
              <a:rPr lang="zh-CN" altLang="en-US" sz="3200" dirty="0">
                <a:solidFill>
                  <a:srgbClr val="0033CC"/>
                </a:solidFill>
                <a:latin typeface="Arial" panose="020B0604020202020204" pitchFamily="34" charset="0"/>
              </a:rPr>
              <a:t>实体完整性：</a:t>
            </a:r>
            <a:r>
              <a:rPr lang="zh-CN" altLang="en-US" sz="3200" dirty="0">
                <a:latin typeface="Arial" panose="020B0604020202020204" pitchFamily="34" charset="0"/>
              </a:rPr>
              <a:t>主键不能为空，不能有重复值</a:t>
            </a:r>
            <a:endParaRPr lang="zh-CN" altLang="en-US" sz="3200" dirty="0">
              <a:latin typeface="Arial" panose="020B0604020202020204" pitchFamily="34" charset="0"/>
            </a:endParaRPr>
          </a:p>
          <a:p>
            <a:pPr marL="263525" indent="-263525"/>
            <a:r>
              <a:rPr lang="zh-CN" altLang="en-US" sz="3200" dirty="0">
                <a:solidFill>
                  <a:srgbClr val="0033CC"/>
                </a:solidFill>
                <a:latin typeface="Arial" panose="020B0604020202020204" pitchFamily="34" charset="0"/>
              </a:rPr>
              <a:t>参照完整性：</a:t>
            </a:r>
            <a:r>
              <a:rPr lang="zh-CN" altLang="en-US" sz="3200" dirty="0">
                <a:latin typeface="Arial" panose="020B0604020202020204" pitchFamily="34" charset="0"/>
              </a:rPr>
              <a:t>外键取空值或取被参照关系某个主键的值</a:t>
            </a:r>
            <a:endParaRPr lang="zh-CN" altLang="en-US" sz="3200" dirty="0">
              <a:latin typeface="Arial" panose="020B0604020202020204" pitchFamily="34" charset="0"/>
            </a:endParaRPr>
          </a:p>
          <a:p>
            <a:pPr marL="263525" indent="-263525"/>
            <a:r>
              <a:rPr lang="zh-CN" altLang="en-US" sz="3200" dirty="0">
                <a:latin typeface="Arial" panose="020B0604020202020204" pitchFamily="34" charset="0"/>
              </a:rPr>
              <a:t>例：</a:t>
            </a:r>
            <a:endParaRPr lang="zh-CN" altLang="en-US" sz="3200" dirty="0">
              <a:latin typeface="Arial" panose="020B0604020202020204" pitchFamily="34" charset="0"/>
            </a:endParaRPr>
          </a:p>
        </p:txBody>
      </p:sp>
      <p:sp>
        <p:nvSpPr>
          <p:cNvPr id="66150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插入数据的完整性检查</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aphicFrame>
        <p:nvGraphicFramePr>
          <p:cNvPr id="661625" name="Group 121"/>
          <p:cNvGraphicFramePr>
            <a:graphicFrameLocks noGrp="1"/>
          </p:cNvGraphicFramePr>
          <p:nvPr/>
        </p:nvGraphicFramePr>
        <p:xfrm>
          <a:off x="2105025" y="5253038"/>
          <a:ext cx="5186363" cy="1327151"/>
        </p:xfrm>
        <a:graphic>
          <a:graphicData uri="http://schemas.openxmlformats.org/drawingml/2006/table">
            <a:tbl>
              <a:tblPr/>
              <a:tblGrid>
                <a:gridCol w="987425"/>
                <a:gridCol w="1071563"/>
                <a:gridCol w="1143000"/>
                <a:gridCol w="877887"/>
                <a:gridCol w="1106488"/>
              </a:tblGrid>
              <a:tr h="342900">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Sno</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Sname</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Ssex</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Sage</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Sdept</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66"/>
                    </a:solidFill>
                  </a:tcPr>
                </a:tc>
              </a:tr>
              <a:tr h="3286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赵强</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19</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计算机</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r h="3270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李明</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18</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信息</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r h="3286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孙珊</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信息</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bl>
          </a:graphicData>
        </a:graphic>
      </p:graphicFrame>
      <p:graphicFrame>
        <p:nvGraphicFramePr>
          <p:cNvPr id="661624" name="Group 120"/>
          <p:cNvGraphicFramePr>
            <a:graphicFrameLocks noGrp="1"/>
          </p:cNvGraphicFramePr>
          <p:nvPr/>
        </p:nvGraphicFramePr>
        <p:xfrm>
          <a:off x="2333625" y="3284538"/>
          <a:ext cx="3024188" cy="1592263"/>
        </p:xfrm>
        <a:graphic>
          <a:graphicData uri="http://schemas.openxmlformats.org/drawingml/2006/table">
            <a:tbl>
              <a:tblPr/>
              <a:tblGrid>
                <a:gridCol w="835025"/>
                <a:gridCol w="1230313"/>
                <a:gridCol w="958850"/>
              </a:tblGrid>
              <a:tr h="363538">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Cno</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DDFF"/>
                    </a:solidFill>
                  </a:tcPr>
                </a:tc>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Cname</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DDFF"/>
                    </a:solidFill>
                  </a:tcPr>
                </a:tc>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Hour</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DDFF"/>
                    </a:solidFill>
                  </a:tcPr>
                </a:tc>
              </a:tr>
              <a:tr h="428624">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程序设计</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40</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r h="395288">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微机原理</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48</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r h="404812">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C3</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数字逻辑</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48</a:t>
                      </a:r>
                      <a:endParaRPr kumimoji="1" lang="en-US" altLang="zh-CN" sz="18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bl>
          </a:graphicData>
        </a:graphic>
      </p:graphicFrame>
      <p:graphicFrame>
        <p:nvGraphicFramePr>
          <p:cNvPr id="661626" name="Group 122"/>
          <p:cNvGraphicFramePr>
            <a:graphicFrameLocks noGrp="1"/>
          </p:cNvGraphicFramePr>
          <p:nvPr/>
        </p:nvGraphicFramePr>
        <p:xfrm>
          <a:off x="6094413" y="3300413"/>
          <a:ext cx="2341563" cy="1511301"/>
        </p:xfrm>
        <a:graphic>
          <a:graphicData uri="http://schemas.openxmlformats.org/drawingml/2006/table">
            <a:tbl>
              <a:tblPr/>
              <a:tblGrid>
                <a:gridCol w="754062"/>
                <a:gridCol w="722313"/>
                <a:gridCol w="865187"/>
              </a:tblGrid>
              <a:tr h="347663">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Sno</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99FFCC"/>
                    </a:solidFill>
                  </a:tcPr>
                </a:tc>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Cno</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99FFCC"/>
                    </a:solidFill>
                  </a:tcPr>
                </a:tc>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Score</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99FFCC"/>
                    </a:solidFill>
                  </a:tcPr>
                </a:tc>
              </a:tr>
              <a:tr h="376238">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90</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r h="3778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85</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r h="40957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C3</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77</a:t>
                      </a:r>
                      <a:endParaRPr kumimoji="1" lang="en-US" altLang="zh-CN" sz="18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bl>
          </a:graphicData>
        </a:graphic>
      </p:graphicFrame>
      <p:sp>
        <p:nvSpPr>
          <p:cNvPr id="661627" name="Freeform 123"/>
          <p:cNvSpPr/>
          <p:nvPr/>
        </p:nvSpPr>
        <p:spPr>
          <a:xfrm>
            <a:off x="2928938" y="2997200"/>
            <a:ext cx="4235450" cy="217488"/>
          </a:xfrm>
          <a:custGeom>
            <a:avLst/>
            <a:gdLst>
              <a:gd name="txL" fmla="*/ 0 w 3527"/>
              <a:gd name="txT" fmla="*/ 0 h 726"/>
              <a:gd name="txR" fmla="*/ 3527 w 3527"/>
              <a:gd name="txB" fmla="*/ 726 h 726"/>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3527" h="726">
                <a:moveTo>
                  <a:pt x="0" y="683"/>
                </a:moveTo>
                <a:cubicBezTo>
                  <a:pt x="60" y="653"/>
                  <a:pt x="96" y="601"/>
                  <a:pt x="154" y="571"/>
                </a:cubicBezTo>
                <a:cubicBezTo>
                  <a:pt x="162" y="567"/>
                  <a:pt x="172" y="566"/>
                  <a:pt x="180" y="563"/>
                </a:cubicBezTo>
                <a:cubicBezTo>
                  <a:pt x="192" y="558"/>
                  <a:pt x="204" y="553"/>
                  <a:pt x="215" y="546"/>
                </a:cubicBezTo>
                <a:cubicBezTo>
                  <a:pt x="289" y="503"/>
                  <a:pt x="365" y="453"/>
                  <a:pt x="447" y="425"/>
                </a:cubicBezTo>
                <a:cubicBezTo>
                  <a:pt x="488" y="384"/>
                  <a:pt x="549" y="374"/>
                  <a:pt x="601" y="348"/>
                </a:cubicBezTo>
                <a:cubicBezTo>
                  <a:pt x="670" y="313"/>
                  <a:pt x="746" y="296"/>
                  <a:pt x="816" y="262"/>
                </a:cubicBezTo>
                <a:cubicBezTo>
                  <a:pt x="871" y="235"/>
                  <a:pt x="928" y="216"/>
                  <a:pt x="988" y="202"/>
                </a:cubicBezTo>
                <a:cubicBezTo>
                  <a:pt x="1231" y="84"/>
                  <a:pt x="1496" y="75"/>
                  <a:pt x="1762" y="64"/>
                </a:cubicBezTo>
                <a:cubicBezTo>
                  <a:pt x="2880" y="72"/>
                  <a:pt x="2636" y="0"/>
                  <a:pt x="3163" y="124"/>
                </a:cubicBezTo>
                <a:cubicBezTo>
                  <a:pt x="3197" y="141"/>
                  <a:pt x="3221" y="158"/>
                  <a:pt x="3258" y="167"/>
                </a:cubicBezTo>
                <a:cubicBezTo>
                  <a:pt x="3337" y="209"/>
                  <a:pt x="3407" y="290"/>
                  <a:pt x="3456" y="365"/>
                </a:cubicBezTo>
                <a:cubicBezTo>
                  <a:pt x="3465" y="394"/>
                  <a:pt x="3473" y="416"/>
                  <a:pt x="3490" y="442"/>
                </a:cubicBezTo>
                <a:cubicBezTo>
                  <a:pt x="3498" y="471"/>
                  <a:pt x="3506" y="500"/>
                  <a:pt x="3516" y="528"/>
                </a:cubicBezTo>
                <a:cubicBezTo>
                  <a:pt x="3527" y="657"/>
                  <a:pt x="3524" y="591"/>
                  <a:pt x="3524" y="726"/>
                </a:cubicBezTo>
              </a:path>
            </a:pathLst>
          </a:custGeom>
          <a:noFill/>
          <a:ln w="38100" cap="flat" cmpd="sng">
            <a:solidFill>
              <a:srgbClr val="FF0000">
                <a:alpha val="100000"/>
              </a:srgbClr>
            </a:solidFill>
            <a:prstDash val="dash"/>
            <a:round/>
            <a:headEnd type="oval" w="med" len="med"/>
            <a:tailEnd type="oval" w="med" len="med"/>
          </a:ln>
        </p:spPr>
        <p:txBody>
          <a:bodyPr/>
          <a:p>
            <a:endParaRPr lang="zh-CN" altLang="en-US"/>
          </a:p>
        </p:txBody>
      </p:sp>
      <p:sp>
        <p:nvSpPr>
          <p:cNvPr id="661630" name="Freeform 126"/>
          <p:cNvSpPr/>
          <p:nvPr/>
        </p:nvSpPr>
        <p:spPr>
          <a:xfrm>
            <a:off x="2786063" y="3571875"/>
            <a:ext cx="3286125" cy="1571625"/>
          </a:xfrm>
          <a:custGeom>
            <a:avLst/>
            <a:gdLst>
              <a:gd name="txL" fmla="*/ 0 w 2081"/>
              <a:gd name="txT" fmla="*/ 0 h 1908"/>
              <a:gd name="txR" fmla="*/ 2081 w 2081"/>
              <a:gd name="txB" fmla="*/ 1908 h 1908"/>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Lst>
            <a:rect l="txL" t="txT" r="txR" b="txB"/>
            <a:pathLst>
              <a:path w="2081" h="1908">
                <a:moveTo>
                  <a:pt x="2081" y="0"/>
                </a:moveTo>
                <a:cubicBezTo>
                  <a:pt x="1984" y="10"/>
                  <a:pt x="1976" y="9"/>
                  <a:pt x="1926" y="86"/>
                </a:cubicBezTo>
                <a:cubicBezTo>
                  <a:pt x="1878" y="235"/>
                  <a:pt x="1940" y="399"/>
                  <a:pt x="1900" y="550"/>
                </a:cubicBezTo>
                <a:cubicBezTo>
                  <a:pt x="1884" y="691"/>
                  <a:pt x="1865" y="831"/>
                  <a:pt x="1840" y="971"/>
                </a:cubicBezTo>
                <a:cubicBezTo>
                  <a:pt x="1830" y="1085"/>
                  <a:pt x="1835" y="1386"/>
                  <a:pt x="1703" y="1453"/>
                </a:cubicBezTo>
                <a:cubicBezTo>
                  <a:pt x="1651" y="1479"/>
                  <a:pt x="1586" y="1486"/>
                  <a:pt x="1531" y="1504"/>
                </a:cubicBezTo>
                <a:cubicBezTo>
                  <a:pt x="1164" y="1626"/>
                  <a:pt x="757" y="1510"/>
                  <a:pt x="370" y="1513"/>
                </a:cubicBezTo>
                <a:cubicBezTo>
                  <a:pt x="318" y="1529"/>
                  <a:pt x="287" y="1543"/>
                  <a:pt x="241" y="1573"/>
                </a:cubicBezTo>
                <a:cubicBezTo>
                  <a:pt x="232" y="1579"/>
                  <a:pt x="224" y="1584"/>
                  <a:pt x="215" y="1590"/>
                </a:cubicBezTo>
                <a:cubicBezTo>
                  <a:pt x="207" y="1596"/>
                  <a:pt x="190" y="1607"/>
                  <a:pt x="190" y="1607"/>
                </a:cubicBezTo>
                <a:cubicBezTo>
                  <a:pt x="170" y="1636"/>
                  <a:pt x="138" y="1656"/>
                  <a:pt x="104" y="1668"/>
                </a:cubicBezTo>
                <a:cubicBezTo>
                  <a:pt x="50" y="1719"/>
                  <a:pt x="121" y="1646"/>
                  <a:pt x="78" y="1711"/>
                </a:cubicBezTo>
                <a:cubicBezTo>
                  <a:pt x="34" y="1777"/>
                  <a:pt x="67" y="1697"/>
                  <a:pt x="35" y="1762"/>
                </a:cubicBezTo>
                <a:cubicBezTo>
                  <a:pt x="13" y="1805"/>
                  <a:pt x="0" y="1860"/>
                  <a:pt x="0" y="1908"/>
                </a:cubicBezTo>
              </a:path>
            </a:pathLst>
          </a:custGeom>
          <a:noFill/>
          <a:ln w="38100" cap="flat" cmpd="sng">
            <a:solidFill>
              <a:srgbClr val="FF0000">
                <a:alpha val="100000"/>
              </a:srgbClr>
            </a:solidFill>
            <a:prstDash val="dash"/>
            <a:round/>
            <a:headEnd type="oval" w="med" len="med"/>
            <a:tailEnd type="oval" w="med" len="med"/>
          </a:ln>
        </p:spPr>
        <p:txBody>
          <a:bodyPr/>
          <a:p>
            <a:endParaRPr lang="zh-CN" altLang="en-US"/>
          </a:p>
        </p:txBody>
      </p:sp>
      <p:sp>
        <p:nvSpPr>
          <p:cNvPr id="661631" name="Oval 127"/>
          <p:cNvSpPr/>
          <p:nvPr/>
        </p:nvSpPr>
        <p:spPr>
          <a:xfrm>
            <a:off x="2278063" y="3213100"/>
            <a:ext cx="936625" cy="503238"/>
          </a:xfrm>
          <a:prstGeom prst="ellipse">
            <a:avLst/>
          </a:prstGeom>
          <a:noFill/>
          <a:ln w="28575" cap="flat" cmpd="sng">
            <a:solidFill>
              <a:srgbClr val="FF0000"/>
            </a:solidFill>
            <a:prstDash val="solid"/>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zh-CN" sz="4000" dirty="0">
              <a:solidFill>
                <a:srgbClr val="0000FF"/>
              </a:solidFill>
              <a:latin typeface="Arial" panose="020B0604020202020204" pitchFamily="34" charset="0"/>
            </a:endParaRPr>
          </a:p>
        </p:txBody>
      </p:sp>
      <p:sp>
        <p:nvSpPr>
          <p:cNvPr id="661634" name="Oval 130"/>
          <p:cNvSpPr/>
          <p:nvPr/>
        </p:nvSpPr>
        <p:spPr>
          <a:xfrm>
            <a:off x="2124075" y="5157788"/>
            <a:ext cx="936625" cy="503237"/>
          </a:xfrm>
          <a:prstGeom prst="ellipse">
            <a:avLst/>
          </a:prstGeom>
          <a:noFill/>
          <a:ln w="28575" cap="flat" cmpd="sng">
            <a:solidFill>
              <a:srgbClr val="FF0000"/>
            </a:solidFill>
            <a:prstDash val="solid"/>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zh-CN" sz="4000" dirty="0">
              <a:solidFill>
                <a:srgbClr val="0000FF"/>
              </a:solidFill>
              <a:latin typeface="Arial" panose="020B0604020202020204" pitchFamily="34" charset="0"/>
            </a:endParaRPr>
          </a:p>
        </p:txBody>
      </p:sp>
      <p:sp>
        <p:nvSpPr>
          <p:cNvPr id="661635" name="Oval 131"/>
          <p:cNvSpPr/>
          <p:nvPr/>
        </p:nvSpPr>
        <p:spPr>
          <a:xfrm>
            <a:off x="6045200" y="3213100"/>
            <a:ext cx="846138" cy="503238"/>
          </a:xfrm>
          <a:prstGeom prst="ellipse">
            <a:avLst/>
          </a:prstGeom>
          <a:noFill/>
          <a:ln w="28575" cap="flat" cmpd="sng">
            <a:solidFill>
              <a:srgbClr val="FF0000"/>
            </a:solidFill>
            <a:prstDash val="solid"/>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zh-CN" sz="4000" dirty="0">
              <a:solidFill>
                <a:srgbClr val="0000FF"/>
              </a:solidFill>
              <a:latin typeface="Arial" panose="020B0604020202020204" pitchFamily="34" charset="0"/>
            </a:endParaRPr>
          </a:p>
        </p:txBody>
      </p:sp>
      <p:sp>
        <p:nvSpPr>
          <p:cNvPr id="102" name="Oval 131"/>
          <p:cNvSpPr/>
          <p:nvPr/>
        </p:nvSpPr>
        <p:spPr>
          <a:xfrm>
            <a:off x="6786563" y="3214688"/>
            <a:ext cx="846137" cy="503237"/>
          </a:xfrm>
          <a:prstGeom prst="ellipse">
            <a:avLst/>
          </a:prstGeom>
          <a:noFill/>
          <a:ln w="28575" cap="flat" cmpd="sng">
            <a:solidFill>
              <a:srgbClr val="FF0000"/>
            </a:solidFill>
            <a:prstDash val="solid"/>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zh-CN" sz="4000" dirty="0">
              <a:solidFill>
                <a:srgbClr val="0000FF"/>
              </a:solidFill>
              <a:latin typeface="Arial" panose="020B0604020202020204" pitchFamily="34" charset="0"/>
            </a:endParaRPr>
          </a:p>
        </p:txBody>
      </p:sp>
      <p:sp>
        <p:nvSpPr>
          <p:cNvPr id="13" name="矩形 12"/>
          <p:cNvSpPr/>
          <p:nvPr/>
        </p:nvSpPr>
        <p:spPr>
          <a:xfrm>
            <a:off x="6184900" y="3313113"/>
            <a:ext cx="1289050" cy="315912"/>
          </a:xfrm>
          <a:prstGeom prst="rect">
            <a:avLst/>
          </a:prstGeom>
          <a:noFill/>
          <a:ln w="57150" cap="flat" cmpd="sng">
            <a:solidFill>
              <a:srgbClr val="CC3300"/>
            </a:solidFill>
            <a:prstDash val="solid"/>
            <a:round/>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en-US" sz="4000" dirty="0">
              <a:solidFill>
                <a:srgbClr val="0000FF"/>
              </a:solidFill>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1506">
                                            <p:txEl>
                                              <p:charRg st="47" end="6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1506">
                                            <p:txEl>
                                              <p:charRg st="67" end="9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1506">
                                            <p:txEl>
                                              <p:charRg st="92" end="9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616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16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616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16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661627"/>
                                        </p:tgtEl>
                                        <p:attrNameLst>
                                          <p:attrName>style.visibility</p:attrName>
                                        </p:attrNameLst>
                                      </p:cBhvr>
                                      <p:to>
                                        <p:strVal val="visible"/>
                                      </p:to>
                                    </p:set>
                                    <p:animEffect transition="in" filter="wipe(right)">
                                      <p:cBhvr>
                                        <p:cTn id="35" dur="500"/>
                                        <p:tgtEl>
                                          <p:spTgt spid="661627"/>
                                        </p:tgtEl>
                                      </p:cBhvr>
                                    </p:animEffect>
                                  </p:childTnLst>
                                </p:cTn>
                              </p:par>
                              <p:par>
                                <p:cTn id="36" presetID="22" presetClass="entr" presetSubtype="2" fill="hold" nodeType="withEffect">
                                  <p:stCondLst>
                                    <p:cond delay="0"/>
                                  </p:stCondLst>
                                  <p:childTnLst>
                                    <p:set>
                                      <p:cBhvr>
                                        <p:cTn id="37" dur="1" fill="hold">
                                          <p:stCondLst>
                                            <p:cond delay="0"/>
                                          </p:stCondLst>
                                        </p:cTn>
                                        <p:tgtEl>
                                          <p:spTgt spid="661630"/>
                                        </p:tgtEl>
                                        <p:attrNameLst>
                                          <p:attrName>style.visibility</p:attrName>
                                        </p:attrNameLst>
                                      </p:cBhvr>
                                      <p:to>
                                        <p:strVal val="visible"/>
                                      </p:to>
                                    </p:set>
                                    <p:animEffect transition="in" filter="wipe(right)">
                                      <p:cBhvr>
                                        <p:cTn id="38" dur="500"/>
                                        <p:tgtEl>
                                          <p:spTgt spid="661630"/>
                                        </p:tgtEl>
                                      </p:cBhvr>
                                    </p:animEffect>
                                  </p:childTnLst>
                                </p:cTn>
                              </p:par>
                              <p:par>
                                <p:cTn id="39" presetID="1" presetClass="entr" presetSubtype="0" fill="hold" grpId="0" nodeType="withEffect">
                                  <p:stCondLst>
                                    <p:cond delay="0"/>
                                  </p:stCondLst>
                                  <p:childTnLst>
                                    <p:set>
                                      <p:cBhvr>
                                        <p:cTn id="40" dur="1" fill="hold">
                                          <p:stCondLst>
                                            <p:cond delay="0"/>
                                          </p:stCondLst>
                                        </p:cTn>
                                        <p:tgtEl>
                                          <p:spTgt spid="6616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616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06" grpId="0" build="p"/>
      <p:bldP spid="661631" grpId="0" animBg="1"/>
      <p:bldP spid="661634" grpId="0" animBg="1"/>
      <p:bldP spid="661635" grpId="0" animBg="1"/>
      <p:bldP spid="102"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idx="1"/>
          </p:nvPr>
        </p:nvSpPr>
        <p:spPr>
          <a:xfrm>
            <a:off x="107950" y="908050"/>
            <a:ext cx="8785225" cy="5616575"/>
          </a:xfrm>
        </p:spPr>
        <p:txBody>
          <a:bodyPr vert="horz" wrap="square" lIns="91440" tIns="45720" rIns="91440" bIns="45720" anchor="t" anchorCtr="0"/>
          <a:p>
            <a:pPr marL="263525" indent="-263525">
              <a:lnSpc>
                <a:spcPct val="95000"/>
              </a:lnSpc>
              <a:buNone/>
            </a:pPr>
            <a:r>
              <a:rPr lang="en-US" altLang="zh-CN" sz="3200" dirty="0">
                <a:latin typeface="Arial" panose="020B0604020202020204" pitchFamily="34" charset="0"/>
              </a:rPr>
              <a:t>  DBMS</a:t>
            </a:r>
            <a:r>
              <a:rPr lang="zh-CN" altLang="en-US" sz="3200" dirty="0">
                <a:latin typeface="Arial" panose="020B0604020202020204" pitchFamily="34" charset="0"/>
              </a:rPr>
              <a:t>在执行插入语句时自动检查插入元组是否破坏表上已定义的完整性规则。</a:t>
            </a:r>
            <a:endParaRPr lang="zh-CN" altLang="en-US" sz="3200" dirty="0">
              <a:latin typeface="Arial" panose="020B0604020202020204" pitchFamily="34" charset="0"/>
            </a:endParaRPr>
          </a:p>
          <a:p>
            <a:pPr marL="263525" indent="-263525">
              <a:spcBef>
                <a:spcPct val="20000"/>
              </a:spcBef>
            </a:pPr>
            <a:r>
              <a:rPr lang="zh-CN" altLang="en-US" sz="3200" dirty="0">
                <a:solidFill>
                  <a:srgbClr val="0033CC"/>
                </a:solidFill>
                <a:latin typeface="Arial" panose="020B0604020202020204" pitchFamily="34" charset="0"/>
              </a:rPr>
              <a:t>用户定义的完整性</a:t>
            </a:r>
            <a:endParaRPr lang="zh-CN" altLang="en-US" sz="3200" dirty="0">
              <a:solidFill>
                <a:srgbClr val="0033CC"/>
              </a:solidFill>
              <a:latin typeface="Arial" panose="020B0604020202020204" pitchFamily="34" charset="0"/>
            </a:endParaRPr>
          </a:p>
          <a:p>
            <a:pPr marL="898525" lvl="1" indent="-271145">
              <a:spcBef>
                <a:spcPct val="0"/>
              </a:spcBef>
            </a:pPr>
            <a:r>
              <a:rPr lang="zh-CN" altLang="en-US" dirty="0">
                <a:latin typeface="Arial" panose="020B0604020202020204" pitchFamily="34" charset="0"/>
              </a:rPr>
              <a:t>对于有</a:t>
            </a:r>
            <a:r>
              <a:rPr lang="en-US" altLang="zh-CN" dirty="0">
                <a:solidFill>
                  <a:srgbClr val="C00000"/>
                </a:solidFill>
                <a:latin typeface="Arial" panose="020B0604020202020204" pitchFamily="34" charset="0"/>
              </a:rPr>
              <a:t>NOT NULL</a:t>
            </a:r>
            <a:r>
              <a:rPr lang="zh-CN" altLang="en-US" dirty="0">
                <a:latin typeface="Arial" panose="020B0604020202020204" pitchFamily="34" charset="0"/>
              </a:rPr>
              <a:t>约束的属性列是否提供了非空值</a:t>
            </a:r>
            <a:endParaRPr lang="zh-CN" altLang="en-US" dirty="0">
              <a:latin typeface="Arial" panose="020B0604020202020204" pitchFamily="34" charset="0"/>
            </a:endParaRPr>
          </a:p>
          <a:p>
            <a:pPr marL="898525" lvl="1" indent="-271145">
              <a:spcBef>
                <a:spcPct val="0"/>
              </a:spcBef>
            </a:pPr>
            <a:r>
              <a:rPr lang="zh-CN" altLang="en-US" dirty="0">
                <a:latin typeface="Arial" panose="020B0604020202020204" pitchFamily="34" charset="0"/>
              </a:rPr>
              <a:t>对于有</a:t>
            </a:r>
            <a:r>
              <a:rPr lang="en-US" altLang="zh-CN" dirty="0">
                <a:solidFill>
                  <a:srgbClr val="C00000"/>
                </a:solidFill>
                <a:latin typeface="Arial" panose="020B0604020202020204" pitchFamily="34" charset="0"/>
              </a:rPr>
              <a:t>UNIQUE</a:t>
            </a:r>
            <a:r>
              <a:rPr lang="zh-CN" altLang="en-US" dirty="0">
                <a:latin typeface="Arial" panose="020B0604020202020204" pitchFamily="34" charset="0"/>
              </a:rPr>
              <a:t>约束的属性列是否提供了非重复值</a:t>
            </a:r>
            <a:endParaRPr lang="zh-CN" altLang="en-US" dirty="0">
              <a:latin typeface="Arial" panose="020B0604020202020204" pitchFamily="34" charset="0"/>
            </a:endParaRPr>
          </a:p>
          <a:p>
            <a:pPr marL="898525" lvl="1" indent="-271145">
              <a:spcBef>
                <a:spcPct val="0"/>
              </a:spcBef>
            </a:pPr>
            <a:r>
              <a:rPr lang="zh-CN" altLang="en-US" dirty="0">
                <a:latin typeface="Arial" panose="020B0604020202020204" pitchFamily="34" charset="0"/>
              </a:rPr>
              <a:t>对于有</a:t>
            </a:r>
            <a:r>
              <a:rPr lang="zh-CN" altLang="en-US" dirty="0">
                <a:solidFill>
                  <a:srgbClr val="C00000"/>
                </a:solidFill>
                <a:latin typeface="Arial" panose="020B0604020202020204" pitchFamily="34" charset="0"/>
              </a:rPr>
              <a:t>值域约束</a:t>
            </a:r>
            <a:r>
              <a:rPr lang="zh-CN" altLang="en-US" dirty="0">
                <a:latin typeface="Arial" panose="020B0604020202020204" pitchFamily="34" charset="0"/>
              </a:rPr>
              <a:t>的属性列所提供的属性值是否在值域范围内</a:t>
            </a:r>
            <a:endParaRPr lang="zh-CN" altLang="en-US" dirty="0">
              <a:latin typeface="Arial" panose="020B0604020202020204" pitchFamily="34" charset="0"/>
            </a:endParaRPr>
          </a:p>
        </p:txBody>
      </p:sp>
      <p:sp>
        <p:nvSpPr>
          <p:cNvPr id="88064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插入数据的完整性检查</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880644" name="AutoShape 4">
            <a:hlinkClick r:id="rId1" action="ppaction://hlinksldjump"/>
          </p:cNvPr>
          <p:cNvSpPr>
            <a:spLocks noChangeArrowheads="1"/>
          </p:cNvSpPr>
          <p:nvPr/>
        </p:nvSpPr>
        <p:spPr bwMode="auto">
          <a:xfrm>
            <a:off x="8286750" y="6072188"/>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2" name="CAMERA.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idx="1"/>
          </p:nvPr>
        </p:nvSpPr>
        <p:spPr>
          <a:xfrm>
            <a:off x="152400" y="1000125"/>
            <a:ext cx="8491538" cy="5526088"/>
          </a:xfrm>
        </p:spPr>
        <p:txBody>
          <a:bodyPr vert="horz" wrap="square" lIns="91440" tIns="45720" rIns="91440" bIns="45720" anchor="t" anchorCtr="0"/>
          <a:p>
            <a:pPr marL="365125" indent="-365125">
              <a:lnSpc>
                <a:spcPct val="115000"/>
              </a:lnSpc>
              <a:buNone/>
            </a:pPr>
            <a:r>
              <a:rPr lang="en-US" altLang="zh-CN" dirty="0">
                <a:latin typeface="Arial" panose="020B0604020202020204" pitchFamily="34" charset="0"/>
              </a:rPr>
              <a:t>       5.4.1 </a:t>
            </a:r>
            <a:r>
              <a:rPr lang="zh-CN" altLang="en-US" dirty="0">
                <a:latin typeface="Arial" panose="020B0604020202020204" pitchFamily="34" charset="0"/>
              </a:rPr>
              <a:t>插入数据</a:t>
            </a:r>
            <a:endParaRPr lang="zh-CN" altLang="en-US" dirty="0">
              <a:latin typeface="Arial" panose="020B0604020202020204" pitchFamily="34" charset="0"/>
            </a:endParaRPr>
          </a:p>
          <a:p>
            <a:pPr marL="365125" indent="-365125">
              <a:lnSpc>
                <a:spcPct val="115000"/>
              </a:lnSpc>
              <a:buNone/>
            </a:pPr>
            <a:r>
              <a:rPr lang="zh-CN" altLang="en-US" dirty="0">
                <a:latin typeface="Arial" panose="020B0604020202020204" pitchFamily="34" charset="0"/>
              </a:rPr>
              <a:t>		</a:t>
            </a:r>
            <a:r>
              <a:rPr lang="en-US" altLang="zh-CN" dirty="0">
                <a:solidFill>
                  <a:srgbClr val="0000CC"/>
                </a:solidFill>
                <a:latin typeface="Arial" panose="020B0604020202020204" pitchFamily="34" charset="0"/>
              </a:rPr>
              <a:t>5.4</a:t>
            </a:r>
            <a:r>
              <a:rPr lang="en-US" altLang="zh-CN" dirty="0">
                <a:solidFill>
                  <a:srgbClr val="0000CC"/>
                </a:solidFill>
                <a:latin typeface="Arial" panose="020B0604020202020204" pitchFamily="34" charset="0"/>
              </a:rPr>
              <a:t>.2 </a:t>
            </a:r>
            <a:r>
              <a:rPr lang="zh-CN" altLang="en-US" dirty="0">
                <a:solidFill>
                  <a:srgbClr val="0000CC"/>
                </a:solidFill>
                <a:latin typeface="Arial" panose="020B0604020202020204" pitchFamily="34" charset="0"/>
              </a:rPr>
              <a:t>修改数据</a:t>
            </a:r>
            <a:endParaRPr lang="zh-CN" altLang="en-US" dirty="0">
              <a:solidFill>
                <a:srgbClr val="0000CC"/>
              </a:solidFill>
              <a:latin typeface="Arial" panose="020B0604020202020204" pitchFamily="34" charset="0"/>
            </a:endParaRPr>
          </a:p>
          <a:p>
            <a:pPr marL="365125" indent="-365125">
              <a:lnSpc>
                <a:spcPct val="115000"/>
              </a:lnSpc>
              <a:buNone/>
            </a:pPr>
            <a:r>
              <a:rPr lang="zh-CN" altLang="en-US"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sym typeface="+mn-ea"/>
              </a:rPr>
              <a:t>) </a:t>
            </a:r>
            <a:r>
              <a:rPr lang="zh-CN" altLang="en-US" dirty="0">
                <a:solidFill>
                  <a:srgbClr val="0000CC"/>
                </a:solidFill>
                <a:latin typeface="Arial" panose="020B0604020202020204" pitchFamily="34" charset="0"/>
              </a:rPr>
              <a:t>修改某一个元组的值</a:t>
            </a:r>
            <a:endParaRPr lang="zh-CN" altLang="en-US" dirty="0">
              <a:solidFill>
                <a:srgbClr val="0000CC"/>
              </a:solidFill>
              <a:latin typeface="Arial" panose="020B0604020202020204" pitchFamily="34" charset="0"/>
            </a:endParaRPr>
          </a:p>
          <a:p>
            <a:pPr marL="365125" indent="-365125">
              <a:lnSpc>
                <a:spcPct val="115000"/>
              </a:lnSpc>
              <a:buNone/>
            </a:pPr>
            <a:r>
              <a:rPr lang="zh-CN" altLang="en-US"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rPr>
              <a:t>2</a:t>
            </a:r>
            <a:r>
              <a:rPr lang="zh-CN" altLang="en-US" dirty="0">
                <a:solidFill>
                  <a:srgbClr val="0000CC"/>
                </a:solidFill>
                <a:latin typeface="Arial" panose="020B0604020202020204" pitchFamily="34" charset="0"/>
                <a:sym typeface="+mn-ea"/>
              </a:rPr>
              <a:t>) </a:t>
            </a:r>
            <a:r>
              <a:rPr lang="zh-CN" altLang="en-US" dirty="0">
                <a:solidFill>
                  <a:srgbClr val="0000CC"/>
                </a:solidFill>
                <a:latin typeface="Arial" panose="020B0604020202020204" pitchFamily="34" charset="0"/>
              </a:rPr>
              <a:t>修改多个元组的值</a:t>
            </a:r>
            <a:endParaRPr lang="zh-CN" altLang="en-US" dirty="0">
              <a:solidFill>
                <a:srgbClr val="0000CC"/>
              </a:solidFill>
              <a:latin typeface="Arial" panose="020B0604020202020204" pitchFamily="34" charset="0"/>
            </a:endParaRPr>
          </a:p>
          <a:p>
            <a:pPr marL="365125" indent="-365125">
              <a:lnSpc>
                <a:spcPct val="115000"/>
              </a:lnSpc>
              <a:buNone/>
            </a:pPr>
            <a:r>
              <a:rPr lang="zh-CN" altLang="en-US"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rPr>
              <a:t>3</a:t>
            </a:r>
            <a:r>
              <a:rPr lang="zh-CN" altLang="en-US" dirty="0">
                <a:solidFill>
                  <a:srgbClr val="0000CC"/>
                </a:solidFill>
                <a:latin typeface="Arial" panose="020B0604020202020204" pitchFamily="34" charset="0"/>
                <a:sym typeface="+mn-ea"/>
              </a:rPr>
              <a:t>) </a:t>
            </a:r>
            <a:r>
              <a:rPr lang="zh-CN" altLang="en-US" dirty="0">
                <a:solidFill>
                  <a:srgbClr val="0000CC"/>
                </a:solidFill>
                <a:latin typeface="Arial" panose="020B0604020202020204" pitchFamily="34" charset="0"/>
              </a:rPr>
              <a:t>带子查询的修改语句</a:t>
            </a:r>
            <a:endParaRPr lang="zh-CN" altLang="en-US" dirty="0">
              <a:solidFill>
                <a:srgbClr val="0000CC"/>
              </a:solidFill>
              <a:latin typeface="Arial" panose="020B0604020202020204" pitchFamily="34" charset="0"/>
            </a:endParaRPr>
          </a:p>
          <a:p>
            <a:pPr marL="365125" indent="-365125">
              <a:lnSpc>
                <a:spcPct val="115000"/>
              </a:lnSpc>
              <a:buNone/>
            </a:pPr>
            <a:r>
              <a:rPr lang="zh-CN" altLang="en-US" dirty="0">
                <a:latin typeface="Arial" panose="020B0604020202020204" pitchFamily="34" charset="0"/>
              </a:rPr>
              <a:t>		</a:t>
            </a:r>
            <a:r>
              <a:rPr lang="en-US" altLang="zh-CN" dirty="0">
                <a:latin typeface="Arial" panose="020B0604020202020204" pitchFamily="34" charset="0"/>
              </a:rPr>
              <a:t>5.4</a:t>
            </a:r>
            <a:r>
              <a:rPr lang="en-US" altLang="zh-CN" dirty="0">
                <a:latin typeface="Arial" panose="020B0604020202020204" pitchFamily="34" charset="0"/>
              </a:rPr>
              <a:t>.3 </a:t>
            </a:r>
            <a:r>
              <a:rPr lang="zh-CN" altLang="en-US" dirty="0">
                <a:latin typeface="Arial" panose="020B0604020202020204" pitchFamily="34" charset="0"/>
              </a:rPr>
              <a:t>删除数据</a:t>
            </a:r>
            <a:endParaRPr lang="zh-CN" altLang="en-US" dirty="0">
              <a:latin typeface="Arial" panose="020B0604020202020204" pitchFamily="34" charset="0"/>
            </a:endParaRPr>
          </a:p>
        </p:txBody>
      </p:sp>
      <p:sp>
        <p:nvSpPr>
          <p:cNvPr id="66355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5.4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数据更新</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663563" name="AutoShape 11">
            <a:hlinkClick r:id="rId1" action="ppaction://hlinksldjump"/>
          </p:cNvPr>
          <p:cNvSpPr>
            <a:spLocks noChangeArrowheads="1"/>
          </p:cNvSpPr>
          <p:nvPr/>
        </p:nvSpPr>
        <p:spPr bwMode="auto">
          <a:xfrm>
            <a:off x="8210550" y="6072188"/>
            <a:ext cx="576263" cy="6191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2" name="CAMERA.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idx="1"/>
          </p:nvPr>
        </p:nvSpPr>
        <p:spPr>
          <a:xfrm>
            <a:off x="179388" y="908050"/>
            <a:ext cx="8812212" cy="5273675"/>
          </a:xfrm>
        </p:spPr>
        <p:txBody>
          <a:bodyPr vert="horz" wrap="square" lIns="91440" tIns="45720" rIns="91440" bIns="45720" anchor="t" anchorCtr="0"/>
          <a:p>
            <a:pPr marL="365125" indent="-365125">
              <a:lnSpc>
                <a:spcPct val="110000"/>
              </a:lnSpc>
            </a:pPr>
            <a:r>
              <a:rPr lang="zh-CN" altLang="en-US" sz="3200" dirty="0">
                <a:latin typeface="Arial" panose="020B0604020202020204" pitchFamily="34" charset="0"/>
              </a:rPr>
              <a:t>基本语法：</a:t>
            </a:r>
            <a:endParaRPr lang="zh-CN" altLang="en-US" sz="3200" dirty="0">
              <a:latin typeface="Arial" panose="020B0604020202020204" pitchFamily="34" charset="0"/>
            </a:endParaRPr>
          </a:p>
          <a:p>
            <a:pPr marL="365125" indent="-365125">
              <a:lnSpc>
                <a:spcPct val="110000"/>
              </a:lnSpc>
              <a:spcBef>
                <a:spcPct val="35000"/>
              </a:spcBef>
              <a:buNone/>
            </a:pPr>
            <a:r>
              <a:rPr lang="zh-CN" altLang="en-US" sz="3200" dirty="0">
                <a:latin typeface="Arial" panose="020B0604020202020204" pitchFamily="34" charset="0"/>
              </a:rPr>
              <a:t>    </a:t>
            </a:r>
            <a:r>
              <a:rPr lang="en-US" altLang="zh-CN" sz="3200" dirty="0">
                <a:solidFill>
                  <a:srgbClr val="FF0000"/>
                </a:solidFill>
                <a:latin typeface="Arial" panose="020B0604020202020204" pitchFamily="34" charset="0"/>
              </a:rPr>
              <a:t>UPDATE</a:t>
            </a:r>
            <a:r>
              <a:rPr lang="en-US" altLang="zh-CN" sz="3200" dirty="0">
                <a:solidFill>
                  <a:srgbClr val="0000CC"/>
                </a:solidFill>
                <a:latin typeface="Arial" panose="020B0604020202020204" pitchFamily="34" charset="0"/>
              </a:rPr>
              <a:t>  &lt;</a:t>
            </a:r>
            <a:r>
              <a:rPr lang="zh-CN" altLang="en-US" sz="3200" dirty="0">
                <a:solidFill>
                  <a:srgbClr val="0000CC"/>
                </a:solidFill>
                <a:latin typeface="Arial" panose="020B0604020202020204" pitchFamily="34" charset="0"/>
              </a:rPr>
              <a:t>表名</a:t>
            </a:r>
            <a:r>
              <a:rPr lang="en-US" altLang="zh-CN" sz="3200" dirty="0">
                <a:solidFill>
                  <a:srgbClr val="0000CC"/>
                </a:solidFill>
                <a:latin typeface="Arial" panose="020B0604020202020204" pitchFamily="34" charset="0"/>
              </a:rPr>
              <a:t>&gt;</a:t>
            </a:r>
            <a:endParaRPr lang="en-US" altLang="zh-CN" sz="3200" dirty="0">
              <a:solidFill>
                <a:srgbClr val="0000CC"/>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a:t>
            </a:r>
            <a:r>
              <a:rPr lang="en-US" altLang="zh-CN" sz="3200" dirty="0">
                <a:solidFill>
                  <a:srgbClr val="FF0000"/>
                </a:solidFill>
                <a:latin typeface="Arial" panose="020B0604020202020204" pitchFamily="34" charset="0"/>
              </a:rPr>
              <a:t>SET </a:t>
            </a:r>
            <a:r>
              <a:rPr lang="en-US" altLang="zh-CN" sz="3200" dirty="0">
                <a:solidFill>
                  <a:srgbClr val="0000CC"/>
                </a:solidFill>
                <a:latin typeface="Arial" panose="020B0604020202020204" pitchFamily="34" charset="0"/>
              </a:rPr>
              <a:t> &lt;</a:t>
            </a:r>
            <a:r>
              <a:rPr lang="zh-CN" altLang="en-US" sz="3200" dirty="0">
                <a:solidFill>
                  <a:srgbClr val="0000CC"/>
                </a:solidFill>
                <a:latin typeface="Arial" panose="020B0604020202020204" pitchFamily="34" charset="0"/>
              </a:rPr>
              <a:t>列名</a:t>
            </a:r>
            <a:r>
              <a:rPr lang="en-US" altLang="zh-CN" sz="3200" dirty="0">
                <a:solidFill>
                  <a:srgbClr val="0000CC"/>
                </a:solidFill>
                <a:latin typeface="Arial" panose="020B0604020202020204" pitchFamily="34" charset="0"/>
              </a:rPr>
              <a:t>&gt;=&lt;</a:t>
            </a:r>
            <a:r>
              <a:rPr lang="zh-CN" altLang="en-US" sz="3200" dirty="0">
                <a:solidFill>
                  <a:srgbClr val="0000CC"/>
                </a:solidFill>
                <a:latin typeface="Arial" panose="020B0604020202020204" pitchFamily="34" charset="0"/>
              </a:rPr>
              <a:t>表达式</a:t>
            </a:r>
            <a:r>
              <a:rPr lang="en-US" altLang="zh-CN" sz="3200" dirty="0">
                <a:solidFill>
                  <a:srgbClr val="0000CC"/>
                </a:solidFill>
                <a:latin typeface="Arial" panose="020B0604020202020204" pitchFamily="34" charset="0"/>
              </a:rPr>
              <a:t>&gt;</a:t>
            </a:r>
            <a:endParaRPr lang="en-US" altLang="zh-CN" sz="3200" dirty="0">
              <a:solidFill>
                <a:srgbClr val="0000CC"/>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 ,&lt;</a:t>
            </a:r>
            <a:r>
              <a:rPr lang="zh-CN" altLang="en-US" sz="3200" dirty="0">
                <a:solidFill>
                  <a:srgbClr val="0000CC"/>
                </a:solidFill>
                <a:latin typeface="Arial" panose="020B0604020202020204" pitchFamily="34" charset="0"/>
              </a:rPr>
              <a:t>列名</a:t>
            </a:r>
            <a:r>
              <a:rPr lang="en-US" altLang="zh-CN" sz="3200" dirty="0">
                <a:solidFill>
                  <a:srgbClr val="0000CC"/>
                </a:solidFill>
                <a:latin typeface="Arial" panose="020B0604020202020204" pitchFamily="34" charset="0"/>
              </a:rPr>
              <a:t>&gt;=&lt;</a:t>
            </a:r>
            <a:r>
              <a:rPr lang="zh-CN" altLang="en-US" sz="3200" dirty="0">
                <a:solidFill>
                  <a:srgbClr val="0000CC"/>
                </a:solidFill>
                <a:latin typeface="Arial" panose="020B0604020202020204" pitchFamily="34" charset="0"/>
              </a:rPr>
              <a:t>表达式</a:t>
            </a:r>
            <a:r>
              <a:rPr lang="en-US" altLang="zh-CN" sz="3200" dirty="0">
                <a:solidFill>
                  <a:srgbClr val="0000CC"/>
                </a:solidFill>
                <a:latin typeface="Arial" panose="020B0604020202020204" pitchFamily="34" charset="0"/>
              </a:rPr>
              <a:t>&gt; ]…</a:t>
            </a:r>
            <a:endParaRPr lang="en-US" altLang="zh-CN" sz="3200" dirty="0">
              <a:solidFill>
                <a:srgbClr val="0000CC"/>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 </a:t>
            </a:r>
            <a:r>
              <a:rPr lang="en-US" altLang="zh-CN" sz="3200" dirty="0">
                <a:solidFill>
                  <a:srgbClr val="FF0000"/>
                </a:solidFill>
                <a:latin typeface="Arial" panose="020B0604020202020204" pitchFamily="34" charset="0"/>
              </a:rPr>
              <a:t>WHERE</a:t>
            </a:r>
            <a:r>
              <a:rPr lang="en-US" altLang="zh-CN" sz="3200" dirty="0">
                <a:solidFill>
                  <a:srgbClr val="0000CC"/>
                </a:solidFill>
                <a:latin typeface="Arial" panose="020B0604020202020204" pitchFamily="34" charset="0"/>
              </a:rPr>
              <a:t>  &lt;</a:t>
            </a:r>
            <a:r>
              <a:rPr lang="zh-CN" altLang="en-US" sz="3200" dirty="0">
                <a:solidFill>
                  <a:srgbClr val="0000CC"/>
                </a:solidFill>
                <a:latin typeface="Arial" panose="020B0604020202020204" pitchFamily="34" charset="0"/>
              </a:rPr>
              <a:t>条件</a:t>
            </a:r>
            <a:r>
              <a:rPr lang="en-US" altLang="zh-CN" sz="3200" dirty="0">
                <a:solidFill>
                  <a:srgbClr val="0000CC"/>
                </a:solidFill>
                <a:latin typeface="Arial" panose="020B0604020202020204" pitchFamily="34" charset="0"/>
              </a:rPr>
              <a:t>&gt; ] ;</a:t>
            </a:r>
            <a:endParaRPr lang="en-US" altLang="zh-CN" sz="3200" dirty="0">
              <a:solidFill>
                <a:srgbClr val="0000CC"/>
              </a:solidFill>
              <a:latin typeface="Arial" panose="020B0604020202020204" pitchFamily="34" charset="0"/>
            </a:endParaRPr>
          </a:p>
          <a:p>
            <a:pPr marL="365125" indent="-365125">
              <a:lnSpc>
                <a:spcPct val="110000"/>
              </a:lnSpc>
              <a:buNone/>
            </a:pPr>
            <a:endParaRPr lang="en-US" altLang="zh-CN" sz="1800" dirty="0">
              <a:solidFill>
                <a:srgbClr val="0000CC"/>
              </a:solidFill>
              <a:latin typeface="Arial" panose="020B0604020202020204" pitchFamily="34" charset="0"/>
            </a:endParaRPr>
          </a:p>
          <a:p>
            <a:pPr marL="365125" indent="-365125">
              <a:lnSpc>
                <a:spcPct val="110000"/>
              </a:lnSpc>
            </a:pPr>
            <a:r>
              <a:rPr lang="zh-CN" altLang="en-US" sz="3200" dirty="0">
                <a:latin typeface="Arial" panose="020B0604020202020204" pitchFamily="34" charset="0"/>
              </a:rPr>
              <a:t>功能：</a:t>
            </a:r>
            <a:br>
              <a:rPr lang="zh-CN" altLang="en-US" sz="3200" dirty="0">
                <a:latin typeface="Arial" panose="020B0604020202020204" pitchFamily="34" charset="0"/>
              </a:rPr>
            </a:br>
            <a:r>
              <a:rPr lang="zh-CN" altLang="en-US" sz="3200" dirty="0">
                <a:latin typeface="Arial" panose="020B0604020202020204" pitchFamily="34" charset="0"/>
              </a:rPr>
              <a:t>修改指定表中满足</a:t>
            </a:r>
            <a:r>
              <a:rPr lang="en-US" altLang="zh-CN" sz="3200" dirty="0">
                <a:latin typeface="Arial" panose="020B0604020202020204" pitchFamily="34" charset="0"/>
              </a:rPr>
              <a:t>WHERE</a:t>
            </a:r>
            <a:r>
              <a:rPr lang="zh-CN" altLang="en-US" sz="3200" dirty="0">
                <a:latin typeface="Arial" panose="020B0604020202020204" pitchFamily="34" charset="0"/>
              </a:rPr>
              <a:t>子句条件的元组， </a:t>
            </a:r>
            <a:r>
              <a:rPr lang="en-US" altLang="zh-CN" sz="3200" dirty="0">
                <a:latin typeface="Arial" panose="020B0604020202020204" pitchFamily="34" charset="0"/>
              </a:rPr>
              <a:t>WHERE</a:t>
            </a:r>
            <a:r>
              <a:rPr lang="zh-CN" altLang="en-US" sz="3200" dirty="0">
                <a:latin typeface="Arial" panose="020B0604020202020204" pitchFamily="34" charset="0"/>
              </a:rPr>
              <a:t>子句</a:t>
            </a:r>
            <a:r>
              <a:rPr lang="zh-CN" altLang="en-US" sz="3200" dirty="0"/>
              <a:t>缺省表示要修改表中的所有元组</a:t>
            </a:r>
            <a:endParaRPr lang="zh-CN" altLang="en-US" sz="3200" dirty="0"/>
          </a:p>
        </p:txBody>
      </p:sp>
      <p:sp>
        <p:nvSpPr>
          <p:cNvPr id="66457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5.4.2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修改数据</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4036" name="Rectangle 4"/>
          <p:cNvSpPr/>
          <p:nvPr/>
        </p:nvSpPr>
        <p:spPr>
          <a:xfrm>
            <a:off x="323850" y="1557338"/>
            <a:ext cx="7605713" cy="2305050"/>
          </a:xfrm>
          <a:prstGeom prst="rect">
            <a:avLst/>
          </a:prstGeom>
          <a:noFill/>
          <a:ln w="28575" cap="flat" cmpd="sng">
            <a:solidFill>
              <a:srgbClr val="FF3300"/>
            </a:solidFill>
            <a:prstDash val="solid"/>
            <a:miter/>
            <a:headEnd type="none" w="med" len="med"/>
            <a:tailEnd type="none" w="med" len="med"/>
          </a:ln>
        </p:spPr>
        <p:txBody>
          <a:bodyPr wrap="none"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zh-CN" sz="4000" dirty="0">
              <a:solidFill>
                <a:srgbClr val="0000FF"/>
              </a:solidFill>
              <a:latin typeface="Arial" panose="020B0604020202020204" pitchFamily="34" charset="0"/>
            </a:endParaRPr>
          </a:p>
        </p:txBody>
      </p:sp>
    </p:spTree>
  </p:cSld>
  <p:clrMapOvr>
    <a:masterClrMapping/>
  </p:clrMapOvr>
  <p:transition>
    <p:random/>
    <p:sndAc>
      <p:stSnd>
        <p:snd r:embed="rId1" name="CAMERA.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idx="1"/>
          </p:nvPr>
        </p:nvSpPr>
        <p:spPr>
          <a:xfrm>
            <a:off x="152400" y="968375"/>
            <a:ext cx="8812213" cy="5445125"/>
          </a:xfrm>
        </p:spPr>
        <p:txBody>
          <a:bodyPr vert="horz" wrap="square" lIns="91440" tIns="45720" rIns="91440" bIns="45720" anchor="t" anchorCtr="0"/>
          <a:p>
            <a:pPr marL="357505" indent="-357505" algn="just"/>
            <a:r>
              <a:rPr lang="zh-CN" altLang="en-US" dirty="0">
                <a:latin typeface="Arial" panose="020B0604020202020204" pitchFamily="34" charset="0"/>
              </a:rPr>
              <a:t>将学号为</a:t>
            </a:r>
            <a:r>
              <a:rPr lang="en-US" altLang="zh-CN" dirty="0">
                <a:latin typeface="Arial" panose="020B0604020202020204" pitchFamily="34" charset="0"/>
              </a:rPr>
              <a:t>090905</a:t>
            </a:r>
            <a:r>
              <a:rPr lang="zh-CN" altLang="en-US" dirty="0">
                <a:latin typeface="Arial" panose="020B0604020202020204" pitchFamily="34" charset="0"/>
              </a:rPr>
              <a:t>学生的年龄改为</a:t>
            </a:r>
            <a:r>
              <a:rPr lang="en-US" altLang="zh-CN" dirty="0">
                <a:latin typeface="Arial" panose="020B0604020202020204" pitchFamily="34" charset="0"/>
              </a:rPr>
              <a:t>22</a:t>
            </a:r>
            <a:r>
              <a:rPr lang="zh-CN" altLang="en-US" dirty="0">
                <a:latin typeface="Arial" panose="020B0604020202020204" pitchFamily="34" charset="0"/>
              </a:rPr>
              <a:t>岁。</a:t>
            </a:r>
            <a:endParaRPr lang="zh-CN" altLang="en-US" dirty="0">
              <a:latin typeface="Arial" panose="020B0604020202020204" pitchFamily="34" charset="0"/>
            </a:endParaRPr>
          </a:p>
          <a:p>
            <a:pPr marL="357505" indent="-357505" algn="just">
              <a:buNone/>
            </a:pPr>
            <a:r>
              <a:rPr lang="zh-CN" altLang="en-US" dirty="0">
                <a:latin typeface="Arial" panose="020B0604020202020204" pitchFamily="34" charset="0"/>
              </a:rPr>
              <a:t>      </a:t>
            </a:r>
            <a:r>
              <a:rPr lang="en-US" altLang="zh-CN" dirty="0">
                <a:solidFill>
                  <a:srgbClr val="FF0000"/>
                </a:solidFill>
                <a:latin typeface="Arial" panose="020B0604020202020204" pitchFamily="34" charset="0"/>
              </a:rPr>
              <a:t>UPDATE</a:t>
            </a:r>
            <a:r>
              <a:rPr lang="en-US" altLang="zh-CN" dirty="0">
                <a:solidFill>
                  <a:srgbClr val="0000CC"/>
                </a:solidFill>
                <a:latin typeface="Arial" panose="020B0604020202020204" pitchFamily="34" charset="0"/>
              </a:rPr>
              <a:t>  S</a:t>
            </a:r>
            <a:endParaRPr lang="en-US" altLang="zh-CN" dirty="0">
              <a:solidFill>
                <a:srgbClr val="0000CC"/>
              </a:solidFill>
              <a:latin typeface="Arial" panose="020B0604020202020204" pitchFamily="34" charset="0"/>
            </a:endParaRPr>
          </a:p>
          <a:p>
            <a:pPr marL="357505" indent="-357505" algn="just">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 SET</a:t>
            </a:r>
            <a:r>
              <a:rPr lang="en-US" altLang="zh-CN" dirty="0">
                <a:solidFill>
                  <a:srgbClr val="0000CC"/>
                </a:solidFill>
                <a:latin typeface="Arial" panose="020B0604020202020204" pitchFamily="34" charset="0"/>
              </a:rPr>
              <a:t>  Sage = 22</a:t>
            </a:r>
            <a:endParaRPr lang="en-US" altLang="zh-CN" dirty="0">
              <a:solidFill>
                <a:srgbClr val="0000CC"/>
              </a:solidFill>
              <a:latin typeface="Arial" panose="020B0604020202020204" pitchFamily="34" charset="0"/>
            </a:endParaRPr>
          </a:p>
          <a:p>
            <a:pPr marL="357505" indent="-357505" algn="just">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WHERE</a:t>
            </a:r>
            <a:r>
              <a:rPr lang="en-US" altLang="zh-CN" dirty="0">
                <a:solidFill>
                  <a:srgbClr val="0000CC"/>
                </a:solidFill>
                <a:latin typeface="Arial" panose="020B0604020202020204" pitchFamily="34" charset="0"/>
              </a:rPr>
              <a:t>  Sno = '090905' ;</a:t>
            </a:r>
            <a:endParaRPr lang="en-US" altLang="zh-CN" dirty="0">
              <a:solidFill>
                <a:srgbClr val="0000CC"/>
              </a:solidFill>
              <a:latin typeface="Arial" panose="020B0604020202020204" pitchFamily="34" charset="0"/>
            </a:endParaRPr>
          </a:p>
          <a:p>
            <a:pPr marL="357505" indent="-357505" algn="just">
              <a:buNone/>
            </a:pPr>
            <a:endParaRPr lang="en-US" altLang="zh-CN" dirty="0">
              <a:solidFill>
                <a:srgbClr val="0000CC"/>
              </a:solidFill>
              <a:latin typeface="Arial" panose="020B0604020202020204" pitchFamily="34" charset="0"/>
            </a:endParaRPr>
          </a:p>
          <a:p>
            <a:pPr marL="357505" indent="-357505"/>
            <a:r>
              <a:rPr lang="zh-CN" altLang="en-US" dirty="0">
                <a:latin typeface="Arial" panose="020B0604020202020204" pitchFamily="34" charset="0"/>
              </a:rPr>
              <a:t>将课程</a:t>
            </a:r>
            <a:r>
              <a:rPr lang="en-US" altLang="zh-CN" dirty="0">
                <a:latin typeface="Arial" panose="020B0604020202020204" pitchFamily="34" charset="0"/>
              </a:rPr>
              <a:t>C2</a:t>
            </a:r>
            <a:r>
              <a:rPr lang="zh-CN" altLang="en-US" dirty="0">
                <a:latin typeface="Arial" panose="020B0604020202020204" pitchFamily="34" charset="0"/>
              </a:rPr>
              <a:t>的任課老师改为</a:t>
            </a:r>
            <a:r>
              <a:rPr lang="en-US" altLang="zh-CN" dirty="0">
                <a:latin typeface="Arial" panose="020B0604020202020204" pitchFamily="34" charset="0"/>
              </a:rPr>
              <a:t>T5</a:t>
            </a:r>
            <a:r>
              <a:rPr lang="zh-CN" altLang="en-US" dirty="0">
                <a:latin typeface="Arial" panose="020B0604020202020204" pitchFamily="34" charset="0"/>
              </a:rPr>
              <a:t>老师。</a:t>
            </a:r>
            <a:endParaRPr lang="zh-CN" altLang="en-US" dirty="0">
              <a:latin typeface="Arial" panose="020B0604020202020204" pitchFamily="34" charset="0"/>
            </a:endParaRPr>
          </a:p>
          <a:p>
            <a:pPr marL="357505" indent="-357505">
              <a:buNone/>
            </a:pPr>
            <a:r>
              <a:rPr lang="zh-CN" altLang="en-US" dirty="0">
                <a:latin typeface="Arial" panose="020B0604020202020204" pitchFamily="34" charset="0"/>
              </a:rPr>
              <a:t>      </a:t>
            </a:r>
            <a:r>
              <a:rPr lang="en-US" altLang="zh-CN" dirty="0">
                <a:solidFill>
                  <a:srgbClr val="FF0000"/>
                </a:solidFill>
                <a:latin typeface="Arial" panose="020B0604020202020204" pitchFamily="34" charset="0"/>
              </a:rPr>
              <a:t>UPDATE </a:t>
            </a:r>
            <a:r>
              <a:rPr lang="en-US" altLang="zh-CN" dirty="0">
                <a:solidFill>
                  <a:srgbClr val="0000CC"/>
                </a:solidFill>
                <a:latin typeface="Arial" panose="020B0604020202020204" pitchFamily="34" charset="0"/>
              </a:rPr>
              <a:t> C</a:t>
            </a:r>
            <a:endParaRPr lang="en-US" altLang="zh-CN" dirty="0">
              <a:solidFill>
                <a:srgbClr val="0000CC"/>
              </a:solidFill>
              <a:latin typeface="Arial" panose="020B0604020202020204" pitchFamily="34" charset="0"/>
            </a:endParaRPr>
          </a:p>
          <a:p>
            <a:pPr marL="357505" indent="-357505">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SET </a:t>
            </a:r>
            <a:r>
              <a:rPr lang="en-US" altLang="zh-CN" dirty="0">
                <a:solidFill>
                  <a:srgbClr val="0000CC"/>
                </a:solidFill>
                <a:latin typeface="Arial" panose="020B0604020202020204" pitchFamily="34" charset="0"/>
              </a:rPr>
              <a:t> Tno = </a:t>
            </a:r>
            <a:r>
              <a:rPr lang="en-US" altLang="zh-CN" dirty="0">
                <a:solidFill>
                  <a:srgbClr val="0000CC"/>
                </a:solidFill>
                <a:latin typeface="Arial" panose="020B0604020202020204" pitchFamily="34" charset="0"/>
                <a:ea typeface="华文中宋" panose="02010600040101010101" pitchFamily="2" charset="-122"/>
              </a:rPr>
              <a:t>'</a:t>
            </a:r>
            <a:r>
              <a:rPr lang="en-US" altLang="zh-CN" dirty="0">
                <a:solidFill>
                  <a:srgbClr val="0000CC"/>
                </a:solidFill>
                <a:latin typeface="Arial" panose="020B0604020202020204" pitchFamily="34" charset="0"/>
              </a:rPr>
              <a:t>T5</a:t>
            </a:r>
            <a:r>
              <a:rPr lang="en-US" altLang="zh-CN" dirty="0">
                <a:solidFill>
                  <a:srgbClr val="0000CC"/>
                </a:solidFill>
                <a:latin typeface="Arial" panose="020B0604020202020204" pitchFamily="34" charset="0"/>
                <a:ea typeface="华文中宋" panose="02010600040101010101" pitchFamily="2" charset="-122"/>
              </a:rPr>
              <a:t>'</a:t>
            </a:r>
            <a:endParaRPr lang="en-US" altLang="zh-CN" dirty="0">
              <a:solidFill>
                <a:srgbClr val="0000CC"/>
              </a:solidFill>
              <a:latin typeface="Arial" panose="020B0604020202020204" pitchFamily="34" charset="0"/>
            </a:endParaRPr>
          </a:p>
          <a:p>
            <a:pPr marL="357505" indent="-357505">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WHERE</a:t>
            </a:r>
            <a:r>
              <a:rPr lang="en-US" altLang="zh-CN" dirty="0">
                <a:solidFill>
                  <a:srgbClr val="0000CC"/>
                </a:solidFill>
                <a:latin typeface="Arial" panose="020B0604020202020204" pitchFamily="34" charset="0"/>
              </a:rPr>
              <a:t>  Cno = </a:t>
            </a:r>
            <a:r>
              <a:rPr lang="en-US" altLang="zh-CN" dirty="0">
                <a:solidFill>
                  <a:srgbClr val="0000CC"/>
                </a:solidFill>
                <a:latin typeface="Arial" panose="020B0604020202020204" pitchFamily="34" charset="0"/>
                <a:ea typeface="华文中宋" panose="02010600040101010101" pitchFamily="2" charset="-122"/>
              </a:rPr>
              <a:t>'</a:t>
            </a:r>
            <a:r>
              <a:rPr lang="en-US" altLang="zh-CN" dirty="0">
                <a:solidFill>
                  <a:srgbClr val="0000CC"/>
                </a:solidFill>
                <a:latin typeface="Arial" panose="020B0604020202020204" pitchFamily="34" charset="0"/>
              </a:rPr>
              <a:t>C2</a:t>
            </a:r>
            <a:r>
              <a:rPr lang="en-US" altLang="zh-CN" dirty="0">
                <a:solidFill>
                  <a:srgbClr val="0000CC"/>
                </a:solidFill>
                <a:latin typeface="Arial" panose="020B0604020202020204" pitchFamily="34" charset="0"/>
                <a:ea typeface="华文中宋" panose="02010600040101010101" pitchFamily="2" charset="-122"/>
              </a:rPr>
              <a:t>'</a:t>
            </a:r>
            <a:r>
              <a:rPr lang="en-US" altLang="zh-CN" dirty="0">
                <a:solidFill>
                  <a:srgbClr val="0000CC"/>
                </a:solidFill>
                <a:latin typeface="Arial" panose="020B0604020202020204" pitchFamily="34" charset="0"/>
              </a:rPr>
              <a:t> ;</a:t>
            </a:r>
            <a:endParaRPr lang="en-US" altLang="zh-CN" dirty="0">
              <a:solidFill>
                <a:srgbClr val="0000CC"/>
              </a:solidFill>
              <a:latin typeface="Arial" panose="020B0604020202020204" pitchFamily="34" charset="0"/>
            </a:endParaRPr>
          </a:p>
          <a:p>
            <a:pPr marL="357505" indent="-357505">
              <a:buNone/>
            </a:pPr>
            <a:endParaRPr lang="en-US" altLang="zh-CN" dirty="0">
              <a:solidFill>
                <a:srgbClr val="0000CC"/>
              </a:solidFill>
              <a:latin typeface="Arial" panose="020B0604020202020204" pitchFamily="34" charset="0"/>
            </a:endParaRPr>
          </a:p>
        </p:txBody>
      </p:sp>
      <p:sp>
        <p:nvSpPr>
          <p:cNvPr id="66662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修改某一个元组的值</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7650" name="Rectangle 2"/>
          <p:cNvSpPr>
            <a:spLocks noGrp="1"/>
          </p:cNvSpPr>
          <p:nvPr>
            <p:ph idx="1"/>
          </p:nvPr>
        </p:nvSpPr>
        <p:spPr>
          <a:xfrm>
            <a:off x="152400" y="1000125"/>
            <a:ext cx="8812213" cy="5526088"/>
          </a:xfrm>
        </p:spPr>
        <p:txBody>
          <a:bodyPr vert="horz" wrap="square" lIns="91440" tIns="45720" rIns="91440" bIns="45720" anchor="t" anchorCtr="0"/>
          <a:p>
            <a:pPr marL="357505" indent="-357505"/>
            <a:r>
              <a:rPr lang="zh-CN" altLang="en-US" dirty="0">
                <a:latin typeface="Arial" panose="020B0604020202020204" pitchFamily="34" charset="0"/>
              </a:rPr>
              <a:t>将信息系所有学生的年龄增加</a:t>
            </a:r>
            <a:r>
              <a:rPr lang="en-US" altLang="zh-CN" dirty="0">
                <a:latin typeface="Arial" panose="020B0604020202020204" pitchFamily="34" charset="0"/>
              </a:rPr>
              <a:t>1</a:t>
            </a:r>
            <a:r>
              <a:rPr lang="zh-CN" altLang="en-US" dirty="0">
                <a:latin typeface="Arial" panose="020B0604020202020204" pitchFamily="34" charset="0"/>
              </a:rPr>
              <a:t>岁。</a:t>
            </a:r>
            <a:endParaRPr lang="zh-CN" altLang="en-US" dirty="0">
              <a:latin typeface="Arial" panose="020B0604020202020204" pitchFamily="34" charset="0"/>
            </a:endParaRPr>
          </a:p>
          <a:p>
            <a:pPr marL="357505" indent="-357505" algn="just">
              <a:spcBef>
                <a:spcPts val="600"/>
              </a:spcBef>
              <a:buNone/>
            </a:pPr>
            <a:r>
              <a:rPr lang="zh-CN" altLang="en-US" dirty="0">
                <a:latin typeface="Arial" panose="020B0604020202020204" pitchFamily="34" charset="0"/>
              </a:rPr>
              <a:t>         </a:t>
            </a:r>
            <a:r>
              <a:rPr lang="en-US" altLang="zh-CN" dirty="0">
                <a:solidFill>
                  <a:srgbClr val="FF0000"/>
                </a:solidFill>
                <a:latin typeface="Arial" panose="020B0604020202020204" pitchFamily="34" charset="0"/>
              </a:rPr>
              <a:t>UPDATE</a:t>
            </a:r>
            <a:r>
              <a:rPr lang="en-US" altLang="zh-CN" dirty="0">
                <a:solidFill>
                  <a:srgbClr val="0000CC"/>
                </a:solidFill>
                <a:latin typeface="Arial" panose="020B0604020202020204" pitchFamily="34" charset="0"/>
              </a:rPr>
              <a:t>  S</a:t>
            </a:r>
            <a:endParaRPr lang="en-US" altLang="zh-CN" dirty="0">
              <a:solidFill>
                <a:srgbClr val="0000CC"/>
              </a:solidFill>
              <a:latin typeface="Arial" panose="020B0604020202020204" pitchFamily="34" charset="0"/>
            </a:endParaRPr>
          </a:p>
          <a:p>
            <a:pPr marL="357505" indent="-357505" algn="just">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SET</a:t>
            </a:r>
            <a:r>
              <a:rPr lang="en-US" altLang="zh-CN" dirty="0">
                <a:solidFill>
                  <a:srgbClr val="0000CC"/>
                </a:solidFill>
                <a:latin typeface="Arial" panose="020B0604020202020204" pitchFamily="34" charset="0"/>
              </a:rPr>
              <a:t>  Sage = Sage+1</a:t>
            </a:r>
            <a:endParaRPr lang="en-US" altLang="zh-CN" dirty="0">
              <a:solidFill>
                <a:srgbClr val="0000CC"/>
              </a:solidFill>
              <a:latin typeface="Arial" panose="020B0604020202020204" pitchFamily="34" charset="0"/>
            </a:endParaRPr>
          </a:p>
          <a:p>
            <a:pPr marL="357505" indent="-357505" algn="just">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WHERE</a:t>
            </a:r>
            <a:r>
              <a:rPr lang="en-US" altLang="zh-CN" dirty="0">
                <a:solidFill>
                  <a:srgbClr val="0000CC"/>
                </a:solidFill>
                <a:latin typeface="Arial" panose="020B0604020202020204" pitchFamily="34" charset="0"/>
              </a:rPr>
              <a:t>  Sdept = </a:t>
            </a:r>
            <a:r>
              <a:rPr lang="en-US" altLang="zh-CN" dirty="0">
                <a:solidFill>
                  <a:srgbClr val="0000CC"/>
                </a:solidFill>
                <a:latin typeface="Arial" panose="020B0604020202020204" pitchFamily="34" charset="0"/>
                <a:ea typeface="华文中宋" panose="02010600040101010101" pitchFamily="2" charset="-122"/>
              </a:rPr>
              <a:t>'</a:t>
            </a:r>
            <a:r>
              <a:rPr lang="en-US" altLang="zh-CN" dirty="0">
                <a:solidFill>
                  <a:srgbClr val="0000CC"/>
                </a:solidFill>
                <a:latin typeface="Arial" panose="020B0604020202020204" pitchFamily="34" charset="0"/>
              </a:rPr>
              <a:t>IS</a:t>
            </a:r>
            <a:r>
              <a:rPr lang="en-US" altLang="zh-CN" dirty="0">
                <a:solidFill>
                  <a:srgbClr val="0000CC"/>
                </a:solidFill>
                <a:latin typeface="Arial" panose="020B0604020202020204" pitchFamily="34" charset="0"/>
                <a:ea typeface="华文中宋" panose="02010600040101010101" pitchFamily="2" charset="-122"/>
              </a:rPr>
              <a:t>'</a:t>
            </a:r>
            <a:r>
              <a:rPr lang="en-US" altLang="zh-CN" dirty="0">
                <a:solidFill>
                  <a:srgbClr val="0000CC"/>
                </a:solidFill>
                <a:latin typeface="Arial" panose="020B0604020202020204" pitchFamily="34" charset="0"/>
              </a:rPr>
              <a:t> ;</a:t>
            </a:r>
            <a:endParaRPr lang="zh-CN" altLang="en-US" dirty="0">
              <a:solidFill>
                <a:srgbClr val="0000CC"/>
              </a:solidFill>
              <a:latin typeface="Arial" panose="020B0604020202020204" pitchFamily="34" charset="0"/>
            </a:endParaRPr>
          </a:p>
          <a:p>
            <a:pPr marL="357505" indent="-357505" algn="just">
              <a:buNone/>
            </a:pPr>
            <a:endParaRPr lang="zh-CN" altLang="en-US" dirty="0">
              <a:solidFill>
                <a:srgbClr val="0000CC"/>
              </a:solidFill>
              <a:latin typeface="Arial" panose="020B0604020202020204" pitchFamily="34" charset="0"/>
            </a:endParaRPr>
          </a:p>
          <a:p>
            <a:pPr marL="357505" indent="-357505"/>
            <a:r>
              <a:rPr lang="zh-CN" altLang="en-US" dirty="0">
                <a:latin typeface="Arial" panose="020B0604020202020204" pitchFamily="34" charset="0"/>
              </a:rPr>
              <a:t>将所有学生的年龄增加</a:t>
            </a:r>
            <a:r>
              <a:rPr lang="en-US" altLang="zh-CN" dirty="0">
                <a:latin typeface="Arial" panose="020B0604020202020204" pitchFamily="34" charset="0"/>
              </a:rPr>
              <a:t>1</a:t>
            </a:r>
            <a:r>
              <a:rPr lang="zh-CN" altLang="en-US" dirty="0">
                <a:latin typeface="Arial" panose="020B0604020202020204" pitchFamily="34" charset="0"/>
              </a:rPr>
              <a:t>岁。</a:t>
            </a:r>
            <a:endParaRPr lang="zh-CN" altLang="en-US" dirty="0">
              <a:latin typeface="Arial" panose="020B0604020202020204" pitchFamily="34" charset="0"/>
            </a:endParaRPr>
          </a:p>
          <a:p>
            <a:pPr marL="357505" indent="-357505" algn="just">
              <a:spcBef>
                <a:spcPts val="600"/>
              </a:spcBef>
              <a:buNone/>
            </a:pPr>
            <a:r>
              <a:rPr lang="zh-CN" altLang="en-US"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UPDATE  </a:t>
            </a:r>
            <a:r>
              <a:rPr lang="en-US" altLang="zh-CN" dirty="0">
                <a:solidFill>
                  <a:srgbClr val="0000CC"/>
                </a:solidFill>
                <a:latin typeface="Arial" panose="020B0604020202020204" pitchFamily="34" charset="0"/>
              </a:rPr>
              <a:t>S</a:t>
            </a:r>
            <a:endParaRPr lang="en-US" altLang="zh-CN" dirty="0">
              <a:solidFill>
                <a:srgbClr val="0000CC"/>
              </a:solidFill>
              <a:latin typeface="Arial" panose="020B0604020202020204" pitchFamily="34" charset="0"/>
            </a:endParaRPr>
          </a:p>
          <a:p>
            <a:pPr marL="357505" indent="-357505" algn="just">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SET</a:t>
            </a:r>
            <a:r>
              <a:rPr lang="en-US" altLang="zh-CN" dirty="0">
                <a:solidFill>
                  <a:srgbClr val="0000CC"/>
                </a:solidFill>
                <a:latin typeface="Arial" panose="020B0604020202020204" pitchFamily="34" charset="0"/>
              </a:rPr>
              <a:t>  Sage = Sage+1 ;</a:t>
            </a:r>
            <a:endParaRPr lang="en-US" altLang="zh-CN" dirty="0">
              <a:solidFill>
                <a:srgbClr val="0000CC"/>
              </a:solidFill>
              <a:latin typeface="Arial" panose="020B0604020202020204" pitchFamily="34" charset="0"/>
            </a:endParaRPr>
          </a:p>
          <a:p>
            <a:pPr marL="357505" indent="-357505" algn="just"/>
            <a:endParaRPr lang="en-US" altLang="zh-CN" dirty="0">
              <a:solidFill>
                <a:srgbClr val="0000CC"/>
              </a:solidFill>
              <a:latin typeface="Arial" panose="020B0604020202020204" pitchFamily="34" charset="0"/>
            </a:endParaRPr>
          </a:p>
          <a:p>
            <a:pPr marL="357505" indent="-357505" algn="just">
              <a:buNone/>
            </a:pPr>
            <a:endParaRPr lang="en-US" altLang="zh-CN" dirty="0">
              <a:solidFill>
                <a:srgbClr val="0000CC"/>
              </a:solidFill>
              <a:latin typeface="Arial" panose="020B0604020202020204" pitchFamily="34" charset="0"/>
            </a:endParaRPr>
          </a:p>
        </p:txBody>
      </p:sp>
      <p:sp>
        <p:nvSpPr>
          <p:cNvPr id="66765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修改多个元组的值</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7650">
                                            <p:txEl>
                                              <p:charRg st="17" end="3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7650">
                                            <p:txEl>
                                              <p:charRg st="36" end="6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7650">
                                            <p:txEl>
                                              <p:charRg st="64" end="9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7650">
                                            <p:txEl>
                                              <p:charRg st="96" end="1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67650">
                                            <p:txEl>
                                              <p:charRg st="110" end="12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7650">
                                            <p:txEl>
                                              <p:charRg st="129" end="15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765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idx="1"/>
          </p:nvPr>
        </p:nvSpPr>
        <p:spPr>
          <a:xfrm>
            <a:off x="152400" y="1143000"/>
            <a:ext cx="8812213" cy="5526088"/>
          </a:xfrm>
        </p:spPr>
        <p:txBody>
          <a:bodyPr vert="horz" wrap="square" lIns="91440" tIns="45720" rIns="91440" bIns="45720" anchor="t" anchorCtr="0"/>
          <a:p>
            <a:pPr marL="263525" indent="-263525" algn="just"/>
            <a:r>
              <a:rPr lang="zh-CN" altLang="en-US" dirty="0">
                <a:latin typeface="Arial" panose="020B0604020202020204" pitchFamily="34" charset="0"/>
              </a:rPr>
              <a:t>将计算机科学系全体学生的成绩置空。</a:t>
            </a:r>
            <a:endParaRPr lang="zh-CN" altLang="en-US" dirty="0">
              <a:latin typeface="Arial" panose="020B0604020202020204" pitchFamily="34" charset="0"/>
            </a:endParaRPr>
          </a:p>
          <a:p>
            <a:pPr marL="263525" indent="-263525" algn="just">
              <a:spcBef>
                <a:spcPct val="20000"/>
              </a:spcBef>
              <a:buNone/>
            </a:pPr>
            <a:r>
              <a:rPr lang="zh-CN" altLang="en-US" dirty="0">
                <a:latin typeface="Arial" panose="020B0604020202020204" pitchFamily="34" charset="0"/>
              </a:rPr>
              <a:t>        </a:t>
            </a:r>
            <a:r>
              <a:rPr lang="en-US" altLang="zh-CN" dirty="0">
                <a:solidFill>
                  <a:srgbClr val="FF0000"/>
                </a:solidFill>
                <a:latin typeface="Arial" panose="020B0604020202020204" pitchFamily="34" charset="0"/>
              </a:rPr>
              <a:t>UPDATE </a:t>
            </a:r>
            <a:r>
              <a:rPr lang="en-US" altLang="zh-CN" dirty="0">
                <a:solidFill>
                  <a:srgbClr val="0000CC"/>
                </a:solidFill>
                <a:latin typeface="Arial" panose="020B0604020202020204" pitchFamily="34" charset="0"/>
              </a:rPr>
              <a:t> SC</a:t>
            </a:r>
            <a:endParaRPr lang="en-US" altLang="zh-CN" dirty="0">
              <a:solidFill>
                <a:srgbClr val="0000CC"/>
              </a:solidFill>
              <a:latin typeface="Arial" panose="020B0604020202020204" pitchFamily="34" charset="0"/>
            </a:endParaRPr>
          </a:p>
          <a:p>
            <a:pPr marL="263525" indent="-263525" algn="just">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SET</a:t>
            </a:r>
            <a:r>
              <a:rPr lang="en-US" altLang="zh-CN" dirty="0">
                <a:solidFill>
                  <a:srgbClr val="0000CC"/>
                </a:solidFill>
                <a:latin typeface="Arial" panose="020B0604020202020204" pitchFamily="34" charset="0"/>
              </a:rPr>
              <a:t>   Score = NULL</a:t>
            </a:r>
            <a:endParaRPr lang="en-US" altLang="zh-CN" dirty="0">
              <a:solidFill>
                <a:srgbClr val="0000CC"/>
              </a:solidFill>
              <a:latin typeface="Arial" panose="020B0604020202020204" pitchFamily="34" charset="0"/>
            </a:endParaRPr>
          </a:p>
          <a:p>
            <a:pPr marL="263525" indent="-263525" algn="just">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 WHERE</a:t>
            </a:r>
            <a:r>
              <a:rPr lang="en-US" altLang="zh-CN" dirty="0">
                <a:solidFill>
                  <a:srgbClr val="0000CC"/>
                </a:solidFill>
                <a:latin typeface="Arial" panose="020B0604020202020204" pitchFamily="34" charset="0"/>
              </a:rPr>
              <a:t>   Sno  </a:t>
            </a:r>
            <a:r>
              <a:rPr lang="en-US" altLang="zh-CN" dirty="0">
                <a:solidFill>
                  <a:srgbClr val="C00000"/>
                </a:solidFill>
                <a:latin typeface="Arial" panose="020B0604020202020204" pitchFamily="34" charset="0"/>
              </a:rPr>
              <a:t>IN</a:t>
            </a:r>
            <a:endParaRPr lang="en-US" altLang="zh-CN" dirty="0">
              <a:solidFill>
                <a:srgbClr val="C00000"/>
              </a:solidFill>
              <a:latin typeface="Arial" panose="020B0604020202020204" pitchFamily="34" charset="0"/>
            </a:endParaRPr>
          </a:p>
          <a:p>
            <a:pPr marL="263525" indent="-263525" algn="just">
              <a:buNone/>
            </a:pPr>
            <a:r>
              <a:rPr lang="en-US" altLang="zh-CN" dirty="0">
                <a:solidFill>
                  <a:srgbClr val="0000CC"/>
                </a:solidFill>
                <a:latin typeface="Arial" panose="020B0604020202020204" pitchFamily="34" charset="0"/>
              </a:rPr>
              <a:t>             ( </a:t>
            </a:r>
            <a:r>
              <a:rPr lang="en-US" altLang="zh-CN" dirty="0">
                <a:latin typeface="Arial" panose="020B0604020202020204" pitchFamily="34" charset="0"/>
              </a:rPr>
              <a:t>SELECT  Sno  FROM  S</a:t>
            </a:r>
            <a:endParaRPr lang="en-US" altLang="zh-CN" dirty="0">
              <a:latin typeface="Arial" panose="020B0604020202020204" pitchFamily="34" charset="0"/>
            </a:endParaRPr>
          </a:p>
          <a:p>
            <a:pPr marL="263525" indent="-263525" algn="just">
              <a:buNone/>
            </a:pPr>
            <a:r>
              <a:rPr lang="en-US" altLang="zh-CN" dirty="0">
                <a:latin typeface="Arial" panose="020B0604020202020204" pitchFamily="34" charset="0"/>
              </a:rPr>
              <a:t>                WHERE  Sdept = 'CS'  </a:t>
            </a:r>
            <a:r>
              <a:rPr lang="en-US" altLang="zh-CN" dirty="0">
                <a:solidFill>
                  <a:srgbClr val="0000CC"/>
                </a:solidFill>
                <a:latin typeface="Arial" panose="020B0604020202020204" pitchFamily="34" charset="0"/>
              </a:rPr>
              <a:t>);</a:t>
            </a:r>
            <a:endParaRPr lang="en-US" altLang="zh-CN" dirty="0">
              <a:solidFill>
                <a:srgbClr val="0000CC"/>
              </a:solidFill>
              <a:latin typeface="Arial" panose="020B0604020202020204" pitchFamily="34" charset="0"/>
            </a:endParaRPr>
          </a:p>
        </p:txBody>
      </p:sp>
      <p:sp>
        <p:nvSpPr>
          <p:cNvPr id="67072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带子查询的修改语句</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idx="1"/>
          </p:nvPr>
        </p:nvSpPr>
        <p:spPr>
          <a:xfrm>
            <a:off x="152400" y="908050"/>
            <a:ext cx="8740775" cy="5545138"/>
          </a:xfrm>
        </p:spPr>
        <p:txBody>
          <a:bodyPr vert="horz" wrap="square" lIns="91440" tIns="45720" rIns="91440" bIns="45720" anchor="t" anchorCtr="0"/>
          <a:p>
            <a:pPr marL="361950" indent="-361950">
              <a:buNone/>
            </a:pPr>
            <a:r>
              <a:rPr lang="en-US" altLang="zh-CN" dirty="0">
                <a:latin typeface="Arial" panose="020B0604020202020204" pitchFamily="34" charset="0"/>
              </a:rPr>
              <a:t>   </a:t>
            </a:r>
            <a:r>
              <a:rPr lang="en-US" altLang="zh-CN" sz="3200" dirty="0">
                <a:latin typeface="Arial" panose="020B0604020202020204" pitchFamily="34" charset="0"/>
              </a:rPr>
              <a:t>DBMS</a:t>
            </a:r>
            <a:r>
              <a:rPr lang="zh-CN" altLang="en-US" sz="3200" dirty="0">
                <a:latin typeface="Arial" panose="020B0604020202020204" pitchFamily="34" charset="0"/>
              </a:rPr>
              <a:t>在执行修改语句时自动检查修改操作是否破坏表上已定义的完整性规则。</a:t>
            </a:r>
            <a:endParaRPr lang="zh-CN" altLang="en-US" sz="3200" dirty="0">
              <a:latin typeface="Arial" panose="020B0604020202020204" pitchFamily="34" charset="0"/>
            </a:endParaRPr>
          </a:p>
          <a:p>
            <a:pPr marL="361950" indent="-361950">
              <a:spcBef>
                <a:spcPct val="25000"/>
              </a:spcBef>
            </a:pPr>
            <a:r>
              <a:rPr lang="zh-CN" altLang="en-US" sz="3200" dirty="0">
                <a:solidFill>
                  <a:srgbClr val="0033CC"/>
                </a:solidFill>
                <a:latin typeface="Arial" panose="020B0604020202020204" pitchFamily="34" charset="0"/>
              </a:rPr>
              <a:t>用户定义的完整性</a:t>
            </a:r>
            <a:endParaRPr lang="zh-CN" altLang="en-US" sz="3200" dirty="0">
              <a:solidFill>
                <a:srgbClr val="0033CC"/>
              </a:solidFill>
              <a:latin typeface="Arial" panose="020B0604020202020204" pitchFamily="34" charset="0"/>
            </a:endParaRPr>
          </a:p>
          <a:p>
            <a:pPr marL="897255" lvl="1">
              <a:spcBef>
                <a:spcPct val="0"/>
              </a:spcBef>
            </a:pPr>
            <a:r>
              <a:rPr lang="zh-CN" altLang="en-US" dirty="0">
                <a:latin typeface="Arial" panose="020B0604020202020204" pitchFamily="34" charset="0"/>
              </a:rPr>
              <a:t>对于有</a:t>
            </a:r>
            <a:r>
              <a:rPr lang="en-US" altLang="zh-CN" dirty="0">
                <a:solidFill>
                  <a:srgbClr val="C00000"/>
                </a:solidFill>
                <a:latin typeface="Arial" panose="020B0604020202020204" pitchFamily="34" charset="0"/>
              </a:rPr>
              <a:t>NOT NULL</a:t>
            </a:r>
            <a:r>
              <a:rPr lang="zh-CN" altLang="en-US" dirty="0">
                <a:latin typeface="Arial" panose="020B0604020202020204" pitchFamily="34" charset="0"/>
              </a:rPr>
              <a:t>约束的属性列是否提供了非空值</a:t>
            </a:r>
            <a:endParaRPr lang="zh-CN" altLang="en-US" dirty="0">
              <a:latin typeface="Arial" panose="020B0604020202020204" pitchFamily="34" charset="0"/>
            </a:endParaRPr>
          </a:p>
          <a:p>
            <a:pPr marL="897255" lvl="1">
              <a:spcBef>
                <a:spcPct val="0"/>
              </a:spcBef>
            </a:pPr>
            <a:r>
              <a:rPr lang="zh-CN" altLang="en-US" dirty="0">
                <a:latin typeface="Arial" panose="020B0604020202020204" pitchFamily="34" charset="0"/>
              </a:rPr>
              <a:t>对于有</a:t>
            </a:r>
            <a:r>
              <a:rPr lang="en-US" altLang="zh-CN" dirty="0">
                <a:solidFill>
                  <a:srgbClr val="C00000"/>
                </a:solidFill>
                <a:latin typeface="Arial" panose="020B0604020202020204" pitchFamily="34" charset="0"/>
              </a:rPr>
              <a:t>UNIQUE</a:t>
            </a:r>
            <a:r>
              <a:rPr lang="zh-CN" altLang="en-US" dirty="0">
                <a:latin typeface="Arial" panose="020B0604020202020204" pitchFamily="34" charset="0"/>
              </a:rPr>
              <a:t>约束的属性列是否提供了非重复值</a:t>
            </a:r>
            <a:endParaRPr lang="zh-CN" altLang="en-US" dirty="0">
              <a:latin typeface="Arial" panose="020B0604020202020204" pitchFamily="34" charset="0"/>
            </a:endParaRPr>
          </a:p>
          <a:p>
            <a:pPr marL="897255" lvl="1">
              <a:spcBef>
                <a:spcPct val="0"/>
              </a:spcBef>
            </a:pPr>
            <a:r>
              <a:rPr lang="zh-CN" altLang="en-US" dirty="0">
                <a:latin typeface="Arial" panose="020B0604020202020204" pitchFamily="34" charset="0"/>
              </a:rPr>
              <a:t>对于有</a:t>
            </a:r>
            <a:r>
              <a:rPr lang="zh-CN" altLang="en-US" dirty="0">
                <a:solidFill>
                  <a:srgbClr val="C00000"/>
                </a:solidFill>
                <a:latin typeface="Arial" panose="020B0604020202020204" pitchFamily="34" charset="0"/>
              </a:rPr>
              <a:t>值域约束</a:t>
            </a:r>
            <a:r>
              <a:rPr lang="zh-CN" altLang="en-US" dirty="0">
                <a:latin typeface="Arial" panose="020B0604020202020204" pitchFamily="34" charset="0"/>
              </a:rPr>
              <a:t>的属性列所提供的属性值是否在值域范围内</a:t>
            </a:r>
            <a:endParaRPr lang="zh-CN" altLang="en-US" dirty="0">
              <a:latin typeface="Arial" panose="020B0604020202020204" pitchFamily="34" charset="0"/>
            </a:endParaRPr>
          </a:p>
        </p:txBody>
      </p:sp>
      <p:sp>
        <p:nvSpPr>
          <p:cNvPr id="882691" name="Rectangle 3"/>
          <p:cNvSpPr>
            <a:spLocks noGrp="1" noChangeArrowheads="1"/>
          </p:cNvSpPr>
          <p:nvPr>
            <p:ph type="title"/>
          </p:nvPr>
        </p:nvSpPr>
        <p:spPr>
          <a:xfrm>
            <a:off x="179388" y="139700"/>
            <a:ext cx="8659813" cy="503238"/>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修改数据的完整性检查</a:t>
            </a:r>
            <a:endPar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882692" name="AutoShape 4">
            <a:hlinkClick r:id="rId1" action="ppaction://hlinksldjump"/>
          </p:cNvPr>
          <p:cNvSpPr>
            <a:spLocks noChangeArrowheads="1"/>
          </p:cNvSpPr>
          <p:nvPr/>
        </p:nvSpPr>
        <p:spPr bwMode="auto">
          <a:xfrm>
            <a:off x="8286750" y="6072188"/>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2" name="CAMERA.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idx="1"/>
          </p:nvPr>
        </p:nvSpPr>
        <p:spPr>
          <a:xfrm>
            <a:off x="152400" y="981075"/>
            <a:ext cx="8812213" cy="5526088"/>
          </a:xfrm>
        </p:spPr>
        <p:txBody>
          <a:bodyPr vert="horz" wrap="square" lIns="91440" tIns="45720" rIns="91440" bIns="45720" anchor="t" anchorCtr="0"/>
          <a:p>
            <a:pPr marL="365125" indent="-365125">
              <a:lnSpc>
                <a:spcPct val="115000"/>
              </a:lnSpc>
              <a:spcBef>
                <a:spcPct val="35000"/>
              </a:spcBef>
              <a:buNone/>
            </a:pPr>
            <a:r>
              <a:rPr lang="zh-CN" altLang="en-US" dirty="0">
                <a:latin typeface="Arial" panose="020B0604020202020204" pitchFamily="34" charset="0"/>
              </a:rPr>
              <a:t>		</a:t>
            </a:r>
            <a:r>
              <a:rPr lang="en-US" altLang="zh-CN" dirty="0">
                <a:latin typeface="Arial" panose="020B0604020202020204" pitchFamily="34" charset="0"/>
              </a:rPr>
              <a:t>5.4</a:t>
            </a:r>
            <a:r>
              <a:rPr lang="en-US" altLang="zh-CN" dirty="0">
                <a:latin typeface="Arial" panose="020B0604020202020204" pitchFamily="34" charset="0"/>
              </a:rPr>
              <a:t>.1 </a:t>
            </a:r>
            <a:r>
              <a:rPr lang="zh-CN" altLang="en-US" dirty="0">
                <a:latin typeface="Arial" panose="020B0604020202020204" pitchFamily="34" charset="0"/>
              </a:rPr>
              <a:t>插入数据</a:t>
            </a:r>
            <a:endParaRPr lang="zh-CN" altLang="en-US" dirty="0">
              <a:latin typeface="Arial" panose="020B0604020202020204" pitchFamily="34" charset="0"/>
            </a:endParaRPr>
          </a:p>
          <a:p>
            <a:pPr marL="365125" indent="-365125">
              <a:lnSpc>
                <a:spcPct val="115000"/>
              </a:lnSpc>
              <a:buNone/>
            </a:pPr>
            <a:r>
              <a:rPr lang="zh-CN" altLang="en-US" dirty="0">
                <a:latin typeface="Arial" panose="020B0604020202020204" pitchFamily="34" charset="0"/>
              </a:rPr>
              <a:t>		</a:t>
            </a:r>
            <a:r>
              <a:rPr lang="en-US" altLang="zh-CN" dirty="0">
                <a:latin typeface="Arial" panose="020B0604020202020204" pitchFamily="34" charset="0"/>
              </a:rPr>
              <a:t>5.4</a:t>
            </a:r>
            <a:r>
              <a:rPr lang="en-US" altLang="zh-CN" dirty="0">
                <a:latin typeface="Arial" panose="020B0604020202020204" pitchFamily="34" charset="0"/>
              </a:rPr>
              <a:t>.2 </a:t>
            </a:r>
            <a:r>
              <a:rPr lang="zh-CN" altLang="en-US" dirty="0">
                <a:latin typeface="Arial" panose="020B0604020202020204" pitchFamily="34" charset="0"/>
              </a:rPr>
              <a:t>修改数据</a:t>
            </a:r>
            <a:endParaRPr lang="zh-CN" altLang="en-US" dirty="0">
              <a:latin typeface="Arial" panose="020B0604020202020204" pitchFamily="34" charset="0"/>
            </a:endParaRPr>
          </a:p>
          <a:p>
            <a:pPr marL="365125" indent="-365125">
              <a:lnSpc>
                <a:spcPct val="115000"/>
              </a:lnSpc>
              <a:buNone/>
            </a:pPr>
            <a:r>
              <a:rPr lang="zh-CN" altLang="en-US" dirty="0">
                <a:latin typeface="Arial" panose="020B0604020202020204" pitchFamily="34" charset="0"/>
              </a:rPr>
              <a:t>	</a:t>
            </a:r>
            <a:r>
              <a:rPr lang="zh-CN" altLang="en-US"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rPr>
              <a:t>5.4</a:t>
            </a:r>
            <a:r>
              <a:rPr lang="en-US" altLang="zh-CN" dirty="0">
                <a:solidFill>
                  <a:srgbClr val="0000CC"/>
                </a:solidFill>
                <a:latin typeface="Arial" panose="020B0604020202020204" pitchFamily="34" charset="0"/>
              </a:rPr>
              <a:t>.3 </a:t>
            </a:r>
            <a:r>
              <a:rPr lang="zh-CN" altLang="en-US" dirty="0">
                <a:solidFill>
                  <a:srgbClr val="0000CC"/>
                </a:solidFill>
                <a:latin typeface="Arial" panose="020B0604020202020204" pitchFamily="34" charset="0"/>
              </a:rPr>
              <a:t>删除数据</a:t>
            </a:r>
            <a:endParaRPr lang="zh-CN" altLang="en-US" dirty="0">
              <a:solidFill>
                <a:srgbClr val="0000CC"/>
              </a:solidFill>
              <a:latin typeface="Arial" panose="020B0604020202020204" pitchFamily="34" charset="0"/>
            </a:endParaRPr>
          </a:p>
          <a:p>
            <a:pPr marL="365125" indent="-365125">
              <a:lnSpc>
                <a:spcPct val="115000"/>
              </a:lnSpc>
              <a:buNone/>
            </a:pPr>
            <a:r>
              <a:rPr lang="zh-CN" altLang="en-US"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sym typeface="+mn-ea"/>
              </a:rPr>
              <a:t>) </a:t>
            </a:r>
            <a:r>
              <a:rPr lang="zh-CN" altLang="en-US" dirty="0">
                <a:solidFill>
                  <a:srgbClr val="0000CC"/>
                </a:solidFill>
                <a:latin typeface="Arial" panose="020B0604020202020204" pitchFamily="34" charset="0"/>
              </a:rPr>
              <a:t>删除某一个元组的值</a:t>
            </a:r>
            <a:endParaRPr lang="zh-CN" altLang="en-US" dirty="0">
              <a:solidFill>
                <a:srgbClr val="0000CC"/>
              </a:solidFill>
              <a:latin typeface="Arial" panose="020B0604020202020204" pitchFamily="34" charset="0"/>
            </a:endParaRPr>
          </a:p>
          <a:p>
            <a:pPr marL="365125" indent="-365125">
              <a:lnSpc>
                <a:spcPct val="115000"/>
              </a:lnSpc>
              <a:buNone/>
            </a:pPr>
            <a:r>
              <a:rPr lang="zh-CN" altLang="en-US"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rPr>
              <a:t>2</a:t>
            </a:r>
            <a:r>
              <a:rPr lang="zh-CN" altLang="en-US" dirty="0">
                <a:solidFill>
                  <a:srgbClr val="0000CC"/>
                </a:solidFill>
                <a:latin typeface="Arial" panose="020B0604020202020204" pitchFamily="34" charset="0"/>
                <a:sym typeface="+mn-ea"/>
              </a:rPr>
              <a:t>) </a:t>
            </a:r>
            <a:r>
              <a:rPr lang="zh-CN" altLang="en-US" dirty="0">
                <a:solidFill>
                  <a:srgbClr val="0000CC"/>
                </a:solidFill>
                <a:latin typeface="Arial" panose="020B0604020202020204" pitchFamily="34" charset="0"/>
              </a:rPr>
              <a:t>删除多个元组的值</a:t>
            </a:r>
            <a:endParaRPr lang="zh-CN" altLang="en-US" dirty="0">
              <a:solidFill>
                <a:srgbClr val="0000CC"/>
              </a:solidFill>
              <a:latin typeface="Arial" panose="020B0604020202020204" pitchFamily="34" charset="0"/>
            </a:endParaRPr>
          </a:p>
          <a:p>
            <a:pPr marL="365125" indent="-365125">
              <a:lnSpc>
                <a:spcPct val="115000"/>
              </a:lnSpc>
              <a:buNone/>
            </a:pPr>
            <a:r>
              <a:rPr lang="zh-CN" altLang="en-US"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rPr>
              <a:t>3</a:t>
            </a:r>
            <a:r>
              <a:rPr lang="zh-CN" altLang="en-US" dirty="0">
                <a:solidFill>
                  <a:srgbClr val="0000CC"/>
                </a:solidFill>
                <a:latin typeface="Arial" panose="020B0604020202020204" pitchFamily="34" charset="0"/>
                <a:sym typeface="+mn-ea"/>
              </a:rPr>
              <a:t>) </a:t>
            </a:r>
            <a:r>
              <a:rPr lang="zh-CN" altLang="en-US" dirty="0">
                <a:solidFill>
                  <a:srgbClr val="0000CC"/>
                </a:solidFill>
                <a:latin typeface="Arial" panose="020B0604020202020204" pitchFamily="34" charset="0"/>
              </a:rPr>
              <a:t>带子查询的删除语句</a:t>
            </a:r>
            <a:endParaRPr lang="zh-CN" altLang="en-US" dirty="0">
              <a:solidFill>
                <a:srgbClr val="0000CC"/>
              </a:solidFill>
              <a:latin typeface="Arial" panose="020B0604020202020204" pitchFamily="34" charset="0"/>
            </a:endParaRPr>
          </a:p>
        </p:txBody>
      </p:sp>
      <p:sp>
        <p:nvSpPr>
          <p:cNvPr id="67174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5.4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数据更新</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671748" name="AutoShape 4">
            <a:hlinkClick r:id="rId1" action="ppaction://hlinksldjump"/>
          </p:cNvPr>
          <p:cNvSpPr>
            <a:spLocks noChangeArrowheads="1"/>
          </p:cNvSpPr>
          <p:nvPr/>
        </p:nvSpPr>
        <p:spPr bwMode="auto">
          <a:xfrm>
            <a:off x="8358188" y="6096000"/>
            <a:ext cx="576263" cy="6191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2" name="CAMERA.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noChangeArrowheads="1"/>
          </p:cNvSpPr>
          <p:nvPr>
            <p:ph idx="1"/>
          </p:nvPr>
        </p:nvSpPr>
        <p:spPr>
          <a:xfrm>
            <a:off x="152400" y="908050"/>
            <a:ext cx="8777288" cy="5545138"/>
          </a:xfrm>
        </p:spPr>
        <p:txBody>
          <a:bodyPr vert="horz" wrap="square" lIns="91440" tIns="45720" rIns="91440" bIns="45720" numCol="1" anchor="t" anchorCtr="0" compatLnSpc="1"/>
          <a:lstStyle/>
          <a:p>
            <a:pPr marL="265430" marR="0" lvl="0" indent="-26543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Char char="n"/>
              <a:defRPr/>
            </a:pP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基本语法：</a:t>
            </a:r>
            <a:endPar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65125" marR="0" lvl="0" indent="-365125" algn="l" defTabSz="914400" rtl="0" eaLnBrk="0" fontAlgn="base" latinLnBrk="0" hangingPunct="0">
              <a:lnSpc>
                <a:spcPct val="100000"/>
              </a:lnSpc>
              <a:spcBef>
                <a:spcPct val="35000"/>
              </a:spcBef>
              <a:spcAft>
                <a:spcPct val="0"/>
              </a:spcAft>
              <a:buClr>
                <a:srgbClr val="FF0000"/>
              </a:buClr>
              <a:buSzPct val="65000"/>
              <a:buFont typeface="Wingdings" panose="05000000000000000000" pitchFamily="2" charset="2"/>
              <a:buNone/>
              <a:defRPr/>
            </a:pP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6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DELETE   FROM</a:t>
            </a:r>
            <a:r>
              <a:rPr kumimoji="1"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&lt;</a:t>
            </a:r>
            <a:r>
              <a:rPr kumimoji="1"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表名</a:t>
            </a:r>
            <a:r>
              <a:rPr kumimoji="1"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&gt;</a:t>
            </a:r>
            <a:endParaRPr kumimoji="1"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a:p>
            <a:pPr marL="365125" marR="0" lvl="0" indent="-365125" algn="just"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r>
              <a:rPr kumimoji="1"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 </a:t>
            </a:r>
            <a:r>
              <a:rPr kumimoji="1" lang="en-US" altLang="zh-CN" sz="36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WHERE</a:t>
            </a:r>
            <a:r>
              <a:rPr kumimoji="1"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&lt;</a:t>
            </a:r>
            <a:r>
              <a:rPr kumimoji="1"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条件</a:t>
            </a:r>
            <a:r>
              <a:rPr kumimoji="1"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&gt; ]</a:t>
            </a:r>
            <a:r>
              <a:rPr kumimoji="1"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a:t>
            </a:r>
            <a:endParaRPr kumimoji="1"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a:p>
            <a:pPr marL="265430" marR="0" lvl="0" indent="-265430" algn="just" defTabSz="914400" rtl="0" eaLnBrk="0" fontAlgn="base" latinLnBrk="0" hangingPunct="0">
              <a:lnSpc>
                <a:spcPct val="100000"/>
              </a:lnSpc>
              <a:spcBef>
                <a:spcPts val="5400"/>
              </a:spcBef>
              <a:spcAft>
                <a:spcPct val="0"/>
              </a:spcAft>
              <a:buClr>
                <a:srgbClr val="FF0000"/>
              </a:buClr>
              <a:buSzPct val="65000"/>
              <a:buFont typeface="Wingdings" panose="05000000000000000000" pitchFamily="2" charset="2"/>
              <a:buChar char="n"/>
              <a:defRPr/>
            </a:pP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功能：</a:t>
            </a:r>
            <a:endPar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265430" marR="0" lvl="0" indent="-265430" algn="just" defTabSz="914400" rtl="0" eaLnBrk="0" fontAlgn="base" latinLnBrk="0" hangingPunct="0">
              <a:lnSpc>
                <a:spcPct val="100000"/>
              </a:lnSpc>
              <a:spcBef>
                <a:spcPct val="20000"/>
              </a:spcBef>
              <a:spcAft>
                <a:spcPct val="0"/>
              </a:spcAft>
              <a:buClr>
                <a:srgbClr val="FF0000"/>
              </a:buClr>
              <a:buSzPct val="65000"/>
              <a:buFont typeface="Wingdings" panose="05000000000000000000" pitchFamily="2" charset="2"/>
              <a:buNone/>
              <a:defRPr/>
            </a:pP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删除</a:t>
            </a:r>
            <a:r>
              <a:rPr kumimoji="1" lang="zh-CN" altLang="en-US" sz="3200" b="1" i="0" u="none" strike="noStrike" kern="0" cap="none" spc="0" normalizeH="0" baseline="0" noProof="0" dirty="0" smtClean="0">
                <a:ln>
                  <a:noFill/>
                </a:ln>
                <a:solidFill>
                  <a:srgbClr val="000000"/>
                </a:solidFill>
                <a:effectLst/>
                <a:uLnTx/>
                <a:uFillTx/>
                <a:latin typeface="+mn-lt"/>
                <a:ea typeface="+mn-ea"/>
                <a:cs typeface="+mn-cs"/>
              </a:rPr>
              <a:t>指定表中</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符合</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WHERE</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条件的元组，</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WHERE</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子句</a:t>
            </a:r>
            <a:r>
              <a:rPr kumimoji="1" lang="zh-CN" altLang="en-US" sz="3200" b="1" i="0" u="none" strike="noStrike" kern="0" cap="none" spc="0" normalizeH="0" baseline="0" noProof="0" dirty="0" smtClean="0">
                <a:ln>
                  <a:noFill/>
                </a:ln>
                <a:solidFill>
                  <a:srgbClr val="000000"/>
                </a:solidFill>
                <a:effectLst/>
                <a:uLnTx/>
                <a:uFillTx/>
                <a:latin typeface="+mn-lt"/>
                <a:ea typeface="+mn-ea"/>
                <a:cs typeface="+mn-cs"/>
              </a:rPr>
              <a:t>缺省表示要删除表中的所有元组</a:t>
            </a:r>
            <a:endParaRPr kumimoji="1" lang="zh-CN" altLang="en-US" sz="3600" b="1" i="0" u="none" strike="noStrike" kern="0" cap="none" spc="0" normalizeH="0" baseline="0" noProof="0" dirty="0" smtClean="0">
              <a:ln>
                <a:noFill/>
              </a:ln>
              <a:solidFill>
                <a:srgbClr val="000000"/>
              </a:solidFill>
              <a:effectLst/>
              <a:uLnTx/>
              <a:uFillTx/>
              <a:latin typeface="+mn-lt"/>
              <a:ea typeface="+mn-ea"/>
              <a:cs typeface="+mn-cs"/>
            </a:endParaRPr>
          </a:p>
          <a:p>
            <a:pPr marL="365125" marR="0" lvl="0" indent="-365125" algn="just" defTabSz="914400" rtl="0" eaLnBrk="0" fontAlgn="base" latinLnBrk="0" hangingPunct="0">
              <a:lnSpc>
                <a:spcPct val="100000"/>
              </a:lnSpc>
              <a:spcBef>
                <a:spcPct val="20000"/>
              </a:spcBef>
              <a:spcAft>
                <a:spcPct val="0"/>
              </a:spcAft>
              <a:buClr>
                <a:srgbClr val="FF0000"/>
              </a:buClr>
              <a:buSzPct val="65000"/>
              <a:buFont typeface="Wingdings" panose="05000000000000000000" pitchFamily="2" charset="2"/>
              <a:buNone/>
              <a:defRPr/>
            </a:pPr>
            <a:r>
              <a:rPr kumimoji="1" lang="zh-CN" altLang="en-US" sz="2800" b="1" i="0" u="none" strike="noStrike" kern="0" cap="none" spc="0" normalizeH="0" baseline="0" noProof="0" dirty="0" smtClean="0">
                <a:ln>
                  <a:noFill/>
                </a:ln>
                <a:solidFill>
                  <a:srgbClr val="FF0000"/>
                </a:solidFill>
                <a:effectLst/>
                <a:uLnTx/>
                <a:uFillTx/>
                <a:latin typeface="+mn-lt"/>
                <a:ea typeface="+mn-ea"/>
                <a:cs typeface="+mn-cs"/>
              </a:rPr>
              <a:t> </a:t>
            </a:r>
            <a:r>
              <a:rPr kumimoji="1" lang="zh-CN" altLang="en-US" sz="3200" b="1" i="0" u="none" strike="noStrike" kern="0" cap="none" spc="0" normalizeH="0" baseline="0" noProof="0" dirty="0" smtClean="0">
                <a:ln>
                  <a:noFill/>
                </a:ln>
                <a:solidFill>
                  <a:srgbClr val="FF0000"/>
                </a:solidFill>
                <a:effectLst/>
                <a:uLnTx/>
                <a:uFillTx/>
                <a:latin typeface="+mn-lt"/>
                <a:ea typeface="+mn-ea"/>
                <a:cs typeface="+mn-cs"/>
              </a:rPr>
              <a:t>注</a:t>
            </a:r>
            <a:r>
              <a:rPr kumimoji="1" lang="zh-CN" altLang="en-US" sz="3200" b="1" i="0" u="none" strike="noStrike" kern="0" cap="none" spc="0" normalizeH="0" baseline="0" noProof="0" dirty="0" smtClean="0">
                <a:ln>
                  <a:noFill/>
                </a:ln>
                <a:solidFill>
                  <a:srgbClr val="000000"/>
                </a:solidFill>
                <a:effectLst/>
                <a:uLnTx/>
                <a:uFillTx/>
                <a:latin typeface="+mn-lt"/>
                <a:ea typeface="+mn-ea"/>
                <a:cs typeface="+mn-cs"/>
              </a:rPr>
              <a:t>：表的定义仍在数据字典中</a:t>
            </a:r>
            <a:endParaRPr kumimoji="1" lang="zh-CN" altLang="en-US" sz="3200" b="1" i="0" u="none" strike="noStrike" kern="0" cap="none" spc="0" normalizeH="0" baseline="0" noProof="0" dirty="0" smtClean="0">
              <a:ln>
                <a:noFill/>
              </a:ln>
              <a:solidFill>
                <a:srgbClr val="000000"/>
              </a:solidFill>
              <a:effectLst/>
              <a:uLnTx/>
              <a:uFillTx/>
              <a:latin typeface="+mn-lt"/>
              <a:ea typeface="+mn-ea"/>
              <a:cs typeface="+mn-cs"/>
            </a:endParaRPr>
          </a:p>
        </p:txBody>
      </p:sp>
      <p:sp>
        <p:nvSpPr>
          <p:cNvPr id="2867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5.4.3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删除数据</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50180" name="Rectangle 4"/>
          <p:cNvSpPr/>
          <p:nvPr/>
        </p:nvSpPr>
        <p:spPr>
          <a:xfrm>
            <a:off x="684213" y="1577975"/>
            <a:ext cx="7127875" cy="1481138"/>
          </a:xfrm>
          <a:prstGeom prst="rect">
            <a:avLst/>
          </a:prstGeom>
          <a:noFill/>
          <a:ln w="28575" cap="flat" cmpd="sng">
            <a:solidFill>
              <a:srgbClr val="FF3300"/>
            </a:solidFill>
            <a:prstDash val="solid"/>
            <a:miter/>
            <a:headEnd type="none" w="med" len="med"/>
            <a:tailEnd type="none" w="med" len="med"/>
          </a:ln>
        </p:spPr>
        <p:txBody>
          <a:bodyPr wrap="none"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en-US" sz="4000" dirty="0">
              <a:solidFill>
                <a:srgbClr val="0000FF"/>
              </a:solidFill>
              <a:latin typeface="Arial" panose="020B0604020202020204" pitchFamily="34" charset="0"/>
            </a:endParaRPr>
          </a:p>
        </p:txBody>
      </p:sp>
    </p:spTree>
  </p:cSld>
  <p:clrMapOvr>
    <a:masterClrMapping/>
  </p:clrMapOvr>
  <p:transition>
    <p:random/>
    <p:sndAc>
      <p:stSnd>
        <p:snd r:embed="rId1" name="CAMERA.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idx="1"/>
          </p:nvPr>
        </p:nvSpPr>
        <p:spPr>
          <a:xfrm>
            <a:off x="152400" y="1143000"/>
            <a:ext cx="8740775" cy="5273675"/>
          </a:xfrm>
        </p:spPr>
        <p:txBody>
          <a:bodyPr vert="horz" wrap="square" lIns="91440" tIns="45720" rIns="91440" bIns="45720" anchor="t" anchorCtr="0"/>
          <a:p>
            <a:pPr marL="357505" indent="-357505"/>
            <a:r>
              <a:rPr lang="zh-CN" altLang="en-US" dirty="0">
                <a:latin typeface="Arial" panose="020B0604020202020204" pitchFamily="34" charset="0"/>
              </a:rPr>
              <a:t>删除学号为</a:t>
            </a:r>
            <a:r>
              <a:rPr lang="en-US" altLang="zh-CN" dirty="0">
                <a:latin typeface="Arial" panose="020B0604020202020204" pitchFamily="34" charset="0"/>
              </a:rPr>
              <a:t>090950</a:t>
            </a:r>
            <a:r>
              <a:rPr lang="zh-CN" altLang="en-US" dirty="0">
                <a:latin typeface="Arial" panose="020B0604020202020204" pitchFamily="34" charset="0"/>
              </a:rPr>
              <a:t>的学生记录。</a:t>
            </a:r>
            <a:endParaRPr lang="zh-CN" altLang="en-US" dirty="0">
              <a:latin typeface="Arial" panose="020B0604020202020204" pitchFamily="34" charset="0"/>
            </a:endParaRPr>
          </a:p>
          <a:p>
            <a:pPr marL="357505" indent="-357505">
              <a:spcBef>
                <a:spcPct val="50000"/>
              </a:spcBef>
              <a:buNone/>
            </a:pPr>
            <a:r>
              <a:rPr lang="zh-CN" altLang="en-US" dirty="0">
                <a:latin typeface="Arial" panose="020B0604020202020204" pitchFamily="34" charset="0"/>
              </a:rPr>
              <a:t>      </a:t>
            </a:r>
            <a:r>
              <a:rPr lang="en-US" altLang="zh-CN" dirty="0">
                <a:solidFill>
                  <a:srgbClr val="FF0000"/>
                </a:solidFill>
                <a:latin typeface="Arial" panose="020B0604020202020204" pitchFamily="34" charset="0"/>
              </a:rPr>
              <a:t>DELETE</a:t>
            </a: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 FROM</a:t>
            </a:r>
            <a:r>
              <a:rPr lang="en-US" altLang="zh-CN" dirty="0">
                <a:solidFill>
                  <a:srgbClr val="0000CC"/>
                </a:solidFill>
                <a:latin typeface="Arial" panose="020B0604020202020204" pitchFamily="34" charset="0"/>
              </a:rPr>
              <a:t>  S</a:t>
            </a:r>
            <a:endParaRPr lang="en-US" altLang="zh-CN" dirty="0">
              <a:solidFill>
                <a:srgbClr val="0000CC"/>
              </a:solidFill>
              <a:latin typeface="Arial" panose="020B0604020202020204" pitchFamily="34" charset="0"/>
            </a:endParaRPr>
          </a:p>
          <a:p>
            <a:pPr marL="357505" indent="-357505">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WHERE</a:t>
            </a:r>
            <a:r>
              <a:rPr lang="en-US" altLang="zh-CN" dirty="0">
                <a:solidFill>
                  <a:srgbClr val="0000CC"/>
                </a:solidFill>
                <a:latin typeface="Arial" panose="020B0604020202020204" pitchFamily="34" charset="0"/>
              </a:rPr>
              <a:t>  Sno = </a:t>
            </a:r>
            <a:r>
              <a:rPr lang="en-US" altLang="zh-CN" dirty="0">
                <a:solidFill>
                  <a:srgbClr val="0033CC"/>
                </a:solidFill>
                <a:latin typeface="Arial" panose="020B0604020202020204" pitchFamily="34" charset="0"/>
              </a:rPr>
              <a:t>'</a:t>
            </a:r>
            <a:r>
              <a:rPr lang="en-US" altLang="zh-CN" dirty="0">
                <a:solidFill>
                  <a:srgbClr val="0000CC"/>
                </a:solidFill>
                <a:latin typeface="Arial" panose="020B0604020202020204" pitchFamily="34" charset="0"/>
              </a:rPr>
              <a:t>090950</a:t>
            </a:r>
            <a:r>
              <a:rPr lang="en-US" altLang="zh-CN" dirty="0">
                <a:solidFill>
                  <a:srgbClr val="0033CC"/>
                </a:solidFill>
                <a:latin typeface="Arial" panose="020B0604020202020204" pitchFamily="34" charset="0"/>
              </a:rPr>
              <a:t>' </a:t>
            </a:r>
            <a:r>
              <a:rPr lang="en-US" altLang="zh-CN" dirty="0">
                <a:solidFill>
                  <a:srgbClr val="0000CC"/>
                </a:solidFill>
                <a:latin typeface="Arial" panose="020B0604020202020204" pitchFamily="34" charset="0"/>
              </a:rPr>
              <a:t>;</a:t>
            </a:r>
            <a:endParaRPr lang="en-US" altLang="zh-CN" dirty="0">
              <a:solidFill>
                <a:srgbClr val="0000CC"/>
              </a:solidFill>
              <a:latin typeface="Arial" panose="020B0604020202020204" pitchFamily="34" charset="0"/>
            </a:endParaRPr>
          </a:p>
          <a:p>
            <a:pPr marL="357505" indent="-357505">
              <a:buNone/>
            </a:pPr>
            <a:endParaRPr lang="en-US" altLang="zh-CN" dirty="0">
              <a:solidFill>
                <a:srgbClr val="0000CC"/>
              </a:solidFill>
              <a:latin typeface="Arial" panose="020B0604020202020204" pitchFamily="34" charset="0"/>
            </a:endParaRPr>
          </a:p>
        </p:txBody>
      </p:sp>
      <p:sp>
        <p:nvSpPr>
          <p:cNvPr id="32051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删除某一个元组的值</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idx="1"/>
          </p:nvPr>
        </p:nvSpPr>
        <p:spPr>
          <a:xfrm>
            <a:off x="152400" y="1143000"/>
            <a:ext cx="8812213" cy="5273675"/>
          </a:xfrm>
        </p:spPr>
        <p:txBody>
          <a:bodyPr vert="horz" wrap="square" lIns="91440" tIns="45720" rIns="91440" bIns="45720" anchor="t" anchorCtr="0"/>
          <a:p>
            <a:pPr marL="263525" indent="-263525"/>
            <a:r>
              <a:rPr lang="zh-CN" altLang="en-US" dirty="0">
                <a:latin typeface="Arial" panose="020B0604020202020204" pitchFamily="34" charset="0"/>
              </a:rPr>
              <a:t>删除</a:t>
            </a:r>
            <a:r>
              <a:rPr lang="en-US" altLang="zh-CN" dirty="0">
                <a:latin typeface="Arial" panose="020B0604020202020204" pitchFamily="34" charset="0"/>
              </a:rPr>
              <a:t>S</a:t>
            </a:r>
            <a:r>
              <a:rPr lang="zh-CN" altLang="en-US" dirty="0">
                <a:latin typeface="Arial" panose="020B0604020202020204" pitchFamily="34" charset="0"/>
              </a:rPr>
              <a:t>表中的所有男学生的信息。</a:t>
            </a:r>
            <a:endParaRPr lang="zh-CN" altLang="en-US" dirty="0">
              <a:latin typeface="Arial" panose="020B0604020202020204" pitchFamily="34" charset="0"/>
            </a:endParaRPr>
          </a:p>
          <a:p>
            <a:pPr marL="263525" indent="-263525">
              <a:spcBef>
                <a:spcPct val="25000"/>
              </a:spcBef>
              <a:buNone/>
            </a:pPr>
            <a:r>
              <a:rPr lang="zh-CN" altLang="en-US" dirty="0">
                <a:latin typeface="Arial" panose="020B0604020202020204" pitchFamily="34" charset="0"/>
              </a:rPr>
              <a:t>      </a:t>
            </a:r>
            <a:r>
              <a:rPr lang="en-US" altLang="zh-CN" dirty="0">
                <a:solidFill>
                  <a:srgbClr val="FF0000"/>
                </a:solidFill>
                <a:latin typeface="Arial" panose="020B0604020202020204" pitchFamily="34" charset="0"/>
              </a:rPr>
              <a:t>DELETE  FROM</a:t>
            </a:r>
            <a:r>
              <a:rPr lang="en-US" altLang="zh-CN" dirty="0">
                <a:solidFill>
                  <a:srgbClr val="0000CC"/>
                </a:solidFill>
                <a:latin typeface="Arial" panose="020B0604020202020204" pitchFamily="34" charset="0"/>
              </a:rPr>
              <a:t>   S </a:t>
            </a:r>
            <a:endParaRPr lang="en-US" altLang="zh-CN" dirty="0">
              <a:solidFill>
                <a:srgbClr val="0000CC"/>
              </a:solidFill>
              <a:latin typeface="Arial" panose="020B0604020202020204" pitchFamily="34" charset="0"/>
            </a:endParaRPr>
          </a:p>
          <a:p>
            <a:pPr marL="263525" indent="-263525">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WHERE</a:t>
            </a:r>
            <a:r>
              <a:rPr lang="en-US" altLang="zh-CN" dirty="0">
                <a:solidFill>
                  <a:srgbClr val="0000CC"/>
                </a:solidFill>
                <a:latin typeface="Arial" panose="020B0604020202020204" pitchFamily="34" charset="0"/>
              </a:rPr>
              <a:t>  Ssex = </a:t>
            </a:r>
            <a:r>
              <a:rPr lang="en-US" altLang="zh-CN" dirty="0">
                <a:solidFill>
                  <a:srgbClr val="0000CC"/>
                </a:solidFill>
                <a:latin typeface="Arial" panose="020B0604020202020204" pitchFamily="34" charset="0"/>
                <a:ea typeface="华文中宋" panose="02010600040101010101" pitchFamily="2" charset="-122"/>
              </a:rPr>
              <a:t>'</a:t>
            </a:r>
            <a:r>
              <a:rPr lang="zh-CN" altLang="en-US" dirty="0">
                <a:solidFill>
                  <a:srgbClr val="0000CC"/>
                </a:solidFill>
                <a:latin typeface="Arial" panose="020B0604020202020204" pitchFamily="34" charset="0"/>
              </a:rPr>
              <a:t>男</a:t>
            </a:r>
            <a:r>
              <a:rPr lang="en-US" altLang="zh-CN" dirty="0">
                <a:solidFill>
                  <a:srgbClr val="0000CC"/>
                </a:solidFill>
                <a:latin typeface="Arial" panose="020B0604020202020204" pitchFamily="34" charset="0"/>
                <a:ea typeface="华文中宋" panose="02010600040101010101" pitchFamily="2" charset="-122"/>
              </a:rPr>
              <a:t>'</a:t>
            </a:r>
            <a:r>
              <a:rPr lang="en-US" altLang="zh-CN" dirty="0">
                <a:solidFill>
                  <a:srgbClr val="0000CC"/>
                </a:solidFill>
                <a:latin typeface="Arial" panose="020B0604020202020204" pitchFamily="34" charset="0"/>
              </a:rPr>
              <a:t> ;</a:t>
            </a:r>
            <a:endParaRPr lang="en-US" altLang="zh-CN" dirty="0">
              <a:solidFill>
                <a:srgbClr val="0000CC"/>
              </a:solidFill>
              <a:latin typeface="Arial" panose="020B0604020202020204" pitchFamily="34" charset="0"/>
            </a:endParaRPr>
          </a:p>
          <a:p>
            <a:pPr marL="263525" indent="-263525">
              <a:buNone/>
            </a:pPr>
            <a:endParaRPr lang="en-US" altLang="zh-CN" dirty="0">
              <a:solidFill>
                <a:srgbClr val="0000CC"/>
              </a:solidFill>
              <a:latin typeface="Arial" panose="020B0604020202020204" pitchFamily="34" charset="0"/>
            </a:endParaRPr>
          </a:p>
          <a:p>
            <a:pPr marL="263525" indent="-263525"/>
            <a:r>
              <a:rPr lang="zh-CN" altLang="en-US" dirty="0">
                <a:latin typeface="Arial" panose="020B0604020202020204" pitchFamily="34" charset="0"/>
              </a:rPr>
              <a:t>删除</a:t>
            </a:r>
            <a:r>
              <a:rPr lang="en-US" altLang="zh-CN" dirty="0">
                <a:latin typeface="Arial" panose="020B0604020202020204" pitchFamily="34" charset="0"/>
              </a:rPr>
              <a:t>SC</a:t>
            </a:r>
            <a:r>
              <a:rPr lang="zh-CN" altLang="en-US" dirty="0">
                <a:latin typeface="Arial" panose="020B0604020202020204" pitchFamily="34" charset="0"/>
              </a:rPr>
              <a:t>表中</a:t>
            </a:r>
            <a:r>
              <a:rPr lang="en-US" altLang="zh-CN" dirty="0">
                <a:latin typeface="Arial" panose="020B0604020202020204" pitchFamily="34" charset="0"/>
              </a:rPr>
              <a:t>C2</a:t>
            </a:r>
            <a:r>
              <a:rPr lang="zh-CN" altLang="en-US" dirty="0">
                <a:latin typeface="Arial" panose="020B0604020202020204" pitchFamily="34" charset="0"/>
              </a:rPr>
              <a:t>课程的所有选课记录。</a:t>
            </a:r>
            <a:endParaRPr lang="zh-CN" altLang="en-US" dirty="0">
              <a:latin typeface="Arial" panose="020B0604020202020204" pitchFamily="34" charset="0"/>
            </a:endParaRPr>
          </a:p>
          <a:p>
            <a:pPr marL="263525" indent="-263525">
              <a:spcBef>
                <a:spcPct val="25000"/>
              </a:spcBef>
              <a:buNone/>
            </a:pPr>
            <a:r>
              <a:rPr lang="zh-CN" altLang="en-US" dirty="0">
                <a:latin typeface="Arial" panose="020B0604020202020204" pitchFamily="34" charset="0"/>
              </a:rPr>
              <a:t>      </a:t>
            </a:r>
            <a:r>
              <a:rPr lang="en-US" altLang="zh-CN" dirty="0">
                <a:solidFill>
                  <a:srgbClr val="FF0000"/>
                </a:solidFill>
                <a:latin typeface="Arial" panose="020B0604020202020204" pitchFamily="34" charset="0"/>
              </a:rPr>
              <a:t>DELETE  FROM</a:t>
            </a:r>
            <a:r>
              <a:rPr lang="en-US" altLang="zh-CN" dirty="0">
                <a:solidFill>
                  <a:srgbClr val="0000CC"/>
                </a:solidFill>
                <a:latin typeface="Arial" panose="020B0604020202020204" pitchFamily="34" charset="0"/>
              </a:rPr>
              <a:t>  SC</a:t>
            </a:r>
            <a:endParaRPr lang="zh-CN" altLang="en-US" dirty="0">
              <a:solidFill>
                <a:srgbClr val="0000CC"/>
              </a:solidFill>
              <a:latin typeface="Arial" panose="020B0604020202020204" pitchFamily="34" charset="0"/>
            </a:endParaRPr>
          </a:p>
          <a:p>
            <a:pPr marL="263525" indent="-263525">
              <a:buNone/>
            </a:pPr>
            <a:r>
              <a:rPr lang="zh-CN" altLang="en-US"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WHERE</a:t>
            </a:r>
            <a:r>
              <a:rPr lang="en-US" altLang="zh-CN" dirty="0">
                <a:solidFill>
                  <a:srgbClr val="0000CC"/>
                </a:solidFill>
                <a:latin typeface="Arial" panose="020B0604020202020204" pitchFamily="34" charset="0"/>
              </a:rPr>
              <a:t>  Cno = 'C2' ;</a:t>
            </a:r>
            <a:endParaRPr lang="zh-CN" altLang="en-US" dirty="0">
              <a:solidFill>
                <a:srgbClr val="0000CC"/>
              </a:solidFill>
              <a:latin typeface="Arial" panose="020B0604020202020204" pitchFamily="34" charset="0"/>
            </a:endParaRPr>
          </a:p>
        </p:txBody>
      </p:sp>
      <p:sp>
        <p:nvSpPr>
          <p:cNvPr id="67686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删除多个元组的值</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9234" name="Rectangle 2"/>
          <p:cNvSpPr>
            <a:spLocks noGrp="1"/>
          </p:cNvSpPr>
          <p:nvPr>
            <p:ph idx="1"/>
          </p:nvPr>
        </p:nvSpPr>
        <p:spPr>
          <a:xfrm>
            <a:off x="152400" y="1143000"/>
            <a:ext cx="8740775" cy="5273675"/>
          </a:xfrm>
        </p:spPr>
        <p:txBody>
          <a:bodyPr vert="horz" wrap="square" lIns="91440" tIns="45720" rIns="91440" bIns="45720" anchor="t" anchorCtr="0"/>
          <a:p>
            <a:pPr marL="357505" indent="-357505">
              <a:lnSpc>
                <a:spcPct val="90000"/>
              </a:lnSpc>
            </a:pPr>
            <a:r>
              <a:rPr lang="zh-CN" altLang="en-US" dirty="0">
                <a:latin typeface="Arial" panose="020B0604020202020204" pitchFamily="34" charset="0"/>
              </a:rPr>
              <a:t>删除</a:t>
            </a:r>
            <a:r>
              <a:rPr lang="en-US" altLang="zh-CN" dirty="0">
                <a:latin typeface="Arial" panose="020B0604020202020204" pitchFamily="34" charset="0"/>
              </a:rPr>
              <a:t>CS</a:t>
            </a:r>
            <a:r>
              <a:rPr lang="zh-CN" altLang="en-US" dirty="0">
                <a:latin typeface="Arial" panose="020B0604020202020204" pitchFamily="34" charset="0"/>
              </a:rPr>
              <a:t>系所有学生的选课记录。</a:t>
            </a:r>
            <a:endParaRPr lang="zh-CN" altLang="en-US" dirty="0">
              <a:latin typeface="Arial" panose="020B0604020202020204" pitchFamily="34" charset="0"/>
            </a:endParaRPr>
          </a:p>
          <a:p>
            <a:pPr marL="357505" indent="-357505">
              <a:lnSpc>
                <a:spcPct val="90000"/>
              </a:lnSpc>
              <a:spcBef>
                <a:spcPts val="1800"/>
              </a:spcBef>
              <a:buNone/>
            </a:pPr>
            <a:r>
              <a:rPr lang="zh-CN" altLang="en-US" dirty="0">
                <a:latin typeface="Arial" panose="020B0604020202020204" pitchFamily="34" charset="0"/>
              </a:rPr>
              <a:t>      </a:t>
            </a:r>
            <a:r>
              <a:rPr lang="en-US" altLang="zh-CN" dirty="0">
                <a:solidFill>
                  <a:srgbClr val="FF0000"/>
                </a:solidFill>
                <a:latin typeface="Arial" panose="020B0604020202020204" pitchFamily="34" charset="0"/>
              </a:rPr>
              <a:t>DELETE   FROM</a:t>
            </a:r>
            <a:r>
              <a:rPr lang="en-US" altLang="zh-CN" dirty="0">
                <a:solidFill>
                  <a:srgbClr val="0000CC"/>
                </a:solidFill>
                <a:latin typeface="Arial" panose="020B0604020202020204" pitchFamily="34" charset="0"/>
              </a:rPr>
              <a:t>  SC</a:t>
            </a:r>
            <a:endParaRPr lang="en-US" altLang="zh-CN" dirty="0">
              <a:solidFill>
                <a:srgbClr val="0000CC"/>
              </a:solidFill>
              <a:latin typeface="Arial" panose="020B0604020202020204" pitchFamily="34" charset="0"/>
            </a:endParaRPr>
          </a:p>
          <a:p>
            <a:pPr marL="357505" indent="-357505">
              <a:spcBef>
                <a:spcPts val="600"/>
              </a:spcBef>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WHERE</a:t>
            </a:r>
            <a:r>
              <a:rPr lang="en-US" altLang="zh-CN" dirty="0">
                <a:solidFill>
                  <a:srgbClr val="0000CC"/>
                </a:solidFill>
                <a:latin typeface="Arial" panose="020B0604020202020204" pitchFamily="34" charset="0"/>
              </a:rPr>
              <a:t>  Sno  </a:t>
            </a:r>
            <a:r>
              <a:rPr lang="en-US" altLang="zh-CN" dirty="0">
                <a:solidFill>
                  <a:srgbClr val="C00000"/>
                </a:solidFill>
                <a:latin typeface="Arial" panose="020B0604020202020204" pitchFamily="34" charset="0"/>
              </a:rPr>
              <a:t>IN</a:t>
            </a:r>
            <a:endParaRPr lang="en-US" altLang="zh-CN" dirty="0">
              <a:solidFill>
                <a:srgbClr val="C00000"/>
              </a:solidFill>
              <a:latin typeface="Arial" panose="020B0604020202020204" pitchFamily="34" charset="0"/>
            </a:endParaRPr>
          </a:p>
          <a:p>
            <a:pPr marL="357505" indent="-357505" algn="just">
              <a:spcBef>
                <a:spcPts val="600"/>
              </a:spcBef>
              <a:buNone/>
            </a:pPr>
            <a:r>
              <a:rPr lang="en-US" altLang="zh-CN" dirty="0">
                <a:solidFill>
                  <a:srgbClr val="0000CC"/>
                </a:solidFill>
                <a:latin typeface="Arial" panose="020B0604020202020204" pitchFamily="34" charset="0"/>
              </a:rPr>
              <a:t>              </a:t>
            </a:r>
            <a:r>
              <a:rPr lang="en-US" altLang="zh-CN" dirty="0">
                <a:latin typeface="Arial" panose="020B0604020202020204" pitchFamily="34" charset="0"/>
              </a:rPr>
              <a:t>( SELECT  Sno  FROM  S</a:t>
            </a:r>
            <a:endParaRPr lang="en-US" altLang="zh-CN" dirty="0">
              <a:latin typeface="Arial" panose="020B0604020202020204" pitchFamily="34" charset="0"/>
            </a:endParaRPr>
          </a:p>
          <a:p>
            <a:pPr marL="357505" indent="-357505" algn="just">
              <a:spcBef>
                <a:spcPts val="600"/>
              </a:spcBef>
              <a:buNone/>
            </a:pPr>
            <a:r>
              <a:rPr lang="en-US" altLang="zh-CN" dirty="0">
                <a:latin typeface="Arial" panose="020B0604020202020204" pitchFamily="34" charset="0"/>
              </a:rPr>
              <a:t>                WHERE  Sdept = 'CS') ;</a:t>
            </a:r>
            <a:endParaRPr lang="en-US" altLang="zh-CN" dirty="0">
              <a:latin typeface="Arial" panose="020B0604020202020204" pitchFamily="34" charset="0"/>
            </a:endParaRPr>
          </a:p>
        </p:txBody>
      </p:sp>
      <p:sp>
        <p:nvSpPr>
          <p:cNvPr id="47923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带子查询的删除语句</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9234">
                                            <p:txEl>
                                              <p:charRg st="16" end="4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9234">
                                            <p:txEl>
                                              <p:charRg st="40" end="6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9234">
                                            <p:txEl>
                                              <p:charRg st="61" end="98"/>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9234">
                                            <p:txEl>
                                              <p:charRg st="98" end="13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idx="1"/>
          </p:nvPr>
        </p:nvSpPr>
        <p:spPr>
          <a:xfrm>
            <a:off x="223838" y="1000125"/>
            <a:ext cx="8812212" cy="5273675"/>
          </a:xfrm>
        </p:spPr>
        <p:txBody>
          <a:bodyPr vert="horz" wrap="square" lIns="91440" tIns="45720" rIns="91440" bIns="45720" anchor="t" anchorCtr="0"/>
          <a:p>
            <a:pPr marL="268605" indent="-268605">
              <a:buNone/>
            </a:pPr>
            <a:r>
              <a:rPr lang="en-US" altLang="zh-CN" dirty="0">
                <a:latin typeface="Arial" panose="020B0604020202020204" pitchFamily="34" charset="0"/>
              </a:rPr>
              <a:t>      DBMS</a:t>
            </a:r>
            <a:r>
              <a:rPr lang="zh-CN" altLang="en-US" dirty="0">
                <a:latin typeface="Arial" panose="020B0604020202020204" pitchFamily="34" charset="0"/>
              </a:rPr>
              <a:t>在执行删除语句时自动检查删除操作是否破坏表上已定义的完整性规则。</a:t>
            </a:r>
            <a:endParaRPr lang="zh-CN" altLang="en-US" dirty="0">
              <a:latin typeface="Arial" panose="020B0604020202020204" pitchFamily="34" charset="0"/>
            </a:endParaRPr>
          </a:p>
          <a:p>
            <a:pPr marL="268605" indent="-268605">
              <a:spcBef>
                <a:spcPts val="2400"/>
              </a:spcBef>
            </a:pPr>
            <a:r>
              <a:rPr lang="zh-CN" altLang="en-US" dirty="0">
                <a:latin typeface="Arial" panose="020B0604020202020204" pitchFamily="34" charset="0"/>
              </a:rPr>
              <a:t>参照完整性</a:t>
            </a:r>
            <a:endParaRPr lang="zh-CN" altLang="en-US" dirty="0">
              <a:latin typeface="Arial" panose="020B0604020202020204" pitchFamily="34" charset="0"/>
            </a:endParaRPr>
          </a:p>
          <a:p>
            <a:pPr marL="1076325" lvl="1" indent="-448945">
              <a:spcBef>
                <a:spcPts val="600"/>
              </a:spcBef>
            </a:pPr>
            <a:r>
              <a:rPr lang="zh-CN" altLang="en-US" sz="3600" dirty="0">
                <a:latin typeface="Arial" panose="020B0604020202020204" pitchFamily="34" charset="0"/>
              </a:rPr>
              <a:t>级联删除</a:t>
            </a:r>
            <a:endParaRPr lang="zh-CN" altLang="en-US" sz="3600" dirty="0">
              <a:latin typeface="Arial" panose="020B0604020202020204" pitchFamily="34" charset="0"/>
            </a:endParaRPr>
          </a:p>
          <a:p>
            <a:pPr marL="1076325" lvl="1" indent="-448945">
              <a:spcBef>
                <a:spcPct val="0"/>
              </a:spcBef>
            </a:pPr>
            <a:r>
              <a:rPr lang="zh-CN" altLang="en-US" sz="3600" dirty="0">
                <a:latin typeface="Arial" panose="020B0604020202020204" pitchFamily="34" charset="0"/>
              </a:rPr>
              <a:t>不允许删除</a:t>
            </a:r>
            <a:endParaRPr lang="zh-CN" altLang="en-US" sz="3600" dirty="0">
              <a:latin typeface="Arial" panose="020B0604020202020204" pitchFamily="34" charset="0"/>
            </a:endParaRPr>
          </a:p>
          <a:p>
            <a:pPr marL="1076325" lvl="1" indent="-448945">
              <a:spcBef>
                <a:spcPct val="0"/>
              </a:spcBef>
            </a:pPr>
            <a:r>
              <a:rPr lang="zh-CN" altLang="en-US" sz="3600" dirty="0">
                <a:latin typeface="Arial" panose="020B0604020202020204" pitchFamily="34" charset="0"/>
              </a:rPr>
              <a:t>置为空值</a:t>
            </a:r>
            <a:endParaRPr lang="zh-CN" altLang="en-US" sz="3600" dirty="0">
              <a:latin typeface="Arial" panose="020B0604020202020204" pitchFamily="34" charset="0"/>
            </a:endParaRPr>
          </a:p>
          <a:p>
            <a:pPr marL="1076325" lvl="1" indent="-448945">
              <a:spcBef>
                <a:spcPct val="0"/>
              </a:spcBef>
            </a:pPr>
            <a:r>
              <a:rPr lang="zh-CN" altLang="en-US" sz="3600" dirty="0">
                <a:latin typeface="Arial" panose="020B0604020202020204" pitchFamily="34" charset="0"/>
              </a:rPr>
              <a:t>设省缺值</a:t>
            </a:r>
            <a:endParaRPr lang="zh-CN" altLang="en-US" sz="3600" dirty="0">
              <a:latin typeface="Arial" panose="020B0604020202020204" pitchFamily="34" charset="0"/>
            </a:endParaRPr>
          </a:p>
        </p:txBody>
      </p:sp>
      <p:sp>
        <p:nvSpPr>
          <p:cNvPr id="677891" name="Rectangle 3"/>
          <p:cNvSpPr>
            <a:spLocks noGrp="1" noChangeArrowheads="1"/>
          </p:cNvSpPr>
          <p:nvPr>
            <p:ph type="title"/>
          </p:nvPr>
        </p:nvSpPr>
        <p:spPr>
          <a:xfrm>
            <a:off x="179388" y="139700"/>
            <a:ext cx="8659813" cy="503238"/>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删除数据的完整性检查</a:t>
            </a:r>
            <a:endPar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idx="1"/>
          </p:nvPr>
        </p:nvSpPr>
        <p:spPr>
          <a:xfrm>
            <a:off x="152400" y="981075"/>
            <a:ext cx="8740775" cy="5273675"/>
          </a:xfrm>
        </p:spPr>
        <p:txBody>
          <a:bodyPr vert="horz" wrap="square" lIns="91440" tIns="45720" rIns="91440" bIns="45720" anchor="t" anchorCtr="0"/>
          <a:p>
            <a:pPr marL="365125" indent="-365125">
              <a:spcBef>
                <a:spcPct val="25000"/>
              </a:spcBef>
            </a:pPr>
            <a:r>
              <a:rPr lang="en-US" altLang="zh-CN" dirty="0">
                <a:latin typeface="Arial" panose="020B0604020202020204" pitchFamily="34" charset="0"/>
              </a:rPr>
              <a:t>DELETE</a:t>
            </a:r>
            <a:r>
              <a:rPr lang="zh-CN" altLang="en-US" dirty="0">
                <a:latin typeface="Arial" panose="020B0604020202020204" pitchFamily="34" charset="0"/>
              </a:rPr>
              <a:t>命令不会出现确认提示</a:t>
            </a:r>
            <a:endParaRPr lang="zh-CN" altLang="en-US" dirty="0">
              <a:latin typeface="Arial" panose="020B0604020202020204" pitchFamily="34" charset="0"/>
            </a:endParaRPr>
          </a:p>
          <a:p>
            <a:pPr marL="365125" indent="-365125">
              <a:spcBef>
                <a:spcPct val="25000"/>
              </a:spcBef>
            </a:pPr>
            <a:r>
              <a:rPr lang="en-US" altLang="zh-CN" dirty="0">
                <a:latin typeface="Arial" panose="020B0604020202020204" pitchFamily="34" charset="0"/>
              </a:rPr>
              <a:t>DELETE</a:t>
            </a:r>
            <a:r>
              <a:rPr lang="zh-CN" altLang="en-US" dirty="0">
                <a:latin typeface="Arial" panose="020B0604020202020204" pitchFamily="34" charset="0"/>
              </a:rPr>
              <a:t>不能删除个别的字段，只能删除整个记录</a:t>
            </a:r>
            <a:endParaRPr lang="zh-CN" altLang="en-US" dirty="0">
              <a:latin typeface="Arial" panose="020B0604020202020204" pitchFamily="34" charset="0"/>
            </a:endParaRPr>
          </a:p>
          <a:p>
            <a:pPr marL="365125" indent="-365125">
              <a:spcBef>
                <a:spcPct val="25000"/>
              </a:spcBef>
            </a:pPr>
            <a:r>
              <a:rPr lang="zh-CN" altLang="en-US" dirty="0">
                <a:latin typeface="Arial" panose="020B0604020202020204" pitchFamily="34" charset="0"/>
              </a:rPr>
              <a:t>如省略</a:t>
            </a:r>
            <a:r>
              <a:rPr lang="en-US" altLang="zh-CN" dirty="0">
                <a:latin typeface="Arial" panose="020B0604020202020204" pitchFamily="34" charset="0"/>
              </a:rPr>
              <a:t>WHERE </a:t>
            </a:r>
            <a:r>
              <a:rPr lang="zh-CN" altLang="en-US" dirty="0">
                <a:latin typeface="Arial" panose="020B0604020202020204" pitchFamily="34" charset="0"/>
              </a:rPr>
              <a:t>子句，则删除表中的所有记录</a:t>
            </a:r>
            <a:endParaRPr lang="zh-CN" altLang="en-US" dirty="0">
              <a:latin typeface="Arial" panose="020B0604020202020204" pitchFamily="34" charset="0"/>
            </a:endParaRPr>
          </a:p>
          <a:p>
            <a:pPr marL="365125" indent="-365125">
              <a:spcBef>
                <a:spcPct val="25000"/>
              </a:spcBef>
            </a:pPr>
            <a:r>
              <a:rPr lang="en-US" altLang="zh-CN" dirty="0">
                <a:latin typeface="Arial" panose="020B0604020202020204" pitchFamily="34" charset="0"/>
              </a:rPr>
              <a:t>DELETE</a:t>
            </a:r>
            <a:r>
              <a:rPr lang="zh-CN" altLang="en-US" dirty="0">
                <a:latin typeface="Arial" panose="020B0604020202020204" pitchFamily="34" charset="0"/>
              </a:rPr>
              <a:t>语句只删除记录不删除表</a:t>
            </a:r>
            <a:endParaRPr lang="zh-CN" altLang="en-US" dirty="0">
              <a:latin typeface="Arial" panose="020B0604020202020204" pitchFamily="34" charset="0"/>
            </a:endParaRPr>
          </a:p>
        </p:txBody>
      </p:sp>
      <p:sp>
        <p:nvSpPr>
          <p:cNvPr id="67993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删除数据注意事项</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679940" name="AutoShape 4">
            <a:hlinkClick r:id="rId1" action="ppaction://hlinksldjump"/>
          </p:cNvPr>
          <p:cNvSpPr>
            <a:spLocks noChangeArrowheads="1"/>
          </p:cNvSpPr>
          <p:nvPr/>
        </p:nvSpPr>
        <p:spPr bwMode="auto">
          <a:xfrm>
            <a:off x="8358188" y="6072188"/>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2" name="CAMERA.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198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主要内容</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56323" name="Rectangle 3"/>
          <p:cNvSpPr>
            <a:spLocks noGrp="1"/>
          </p:cNvSpPr>
          <p:nvPr>
            <p:ph idx="1"/>
          </p:nvPr>
        </p:nvSpPr>
        <p:spPr>
          <a:xfrm>
            <a:off x="1231900" y="1000125"/>
            <a:ext cx="7372350" cy="5378450"/>
          </a:xfrm>
        </p:spPr>
        <p:txBody>
          <a:bodyPr vert="horz" wrap="square" lIns="91440" tIns="45720" rIns="91440" bIns="45720" anchor="t" anchorCtr="0"/>
          <a:p>
            <a:pPr>
              <a:spcBef>
                <a:spcPts val="600"/>
              </a:spcBef>
              <a:buNone/>
            </a:pPr>
            <a:r>
              <a:rPr lang="en-US" altLang="zh-CN" dirty="0">
                <a:latin typeface="Arial" panose="020B0604020202020204" pitchFamily="34" charset="0"/>
              </a:rPr>
              <a:t>5.1 SQL</a:t>
            </a:r>
            <a:r>
              <a:rPr lang="zh-CN" altLang="en-US" dirty="0">
                <a:latin typeface="Arial" panose="020B0604020202020204" pitchFamily="34" charset="0"/>
              </a:rPr>
              <a:t>概述</a:t>
            </a:r>
            <a:endParaRPr lang="zh-CN" altLang="en-US" dirty="0">
              <a:latin typeface="Arial" panose="020B0604020202020204" pitchFamily="34" charset="0"/>
            </a:endParaRPr>
          </a:p>
          <a:p>
            <a:pPr algn="just">
              <a:spcBef>
                <a:spcPts val="600"/>
              </a:spcBef>
              <a:buNone/>
            </a:pPr>
            <a:r>
              <a:rPr lang="en-US" altLang="zh-CN" dirty="0">
                <a:latin typeface="Arial" panose="020B0604020202020204" pitchFamily="34" charset="0"/>
              </a:rPr>
              <a:t>5.2 </a:t>
            </a:r>
            <a:r>
              <a:rPr lang="zh-CN" altLang="en-US" dirty="0">
                <a:latin typeface="Arial" panose="020B0604020202020204" pitchFamily="34" charset="0"/>
              </a:rPr>
              <a:t>数据定义</a:t>
            </a:r>
            <a:endParaRPr lang="zh-CN" altLang="en-US" dirty="0">
              <a:latin typeface="Arial" panose="020B0604020202020204" pitchFamily="34" charset="0"/>
            </a:endParaRPr>
          </a:p>
          <a:p>
            <a:pPr algn="just">
              <a:spcBef>
                <a:spcPts val="600"/>
              </a:spcBef>
              <a:buNone/>
            </a:pPr>
            <a:r>
              <a:rPr lang="en-US" altLang="zh-CN" dirty="0">
                <a:latin typeface="Arial" panose="020B0604020202020204" pitchFamily="34" charset="0"/>
              </a:rPr>
              <a:t>5.3 </a:t>
            </a:r>
            <a:r>
              <a:rPr lang="zh-CN" altLang="en-US" dirty="0">
                <a:latin typeface="Arial" panose="020B0604020202020204" pitchFamily="34" charset="0"/>
              </a:rPr>
              <a:t>数据查询</a:t>
            </a:r>
            <a:endParaRPr lang="zh-CN" altLang="en-US" dirty="0">
              <a:latin typeface="Arial" panose="020B0604020202020204" pitchFamily="34" charset="0"/>
            </a:endParaRPr>
          </a:p>
          <a:p>
            <a:pPr algn="just">
              <a:spcBef>
                <a:spcPts val="600"/>
              </a:spcBef>
              <a:buNone/>
            </a:pPr>
            <a:r>
              <a:rPr lang="en-US" altLang="zh-CN" dirty="0">
                <a:latin typeface="Arial" panose="020B0604020202020204" pitchFamily="34" charset="0"/>
              </a:rPr>
              <a:t>5.4 </a:t>
            </a:r>
            <a:r>
              <a:rPr lang="zh-CN" altLang="en-US" dirty="0">
                <a:latin typeface="Arial" panose="020B0604020202020204" pitchFamily="34" charset="0"/>
              </a:rPr>
              <a:t>数据更新</a:t>
            </a:r>
            <a:endParaRPr lang="zh-CN" altLang="en-US" dirty="0">
              <a:latin typeface="Arial" panose="020B0604020202020204" pitchFamily="34" charset="0"/>
            </a:endParaRPr>
          </a:p>
          <a:p>
            <a:pPr algn="just">
              <a:spcBef>
                <a:spcPts val="600"/>
              </a:spcBef>
              <a:buNone/>
            </a:pPr>
            <a:r>
              <a:rPr lang="en-US" altLang="zh-CN" dirty="0">
                <a:solidFill>
                  <a:srgbClr val="0000CC"/>
                </a:solidFill>
                <a:latin typeface="Arial" panose="020B0604020202020204" pitchFamily="34" charset="0"/>
              </a:rPr>
              <a:t>5.5 </a:t>
            </a:r>
            <a:r>
              <a:rPr lang="zh-CN" altLang="en-US" dirty="0">
                <a:solidFill>
                  <a:srgbClr val="0000CC"/>
                </a:solidFill>
                <a:latin typeface="Arial" panose="020B0604020202020204" pitchFamily="34" charset="0"/>
              </a:rPr>
              <a:t>视图</a:t>
            </a:r>
            <a:endParaRPr lang="zh-CN" altLang="en-US" dirty="0">
              <a:solidFill>
                <a:srgbClr val="0000CC"/>
              </a:solidFill>
              <a:latin typeface="Arial" panose="020B0604020202020204" pitchFamily="34" charset="0"/>
            </a:endParaRPr>
          </a:p>
          <a:p>
            <a:pPr algn="just">
              <a:spcBef>
                <a:spcPts val="600"/>
              </a:spcBef>
              <a:buNone/>
            </a:pPr>
            <a:r>
              <a:rPr lang="en-US" altLang="zh-CN" dirty="0">
                <a:latin typeface="Arial" panose="020B0604020202020204" pitchFamily="34" charset="0"/>
              </a:rPr>
              <a:t>5.6 </a:t>
            </a:r>
            <a:r>
              <a:rPr lang="zh-CN" altLang="en-US" dirty="0">
                <a:latin typeface="Arial" panose="020B0604020202020204" pitchFamily="34" charset="0"/>
              </a:rPr>
              <a:t>数据控制</a:t>
            </a:r>
            <a:endParaRPr lang="zh-CN" altLang="en-US" dirty="0">
              <a:latin typeface="Arial" panose="020B0604020202020204" pitchFamily="34" charset="0"/>
            </a:endParaRPr>
          </a:p>
          <a:p>
            <a:pPr algn="just">
              <a:buNone/>
            </a:pPr>
            <a:endParaRPr lang="en-US" altLang="zh-CN" dirty="0">
              <a:latin typeface="Arial" panose="020B0604020202020204" pitchFamily="34" charset="0"/>
            </a:endParaRPr>
          </a:p>
        </p:txBody>
      </p:sp>
      <p:sp>
        <p:nvSpPr>
          <p:cNvPr id="681988" name="AutoShape 4">
            <a:hlinkClick r:id="" action="ppaction://noaction"/>
          </p:cNvPr>
          <p:cNvSpPr>
            <a:spLocks noChangeArrowheads="1"/>
          </p:cNvSpPr>
          <p:nvPr/>
        </p:nvSpPr>
        <p:spPr bwMode="auto">
          <a:xfrm>
            <a:off x="8286750" y="6143625"/>
            <a:ext cx="576263" cy="6191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1" name="CAMERA.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3" name="Rectangle 3"/>
          <p:cNvSpPr>
            <a:spLocks noGrp="1" noChangeArrowheads="1"/>
          </p:cNvSpPr>
          <p:nvPr>
            <p:ph type="title"/>
          </p:nvPr>
        </p:nvSpPr>
        <p:spPr>
          <a:xfrm>
            <a:off x="179388" y="115888"/>
            <a:ext cx="8659813" cy="503238"/>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5.5 </a:t>
            </a: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视图</a:t>
            </a:r>
            <a:endParaRPr kumimoji="1" lang="en-US" altLang="zh-CN" sz="32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57347" name="Rectangle 2"/>
          <p:cNvSpPr>
            <a:spLocks noGrp="1"/>
          </p:cNvSpPr>
          <p:nvPr>
            <p:ph type="body" sz="half" idx="1"/>
          </p:nvPr>
        </p:nvSpPr>
        <p:spPr>
          <a:xfrm>
            <a:off x="142875" y="857250"/>
            <a:ext cx="8858250" cy="1655763"/>
          </a:xfrm>
        </p:spPr>
        <p:txBody>
          <a:bodyPr vert="horz" wrap="square" lIns="91440" tIns="45720" rIns="91440" bIns="45720" anchor="t" anchorCtr="0"/>
          <a:p>
            <a:pPr marL="265430" indent="-265430">
              <a:buClr>
                <a:srgbClr val="FF0000"/>
              </a:buClr>
              <a:buSzPct val="65000"/>
              <a:buFont typeface="Wingdings" panose="05000000000000000000" pitchFamily="2" charset="2"/>
            </a:pPr>
            <a:r>
              <a:rPr lang="zh-CN" altLang="en-US" sz="3200" dirty="0">
                <a:latin typeface="Arial" panose="020B0604020202020204" pitchFamily="34" charset="0"/>
              </a:rPr>
              <a:t>视图是从一个或多个表</a:t>
            </a:r>
            <a:r>
              <a:rPr lang="en-US" altLang="zh-CN" sz="3200" dirty="0">
                <a:latin typeface="Arial" panose="020B0604020202020204" pitchFamily="34" charset="0"/>
              </a:rPr>
              <a:t>(</a:t>
            </a:r>
            <a:r>
              <a:rPr lang="zh-CN" altLang="en-US" sz="3200" dirty="0">
                <a:latin typeface="Arial" panose="020B0604020202020204" pitchFamily="34" charset="0"/>
              </a:rPr>
              <a:t>或视图</a:t>
            </a:r>
            <a:r>
              <a:rPr lang="en-US" altLang="zh-CN" sz="3200" dirty="0">
                <a:latin typeface="Arial" panose="020B0604020202020204" pitchFamily="34" charset="0"/>
              </a:rPr>
              <a:t>)</a:t>
            </a:r>
            <a:r>
              <a:rPr lang="zh-CN" altLang="en-US" sz="3200" dirty="0">
                <a:solidFill>
                  <a:srgbClr val="FF0000"/>
                </a:solidFill>
                <a:latin typeface="Arial" panose="020B0604020202020204" pitchFamily="34" charset="0"/>
              </a:rPr>
              <a:t>导出的表</a:t>
            </a:r>
            <a:r>
              <a:rPr lang="zh-CN" altLang="en-US" sz="3200" dirty="0">
                <a:latin typeface="Arial" panose="020B0604020202020204" pitchFamily="34" charset="0"/>
              </a:rPr>
              <a:t>，又称</a:t>
            </a:r>
            <a:r>
              <a:rPr lang="zh-CN" altLang="en-US" sz="3200" dirty="0">
                <a:solidFill>
                  <a:srgbClr val="FF0000"/>
                </a:solidFill>
                <a:latin typeface="Arial" panose="020B0604020202020204" pitchFamily="34" charset="0"/>
              </a:rPr>
              <a:t>虚表</a:t>
            </a:r>
            <a:r>
              <a:rPr lang="zh-CN" altLang="en-US" sz="3200" dirty="0">
                <a:latin typeface="Arial" panose="020B0604020202020204" pitchFamily="34" charset="0"/>
              </a:rPr>
              <a:t>。</a:t>
            </a:r>
            <a:endParaRPr lang="zh-CN" altLang="en-US" sz="3200" dirty="0">
              <a:latin typeface="Arial" panose="020B0604020202020204" pitchFamily="34" charset="0"/>
            </a:endParaRPr>
          </a:p>
          <a:p>
            <a:pPr marL="265430" indent="-265430">
              <a:buClr>
                <a:srgbClr val="FF0000"/>
              </a:buClr>
              <a:buSzPct val="65000"/>
              <a:buFont typeface="Wingdings" panose="05000000000000000000" pitchFamily="2" charset="2"/>
            </a:pPr>
            <a:r>
              <a:rPr lang="zh-CN" altLang="en-US" sz="3200" dirty="0">
                <a:latin typeface="Arial" panose="020B0604020202020204" pitchFamily="34" charset="0"/>
              </a:rPr>
              <a:t>例：</a:t>
            </a:r>
            <a:endParaRPr lang="zh-CN" altLang="en-US" sz="3200" dirty="0">
              <a:latin typeface="Arial" panose="020B0604020202020204" pitchFamily="34" charset="0"/>
            </a:endParaRPr>
          </a:p>
        </p:txBody>
      </p:sp>
      <p:graphicFrame>
        <p:nvGraphicFramePr>
          <p:cNvPr id="30808" name="Group 88"/>
          <p:cNvGraphicFramePr>
            <a:graphicFrameLocks noGrp="1"/>
          </p:cNvGraphicFramePr>
          <p:nvPr>
            <p:ph sz="half" idx="1"/>
          </p:nvPr>
        </p:nvGraphicFramePr>
        <p:xfrm>
          <a:off x="541338" y="2565400"/>
          <a:ext cx="8207375" cy="3108325"/>
        </p:xfrm>
        <a:graphic>
          <a:graphicData uri="http://schemas.openxmlformats.org/drawingml/2006/table">
            <a:tbl>
              <a:tblPr/>
              <a:tblGrid>
                <a:gridCol w="1801812"/>
                <a:gridCol w="1893888"/>
                <a:gridCol w="1435100"/>
                <a:gridCol w="1514475"/>
                <a:gridCol w="1562100"/>
              </a:tblGrid>
              <a:tr h="518054">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学  号</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姓   名</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性别</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年龄</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66"/>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籍  贯</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66"/>
                    </a:solidFill>
                  </a:tcPr>
                </a:tc>
              </a:tr>
              <a:tr h="518054">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王暁燕</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北京</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18054">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李    波</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19</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上海</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18054">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陈志坚</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18</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长沙</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18054">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S4</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    强</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上海</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18054">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S5</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    琳</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武汉</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pSp>
        <p:nvGrpSpPr>
          <p:cNvPr id="2" name="组合 69"/>
          <p:cNvGrpSpPr/>
          <p:nvPr/>
        </p:nvGrpSpPr>
        <p:grpSpPr>
          <a:xfrm>
            <a:off x="466725" y="2492375"/>
            <a:ext cx="5319713" cy="4129088"/>
            <a:chOff x="466725" y="2492375"/>
            <a:chExt cx="3962399" cy="4128900"/>
          </a:xfrm>
        </p:grpSpPr>
        <p:sp>
          <p:nvSpPr>
            <p:cNvPr id="57396" name="Rectangle 81"/>
            <p:cNvSpPr/>
            <p:nvPr/>
          </p:nvSpPr>
          <p:spPr>
            <a:xfrm>
              <a:off x="466725" y="2492375"/>
              <a:ext cx="3962399" cy="3313113"/>
            </a:xfrm>
            <a:prstGeom prst="rect">
              <a:avLst/>
            </a:prstGeom>
            <a:noFill/>
            <a:ln w="28575" cap="flat" cmpd="sng">
              <a:solidFill>
                <a:srgbClr val="FF0000"/>
              </a:solidFill>
              <a:prstDash val="dash"/>
              <a:miter/>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zh-CN" sz="4000" dirty="0">
                <a:solidFill>
                  <a:srgbClr val="0000FF"/>
                </a:solidFill>
                <a:latin typeface="Arial" panose="020B0604020202020204" pitchFamily="34" charset="0"/>
              </a:endParaRPr>
            </a:p>
          </p:txBody>
        </p:sp>
        <p:sp>
          <p:nvSpPr>
            <p:cNvPr id="57397" name="AutoShape 83"/>
            <p:cNvSpPr/>
            <p:nvPr/>
          </p:nvSpPr>
          <p:spPr>
            <a:xfrm>
              <a:off x="2939226" y="6116450"/>
              <a:ext cx="1204147" cy="504825"/>
            </a:xfrm>
            <a:prstGeom prst="wedgeRectCallout">
              <a:avLst>
                <a:gd name="adj1" fmla="val 20500"/>
                <a:gd name="adj2" fmla="val -105347"/>
              </a:avLst>
            </a:prstGeom>
            <a:noFill/>
            <a:ln w="28575" cap="flat" cmpd="sng">
              <a:solidFill>
                <a:srgbClr val="FF0000"/>
              </a:solidFill>
              <a:prstDash val="solid"/>
              <a:miter/>
              <a:headEnd type="none" w="med" len="med"/>
              <a:tailEnd type="none" w="med" len="med"/>
            </a:ln>
          </p:spPr>
          <p:txBody>
            <a:bodyPr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r>
                <a:rPr lang="en-US" altLang="zh-CN" sz="2000" dirty="0">
                  <a:latin typeface="Arial" panose="020B0604020202020204" pitchFamily="34" charset="0"/>
                </a:rPr>
                <a:t>A</a:t>
              </a:r>
              <a:r>
                <a:rPr lang="zh-CN" altLang="en-US" sz="2000" dirty="0">
                  <a:latin typeface="Arial" panose="020B0604020202020204" pitchFamily="34" charset="0"/>
                </a:rPr>
                <a:t>用户视图</a:t>
              </a:r>
              <a:endParaRPr lang="zh-CN" altLang="en-US" sz="2000" dirty="0">
                <a:latin typeface="Arial" panose="020B0604020202020204" pitchFamily="34" charset="0"/>
              </a:endParaRPr>
            </a:p>
          </p:txBody>
        </p:sp>
      </p:grpSp>
      <p:grpSp>
        <p:nvGrpSpPr>
          <p:cNvPr id="3" name="Group 86"/>
          <p:cNvGrpSpPr/>
          <p:nvPr/>
        </p:nvGrpSpPr>
        <p:grpSpPr>
          <a:xfrm>
            <a:off x="323850" y="2420938"/>
            <a:ext cx="7200900" cy="4306887"/>
            <a:chOff x="204" y="1525"/>
            <a:chExt cx="4536" cy="2713"/>
          </a:xfrm>
        </p:grpSpPr>
        <p:sp>
          <p:nvSpPr>
            <p:cNvPr id="57394" name="Rectangle 82"/>
            <p:cNvSpPr/>
            <p:nvPr/>
          </p:nvSpPr>
          <p:spPr>
            <a:xfrm>
              <a:off x="204" y="1525"/>
              <a:ext cx="4400" cy="2223"/>
            </a:xfrm>
            <a:prstGeom prst="rect">
              <a:avLst/>
            </a:prstGeom>
            <a:noFill/>
            <a:ln w="28575" cap="flat" cmpd="sng">
              <a:solidFill>
                <a:srgbClr val="0000CC"/>
              </a:solidFill>
              <a:prstDash val="dashDot"/>
              <a:miter/>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zh-CN" sz="4000" dirty="0">
                <a:solidFill>
                  <a:srgbClr val="0000FF"/>
                </a:solidFill>
                <a:latin typeface="Arial" panose="020B0604020202020204" pitchFamily="34" charset="0"/>
              </a:endParaRPr>
            </a:p>
          </p:txBody>
        </p:sp>
        <p:sp>
          <p:nvSpPr>
            <p:cNvPr id="57395" name="AutoShape 84"/>
            <p:cNvSpPr/>
            <p:nvPr/>
          </p:nvSpPr>
          <p:spPr>
            <a:xfrm>
              <a:off x="3825" y="3920"/>
              <a:ext cx="915" cy="318"/>
            </a:xfrm>
            <a:prstGeom prst="wedgeRectCallout">
              <a:avLst>
                <a:gd name="adj1" fmla="val 20500"/>
                <a:gd name="adj2" fmla="val -105347"/>
              </a:avLst>
            </a:prstGeom>
            <a:noFill/>
            <a:ln w="28575" cap="flat" cmpd="sng">
              <a:solidFill>
                <a:srgbClr val="0000CC"/>
              </a:solidFill>
              <a:prstDash val="solid"/>
              <a:miter/>
              <a:headEnd type="none" w="med" len="med"/>
              <a:tailEnd type="none" w="med" len="med"/>
            </a:ln>
          </p:spPr>
          <p:txBody>
            <a:bodyPr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r>
                <a:rPr lang="en-US" altLang="zh-CN" sz="2000" dirty="0">
                  <a:latin typeface="Arial" panose="020B0604020202020204" pitchFamily="34" charset="0"/>
                </a:rPr>
                <a:t>B</a:t>
              </a:r>
              <a:r>
                <a:rPr lang="zh-CN" altLang="en-US" sz="2000" dirty="0">
                  <a:latin typeface="Arial" panose="020B0604020202020204" pitchFamily="34" charset="0"/>
                </a:rPr>
                <a:t>用户视图</a:t>
              </a:r>
              <a:endParaRPr lang="zh-CN" altLang="en-US" sz="2000" dirty="0">
                <a:latin typeface="Arial" panose="020B0604020202020204" pitchFamily="34" charset="0"/>
              </a:endParaRPr>
            </a:p>
          </p:txBody>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8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1187" name="Rectangle 3"/>
          <p:cNvSpPr>
            <a:spLocks noGrp="1" noChangeArrowheads="1"/>
          </p:cNvSpPr>
          <p:nvPr>
            <p:ph type="title"/>
          </p:nvPr>
        </p:nvSpPr>
        <p:spPr>
          <a:xfrm>
            <a:off x="179388" y="115888"/>
            <a:ext cx="8659813" cy="503238"/>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5.5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视图</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58371" name="Rectangle 2"/>
          <p:cNvSpPr>
            <a:spLocks noGrp="1"/>
          </p:cNvSpPr>
          <p:nvPr>
            <p:ph type="body" sz="half" idx="1"/>
          </p:nvPr>
        </p:nvSpPr>
        <p:spPr>
          <a:xfrm>
            <a:off x="255588" y="3071813"/>
            <a:ext cx="8715375" cy="3492500"/>
          </a:xfrm>
        </p:spPr>
        <p:txBody>
          <a:bodyPr vert="horz" wrap="square" lIns="91440" tIns="45720" rIns="91440" bIns="45720" anchor="t" anchorCtr="0"/>
          <a:p>
            <a:pPr marL="274955" indent="-274955">
              <a:spcBef>
                <a:spcPct val="20000"/>
              </a:spcBef>
              <a:buClr>
                <a:srgbClr val="FF0000"/>
              </a:buClr>
              <a:buSzPct val="65000"/>
              <a:buFont typeface="Wingdings" panose="05000000000000000000" pitchFamily="2" charset="2"/>
            </a:pPr>
            <a:r>
              <a:rPr lang="en-US" altLang="zh-CN" sz="3200" dirty="0">
                <a:latin typeface="Arial" panose="020B0604020202020204" pitchFamily="34" charset="0"/>
              </a:rPr>
              <a:t>DBMS</a:t>
            </a:r>
            <a:r>
              <a:rPr lang="zh-CN" altLang="en-US" sz="3200" dirty="0">
                <a:latin typeface="Arial" panose="020B0604020202020204" pitchFamily="34" charset="0"/>
              </a:rPr>
              <a:t>只在数据字典中存放视图的定义，不存放视图对应的数据。</a:t>
            </a:r>
            <a:endParaRPr lang="zh-CN" altLang="en-US" sz="3200" dirty="0">
              <a:latin typeface="Arial" panose="020B0604020202020204" pitchFamily="34" charset="0"/>
            </a:endParaRPr>
          </a:p>
          <a:p>
            <a:pPr marL="274955" indent="-274955">
              <a:spcBef>
                <a:spcPct val="20000"/>
              </a:spcBef>
              <a:buClr>
                <a:srgbClr val="FF0000"/>
              </a:buClr>
              <a:buSzPct val="65000"/>
              <a:buFont typeface="Wingdings" panose="05000000000000000000" pitchFamily="2" charset="2"/>
            </a:pPr>
            <a:r>
              <a:rPr lang="zh-CN" altLang="en-US" sz="3200" dirty="0">
                <a:latin typeface="Arial" panose="020B0604020202020204" pitchFamily="34" charset="0"/>
              </a:rPr>
              <a:t>当表中的数据改变，从视图中查询出的数据也</a:t>
            </a:r>
            <a:r>
              <a:rPr lang="zh-CN" altLang="en-US" sz="3200" dirty="0">
                <a:solidFill>
                  <a:srgbClr val="FF0000"/>
                </a:solidFill>
                <a:latin typeface="Arial" panose="020B0604020202020204" pitchFamily="34" charset="0"/>
              </a:rPr>
              <a:t>随之改变</a:t>
            </a:r>
            <a:r>
              <a:rPr lang="zh-CN" altLang="en-US" sz="3200" dirty="0">
                <a:latin typeface="Arial" panose="020B0604020202020204" pitchFamily="34" charset="0"/>
              </a:rPr>
              <a:t>。</a:t>
            </a:r>
            <a:endParaRPr lang="zh-CN" altLang="en-US" sz="3200" dirty="0">
              <a:latin typeface="Arial" panose="020B0604020202020204" pitchFamily="34" charset="0"/>
            </a:endParaRPr>
          </a:p>
          <a:p>
            <a:pPr marL="274955" indent="-274955">
              <a:spcBef>
                <a:spcPct val="20000"/>
              </a:spcBef>
              <a:buClr>
                <a:srgbClr val="FF0000"/>
              </a:buClr>
              <a:buSzPct val="65000"/>
              <a:buFont typeface="Wingdings" panose="05000000000000000000" pitchFamily="2" charset="2"/>
            </a:pPr>
            <a:r>
              <a:rPr lang="en-US" altLang="zh-CN" sz="3200" dirty="0">
                <a:latin typeface="Arial" panose="020B0604020202020204" pitchFamily="34" charset="0"/>
              </a:rPr>
              <a:t>SELECT</a:t>
            </a:r>
            <a:r>
              <a:rPr lang="zh-CN" altLang="en-US" sz="3200" dirty="0">
                <a:latin typeface="Arial" panose="020B0604020202020204" pitchFamily="34" charset="0"/>
              </a:rPr>
              <a:t>语句中，可以出现表的地方都可以出现视图。</a:t>
            </a:r>
            <a:endParaRPr lang="zh-CN" altLang="en-US" sz="3200" dirty="0">
              <a:latin typeface="Arial" panose="020B0604020202020204" pitchFamily="34" charset="0"/>
            </a:endParaRPr>
          </a:p>
        </p:txBody>
      </p:sp>
      <p:graphicFrame>
        <p:nvGraphicFramePr>
          <p:cNvPr id="861260" name="Group 76"/>
          <p:cNvGraphicFramePr>
            <a:graphicFrameLocks noGrp="1"/>
          </p:cNvGraphicFramePr>
          <p:nvPr>
            <p:ph sz="half" idx="1"/>
          </p:nvPr>
        </p:nvGraphicFramePr>
        <p:xfrm>
          <a:off x="971550" y="971550"/>
          <a:ext cx="6913563" cy="1847851"/>
        </p:xfrm>
        <a:graphic>
          <a:graphicData uri="http://schemas.openxmlformats.org/drawingml/2006/table">
            <a:tbl>
              <a:tblPr/>
              <a:tblGrid>
                <a:gridCol w="1517650"/>
                <a:gridCol w="1593850"/>
                <a:gridCol w="1209675"/>
                <a:gridCol w="1276350"/>
                <a:gridCol w="1316038"/>
              </a:tblGrid>
              <a:tr h="30797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a:t>
                      </a:r>
                      <a:r>
                        <a:rPr kumimoji="1" lang="zh-CN" altLang="en-US" sz="20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学 号</a:t>
                      </a:r>
                      <a:endParaRPr kumimoji="1" lang="zh-CN" altLang="en-US" sz="20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99"/>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姓   名</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99"/>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性别</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99"/>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年龄</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99"/>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籍  贯</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solidFill>
                      <a:srgbClr val="FFFF99"/>
                    </a:solidFill>
                  </a:tcPr>
                </a:tc>
              </a:tr>
              <a:tr h="30956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王暁燕</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a:t>
                      </a:r>
                      <a:endPar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北京</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0797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李    波</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19</a:t>
                      </a:r>
                      <a:endPar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上海</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0797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陈志坚</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18</a:t>
                      </a:r>
                      <a:endPar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长沙</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0956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S4</a:t>
                      </a:r>
                      <a:endPar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    强</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a:t>
                      </a:r>
                      <a:endPar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上海</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04800">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S5</a:t>
                      </a:r>
                      <a:endPar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    琳</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r>
                        <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1"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21</a:t>
                      </a:r>
                      <a:endParaRPr kumimoji="1" lang="en-US" altLang="zh-CN" sz="20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0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a:t>
                      </a:r>
                      <a:r>
                        <a:rPr kumimoji="1" lang="zh-CN" altLang="en-US" sz="20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武汉</a:t>
                      </a:r>
                      <a:endParaRPr kumimoji="1" lang="zh-CN" altLang="en-US" sz="20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L="0" marR="0" marT="0" marB="0"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58416" name="AutoShape 6"/>
          <p:cNvSpPr/>
          <p:nvPr/>
        </p:nvSpPr>
        <p:spPr>
          <a:xfrm>
            <a:off x="5846763" y="296863"/>
            <a:ext cx="1368425" cy="319087"/>
          </a:xfrm>
          <a:prstGeom prst="wedgeRectCallout">
            <a:avLst>
              <a:gd name="adj1" fmla="val -92806"/>
              <a:gd name="adj2" fmla="val 125620"/>
            </a:avLst>
          </a:prstGeom>
          <a:noFill/>
          <a:ln w="28575" cap="flat" cmpd="sng">
            <a:solidFill>
              <a:srgbClr val="FF0000"/>
            </a:solidFill>
            <a:prstDash val="solid"/>
            <a:miter/>
            <a:headEnd type="none" w="med" len="med"/>
            <a:tailEnd type="none" w="med" len="med"/>
          </a:ln>
        </p:spPr>
        <p:txBody>
          <a:bodyPr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r>
              <a:rPr lang="en-US" altLang="zh-CN" sz="1800" dirty="0">
                <a:latin typeface="Arial" panose="020B0604020202020204" pitchFamily="34" charset="0"/>
              </a:rPr>
              <a:t>A</a:t>
            </a:r>
            <a:r>
              <a:rPr lang="zh-CN" altLang="en-US" sz="1800" dirty="0">
                <a:latin typeface="Arial" panose="020B0604020202020204" pitchFamily="34" charset="0"/>
              </a:rPr>
              <a:t>用户视图</a:t>
            </a:r>
            <a:endParaRPr lang="zh-CN" altLang="en-US" sz="1800" dirty="0">
              <a:latin typeface="Arial" panose="020B0604020202020204" pitchFamily="34" charset="0"/>
            </a:endParaRPr>
          </a:p>
        </p:txBody>
      </p:sp>
      <p:sp>
        <p:nvSpPr>
          <p:cNvPr id="58417" name="Rectangle 5"/>
          <p:cNvSpPr/>
          <p:nvPr/>
        </p:nvSpPr>
        <p:spPr>
          <a:xfrm>
            <a:off x="901700" y="892175"/>
            <a:ext cx="4456113" cy="2016125"/>
          </a:xfrm>
          <a:prstGeom prst="rect">
            <a:avLst/>
          </a:prstGeom>
          <a:noFill/>
          <a:ln w="28575" cap="flat" cmpd="sng">
            <a:solidFill>
              <a:srgbClr val="FF0000"/>
            </a:solidFill>
            <a:prstDash val="dash"/>
            <a:miter/>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zh-CN" sz="4000" dirty="0">
              <a:solidFill>
                <a:srgbClr val="0000FF"/>
              </a:solidFill>
              <a:latin typeface="Arial" panose="020B0604020202020204" pitchFamily="34" charset="0"/>
            </a:endParaRPr>
          </a:p>
        </p:txBody>
      </p:sp>
    </p:spTree>
  </p:cSld>
  <p:clrMapOvr>
    <a:masterClrMapping/>
  </p:clrMapOvr>
  <p:transition>
    <p:random/>
    <p:sndAc>
      <p:stSnd>
        <p:snd r:embed="rId1" name="CAMERA.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idx="1"/>
          </p:nvPr>
        </p:nvSpPr>
        <p:spPr>
          <a:xfrm>
            <a:off x="29845" y="908050"/>
            <a:ext cx="9079230" cy="5508625"/>
          </a:xfrm>
        </p:spPr>
        <p:txBody>
          <a:bodyPr vert="horz" wrap="square" lIns="91440" tIns="45720" rIns="91440" bIns="45720" anchor="t" anchorCtr="0"/>
          <a:p>
            <a:pPr marL="365125" indent="-365125"/>
            <a:r>
              <a:rPr lang="zh-CN" altLang="en-US" dirty="0">
                <a:latin typeface="Arial" panose="020B0604020202020204" pitchFamily="34" charset="0"/>
              </a:rPr>
              <a:t>基本语法：</a:t>
            </a:r>
            <a:endParaRPr lang="zh-CN" altLang="en-US" dirty="0">
              <a:latin typeface="Arial" panose="020B0604020202020204" pitchFamily="34" charset="0"/>
            </a:endParaRPr>
          </a:p>
          <a:p>
            <a:pPr marL="365125" indent="-365125">
              <a:spcBef>
                <a:spcPct val="50000"/>
              </a:spcBef>
              <a:buNone/>
            </a:pPr>
            <a:r>
              <a:rPr lang="zh-CN" altLang="en-US" sz="3200" dirty="0">
                <a:latin typeface="Arial" panose="020B0604020202020204" pitchFamily="34" charset="0"/>
              </a:rPr>
              <a:t>	</a:t>
            </a:r>
            <a:r>
              <a:rPr lang="en-US" altLang="zh-CN" sz="3200" dirty="0">
                <a:solidFill>
                  <a:srgbClr val="FF0000"/>
                </a:solidFill>
                <a:latin typeface="Arial" panose="020B0604020202020204" pitchFamily="34" charset="0"/>
              </a:rPr>
              <a:t>CREATE   VIEW </a:t>
            </a:r>
            <a:r>
              <a:rPr lang="en-US" altLang="zh-CN" sz="3200" dirty="0">
                <a:solidFill>
                  <a:srgbClr val="0000CC"/>
                </a:solidFill>
                <a:latin typeface="Arial" panose="020B0604020202020204" pitchFamily="34" charset="0"/>
              </a:rPr>
              <a:t> &lt;</a:t>
            </a:r>
            <a:r>
              <a:rPr lang="zh-CN" altLang="en-US" sz="3200" dirty="0">
                <a:solidFill>
                  <a:srgbClr val="0000CC"/>
                </a:solidFill>
                <a:latin typeface="Arial" panose="020B0604020202020204" pitchFamily="34" charset="0"/>
              </a:rPr>
              <a:t>视图名</a:t>
            </a:r>
            <a:r>
              <a:rPr lang="en-US" altLang="zh-CN" sz="3200" dirty="0">
                <a:solidFill>
                  <a:srgbClr val="0000CC"/>
                </a:solidFill>
                <a:latin typeface="Arial" panose="020B0604020202020204" pitchFamily="34" charset="0"/>
              </a:rPr>
              <a:t>&gt;   </a:t>
            </a:r>
            <a:endParaRPr lang="en-US" altLang="zh-CN" sz="3200" dirty="0">
              <a:solidFill>
                <a:srgbClr val="0000CC"/>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 (&lt;</a:t>
            </a:r>
            <a:r>
              <a:rPr lang="zh-CN" altLang="en-US" sz="3200" dirty="0">
                <a:solidFill>
                  <a:srgbClr val="0000CC"/>
                </a:solidFill>
                <a:latin typeface="Arial" panose="020B0604020202020204" pitchFamily="34" charset="0"/>
              </a:rPr>
              <a:t>列名</a:t>
            </a:r>
            <a:r>
              <a:rPr lang="en-US" altLang="zh-CN" sz="3200" dirty="0">
                <a:solidFill>
                  <a:srgbClr val="0000CC"/>
                </a:solidFill>
                <a:latin typeface="Arial" panose="020B0604020202020204" pitchFamily="34" charset="0"/>
              </a:rPr>
              <a:t>&gt; [,&lt;</a:t>
            </a:r>
            <a:r>
              <a:rPr lang="zh-CN" altLang="en-US" sz="3200" dirty="0">
                <a:solidFill>
                  <a:srgbClr val="0000CC"/>
                </a:solidFill>
                <a:latin typeface="Arial" panose="020B0604020202020204" pitchFamily="34" charset="0"/>
              </a:rPr>
              <a:t>列名</a:t>
            </a:r>
            <a:r>
              <a:rPr lang="en-US" altLang="zh-CN" sz="3200" dirty="0">
                <a:solidFill>
                  <a:srgbClr val="0000CC"/>
                </a:solidFill>
                <a:latin typeface="Arial" panose="020B0604020202020204" pitchFamily="34" charset="0"/>
              </a:rPr>
              <a:t>&gt;]…) ]</a:t>
            </a:r>
            <a:endParaRPr lang="en-US" altLang="zh-CN" sz="3200" dirty="0">
              <a:solidFill>
                <a:srgbClr val="0000CC"/>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a:t>
            </a:r>
            <a:r>
              <a:rPr lang="en-US" altLang="zh-CN" sz="3200" dirty="0">
                <a:solidFill>
                  <a:srgbClr val="FF0000"/>
                </a:solidFill>
                <a:latin typeface="Arial" panose="020B0604020202020204" pitchFamily="34" charset="0"/>
              </a:rPr>
              <a:t>AS</a:t>
            </a:r>
            <a:r>
              <a:rPr lang="en-US" altLang="zh-CN" sz="3200" dirty="0">
                <a:solidFill>
                  <a:srgbClr val="0000CC"/>
                </a:solidFill>
                <a:latin typeface="Arial" panose="020B0604020202020204" pitchFamily="34" charset="0"/>
              </a:rPr>
              <a:t>  &lt;</a:t>
            </a:r>
            <a:r>
              <a:rPr lang="zh-CN" altLang="en-US" sz="3200" dirty="0">
                <a:solidFill>
                  <a:srgbClr val="0000CC"/>
                </a:solidFill>
                <a:latin typeface="Arial" panose="020B0604020202020204" pitchFamily="34" charset="0"/>
              </a:rPr>
              <a:t>子查询</a:t>
            </a:r>
            <a:r>
              <a:rPr lang="en-US" altLang="zh-CN" sz="3200" dirty="0">
                <a:solidFill>
                  <a:srgbClr val="0000CC"/>
                </a:solidFill>
                <a:latin typeface="Arial" panose="020B0604020202020204" pitchFamily="34" charset="0"/>
              </a:rPr>
              <a:t>&gt;</a:t>
            </a:r>
            <a:endParaRPr lang="en-US" altLang="zh-CN" sz="3200" dirty="0">
              <a:solidFill>
                <a:srgbClr val="0000CC"/>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 WITH  CHECK  OPTION ] ;</a:t>
            </a:r>
            <a:endParaRPr lang="en-US" altLang="zh-CN" sz="3200" dirty="0">
              <a:solidFill>
                <a:srgbClr val="0000CC"/>
              </a:solidFill>
              <a:latin typeface="Arial" panose="020B0604020202020204" pitchFamily="34" charset="0"/>
            </a:endParaRPr>
          </a:p>
          <a:p>
            <a:pPr marL="365125" indent="-365125">
              <a:buNone/>
            </a:pPr>
            <a:endParaRPr lang="en-US" altLang="zh-CN" sz="3200" dirty="0">
              <a:solidFill>
                <a:srgbClr val="0000CC"/>
              </a:solidFill>
              <a:latin typeface="Arial" panose="020B0604020202020204" pitchFamily="34" charset="0"/>
            </a:endParaRPr>
          </a:p>
          <a:p>
            <a:pPr marL="365125" indent="-365125"/>
            <a:r>
              <a:rPr lang="en-US" altLang="zh-CN" sz="3200" dirty="0">
                <a:latin typeface="Arial" panose="020B0604020202020204" pitchFamily="34" charset="0"/>
              </a:rPr>
              <a:t>WITH  CHECK  OPTION</a:t>
            </a:r>
            <a:endParaRPr lang="en-US" altLang="zh-CN" sz="3200" dirty="0">
              <a:latin typeface="Arial" panose="020B0604020202020204" pitchFamily="34" charset="0"/>
            </a:endParaRPr>
          </a:p>
          <a:p>
            <a:pPr marL="365125" indent="-365125">
              <a:buNone/>
            </a:pPr>
            <a:r>
              <a:rPr lang="en-US" altLang="zh-CN" sz="3200" dirty="0">
                <a:latin typeface="Arial" panose="020B0604020202020204" pitchFamily="34" charset="0"/>
              </a:rPr>
              <a:t>   </a:t>
            </a:r>
            <a:r>
              <a:rPr lang="zh-CN" altLang="en-US" sz="3200" dirty="0">
                <a:latin typeface="Arial" panose="020B0604020202020204" pitchFamily="34" charset="0"/>
              </a:rPr>
              <a:t>表示通过视图进行更新操作时，不得破坏视图定义中子查询的</a:t>
            </a:r>
            <a:r>
              <a:rPr lang="en-US" altLang="zh-CN" sz="3200" dirty="0">
                <a:latin typeface="Arial" panose="020B0604020202020204" pitchFamily="34" charset="0"/>
              </a:rPr>
              <a:t>WHERE</a:t>
            </a:r>
            <a:r>
              <a:rPr lang="zh-CN" altLang="en-US" sz="3200" dirty="0">
                <a:latin typeface="Arial" panose="020B0604020202020204" pitchFamily="34" charset="0"/>
              </a:rPr>
              <a:t>子句中的条件表达式</a:t>
            </a:r>
            <a:endParaRPr lang="zh-CN" altLang="en-US" sz="3200" dirty="0">
              <a:latin typeface="Arial" panose="020B0604020202020204" pitchFamily="34" charset="0"/>
            </a:endParaRPr>
          </a:p>
        </p:txBody>
      </p:sp>
      <p:sp>
        <p:nvSpPr>
          <p:cNvPr id="3174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定义视图</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59396" name="Rectangle 4"/>
          <p:cNvSpPr/>
          <p:nvPr/>
        </p:nvSpPr>
        <p:spPr>
          <a:xfrm>
            <a:off x="252413" y="1628775"/>
            <a:ext cx="8640762" cy="2232025"/>
          </a:xfrm>
          <a:prstGeom prst="rect">
            <a:avLst/>
          </a:prstGeom>
          <a:noFill/>
          <a:ln w="28575" cap="flat" cmpd="sng">
            <a:solidFill>
              <a:srgbClr val="FF3300"/>
            </a:solidFill>
            <a:prstDash val="solid"/>
            <a:miter/>
            <a:headEnd type="none" w="med" len="med"/>
            <a:tailEnd type="none" w="med" len="med"/>
          </a:ln>
        </p:spPr>
        <p:txBody>
          <a:bodyPr wrap="none"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en-US" sz="4000" dirty="0">
              <a:solidFill>
                <a:srgbClr val="0000FF"/>
              </a:solidFill>
              <a:latin typeface="Arial" panose="020B0604020202020204" pitchFamily="34" charset="0"/>
            </a:endParaRPr>
          </a:p>
        </p:txBody>
      </p:sp>
    </p:spTree>
  </p:cSld>
  <p:clrMapOvr>
    <a:masterClrMapping/>
  </p:clrMapOvr>
  <p:transition>
    <p:random/>
    <p:sndAc>
      <p:stSnd>
        <p:snd r:embed="rId1" name="CAMERA.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3346" name="Rectangle 2"/>
          <p:cNvSpPr>
            <a:spLocks noGrp="1"/>
          </p:cNvSpPr>
          <p:nvPr>
            <p:ph idx="1"/>
          </p:nvPr>
        </p:nvSpPr>
        <p:spPr>
          <a:xfrm>
            <a:off x="152400" y="928688"/>
            <a:ext cx="8740775" cy="5273675"/>
          </a:xfrm>
        </p:spPr>
        <p:txBody>
          <a:bodyPr vert="horz" wrap="square" lIns="91440" tIns="45720" rIns="91440" bIns="45720" anchor="t" anchorCtr="0"/>
          <a:p>
            <a:pPr marL="263525" indent="-263525"/>
            <a:r>
              <a:rPr lang="zh-CN" altLang="en-US" sz="3200" dirty="0">
                <a:latin typeface="Arial" panose="020B0604020202020204" pitchFamily="34" charset="0"/>
              </a:rPr>
              <a:t>建立信息系学生的学号、姓名和年龄的视图。</a:t>
            </a:r>
            <a:endParaRPr lang="zh-CN" altLang="en-US" sz="3200" dirty="0">
              <a:latin typeface="Arial" panose="020B0604020202020204" pitchFamily="34" charset="0"/>
            </a:endParaRPr>
          </a:p>
          <a:p>
            <a:pPr marL="263525" indent="-263525">
              <a:spcBef>
                <a:spcPct val="40000"/>
              </a:spcBef>
              <a:buNone/>
            </a:pPr>
            <a:r>
              <a:rPr lang="zh-CN" altLang="en-US" sz="3200" dirty="0">
                <a:latin typeface="Arial" panose="020B0604020202020204" pitchFamily="34" charset="0"/>
              </a:rPr>
              <a:t>        </a:t>
            </a:r>
            <a:r>
              <a:rPr lang="en-US" altLang="zh-CN" sz="3200" dirty="0">
                <a:solidFill>
                  <a:srgbClr val="FF0000"/>
                </a:solidFill>
                <a:latin typeface="Arial" panose="020B0604020202020204" pitchFamily="34" charset="0"/>
              </a:rPr>
              <a:t>CREATE  VIEW  </a:t>
            </a:r>
            <a:r>
              <a:rPr lang="en-US" altLang="zh-CN" sz="3200" dirty="0">
                <a:solidFill>
                  <a:srgbClr val="0000CC"/>
                </a:solidFill>
                <a:latin typeface="Arial" panose="020B0604020202020204" pitchFamily="34" charset="0"/>
              </a:rPr>
              <a:t> </a:t>
            </a:r>
            <a:r>
              <a:rPr lang="en-US" altLang="zh-CN" sz="3200" dirty="0">
                <a:latin typeface="Arial" panose="020B0604020202020204" pitchFamily="34" charset="0"/>
              </a:rPr>
              <a:t>IS_Student</a:t>
            </a:r>
            <a:endParaRPr lang="en-US" altLang="zh-CN" sz="3200" dirty="0">
              <a:latin typeface="Arial" panose="020B0604020202020204" pitchFamily="34" charset="0"/>
            </a:endParaRPr>
          </a:p>
          <a:p>
            <a:pPr marL="263525" indent="-263525">
              <a:buNone/>
            </a:pPr>
            <a:r>
              <a:rPr lang="en-US" altLang="zh-CN" sz="3200" dirty="0">
                <a:solidFill>
                  <a:srgbClr val="0000CC"/>
                </a:solidFill>
                <a:latin typeface="Arial" panose="020B0604020202020204" pitchFamily="34" charset="0"/>
              </a:rPr>
              <a:t>             </a:t>
            </a:r>
            <a:r>
              <a:rPr lang="en-US" altLang="zh-CN" sz="3200" dirty="0">
                <a:solidFill>
                  <a:srgbClr val="FF3300"/>
                </a:solidFill>
                <a:latin typeface="Arial" panose="020B0604020202020204" pitchFamily="34" charset="0"/>
              </a:rPr>
              <a:t>AS</a:t>
            </a:r>
            <a:r>
              <a:rPr lang="en-US" altLang="zh-CN" sz="3200" dirty="0">
                <a:solidFill>
                  <a:srgbClr val="0000CC"/>
                </a:solidFill>
                <a:latin typeface="Arial" panose="020B0604020202020204" pitchFamily="34" charset="0"/>
              </a:rPr>
              <a:t> </a:t>
            </a:r>
            <a:endParaRPr lang="en-US" altLang="zh-CN" sz="3200" dirty="0">
              <a:solidFill>
                <a:srgbClr val="0000CC"/>
              </a:solidFill>
              <a:latin typeface="Arial" panose="020B0604020202020204" pitchFamily="34" charset="0"/>
            </a:endParaRPr>
          </a:p>
          <a:p>
            <a:pPr marL="263525" indent="-263525">
              <a:buNone/>
            </a:pPr>
            <a:r>
              <a:rPr lang="en-US" altLang="zh-CN" sz="3200" dirty="0">
                <a:latin typeface="Arial" panose="020B0604020202020204" pitchFamily="34" charset="0"/>
              </a:rPr>
              <a:t>             </a:t>
            </a:r>
            <a:r>
              <a:rPr lang="en-US" altLang="zh-CN" sz="3200" dirty="0">
                <a:solidFill>
                  <a:srgbClr val="0000CC"/>
                </a:solidFill>
                <a:latin typeface="Arial" panose="020B0604020202020204" pitchFamily="34" charset="0"/>
              </a:rPr>
              <a:t>SELECT  </a:t>
            </a:r>
            <a:r>
              <a:rPr lang="en-US" altLang="zh-CN" sz="3200" dirty="0">
                <a:solidFill>
                  <a:srgbClr val="0000CC"/>
                </a:solidFill>
                <a:latin typeface="Arial" panose="020B0604020202020204" pitchFamily="34" charset="0"/>
                <a:sym typeface="Symbol" panose="05050102010706020507" pitchFamily="18" charset="2"/>
              </a:rPr>
              <a:t>Sno, Sname, Sage</a:t>
            </a:r>
            <a:endParaRPr lang="en-US" altLang="zh-CN" sz="3200" dirty="0">
              <a:solidFill>
                <a:srgbClr val="0000CC"/>
              </a:solidFill>
              <a:latin typeface="Arial" panose="020B0604020202020204" pitchFamily="34" charset="0"/>
            </a:endParaRPr>
          </a:p>
          <a:p>
            <a:pPr marL="263525" indent="-263525">
              <a:buNone/>
            </a:pPr>
            <a:r>
              <a:rPr lang="en-US" altLang="zh-CN" sz="3200" dirty="0">
                <a:solidFill>
                  <a:srgbClr val="0000CC"/>
                </a:solidFill>
                <a:latin typeface="Arial" panose="020B0604020202020204" pitchFamily="34" charset="0"/>
              </a:rPr>
              <a:t>             FROM     S</a:t>
            </a:r>
            <a:endParaRPr lang="en-US" altLang="zh-CN" sz="3200" dirty="0">
              <a:solidFill>
                <a:srgbClr val="0000CC"/>
              </a:solidFill>
              <a:latin typeface="Arial" panose="020B0604020202020204" pitchFamily="34" charset="0"/>
            </a:endParaRPr>
          </a:p>
          <a:p>
            <a:pPr marL="263525" indent="-263525">
              <a:buNone/>
            </a:pPr>
            <a:r>
              <a:rPr lang="en-US" altLang="zh-CN" sz="3200" dirty="0">
                <a:solidFill>
                  <a:srgbClr val="0000CC"/>
                </a:solidFill>
                <a:latin typeface="Arial" panose="020B0604020202020204" pitchFamily="34" charset="0"/>
              </a:rPr>
              <a:t>             WHERE  Sdept = 'IS' ;</a:t>
            </a:r>
            <a:endParaRPr lang="en-US" altLang="zh-CN" sz="3200" dirty="0">
              <a:solidFill>
                <a:srgbClr val="0000CC"/>
              </a:solidFill>
              <a:latin typeface="Arial" panose="020B0604020202020204" pitchFamily="34" charset="0"/>
            </a:endParaRPr>
          </a:p>
          <a:p>
            <a:pPr lvl="1">
              <a:spcBef>
                <a:spcPct val="0"/>
              </a:spcBef>
              <a:buNone/>
            </a:pPr>
            <a:endParaRPr lang="en-US" altLang="zh-CN" dirty="0">
              <a:solidFill>
                <a:srgbClr val="0000CC"/>
              </a:solidFill>
              <a:latin typeface="Arial" panose="020B0604020202020204" pitchFamily="34" charset="0"/>
            </a:endParaRPr>
          </a:p>
          <a:p>
            <a:pPr lvl="1">
              <a:spcBef>
                <a:spcPct val="0"/>
              </a:spcBef>
              <a:buNone/>
            </a:pPr>
            <a:r>
              <a:rPr lang="zh-CN" altLang="en-US" dirty="0">
                <a:latin typeface="Arial" panose="020B0604020202020204" pitchFamily="34" charset="0"/>
              </a:rPr>
              <a:t>从单表导出</a:t>
            </a:r>
            <a:endParaRPr lang="en-US" altLang="zh-CN" dirty="0">
              <a:latin typeface="Arial" panose="020B0604020202020204" pitchFamily="34" charset="0"/>
            </a:endParaRPr>
          </a:p>
          <a:p>
            <a:pPr lvl="1">
              <a:spcBef>
                <a:spcPct val="0"/>
              </a:spcBef>
              <a:buNone/>
            </a:pPr>
            <a:r>
              <a:rPr lang="zh-CN" altLang="en-US" dirty="0">
                <a:latin typeface="Arial" panose="020B0604020202020204" pitchFamily="34" charset="0"/>
              </a:rPr>
              <a:t>保留主键</a:t>
            </a:r>
            <a:endParaRPr lang="zh-CN" altLang="en-US" dirty="0">
              <a:latin typeface="Arial" panose="020B0604020202020204" pitchFamily="34" charset="0"/>
            </a:endParaRPr>
          </a:p>
          <a:p>
            <a:pPr lvl="1">
              <a:spcBef>
                <a:spcPct val="0"/>
              </a:spcBef>
              <a:buNone/>
            </a:pPr>
            <a:r>
              <a:rPr lang="zh-CN" altLang="en-US" dirty="0">
                <a:latin typeface="Arial" panose="020B0604020202020204" pitchFamily="34" charset="0"/>
              </a:rPr>
              <a:t>去掉表的某些行和列</a:t>
            </a:r>
            <a:endParaRPr lang="zh-CN" altLang="en-US" dirty="0">
              <a:latin typeface="Arial" panose="020B0604020202020204" pitchFamily="34" charset="0"/>
            </a:endParaRPr>
          </a:p>
        </p:txBody>
      </p:sp>
      <p:sp>
        <p:nvSpPr>
          <p:cNvPr id="313347" name="Rectangle 3"/>
          <p:cNvSpPr>
            <a:spLocks noGrp="1" noChangeArrowheads="1"/>
          </p:cNvSpPr>
          <p:nvPr>
            <p:ph type="title"/>
          </p:nvPr>
        </p:nvSpPr>
        <p:spPr>
          <a:xfrm>
            <a:off x="119063" y="115888"/>
            <a:ext cx="8659813" cy="503238"/>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定义视图</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1</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a:t>
            </a:r>
            <a:r>
              <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行列子集视图</a:t>
            </a:r>
            <a:endPar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 name="矩形标注 3"/>
          <p:cNvSpPr/>
          <p:nvPr/>
        </p:nvSpPr>
        <p:spPr>
          <a:xfrm>
            <a:off x="5857875" y="4500563"/>
            <a:ext cx="2714625" cy="1357312"/>
          </a:xfrm>
          <a:prstGeom prst="wedgeRectCallout">
            <a:avLst>
              <a:gd name="adj1" fmla="val 810"/>
              <a:gd name="adj2" fmla="val -224440"/>
            </a:avLst>
          </a:prstGeom>
          <a:solidFill>
            <a:srgbClr val="FFFF99"/>
          </a:solidFill>
          <a:ln w="28575" cap="flat" cmpd="sng">
            <a:solidFill>
              <a:srgbClr val="FF0000"/>
            </a:solidFill>
            <a:prstDash val="solid"/>
            <a:round/>
            <a:headEnd type="none" w="med" len="med"/>
            <a:tailEnd type="none" w="med" len="med"/>
          </a:ln>
        </p:spPr>
        <p:txBody>
          <a:bodyPr wrap="none" lIns="0" tIns="72000" rIns="0" bIns="7200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r>
              <a:rPr lang="zh-CN" altLang="en-US" sz="2800" dirty="0">
                <a:latin typeface="Arial" panose="020B0604020202020204" pitchFamily="34" charset="0"/>
              </a:rPr>
              <a:t>省略列名，则</a:t>
            </a:r>
            <a:endParaRPr lang="en-US" altLang="zh-CN" sz="2800" dirty="0">
              <a:latin typeface="Arial" panose="020B0604020202020204" pitchFamily="34" charset="0"/>
            </a:endParaRPr>
          </a:p>
          <a:p>
            <a:pPr marL="0" lvl="0" indent="0" algn="ctr" eaLnBrk="1" hangingPunct="1">
              <a:buClrTx/>
              <a:buSzTx/>
              <a:buFontTx/>
              <a:buNone/>
            </a:pPr>
            <a:r>
              <a:rPr lang="zh-CN" altLang="en-US" sz="2800" dirty="0">
                <a:latin typeface="Arial" panose="020B0604020202020204" pitchFamily="34" charset="0"/>
              </a:rPr>
              <a:t>与</a:t>
            </a:r>
            <a:r>
              <a:rPr lang="en-US" altLang="zh-CN" sz="2800" dirty="0">
                <a:latin typeface="Arial" panose="020B0604020202020204" pitchFamily="34" charset="0"/>
              </a:rPr>
              <a:t>SELECT</a:t>
            </a:r>
            <a:r>
              <a:rPr lang="zh-CN" altLang="en-US" sz="2800" dirty="0">
                <a:latin typeface="Arial" panose="020B0604020202020204" pitchFamily="34" charset="0"/>
              </a:rPr>
              <a:t>子</a:t>
            </a:r>
            <a:endParaRPr lang="en-US" altLang="zh-CN" sz="2800" dirty="0">
              <a:latin typeface="Arial" panose="020B0604020202020204" pitchFamily="34" charset="0"/>
            </a:endParaRPr>
          </a:p>
          <a:p>
            <a:pPr marL="0" lvl="0" indent="0" algn="ctr" eaLnBrk="1" hangingPunct="1">
              <a:buClrTx/>
              <a:buSzTx/>
              <a:buFontTx/>
              <a:buNone/>
            </a:pPr>
            <a:r>
              <a:rPr lang="zh-CN" altLang="en-US" sz="2800" dirty="0">
                <a:latin typeface="Arial" panose="020B0604020202020204" pitchFamily="34" charset="0"/>
              </a:rPr>
              <a:t>句的列名相同</a:t>
            </a:r>
            <a:endParaRPr lang="zh-CN" altLang="en-US" sz="2800" dirty="0">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3346">
                                            <p:txEl>
                                              <p:charRg st="21" end="5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3346">
                                            <p:txEl>
                                              <p:charRg st="55" end="7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3346">
                                            <p:txEl>
                                              <p:charRg st="72" end="11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3346">
                                            <p:txEl>
                                              <p:charRg st="110" end="13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3346">
                                            <p:txEl>
                                              <p:charRg st="134" end="169"/>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3346">
                                            <p:txEl>
                                              <p:charRg st="170" end="17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3346">
                                            <p:txEl>
                                              <p:charRg st="176" end="18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3346">
                                            <p:txEl>
                                              <p:charRg st="181" end="191"/>
                                            </p:txEl>
                                          </p:spTgt>
                                        </p:tgtEl>
                                        <p:attrNameLst>
                                          <p:attrName>style.visibility</p:attrName>
                                        </p:attrNameLst>
                                      </p:cBhvr>
                                      <p:to>
                                        <p:strVal val="visible"/>
                                      </p:to>
                                    </p:set>
                                  </p:childTnLst>
                                </p:cTn>
                              </p:par>
                              <p:par>
                                <p:cTn id="21" presetID="22" presetClass="entr" presetSubtype="4" fill="hold" grpId="0" nodeType="withEffect">
                                  <p:stCondLst>
                                    <p:cond delay="150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6" grpId="0" build="p"/>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idx="1"/>
          </p:nvPr>
        </p:nvSpPr>
        <p:spPr>
          <a:xfrm>
            <a:off x="152400" y="981075"/>
            <a:ext cx="8740775" cy="5273675"/>
          </a:xfrm>
        </p:spPr>
        <p:txBody>
          <a:bodyPr vert="horz" wrap="square" lIns="91440" tIns="45720" rIns="91440" bIns="45720" anchor="t" anchorCtr="0"/>
          <a:p>
            <a:pPr marL="365125" indent="-365125"/>
            <a:r>
              <a:rPr lang="zh-CN" altLang="en-US" sz="3200" dirty="0">
                <a:latin typeface="Arial" panose="020B0604020202020204" pitchFamily="34" charset="0"/>
              </a:rPr>
              <a:t>建立信息系学生的视图，并要求透过该视图进行的更新操作只涉及信息系学生。</a:t>
            </a:r>
            <a:endParaRPr lang="zh-CN" altLang="en-US" sz="3200" dirty="0">
              <a:latin typeface="Arial" panose="020B0604020202020204" pitchFamily="34" charset="0"/>
            </a:endParaRPr>
          </a:p>
          <a:p>
            <a:pPr marL="365125" indent="-365125"/>
            <a:endParaRPr lang="zh-CN" altLang="en-US" sz="1800" dirty="0">
              <a:latin typeface="Arial" panose="020B0604020202020204" pitchFamily="34" charset="0"/>
            </a:endParaRPr>
          </a:p>
          <a:p>
            <a:pPr marL="365125" indent="-365125">
              <a:buNone/>
            </a:pPr>
            <a:r>
              <a:rPr lang="zh-CN" altLang="en-US" sz="3200" dirty="0">
                <a:latin typeface="Arial" panose="020B0604020202020204" pitchFamily="34" charset="0"/>
              </a:rPr>
              <a:t>        </a:t>
            </a:r>
            <a:r>
              <a:rPr lang="en-US" altLang="zh-CN" sz="3200" dirty="0">
                <a:solidFill>
                  <a:srgbClr val="FF0000"/>
                </a:solidFill>
                <a:latin typeface="Arial" panose="020B0604020202020204" pitchFamily="34" charset="0"/>
              </a:rPr>
              <a:t>CREATE   VIEW</a:t>
            </a:r>
            <a:r>
              <a:rPr lang="en-US" altLang="zh-CN" sz="3200" dirty="0">
                <a:solidFill>
                  <a:srgbClr val="0000CC"/>
                </a:solidFill>
                <a:latin typeface="Arial" panose="020B0604020202020204" pitchFamily="34" charset="0"/>
              </a:rPr>
              <a:t>   </a:t>
            </a:r>
            <a:r>
              <a:rPr lang="en-US" altLang="zh-CN" sz="3200" dirty="0">
                <a:latin typeface="Arial" panose="020B0604020202020204" pitchFamily="34" charset="0"/>
              </a:rPr>
              <a:t>IS_Stu</a:t>
            </a:r>
            <a:endParaRPr lang="en-US" altLang="zh-CN" sz="3200" dirty="0">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a:t>
            </a:r>
            <a:r>
              <a:rPr lang="en-US" altLang="zh-CN" sz="3200" dirty="0">
                <a:solidFill>
                  <a:srgbClr val="FF3300"/>
                </a:solidFill>
                <a:latin typeface="Arial" panose="020B0604020202020204" pitchFamily="34" charset="0"/>
              </a:rPr>
              <a:t>AS </a:t>
            </a:r>
            <a:endParaRPr lang="en-US" altLang="zh-CN" sz="3200" dirty="0">
              <a:solidFill>
                <a:srgbClr val="FF3300"/>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SELECT  </a:t>
            </a:r>
            <a:r>
              <a:rPr lang="en-US" altLang="zh-CN" sz="3200" dirty="0">
                <a:solidFill>
                  <a:srgbClr val="0033CC"/>
                </a:solidFill>
                <a:latin typeface="Arial" panose="020B0604020202020204" pitchFamily="34" charset="0"/>
                <a:sym typeface="Symbol" panose="05050102010706020507" pitchFamily="18" charset="2"/>
              </a:rPr>
              <a:t></a:t>
            </a:r>
            <a:endParaRPr lang="en-US" altLang="zh-CN" sz="4000" dirty="0">
              <a:solidFill>
                <a:srgbClr val="0000CC"/>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FROM  S</a:t>
            </a:r>
            <a:endParaRPr lang="en-US" altLang="zh-CN" sz="3200" dirty="0">
              <a:solidFill>
                <a:srgbClr val="0000CC"/>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WHERE  Sdept = 'IS'</a:t>
            </a:r>
            <a:endParaRPr lang="en-US" altLang="zh-CN" sz="3200" dirty="0">
              <a:solidFill>
                <a:srgbClr val="0000CC"/>
              </a:solidFill>
              <a:latin typeface="Arial" panose="020B0604020202020204" pitchFamily="34" charset="0"/>
            </a:endParaRPr>
          </a:p>
          <a:p>
            <a:pPr marL="365125" indent="-365125">
              <a:buNone/>
            </a:pPr>
            <a:r>
              <a:rPr lang="en-US" altLang="zh-CN" sz="3200" dirty="0">
                <a:solidFill>
                  <a:srgbClr val="0000CC"/>
                </a:solidFill>
                <a:latin typeface="Arial" panose="020B0604020202020204" pitchFamily="34" charset="0"/>
              </a:rPr>
              <a:t>               </a:t>
            </a:r>
            <a:r>
              <a:rPr lang="en-US" altLang="zh-CN" sz="3200" dirty="0">
                <a:solidFill>
                  <a:srgbClr val="C00000"/>
                </a:solidFill>
                <a:latin typeface="Arial" panose="020B0604020202020204" pitchFamily="34" charset="0"/>
              </a:rPr>
              <a:t>WITH  CHECK OPTION </a:t>
            </a:r>
            <a:r>
              <a:rPr lang="en-US" altLang="zh-CN" sz="3200" dirty="0">
                <a:solidFill>
                  <a:srgbClr val="0000CC"/>
                </a:solidFill>
                <a:latin typeface="Arial" panose="020B0604020202020204" pitchFamily="34" charset="0"/>
              </a:rPr>
              <a:t>;</a:t>
            </a:r>
            <a:endParaRPr lang="en-US" altLang="zh-CN" sz="3200" dirty="0">
              <a:solidFill>
                <a:srgbClr val="0000CC"/>
              </a:solidFill>
              <a:latin typeface="Arial" panose="020B0604020202020204" pitchFamily="34" charset="0"/>
            </a:endParaRPr>
          </a:p>
        </p:txBody>
      </p:sp>
      <p:sp>
        <p:nvSpPr>
          <p:cNvPr id="481283" name="Rectangle 3"/>
          <p:cNvSpPr>
            <a:spLocks noGrp="1" noChangeArrowheads="1"/>
          </p:cNvSpPr>
          <p:nvPr>
            <p:ph type="title"/>
          </p:nvPr>
        </p:nvSpPr>
        <p:spPr>
          <a:xfrm>
            <a:off x="114300" y="112713"/>
            <a:ext cx="8607425" cy="550863"/>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定义视图</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2</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 </a:t>
            </a:r>
            <a:r>
              <a:rPr kumimoji="1" lang="en-US" altLang="zh-CN"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WITH …</a:t>
            </a:r>
            <a:r>
              <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的视图</a:t>
            </a:r>
            <a:endPar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3330" name="Rectangle 2"/>
          <p:cNvSpPr>
            <a:spLocks noGrp="1"/>
          </p:cNvSpPr>
          <p:nvPr>
            <p:ph idx="1"/>
          </p:nvPr>
        </p:nvSpPr>
        <p:spPr>
          <a:xfrm>
            <a:off x="152400" y="908050"/>
            <a:ext cx="8777288" cy="5689600"/>
          </a:xfrm>
        </p:spPr>
        <p:txBody>
          <a:bodyPr vert="horz" wrap="square" lIns="91440" tIns="45720" rIns="91440" bIns="45720" anchor="t" anchorCtr="0"/>
          <a:p>
            <a:pPr marL="365125" indent="-365125"/>
            <a:r>
              <a:rPr lang="zh-CN" altLang="en-US" sz="3200" dirty="0">
                <a:latin typeface="Arial" panose="020B0604020202020204" pitchFamily="34" charset="0"/>
              </a:rPr>
              <a:t>建立信息系选修了</a:t>
            </a:r>
            <a:r>
              <a:rPr lang="en-US" altLang="zh-CN" sz="3200" dirty="0">
                <a:latin typeface="Arial" panose="020B0604020202020204" pitchFamily="34" charset="0"/>
              </a:rPr>
              <a:t>C1</a:t>
            </a:r>
            <a:r>
              <a:rPr lang="zh-CN" altLang="en-US" sz="3200" dirty="0">
                <a:latin typeface="Arial" panose="020B0604020202020204" pitchFamily="34" charset="0"/>
              </a:rPr>
              <a:t>号课程的学生视图。</a:t>
            </a:r>
            <a:endParaRPr lang="zh-CN" altLang="en-US" sz="3200" dirty="0">
              <a:latin typeface="Arial" panose="020B0604020202020204" pitchFamily="34" charset="0"/>
            </a:endParaRPr>
          </a:p>
          <a:p>
            <a:pPr marL="365125" indent="-365125">
              <a:lnSpc>
                <a:spcPct val="105000"/>
              </a:lnSpc>
              <a:spcBef>
                <a:spcPct val="15000"/>
              </a:spcBef>
              <a:buNone/>
            </a:pPr>
            <a:r>
              <a:rPr lang="zh-CN" altLang="en-US" dirty="0">
                <a:latin typeface="Arial" panose="020B0604020202020204" pitchFamily="34" charset="0"/>
              </a:rPr>
              <a:t>  </a:t>
            </a:r>
            <a:r>
              <a:rPr lang="en-US" altLang="zh-CN" sz="3200" dirty="0">
                <a:solidFill>
                  <a:srgbClr val="FF0000"/>
                </a:solidFill>
                <a:latin typeface="Arial" panose="020B0604020202020204" pitchFamily="34" charset="0"/>
              </a:rPr>
              <a:t>CREATE  VIEW</a:t>
            </a:r>
            <a:r>
              <a:rPr lang="en-US" altLang="zh-CN" sz="3200" dirty="0">
                <a:solidFill>
                  <a:srgbClr val="0000CC"/>
                </a:solidFill>
                <a:latin typeface="Arial" panose="020B0604020202020204" pitchFamily="34" charset="0"/>
              </a:rPr>
              <a:t>  </a:t>
            </a:r>
            <a:r>
              <a:rPr lang="en-US" altLang="zh-CN" sz="3200" dirty="0">
                <a:latin typeface="Arial" panose="020B0604020202020204" pitchFamily="34" charset="0"/>
              </a:rPr>
              <a:t>IS_1 (Sno, Sname, Score)</a:t>
            </a:r>
            <a:endParaRPr lang="en-US" altLang="zh-CN" sz="3200" dirty="0">
              <a:latin typeface="Arial" panose="020B0604020202020204" pitchFamily="34" charset="0"/>
            </a:endParaRPr>
          </a:p>
          <a:p>
            <a:pPr marL="365125" indent="-365125">
              <a:lnSpc>
                <a:spcPct val="105000"/>
              </a:lnSpc>
              <a:buNone/>
            </a:pPr>
            <a:r>
              <a:rPr lang="en-US" altLang="zh-CN" sz="3200" dirty="0">
                <a:solidFill>
                  <a:srgbClr val="0000CC"/>
                </a:solidFill>
                <a:latin typeface="Arial" panose="020B0604020202020204" pitchFamily="34" charset="0"/>
              </a:rPr>
              <a:t>            </a:t>
            </a:r>
            <a:r>
              <a:rPr lang="en-US" altLang="zh-CN" sz="3200" dirty="0">
                <a:solidFill>
                  <a:srgbClr val="FF3300"/>
                </a:solidFill>
                <a:latin typeface="Arial" panose="020B0604020202020204" pitchFamily="34" charset="0"/>
              </a:rPr>
              <a:t>AS</a:t>
            </a:r>
            <a:r>
              <a:rPr lang="en-US" altLang="zh-CN" sz="3200" dirty="0">
                <a:solidFill>
                  <a:srgbClr val="0000CC"/>
                </a:solidFill>
                <a:latin typeface="Arial" panose="020B0604020202020204" pitchFamily="34" charset="0"/>
              </a:rPr>
              <a:t> </a:t>
            </a:r>
            <a:endParaRPr lang="en-US" altLang="zh-CN" sz="3200" dirty="0">
              <a:solidFill>
                <a:srgbClr val="0000CC"/>
              </a:solidFill>
              <a:latin typeface="Arial" panose="020B0604020202020204" pitchFamily="34" charset="0"/>
            </a:endParaRPr>
          </a:p>
          <a:p>
            <a:pPr marL="365125" indent="-365125">
              <a:lnSpc>
                <a:spcPct val="105000"/>
              </a:lnSpc>
              <a:buNone/>
            </a:pPr>
            <a:r>
              <a:rPr lang="en-US" altLang="zh-CN" sz="3200" dirty="0">
                <a:solidFill>
                  <a:srgbClr val="0000CC"/>
                </a:solidFill>
                <a:latin typeface="Arial" panose="020B0604020202020204" pitchFamily="34" charset="0"/>
              </a:rPr>
              <a:t>            SELECT  </a:t>
            </a:r>
            <a:r>
              <a:rPr lang="en-US" altLang="zh-CN" sz="3200" dirty="0">
                <a:solidFill>
                  <a:srgbClr val="CC3300"/>
                </a:solidFill>
                <a:latin typeface="Arial" panose="020B0604020202020204" pitchFamily="34" charset="0"/>
              </a:rPr>
              <a:t>S.</a:t>
            </a:r>
            <a:r>
              <a:rPr lang="en-US" altLang="zh-CN" sz="3200" dirty="0">
                <a:solidFill>
                  <a:srgbClr val="0000CC"/>
                </a:solidFill>
                <a:latin typeface="Arial" panose="020B0604020202020204" pitchFamily="34" charset="0"/>
              </a:rPr>
              <a:t>Sno, Sname, Score</a:t>
            </a:r>
            <a:endParaRPr lang="en-US" altLang="zh-CN" sz="3200" dirty="0">
              <a:solidFill>
                <a:srgbClr val="0000CC"/>
              </a:solidFill>
              <a:latin typeface="Arial" panose="020B0604020202020204" pitchFamily="34" charset="0"/>
            </a:endParaRPr>
          </a:p>
          <a:p>
            <a:pPr marL="365125" indent="-365125">
              <a:lnSpc>
                <a:spcPct val="105000"/>
              </a:lnSpc>
              <a:buNone/>
            </a:pPr>
            <a:r>
              <a:rPr lang="en-US" altLang="zh-CN" sz="3200" dirty="0">
                <a:solidFill>
                  <a:srgbClr val="0000CC"/>
                </a:solidFill>
                <a:latin typeface="Arial" panose="020B0604020202020204" pitchFamily="34" charset="0"/>
              </a:rPr>
              <a:t>            FROM  </a:t>
            </a:r>
            <a:r>
              <a:rPr lang="en-US" altLang="zh-CN" sz="3200" dirty="0">
                <a:latin typeface="Arial" panose="020B0604020202020204" pitchFamily="34" charset="0"/>
              </a:rPr>
              <a:t>S</a:t>
            </a:r>
            <a:r>
              <a:rPr lang="en-US" altLang="zh-CN" sz="3200" dirty="0">
                <a:solidFill>
                  <a:srgbClr val="0033CC"/>
                </a:solidFill>
                <a:latin typeface="Arial" panose="020B0604020202020204" pitchFamily="34" charset="0"/>
              </a:rPr>
              <a:t>, </a:t>
            </a:r>
            <a:r>
              <a:rPr lang="en-US" altLang="zh-CN" sz="3200" dirty="0">
                <a:latin typeface="Arial" panose="020B0604020202020204" pitchFamily="34" charset="0"/>
              </a:rPr>
              <a:t>SC</a:t>
            </a:r>
            <a:endParaRPr lang="en-US" altLang="zh-CN" sz="3200" dirty="0">
              <a:latin typeface="Arial" panose="020B0604020202020204" pitchFamily="34" charset="0"/>
            </a:endParaRPr>
          </a:p>
          <a:p>
            <a:pPr marL="365125" indent="-365125">
              <a:lnSpc>
                <a:spcPct val="105000"/>
              </a:lnSpc>
              <a:buNone/>
            </a:pPr>
            <a:r>
              <a:rPr lang="en-US" altLang="zh-CN" sz="3200" dirty="0">
                <a:solidFill>
                  <a:srgbClr val="0000CC"/>
                </a:solidFill>
                <a:latin typeface="Arial" panose="020B0604020202020204" pitchFamily="34" charset="0"/>
              </a:rPr>
              <a:t>            WHERE  S.Sno = SC.Sno</a:t>
            </a:r>
            <a:endParaRPr lang="en-US" altLang="zh-CN" sz="3200" dirty="0">
              <a:solidFill>
                <a:srgbClr val="0000CC"/>
              </a:solidFill>
              <a:latin typeface="Arial" panose="020B0604020202020204" pitchFamily="34" charset="0"/>
            </a:endParaRPr>
          </a:p>
          <a:p>
            <a:pPr marL="365125" indent="-365125">
              <a:lnSpc>
                <a:spcPct val="105000"/>
              </a:lnSpc>
              <a:buNone/>
            </a:pPr>
            <a:r>
              <a:rPr lang="en-US" altLang="zh-CN" sz="3200" dirty="0">
                <a:solidFill>
                  <a:srgbClr val="0000CC"/>
                </a:solidFill>
                <a:latin typeface="Arial" panose="020B0604020202020204" pitchFamily="34" charset="0"/>
              </a:rPr>
              <a:t>                           </a:t>
            </a:r>
            <a:r>
              <a:rPr lang="en-US" altLang="zh-CN" sz="3200" dirty="0">
                <a:solidFill>
                  <a:srgbClr val="CC3300"/>
                </a:solidFill>
                <a:latin typeface="Arial" panose="020B0604020202020204" pitchFamily="34" charset="0"/>
              </a:rPr>
              <a:t>AND</a:t>
            </a:r>
            <a:r>
              <a:rPr lang="en-US" altLang="zh-CN" sz="3200" dirty="0">
                <a:solidFill>
                  <a:srgbClr val="0000CC"/>
                </a:solidFill>
                <a:latin typeface="Arial" panose="020B0604020202020204" pitchFamily="34" charset="0"/>
              </a:rPr>
              <a:t>  Sdept = 'IS' </a:t>
            </a:r>
            <a:endParaRPr lang="en-US" altLang="zh-CN" sz="3200" dirty="0">
              <a:solidFill>
                <a:srgbClr val="0000CC"/>
              </a:solidFill>
              <a:latin typeface="Arial" panose="020B0604020202020204" pitchFamily="34" charset="0"/>
            </a:endParaRPr>
          </a:p>
          <a:p>
            <a:pPr marL="365125" indent="-365125">
              <a:lnSpc>
                <a:spcPct val="105000"/>
              </a:lnSpc>
              <a:buNone/>
            </a:pPr>
            <a:r>
              <a:rPr lang="en-US" altLang="zh-CN" sz="3200" dirty="0">
                <a:solidFill>
                  <a:srgbClr val="0000CC"/>
                </a:solidFill>
                <a:latin typeface="Arial" panose="020B0604020202020204" pitchFamily="34" charset="0"/>
              </a:rPr>
              <a:t>                           </a:t>
            </a:r>
            <a:r>
              <a:rPr lang="en-US" altLang="zh-CN" sz="3200" dirty="0">
                <a:solidFill>
                  <a:srgbClr val="CC3300"/>
                </a:solidFill>
                <a:latin typeface="Arial" panose="020B0604020202020204" pitchFamily="34" charset="0"/>
              </a:rPr>
              <a:t>AND</a:t>
            </a:r>
            <a:r>
              <a:rPr lang="en-US" altLang="zh-CN" sz="3200" dirty="0">
                <a:solidFill>
                  <a:srgbClr val="0000CC"/>
                </a:solidFill>
                <a:latin typeface="Arial" panose="020B0604020202020204" pitchFamily="34" charset="0"/>
              </a:rPr>
              <a:t>  Cno = 'C1' ;</a:t>
            </a:r>
            <a:endParaRPr lang="en-US" altLang="zh-CN" sz="3200" dirty="0">
              <a:solidFill>
                <a:srgbClr val="0000CC"/>
              </a:solidFill>
              <a:latin typeface="Arial" panose="020B0604020202020204" pitchFamily="34" charset="0"/>
            </a:endParaRPr>
          </a:p>
          <a:p>
            <a:pPr marL="365125" indent="-365125">
              <a:lnSpc>
                <a:spcPct val="105000"/>
              </a:lnSpc>
              <a:spcBef>
                <a:spcPts val="1200"/>
              </a:spcBef>
              <a:buNone/>
            </a:pPr>
            <a:r>
              <a:rPr lang="zh-CN" altLang="en-US" sz="3200" dirty="0">
                <a:solidFill>
                  <a:srgbClr val="FF0000"/>
                </a:solidFill>
                <a:latin typeface="Arial" panose="020B0604020202020204" pitchFamily="34" charset="0"/>
              </a:rPr>
              <a:t>注</a:t>
            </a:r>
            <a:r>
              <a:rPr lang="zh-CN" altLang="en-US" sz="3200" dirty="0">
                <a:latin typeface="Arial" panose="020B0604020202020204" pitchFamily="34" charset="0"/>
              </a:rPr>
              <a:t>：多表连接时有同名列作为视图的列时，视图必须明确定义各个属性列名</a:t>
            </a:r>
            <a:endParaRPr lang="zh-CN" altLang="en-US" sz="2800" dirty="0">
              <a:solidFill>
                <a:srgbClr val="0000CC"/>
              </a:solidFill>
              <a:latin typeface="Arial" panose="020B0604020202020204" pitchFamily="34" charset="0"/>
            </a:endParaRPr>
          </a:p>
        </p:txBody>
      </p:sp>
      <p:sp>
        <p:nvSpPr>
          <p:cNvPr id="483331" name="Rectangle 3"/>
          <p:cNvSpPr>
            <a:spLocks noGrp="1" noChangeArrowheads="1"/>
          </p:cNvSpPr>
          <p:nvPr>
            <p:ph type="title"/>
          </p:nvPr>
        </p:nvSpPr>
        <p:spPr>
          <a:xfrm>
            <a:off x="114300" y="122238"/>
            <a:ext cx="8607425" cy="550863"/>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定义视图</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3</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a:t>
            </a:r>
            <a:r>
              <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基于多个表的视图</a:t>
            </a:r>
            <a:endPar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2" name="Group 6"/>
          <p:cNvGrpSpPr/>
          <p:nvPr/>
        </p:nvGrpSpPr>
        <p:grpSpPr>
          <a:xfrm>
            <a:off x="3400425" y="2049463"/>
            <a:ext cx="1814513" cy="1022350"/>
            <a:chOff x="2055" y="1344"/>
            <a:chExt cx="1143" cy="644"/>
          </a:xfrm>
        </p:grpSpPr>
        <p:sp>
          <p:nvSpPr>
            <p:cNvPr id="62469" name="Line 4"/>
            <p:cNvSpPr/>
            <p:nvPr/>
          </p:nvSpPr>
          <p:spPr>
            <a:xfrm>
              <a:off x="2055" y="1988"/>
              <a:ext cx="771" cy="0"/>
            </a:xfrm>
            <a:prstGeom prst="line">
              <a:avLst/>
            </a:prstGeom>
            <a:ln w="28575" cap="flat" cmpd="sng">
              <a:solidFill>
                <a:srgbClr val="FF3300"/>
              </a:solidFill>
              <a:prstDash val="solid"/>
              <a:headEnd type="none" w="med" len="med"/>
              <a:tailEnd type="none" w="med" len="med"/>
            </a:ln>
          </p:spPr>
        </p:sp>
        <p:sp>
          <p:nvSpPr>
            <p:cNvPr id="62470" name="Line 5"/>
            <p:cNvSpPr/>
            <p:nvPr/>
          </p:nvSpPr>
          <p:spPr>
            <a:xfrm flipV="1">
              <a:off x="2517" y="1344"/>
              <a:ext cx="681" cy="408"/>
            </a:xfrm>
            <a:prstGeom prst="line">
              <a:avLst/>
            </a:prstGeom>
            <a:ln w="28575" cap="flat" cmpd="sng">
              <a:solidFill>
                <a:srgbClr val="FF3300"/>
              </a:solidFill>
              <a:prstDash val="solid"/>
              <a:headEnd type="none" w="med" len="med"/>
              <a:tailEnd type="triangle" w="med" len="med"/>
            </a:ln>
          </p:spPr>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3330">
                                            <p:txEl>
                                              <p:charRg st="20" end="6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3330">
                                            <p:txEl>
                                              <p:charRg st="61" end="7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83330">
                                            <p:txEl>
                                              <p:charRg st="77" end="117"/>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3330">
                                            <p:txEl>
                                              <p:charRg st="117" end="14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3330">
                                            <p:txEl>
                                              <p:charRg st="141" end="17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3330">
                                            <p:txEl>
                                              <p:charRg st="175" end="22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3330">
                                            <p:txEl>
                                              <p:charRg st="221" end="26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83330">
                                            <p:txEl>
                                              <p:charRg st="266" end="300"/>
                                            </p:txEl>
                                          </p:spTgt>
                                        </p:tgtEl>
                                        <p:attrNameLst>
                                          <p:attrName>style.visibility</p:attrName>
                                        </p:attrNameLst>
                                      </p:cBhvr>
                                      <p:to>
                                        <p:strVal val="visible"/>
                                      </p:to>
                                    </p:set>
                                  </p:childTnLst>
                                </p:cTn>
                              </p:par>
                            </p:childTnLst>
                          </p:cTn>
                        </p:par>
                        <p:par>
                          <p:cTn id="25" fill="hold">
                            <p:stCondLst>
                              <p:cond delay="0"/>
                            </p:stCondLst>
                            <p:childTnLst>
                              <p:par>
                                <p:cTn id="26" presetID="22" presetClass="entr" presetSubtype="4"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30"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4034" name="Rectangle 2"/>
          <p:cNvSpPr>
            <a:spLocks noGrp="1"/>
          </p:cNvSpPr>
          <p:nvPr>
            <p:ph idx="1"/>
          </p:nvPr>
        </p:nvSpPr>
        <p:spPr>
          <a:xfrm>
            <a:off x="152400" y="981075"/>
            <a:ext cx="8667750" cy="5273675"/>
          </a:xfrm>
        </p:spPr>
        <p:txBody>
          <a:bodyPr vert="horz" wrap="square" lIns="91440" tIns="45720" rIns="91440" bIns="45720" anchor="t" anchorCtr="0"/>
          <a:p>
            <a:pPr marL="365125" indent="-365125"/>
            <a:r>
              <a:rPr lang="zh-CN" altLang="en-US" sz="3200" dirty="0">
                <a:latin typeface="Arial" panose="020B0604020202020204" pitchFamily="34" charset="0"/>
              </a:rPr>
              <a:t>建立信息系选修了</a:t>
            </a:r>
            <a:r>
              <a:rPr lang="en-US" altLang="zh-CN" sz="3200" dirty="0">
                <a:latin typeface="Arial" panose="020B0604020202020204" pitchFamily="34" charset="0"/>
              </a:rPr>
              <a:t>C1</a:t>
            </a:r>
            <a:r>
              <a:rPr lang="zh-CN" altLang="en-US" sz="3200" dirty="0">
                <a:latin typeface="Arial" panose="020B0604020202020204" pitchFamily="34" charset="0"/>
              </a:rPr>
              <a:t>号课程且成绩在</a:t>
            </a:r>
            <a:r>
              <a:rPr lang="en-US" altLang="zh-CN" sz="3200" dirty="0">
                <a:latin typeface="Arial" panose="020B0604020202020204" pitchFamily="34" charset="0"/>
              </a:rPr>
              <a:t>90</a:t>
            </a:r>
            <a:r>
              <a:rPr lang="zh-CN" altLang="en-US" sz="3200" dirty="0">
                <a:latin typeface="Arial" panose="020B0604020202020204" pitchFamily="34" charset="0"/>
              </a:rPr>
              <a:t>分</a:t>
            </a:r>
            <a:r>
              <a:rPr lang="en-US" altLang="zh-CN" sz="3200" dirty="0">
                <a:latin typeface="Arial" panose="020B0604020202020204" pitchFamily="34" charset="0"/>
              </a:rPr>
              <a:t>(</a:t>
            </a:r>
            <a:r>
              <a:rPr lang="zh-CN" altLang="en-US" sz="3200" dirty="0">
                <a:latin typeface="Arial" panose="020B0604020202020204" pitchFamily="34" charset="0"/>
              </a:rPr>
              <a:t>含</a:t>
            </a:r>
            <a:r>
              <a:rPr lang="en-US" altLang="zh-CN" sz="3200" dirty="0">
                <a:latin typeface="Arial" panose="020B0604020202020204" pitchFamily="34" charset="0"/>
              </a:rPr>
              <a:t>90</a:t>
            </a:r>
            <a:r>
              <a:rPr lang="zh-CN" altLang="en-US" sz="3200" dirty="0">
                <a:latin typeface="Arial" panose="020B0604020202020204" pitchFamily="34" charset="0"/>
              </a:rPr>
              <a:t>分</a:t>
            </a:r>
            <a:r>
              <a:rPr lang="en-US" altLang="zh-CN" sz="3200" dirty="0">
                <a:latin typeface="Arial" panose="020B0604020202020204" pitchFamily="34" charset="0"/>
              </a:rPr>
              <a:t>)</a:t>
            </a:r>
            <a:r>
              <a:rPr lang="zh-CN" altLang="en-US" sz="3200" dirty="0">
                <a:latin typeface="Arial" panose="020B0604020202020204" pitchFamily="34" charset="0"/>
              </a:rPr>
              <a:t>以上的学生的视图。</a:t>
            </a:r>
            <a:endParaRPr lang="zh-CN" altLang="en-US" sz="3200" dirty="0">
              <a:latin typeface="Arial" panose="020B0604020202020204" pitchFamily="34" charset="0"/>
            </a:endParaRPr>
          </a:p>
          <a:p>
            <a:pPr marL="365125" indent="-365125">
              <a:lnSpc>
                <a:spcPct val="110000"/>
              </a:lnSpc>
              <a:spcBef>
                <a:spcPct val="35000"/>
              </a:spcBef>
              <a:buNone/>
            </a:pPr>
            <a:r>
              <a:rPr lang="zh-CN" altLang="en-US" dirty="0">
                <a:latin typeface="Arial" panose="020B0604020202020204" pitchFamily="34" charset="0"/>
              </a:rPr>
              <a:t>        </a:t>
            </a:r>
            <a:r>
              <a:rPr lang="en-US" altLang="zh-CN" dirty="0">
                <a:solidFill>
                  <a:srgbClr val="FF0000"/>
                </a:solidFill>
                <a:latin typeface="Arial" panose="020B0604020202020204" pitchFamily="34" charset="0"/>
              </a:rPr>
              <a:t>CREATE  VIEW</a:t>
            </a:r>
            <a:r>
              <a:rPr lang="en-US" altLang="zh-CN" dirty="0">
                <a:solidFill>
                  <a:srgbClr val="0000CC"/>
                </a:solidFill>
                <a:latin typeface="Arial" panose="020B0604020202020204" pitchFamily="34" charset="0"/>
              </a:rPr>
              <a:t>   </a:t>
            </a:r>
            <a:r>
              <a:rPr lang="en-US" altLang="zh-CN" dirty="0">
                <a:latin typeface="Arial" panose="020B0604020202020204" pitchFamily="34" charset="0"/>
              </a:rPr>
              <a:t>IS_2</a:t>
            </a:r>
            <a:endParaRPr lang="en-US" altLang="zh-CN" dirty="0">
              <a:latin typeface="Arial" panose="020B0604020202020204" pitchFamily="34" charset="0"/>
            </a:endParaRPr>
          </a:p>
          <a:p>
            <a:pPr marL="365125" indent="-365125">
              <a:lnSpc>
                <a:spcPct val="110000"/>
              </a:lnSpc>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AS</a:t>
            </a:r>
            <a:endParaRPr lang="en-US" altLang="zh-CN" dirty="0">
              <a:solidFill>
                <a:srgbClr val="FF0000"/>
              </a:solidFill>
              <a:latin typeface="Arial" panose="020B0604020202020204" pitchFamily="34" charset="0"/>
            </a:endParaRPr>
          </a:p>
          <a:p>
            <a:pPr marL="365125" indent="-365125">
              <a:lnSpc>
                <a:spcPct val="110000"/>
              </a:lnSpc>
              <a:buNone/>
            </a:pPr>
            <a:r>
              <a:rPr lang="en-US" altLang="zh-CN" dirty="0">
                <a:solidFill>
                  <a:srgbClr val="0000CC"/>
                </a:solidFill>
                <a:latin typeface="Arial" panose="020B0604020202020204" pitchFamily="34" charset="0"/>
              </a:rPr>
              <a:t>              SELECT  Sno, Sname, Score</a:t>
            </a:r>
            <a:endParaRPr lang="en-US" altLang="zh-CN" dirty="0">
              <a:solidFill>
                <a:srgbClr val="0000CC"/>
              </a:solidFill>
              <a:latin typeface="Arial" panose="020B0604020202020204" pitchFamily="34" charset="0"/>
            </a:endParaRPr>
          </a:p>
          <a:p>
            <a:pPr marL="365125" indent="-365125">
              <a:lnSpc>
                <a:spcPct val="110000"/>
              </a:lnSpc>
              <a:buNone/>
            </a:pPr>
            <a:r>
              <a:rPr lang="en-US" altLang="zh-CN" dirty="0">
                <a:solidFill>
                  <a:srgbClr val="0000CC"/>
                </a:solidFill>
                <a:latin typeface="Arial" panose="020B0604020202020204" pitchFamily="34" charset="0"/>
              </a:rPr>
              <a:t>              FROM   </a:t>
            </a:r>
            <a:r>
              <a:rPr lang="en-US" altLang="zh-CN" dirty="0">
                <a:latin typeface="Arial" panose="020B0604020202020204" pitchFamily="34" charset="0"/>
              </a:rPr>
              <a:t>IS_1</a:t>
            </a:r>
            <a:endParaRPr lang="en-US" altLang="zh-CN" dirty="0">
              <a:latin typeface="Arial" panose="020B0604020202020204" pitchFamily="34" charset="0"/>
            </a:endParaRPr>
          </a:p>
          <a:p>
            <a:pPr marL="365125" indent="-365125">
              <a:lnSpc>
                <a:spcPct val="110000"/>
              </a:lnSpc>
              <a:buNone/>
            </a:pPr>
            <a:r>
              <a:rPr lang="en-US" altLang="zh-CN" dirty="0">
                <a:solidFill>
                  <a:srgbClr val="0000CC"/>
                </a:solidFill>
                <a:latin typeface="Arial" panose="020B0604020202020204" pitchFamily="34" charset="0"/>
              </a:rPr>
              <a:t>              WHERE  Score &gt;= 90 ;</a:t>
            </a:r>
            <a:endParaRPr lang="en-US" altLang="zh-CN" dirty="0">
              <a:solidFill>
                <a:srgbClr val="0000CC"/>
              </a:solidFill>
              <a:latin typeface="Arial" panose="020B0604020202020204" pitchFamily="34" charset="0"/>
            </a:endParaRPr>
          </a:p>
        </p:txBody>
      </p:sp>
      <p:sp>
        <p:nvSpPr>
          <p:cNvPr id="684035" name="Rectangle 3"/>
          <p:cNvSpPr>
            <a:spLocks noGrp="1" noChangeArrowheads="1"/>
          </p:cNvSpPr>
          <p:nvPr>
            <p:ph type="title"/>
          </p:nvPr>
        </p:nvSpPr>
        <p:spPr>
          <a:xfrm>
            <a:off x="142875" y="153988"/>
            <a:ext cx="8678863" cy="477838"/>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定义视图</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4</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a:t>
            </a:r>
            <a:r>
              <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基于视图的视图</a:t>
            </a:r>
            <a:endPar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4034">
                                            <p:txEl>
                                              <p:charRg st="36" end="6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84034">
                                            <p:txEl>
                                              <p:charRg st="64" end="8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84034">
                                            <p:txEl>
                                              <p:charRg st="81" end="12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84034">
                                            <p:txEl>
                                              <p:charRg st="121" end="147"/>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84034">
                                            <p:txEl>
                                              <p:charRg st="147" end="18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03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82" name="Rectangle 2"/>
          <p:cNvSpPr>
            <a:spLocks noGrp="1" noChangeArrowheads="1"/>
          </p:cNvSpPr>
          <p:nvPr>
            <p:ph idx="1"/>
          </p:nvPr>
        </p:nvSpPr>
        <p:spPr>
          <a:xfrm>
            <a:off x="152400" y="981075"/>
            <a:ext cx="8812213" cy="5273675"/>
          </a:xfrm>
        </p:spPr>
        <p:txBody>
          <a:bodyPr vert="horz" wrap="square" lIns="91440" tIns="45720" rIns="91440" bIns="45720" numCol="1" anchor="t" anchorCtr="0" compatLnSpc="1"/>
          <a:lstStyle/>
          <a:p>
            <a:pPr marL="263525" marR="0" lvl="0" indent="-263525"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Char char="n"/>
              <a:defRPr/>
            </a:pP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定义一个反映学生出生年份的视图。</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811530" marR="0" lvl="1" indent="-269875"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None/>
              <a:defRPr/>
            </a:pP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811530" marR="0" lvl="1" indent="-811530"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None/>
              <a:defRPr/>
            </a:pPr>
            <a:r>
              <a:rPr kumimoji="1"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n-ea"/>
              </a:rPr>
              <a:t> CREATE  VIEW</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  BT_S( </a:t>
            </a:r>
            <a:r>
              <a:rPr kumimoji="1" lang="en-US" altLang="zh-CN" sz="3200" b="1" i="0" u="none" strike="noStrike" kern="0" cap="none" spc="0" normalizeH="0" baseline="0" noProof="0" dirty="0" err="1" smtClean="0">
                <a:ln>
                  <a:noFill/>
                </a:ln>
                <a:solidFill>
                  <a:srgbClr val="000000"/>
                </a:solidFill>
                <a:effectLst/>
                <a:uLnTx/>
                <a:uFillTx/>
                <a:latin typeface="Arial" panose="020B0604020202020204" pitchFamily="34" charset="0"/>
                <a:ea typeface="+mn-ea"/>
              </a:rPr>
              <a:t>Sno</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 </a:t>
            </a:r>
            <a:r>
              <a:rPr kumimoji="1" lang="en-US" altLang="zh-CN" sz="3200" b="1" i="0" u="none" strike="noStrike" kern="0" cap="none" spc="0" normalizeH="0" baseline="0" noProof="0" dirty="0" err="1" smtClean="0">
                <a:ln>
                  <a:noFill/>
                </a:ln>
                <a:solidFill>
                  <a:srgbClr val="000000"/>
                </a:solidFill>
                <a:effectLst/>
                <a:uLnTx/>
                <a:uFillTx/>
                <a:latin typeface="Arial" panose="020B0604020202020204" pitchFamily="34" charset="0"/>
                <a:ea typeface="+mn-ea"/>
              </a:rPr>
              <a:t>Sname</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a:t>
            </a:r>
            <a:r>
              <a:rPr kumimoji="1" lang="en-US" altLang="zh-CN" sz="3200" b="1" i="0" u="none" strike="noStrike" kern="0" cap="none" spc="0" normalizeH="0" baseline="0" noProof="0" dirty="0" smtClean="0">
                <a:ln>
                  <a:noFill/>
                </a:ln>
                <a:solidFill>
                  <a:srgbClr val="FF3300"/>
                </a:solidFill>
                <a:effectLst/>
                <a:uLnTx/>
                <a:uFillTx/>
                <a:latin typeface="Arial" panose="020B0604020202020204" pitchFamily="34" charset="0"/>
                <a:ea typeface="+mn-ea"/>
              </a:rPr>
              <a:t> </a:t>
            </a:r>
            <a:r>
              <a:rPr kumimoji="1" lang="en-US" altLang="zh-CN" sz="3200" b="1" i="0" u="none" strike="noStrike" kern="0" cap="none" spc="0" normalizeH="0" baseline="0" noProof="0" dirty="0" err="1" smtClean="0">
                <a:ln>
                  <a:noFill/>
                </a:ln>
                <a:solidFill>
                  <a:srgbClr val="000000"/>
                </a:solidFill>
                <a:effectLst/>
                <a:uLnTx/>
                <a:uFillTx/>
                <a:latin typeface="Arial" panose="020B0604020202020204" pitchFamily="34" charset="0"/>
                <a:ea typeface="+mn-ea"/>
              </a:rPr>
              <a:t>Sbirth</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 ) </a:t>
            </a:r>
            <a:endPar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811530" marR="0" lvl="1" indent="-269875"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rPr>
              <a:t>   </a:t>
            </a:r>
            <a:r>
              <a:rPr kumimoji="1"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n-ea"/>
              </a:rPr>
              <a:t>AS</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 </a:t>
            </a:r>
            <a:endPar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811530" marR="0" lvl="1" indent="-269875"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   </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rPr>
              <a:t>SELECT  </a:t>
            </a:r>
            <a:r>
              <a:rPr kumimoji="1" lang="en-US" altLang="zh-CN" sz="3200" b="1" i="0" u="none" strike="noStrike" kern="0" cap="none" spc="0" normalizeH="0" baseline="0" noProof="0" dirty="0" err="1" smtClean="0">
                <a:ln>
                  <a:noFill/>
                </a:ln>
                <a:solidFill>
                  <a:srgbClr val="0000CC"/>
                </a:solidFill>
                <a:effectLst/>
                <a:uLnTx/>
                <a:uFillTx/>
                <a:latin typeface="Arial" panose="020B0604020202020204" pitchFamily="34" charset="0"/>
                <a:ea typeface="+mn-ea"/>
              </a:rPr>
              <a:t>Sno</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rPr>
              <a:t>, </a:t>
            </a:r>
            <a:r>
              <a:rPr kumimoji="1" lang="en-US" altLang="zh-CN" sz="3200" b="1" i="0" u="none" strike="noStrike" kern="0" cap="none" spc="0" normalizeH="0" baseline="0" noProof="0" dirty="0" err="1" smtClean="0">
                <a:ln>
                  <a:noFill/>
                </a:ln>
                <a:solidFill>
                  <a:srgbClr val="0000CC"/>
                </a:solidFill>
                <a:effectLst/>
                <a:uLnTx/>
                <a:uFillTx/>
                <a:latin typeface="Arial" panose="020B0604020202020204" pitchFamily="34" charset="0"/>
                <a:ea typeface="+mn-ea"/>
              </a:rPr>
              <a:t>Sname</a:t>
            </a: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rPr>
              <a:t>, </a:t>
            </a:r>
            <a:r>
              <a:rPr kumimoji="1" lang="en-US" altLang="zh-CN" sz="3200" b="1" i="0" u="none" strike="noStrike" kern="0" cap="none" spc="0" normalizeH="0" baseline="0" noProof="0" dirty="0" smtClean="0">
                <a:ln>
                  <a:noFill/>
                </a:ln>
                <a:solidFill>
                  <a:srgbClr val="CC3300"/>
                </a:solidFill>
                <a:effectLst/>
                <a:uLnTx/>
                <a:uFillTx/>
                <a:latin typeface="Arial" panose="020B0604020202020204" pitchFamily="34" charset="0"/>
                <a:ea typeface="+mn-ea"/>
              </a:rPr>
              <a:t>2011-Sage</a:t>
            </a:r>
            <a:endParaRPr kumimoji="1" lang="en-US" altLang="zh-CN" sz="3200" b="1" i="0" u="none" strike="noStrike" kern="0" cap="none" spc="0" normalizeH="0" baseline="0" noProof="0" dirty="0" smtClean="0">
              <a:ln>
                <a:noFill/>
              </a:ln>
              <a:solidFill>
                <a:srgbClr val="CC3300"/>
              </a:solidFill>
              <a:effectLst/>
              <a:uLnTx/>
              <a:uFillTx/>
              <a:latin typeface="Arial" panose="020B0604020202020204" pitchFamily="34" charset="0"/>
              <a:ea typeface="+mn-ea"/>
            </a:endParaRPr>
          </a:p>
          <a:p>
            <a:pPr marL="811530" marR="0" lvl="1" indent="-269875" algn="l" defTabSz="914400" rtl="0" eaLnBrk="0" fontAlgn="base" latinLnBrk="0" hangingPunct="0">
              <a:lnSpc>
                <a:spcPct val="100000"/>
              </a:lnSpc>
              <a:spcBef>
                <a:spcPct val="0"/>
              </a:spcBef>
              <a:spcAft>
                <a:spcPct val="0"/>
              </a:spcAft>
              <a:buClr>
                <a:srgbClr val="0033CC"/>
              </a:buClr>
              <a:buSzPct val="65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rPr>
              <a:t>   FROM  S ;</a:t>
            </a:r>
            <a:endPar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endParaRPr>
          </a:p>
          <a:p>
            <a:pPr marL="811530" marR="0" lvl="1" indent="-269875" algn="l" defTabSz="914400" rtl="0" eaLnBrk="0" fontAlgn="base" latinLnBrk="0" hangingPunct="0">
              <a:lnSpc>
                <a:spcPct val="100000"/>
              </a:lnSpc>
              <a:spcBef>
                <a:spcPct val="20000"/>
              </a:spcBef>
              <a:spcAft>
                <a:spcPct val="0"/>
              </a:spcAft>
              <a:buClr>
                <a:srgbClr val="0033CC"/>
              </a:buClr>
              <a:buSzPct val="65000"/>
              <a:buFont typeface="Wingdings" panose="05000000000000000000" pitchFamily="2" charset="2"/>
              <a:buNone/>
              <a:defRPr/>
            </a:pPr>
            <a:endParaRPr kumimoji="1" lang="en-US" altLang="zh-CN" sz="3200" b="1" i="0" u="none" strike="noStrike" kern="0" cap="none" spc="0" normalizeH="0" baseline="0" noProof="0" dirty="0" smtClean="0">
              <a:ln>
                <a:noFill/>
              </a:ln>
              <a:solidFill>
                <a:srgbClr val="0000CC"/>
              </a:solidFill>
              <a:effectLst/>
              <a:uLnTx/>
              <a:uFillTx/>
              <a:latin typeface="Arial" panose="020B0604020202020204" pitchFamily="34" charset="0"/>
              <a:ea typeface="+mn-ea"/>
            </a:endParaRPr>
          </a:p>
          <a:p>
            <a:pPr marL="800100" marR="0" lvl="1" indent="-800100" algn="l" defTabSz="914400" rtl="0" eaLnBrk="0" fontAlgn="base" latinLnBrk="0" hangingPunct="0">
              <a:lnSpc>
                <a:spcPct val="100000"/>
              </a:lnSpc>
              <a:spcBef>
                <a:spcPct val="20000"/>
              </a:spcBef>
              <a:spcAft>
                <a:spcPct val="0"/>
              </a:spcAft>
              <a:buClr>
                <a:srgbClr val="0033CC"/>
              </a:buClr>
              <a:buSzPct val="65000"/>
              <a:buFont typeface="Wingdings" panose="05000000000000000000" pitchFamily="2" charset="2"/>
              <a:buNone/>
              <a:defRPr/>
            </a:pPr>
            <a:r>
              <a:rPr kumimoji="1" lang="zh-CN" altLang="en-US" sz="3200" b="1" i="0" u="none" strike="noStrike" kern="0" cap="none" spc="0" normalizeH="0" baseline="0" noProof="0" dirty="0" smtClean="0">
                <a:ln>
                  <a:noFill/>
                </a:ln>
                <a:solidFill>
                  <a:srgbClr val="FF0000"/>
                </a:solidFill>
                <a:effectLst/>
                <a:uLnTx/>
                <a:uFillTx/>
                <a:latin typeface="Arial" panose="020B0604020202020204" pitchFamily="34" charset="0"/>
                <a:ea typeface="+mn-ea"/>
              </a:rPr>
              <a:t>注：</a:t>
            </a:r>
            <a:r>
              <a:rPr kumimoji="1" lang="en-US" altLang="zh-CN" sz="3200" b="1" i="0" u="none" strike="noStrike" kern="0" cap="none" spc="0" normalizeH="0" baseline="0" noProof="0" smtClean="0">
                <a:ln>
                  <a:noFill/>
                </a:ln>
                <a:solidFill>
                  <a:srgbClr val="000000"/>
                </a:solidFill>
                <a:effectLst/>
                <a:uLnTx/>
                <a:uFillTx/>
                <a:latin typeface="Arial" panose="020B0604020202020204" pitchFamily="34" charset="0"/>
                <a:ea typeface="+mn-ea"/>
              </a:rPr>
              <a:t>SELECT</a:t>
            </a:r>
            <a:r>
              <a:rPr kumimoji="1" lang="zh-CN" altLang="en-US" sz="3200" b="1" i="0" u="none" strike="noStrike" kern="0" cap="none" spc="0" normalizeH="0" baseline="0" noProof="0" smtClean="0">
                <a:ln>
                  <a:noFill/>
                </a:ln>
                <a:solidFill>
                  <a:srgbClr val="000000"/>
                </a:solidFill>
                <a:effectLst/>
                <a:uLnTx/>
                <a:uFillTx/>
                <a:latin typeface="Arial" panose="020B0604020202020204" pitchFamily="34" charset="0"/>
                <a:ea typeface="+mn-ea"/>
              </a:rPr>
              <a:t>的</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rPr>
              <a:t>目标列是表达式或聚集函数，视图必须明确定义各个属性列名</a:t>
            </a:r>
            <a:endPar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p:txBody>
      </p:sp>
      <p:sp>
        <p:nvSpPr>
          <p:cNvPr id="686083" name="Rectangle 3"/>
          <p:cNvSpPr>
            <a:spLocks noGrp="1" noChangeArrowheads="1"/>
          </p:cNvSpPr>
          <p:nvPr>
            <p:ph type="title"/>
          </p:nvPr>
        </p:nvSpPr>
        <p:spPr>
          <a:xfrm>
            <a:off x="158750" y="122238"/>
            <a:ext cx="8321675" cy="523875"/>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定义视图</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5</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a:t>
            </a:r>
            <a:r>
              <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带表达式的视图</a:t>
            </a:r>
            <a:endPar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64516" name="Group 7"/>
          <p:cNvGrpSpPr/>
          <p:nvPr/>
        </p:nvGrpSpPr>
        <p:grpSpPr>
          <a:xfrm>
            <a:off x="5527675" y="2514600"/>
            <a:ext cx="2436813" cy="1008063"/>
            <a:chOff x="3424" y="1579"/>
            <a:chExt cx="1535" cy="635"/>
          </a:xfrm>
        </p:grpSpPr>
        <p:sp>
          <p:nvSpPr>
            <p:cNvPr id="64517" name="Line 5"/>
            <p:cNvSpPr/>
            <p:nvPr/>
          </p:nvSpPr>
          <p:spPr>
            <a:xfrm flipV="1">
              <a:off x="3424" y="2205"/>
              <a:ext cx="1225" cy="9"/>
            </a:xfrm>
            <a:prstGeom prst="line">
              <a:avLst/>
            </a:prstGeom>
            <a:ln w="28575" cap="flat" cmpd="sng">
              <a:solidFill>
                <a:srgbClr val="FF3300"/>
              </a:solidFill>
              <a:prstDash val="solid"/>
              <a:headEnd type="none" w="med" len="med"/>
              <a:tailEnd type="none" w="med" len="med"/>
            </a:ln>
          </p:spPr>
        </p:sp>
        <p:sp>
          <p:nvSpPr>
            <p:cNvPr id="64518" name="Line 6"/>
            <p:cNvSpPr/>
            <p:nvPr/>
          </p:nvSpPr>
          <p:spPr>
            <a:xfrm flipV="1">
              <a:off x="4414" y="1579"/>
              <a:ext cx="545" cy="317"/>
            </a:xfrm>
            <a:prstGeom prst="line">
              <a:avLst/>
            </a:prstGeom>
            <a:ln w="28575" cap="flat" cmpd="sng">
              <a:solidFill>
                <a:srgbClr val="FF3300"/>
              </a:solidFill>
              <a:prstDash val="solid"/>
              <a:headEnd type="none" w="med" len="med"/>
              <a:tailEnd type="triangle" w="med" len="med"/>
            </a:ln>
          </p:spPr>
        </p:sp>
      </p:grpSp>
    </p:spTree>
  </p:cSld>
  <p:clrMapOvr>
    <a:masterClrMapping/>
  </p:clrMapOvr>
  <p:transition>
    <p:random/>
    <p:sndAc>
      <p:stSnd>
        <p:snd r:embed="rId1" name="CAMERA.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idx="1"/>
          </p:nvPr>
        </p:nvSpPr>
        <p:spPr>
          <a:xfrm>
            <a:off x="152400" y="981075"/>
            <a:ext cx="8740775" cy="5273675"/>
          </a:xfrm>
        </p:spPr>
        <p:txBody>
          <a:bodyPr vert="horz" wrap="square" lIns="91440" tIns="45720" rIns="91440" bIns="45720" anchor="t" anchorCtr="0"/>
          <a:p>
            <a:pPr marL="365125" indent="-365125"/>
            <a:r>
              <a:rPr lang="zh-CN" altLang="en-US" dirty="0">
                <a:latin typeface="Arial" panose="020B0604020202020204" pitchFamily="34" charset="0"/>
              </a:rPr>
              <a:t>将学生的学号及他的平均成绩定义为一个视图。</a:t>
            </a:r>
            <a:endParaRPr lang="zh-CN" altLang="en-US" dirty="0">
              <a:latin typeface="Arial" panose="020B0604020202020204" pitchFamily="34" charset="0"/>
            </a:endParaRPr>
          </a:p>
          <a:p>
            <a:pPr marL="365125" indent="-365125">
              <a:buNone/>
            </a:pPr>
            <a:endParaRPr lang="zh-CN" altLang="en-US" sz="1600" dirty="0">
              <a:latin typeface="Arial" panose="020B0604020202020204" pitchFamily="34" charset="0"/>
            </a:endParaRPr>
          </a:p>
          <a:p>
            <a:pPr marL="365125" indent="-365125">
              <a:buNone/>
            </a:pPr>
            <a:r>
              <a:rPr lang="zh-CN" altLang="en-US" dirty="0">
                <a:latin typeface="Arial" panose="020B0604020202020204" pitchFamily="34" charset="0"/>
              </a:rPr>
              <a:t>    </a:t>
            </a:r>
            <a:r>
              <a:rPr lang="en-US" altLang="zh-CN" dirty="0">
                <a:solidFill>
                  <a:srgbClr val="FF0000"/>
                </a:solidFill>
                <a:latin typeface="Arial" panose="020B0604020202020204" pitchFamily="34" charset="0"/>
              </a:rPr>
              <a:t>CREATE  VIEW</a:t>
            </a:r>
            <a:r>
              <a:rPr lang="en-US" altLang="zh-CN" dirty="0">
                <a:solidFill>
                  <a:srgbClr val="0000CC"/>
                </a:solidFill>
                <a:latin typeface="Arial" panose="020B0604020202020204" pitchFamily="34" charset="0"/>
              </a:rPr>
              <a:t>  </a:t>
            </a:r>
            <a:r>
              <a:rPr lang="en-US" altLang="zh-CN" dirty="0">
                <a:latin typeface="Arial" panose="020B0604020202020204" pitchFamily="34" charset="0"/>
              </a:rPr>
              <a:t>S_G( Sno,</a:t>
            </a:r>
            <a:r>
              <a:rPr lang="en-US" altLang="zh-CN" dirty="0">
                <a:solidFill>
                  <a:srgbClr val="0000CC"/>
                </a:solidFill>
                <a:latin typeface="Arial" panose="020B0604020202020204" pitchFamily="34" charset="0"/>
              </a:rPr>
              <a:t> </a:t>
            </a:r>
            <a:r>
              <a:rPr lang="en-US" altLang="zh-CN" dirty="0">
                <a:latin typeface="Arial" panose="020B0604020202020204" pitchFamily="34" charset="0"/>
              </a:rPr>
              <a:t>Gavg )</a:t>
            </a:r>
            <a:endParaRPr lang="en-US" altLang="zh-CN" dirty="0">
              <a:latin typeface="Arial" panose="020B0604020202020204" pitchFamily="34" charset="0"/>
            </a:endParaRPr>
          </a:p>
          <a:p>
            <a:pPr marL="365125" indent="-365125">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AS</a:t>
            </a:r>
            <a:r>
              <a:rPr lang="en-US" altLang="zh-CN" dirty="0">
                <a:solidFill>
                  <a:srgbClr val="0000CC"/>
                </a:solidFill>
                <a:latin typeface="Arial" panose="020B0604020202020204" pitchFamily="34" charset="0"/>
              </a:rPr>
              <a:t>  </a:t>
            </a:r>
            <a:endParaRPr lang="en-US" altLang="zh-CN" dirty="0">
              <a:solidFill>
                <a:srgbClr val="0000CC"/>
              </a:solidFill>
              <a:latin typeface="Arial" panose="020B0604020202020204" pitchFamily="34" charset="0"/>
            </a:endParaRPr>
          </a:p>
          <a:p>
            <a:pPr marL="365125" indent="-365125">
              <a:buNone/>
            </a:pPr>
            <a:r>
              <a:rPr lang="en-US" altLang="zh-CN" dirty="0">
                <a:solidFill>
                  <a:srgbClr val="0000CC"/>
                </a:solidFill>
                <a:latin typeface="Arial" panose="020B0604020202020204" pitchFamily="34" charset="0"/>
              </a:rPr>
              <a:t>           SELECT  Sno, </a:t>
            </a:r>
            <a:r>
              <a:rPr lang="en-US" altLang="zh-CN" dirty="0">
                <a:solidFill>
                  <a:srgbClr val="FF0000"/>
                </a:solidFill>
                <a:latin typeface="Arial" panose="020B0604020202020204" pitchFamily="34" charset="0"/>
              </a:rPr>
              <a:t>AVG</a:t>
            </a:r>
            <a:r>
              <a:rPr lang="en-US" altLang="zh-CN" dirty="0">
                <a:solidFill>
                  <a:srgbClr val="0000CC"/>
                </a:solidFill>
                <a:latin typeface="Arial" panose="020B0604020202020204" pitchFamily="34" charset="0"/>
              </a:rPr>
              <a:t>(Score)</a:t>
            </a:r>
            <a:endParaRPr lang="en-US" altLang="zh-CN" dirty="0">
              <a:solidFill>
                <a:srgbClr val="0000CC"/>
              </a:solidFill>
              <a:latin typeface="Arial" panose="020B0604020202020204" pitchFamily="34" charset="0"/>
            </a:endParaRPr>
          </a:p>
          <a:p>
            <a:pPr marL="365125" indent="-365125">
              <a:buNone/>
            </a:pPr>
            <a:r>
              <a:rPr lang="en-US" altLang="zh-CN" dirty="0">
                <a:solidFill>
                  <a:srgbClr val="0000CC"/>
                </a:solidFill>
                <a:latin typeface="Arial" panose="020B0604020202020204" pitchFamily="34" charset="0"/>
              </a:rPr>
              <a:t>           FROM  SC</a:t>
            </a:r>
            <a:endParaRPr lang="en-US" altLang="zh-CN" dirty="0">
              <a:solidFill>
                <a:srgbClr val="0000CC"/>
              </a:solidFill>
              <a:latin typeface="Arial" panose="020B0604020202020204" pitchFamily="34" charset="0"/>
            </a:endParaRPr>
          </a:p>
          <a:p>
            <a:pPr marL="365125" indent="-365125">
              <a:buNone/>
            </a:pPr>
            <a:r>
              <a:rPr lang="en-US" altLang="zh-CN" dirty="0">
                <a:solidFill>
                  <a:srgbClr val="0000CC"/>
                </a:solidFill>
                <a:latin typeface="Arial" panose="020B0604020202020204" pitchFamily="34" charset="0"/>
              </a:rPr>
              <a:t>           GROUP  BY  Sno ;</a:t>
            </a:r>
            <a:endParaRPr lang="en-US" altLang="zh-CN" dirty="0">
              <a:solidFill>
                <a:srgbClr val="0000CC"/>
              </a:solidFill>
              <a:latin typeface="Arial" panose="020B0604020202020204" pitchFamily="34" charset="0"/>
            </a:endParaRPr>
          </a:p>
        </p:txBody>
      </p:sp>
      <p:sp>
        <p:nvSpPr>
          <p:cNvPr id="688131" name="Rectangle 3"/>
          <p:cNvSpPr>
            <a:spLocks noGrp="1" noChangeArrowheads="1"/>
          </p:cNvSpPr>
          <p:nvPr>
            <p:ph type="title"/>
          </p:nvPr>
        </p:nvSpPr>
        <p:spPr>
          <a:xfrm>
            <a:off x="144463" y="60325"/>
            <a:ext cx="8607425" cy="6223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定义视图</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6</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a:t>
            </a:r>
            <a:r>
              <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建立分组视图</a:t>
            </a:r>
            <a:endPar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idx="1"/>
          </p:nvPr>
        </p:nvSpPr>
        <p:spPr>
          <a:xfrm>
            <a:off x="152400" y="981075"/>
            <a:ext cx="8740775" cy="5454650"/>
          </a:xfrm>
        </p:spPr>
        <p:txBody>
          <a:bodyPr vert="horz" wrap="square" lIns="91440" tIns="45720" rIns="91440" bIns="45720" anchor="t" anchorCtr="0"/>
          <a:p>
            <a:pPr marL="263525" indent="-263525"/>
            <a:r>
              <a:rPr lang="zh-CN" altLang="en-US" dirty="0">
                <a:latin typeface="Arial" panose="020B0604020202020204" pitchFamily="34" charset="0"/>
              </a:rPr>
              <a:t>基本语法：</a:t>
            </a:r>
            <a:endParaRPr lang="zh-CN" altLang="en-US" dirty="0">
              <a:latin typeface="Arial" panose="020B0604020202020204" pitchFamily="34" charset="0"/>
            </a:endParaRPr>
          </a:p>
          <a:p>
            <a:pPr marL="263525" indent="-263525">
              <a:spcBef>
                <a:spcPct val="45000"/>
              </a:spcBef>
              <a:buNone/>
            </a:pPr>
            <a:r>
              <a:rPr lang="zh-CN" altLang="en-US" dirty="0">
                <a:latin typeface="Arial" panose="020B0604020202020204" pitchFamily="34" charset="0"/>
              </a:rPr>
              <a:t>     </a:t>
            </a:r>
            <a:r>
              <a:rPr lang="en-US" altLang="zh-CN" dirty="0">
                <a:solidFill>
                  <a:srgbClr val="FF0000"/>
                </a:solidFill>
                <a:latin typeface="Arial" panose="020B0604020202020204" pitchFamily="34" charset="0"/>
              </a:rPr>
              <a:t>DROP  VIEW</a:t>
            </a:r>
            <a:r>
              <a:rPr lang="en-US" altLang="zh-CN" dirty="0">
                <a:solidFill>
                  <a:srgbClr val="0000CC"/>
                </a:solidFill>
                <a:latin typeface="Arial" panose="020B0604020202020204" pitchFamily="34" charset="0"/>
              </a:rPr>
              <a:t>  &lt;</a:t>
            </a:r>
            <a:r>
              <a:rPr lang="zh-CN" altLang="en-US" dirty="0">
                <a:solidFill>
                  <a:srgbClr val="0000CC"/>
                </a:solidFill>
                <a:latin typeface="Arial" panose="020B0604020202020204" pitchFamily="34" charset="0"/>
              </a:rPr>
              <a:t>视图名</a:t>
            </a:r>
            <a:r>
              <a:rPr lang="en-US" altLang="zh-CN" dirty="0">
                <a:solidFill>
                  <a:srgbClr val="0000CC"/>
                </a:solidFill>
                <a:latin typeface="Arial" panose="020B0604020202020204" pitchFamily="34" charset="0"/>
              </a:rPr>
              <a:t>&gt; ;</a:t>
            </a:r>
            <a:endParaRPr lang="en-US" altLang="zh-CN" dirty="0">
              <a:solidFill>
                <a:srgbClr val="0000CC"/>
              </a:solidFill>
              <a:latin typeface="Arial" panose="020B0604020202020204" pitchFamily="34" charset="0"/>
            </a:endParaRPr>
          </a:p>
          <a:p>
            <a:pPr marL="263525" indent="-263525">
              <a:spcBef>
                <a:spcPts val="3600"/>
              </a:spcBef>
            </a:pPr>
            <a:r>
              <a:rPr lang="zh-CN" altLang="en-US" dirty="0">
                <a:latin typeface="Arial" panose="020B0604020202020204" pitchFamily="34" charset="0"/>
              </a:rPr>
              <a:t>功能：</a:t>
            </a:r>
            <a:endParaRPr lang="zh-CN" altLang="en-US" dirty="0">
              <a:latin typeface="Arial" panose="020B0604020202020204" pitchFamily="34" charset="0"/>
            </a:endParaRPr>
          </a:p>
          <a:p>
            <a:pPr marL="713105" lvl="1" indent="-263525">
              <a:spcBef>
                <a:spcPts val="600"/>
              </a:spcBef>
            </a:pPr>
            <a:r>
              <a:rPr lang="zh-CN" altLang="en-US" dirty="0">
                <a:latin typeface="Arial" panose="020B0604020202020204" pitchFamily="34" charset="0"/>
              </a:rPr>
              <a:t>从数据字典中删除指定的视图定义</a:t>
            </a:r>
            <a:endParaRPr lang="zh-CN" altLang="en-US" sz="3600" dirty="0">
              <a:latin typeface="Arial" panose="020B0604020202020204" pitchFamily="34" charset="0"/>
            </a:endParaRPr>
          </a:p>
          <a:p>
            <a:pPr marL="263525" indent="-263525">
              <a:spcBef>
                <a:spcPts val="2400"/>
              </a:spcBef>
            </a:pPr>
            <a:r>
              <a:rPr lang="zh-CN" altLang="en-US" dirty="0">
                <a:latin typeface="Arial" panose="020B0604020202020204" pitchFamily="34" charset="0"/>
              </a:rPr>
              <a:t>举例：</a:t>
            </a:r>
            <a:endParaRPr lang="zh-CN" altLang="en-US" dirty="0">
              <a:latin typeface="Arial" panose="020B0604020202020204" pitchFamily="34" charset="0"/>
            </a:endParaRPr>
          </a:p>
          <a:p>
            <a:pPr marL="263525" indent="-263525">
              <a:spcBef>
                <a:spcPts val="1200"/>
              </a:spcBef>
              <a:buNone/>
            </a:pPr>
            <a:r>
              <a:rPr lang="zh-CN" altLang="en-US" dirty="0">
                <a:latin typeface="Arial" panose="020B0604020202020204" pitchFamily="34" charset="0"/>
              </a:rPr>
              <a:t>     </a:t>
            </a:r>
            <a:r>
              <a:rPr lang="en-US" altLang="zh-CN" dirty="0">
                <a:latin typeface="Arial" panose="020B0604020202020204" pitchFamily="34" charset="0"/>
              </a:rPr>
              <a:t>DROP  VIEW   IS_Student  ;</a:t>
            </a:r>
            <a:endParaRPr lang="en-US" altLang="zh-CN" dirty="0">
              <a:latin typeface="Arial" panose="020B0604020202020204" pitchFamily="34" charset="0"/>
            </a:endParaRPr>
          </a:p>
        </p:txBody>
      </p:sp>
      <p:sp>
        <p:nvSpPr>
          <p:cNvPr id="13824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删除视图</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66564" name="Rectangle 5"/>
          <p:cNvSpPr/>
          <p:nvPr/>
        </p:nvSpPr>
        <p:spPr>
          <a:xfrm>
            <a:off x="468313" y="1643063"/>
            <a:ext cx="6461125" cy="855662"/>
          </a:xfrm>
          <a:prstGeom prst="rect">
            <a:avLst/>
          </a:prstGeom>
          <a:noFill/>
          <a:ln w="28575" cap="flat" cmpd="sng">
            <a:solidFill>
              <a:srgbClr val="FF3300"/>
            </a:solidFill>
            <a:prstDash val="solid"/>
            <a:miter/>
            <a:headEnd type="none" w="med" len="med"/>
            <a:tailEnd type="none" w="med" len="med"/>
          </a:ln>
        </p:spPr>
        <p:txBody>
          <a:bodyPr wrap="none"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zh-CN" sz="4000" dirty="0">
              <a:solidFill>
                <a:srgbClr val="0000FF"/>
              </a:solidFill>
              <a:latin typeface="Arial" panose="020B0604020202020204" pitchFamily="34" charset="0"/>
            </a:endParaRPr>
          </a:p>
        </p:txBody>
      </p:sp>
    </p:spTree>
  </p:cSld>
  <p:clrMapOvr>
    <a:masterClrMapping/>
  </p:clrMapOvr>
  <p:transition>
    <p:random/>
    <p:sndAc>
      <p:stSnd>
        <p:snd r:embed="rId1" name="CAMERA.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idx="1"/>
          </p:nvPr>
        </p:nvSpPr>
        <p:spPr>
          <a:xfrm>
            <a:off x="188913" y="908050"/>
            <a:ext cx="8740775" cy="5545138"/>
          </a:xfrm>
        </p:spPr>
        <p:txBody>
          <a:bodyPr vert="horz" wrap="square" lIns="91440" tIns="45720" rIns="91440" bIns="45720" anchor="t" anchorCtr="0"/>
          <a:p>
            <a:pPr marL="263525" indent="-263525"/>
            <a:r>
              <a:rPr lang="zh-CN" altLang="en-US" dirty="0"/>
              <a:t>从用户角度</a:t>
            </a:r>
            <a:endParaRPr lang="zh-CN" altLang="en-US" dirty="0"/>
          </a:p>
          <a:p>
            <a:pPr marL="713105" lvl="1" indent="-263525">
              <a:spcBef>
                <a:spcPts val="1200"/>
              </a:spcBef>
            </a:pPr>
            <a:r>
              <a:rPr lang="zh-CN" altLang="en-US" dirty="0"/>
              <a:t>查询视图与查询表相同</a:t>
            </a:r>
            <a:endParaRPr lang="zh-CN" altLang="en-US" sz="3600" dirty="0">
              <a:latin typeface="Arial" panose="020B0604020202020204" pitchFamily="34" charset="0"/>
            </a:endParaRPr>
          </a:p>
          <a:p>
            <a:pPr marL="263525" indent="-263525">
              <a:spcBef>
                <a:spcPts val="3000"/>
              </a:spcBef>
            </a:pPr>
            <a:r>
              <a:rPr lang="zh-CN" altLang="en-US" dirty="0"/>
              <a:t>从</a:t>
            </a:r>
            <a:r>
              <a:rPr lang="en-US" altLang="zh-CN" dirty="0"/>
              <a:t>DBMS</a:t>
            </a:r>
            <a:r>
              <a:rPr lang="zh-CN" altLang="en-US" dirty="0"/>
              <a:t>角度</a:t>
            </a:r>
            <a:endParaRPr lang="zh-CN" altLang="en-US" dirty="0"/>
          </a:p>
          <a:p>
            <a:pPr marL="713105" lvl="1" indent="-263525">
              <a:spcBef>
                <a:spcPct val="35000"/>
              </a:spcBef>
            </a:pPr>
            <a:r>
              <a:rPr lang="zh-CN" altLang="en-US" dirty="0"/>
              <a:t>视图消解</a:t>
            </a:r>
            <a:endParaRPr lang="en-US" altLang="zh-CN" dirty="0"/>
          </a:p>
          <a:p>
            <a:pPr lvl="2">
              <a:spcBef>
                <a:spcPct val="35000"/>
              </a:spcBef>
              <a:buNone/>
            </a:pPr>
            <a:endParaRPr lang="zh-CN" altLang="en-US" dirty="0"/>
          </a:p>
          <a:p>
            <a:pPr marL="713105" lvl="1" indent="-263525">
              <a:spcBef>
                <a:spcPct val="35000"/>
              </a:spcBef>
            </a:pPr>
            <a:endParaRPr lang="zh-CN" altLang="en-US" dirty="0"/>
          </a:p>
          <a:p>
            <a:pPr marL="713105" lvl="1" indent="-263525">
              <a:spcBef>
                <a:spcPct val="35000"/>
              </a:spcBef>
            </a:pPr>
            <a:endParaRPr lang="en-US" altLang="zh-CN" dirty="0"/>
          </a:p>
        </p:txBody>
      </p:sp>
      <p:sp>
        <p:nvSpPr>
          <p:cNvPr id="3277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查询视图</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67588" name="组合 10"/>
          <p:cNvGrpSpPr/>
          <p:nvPr/>
        </p:nvGrpSpPr>
        <p:grpSpPr>
          <a:xfrm>
            <a:off x="214313" y="3786188"/>
            <a:ext cx="8715375" cy="928687"/>
            <a:chOff x="214314" y="4143380"/>
            <a:chExt cx="8715404" cy="928694"/>
          </a:xfrm>
        </p:grpSpPr>
        <p:sp>
          <p:nvSpPr>
            <p:cNvPr id="67589" name="矩形 5"/>
            <p:cNvSpPr/>
            <p:nvPr/>
          </p:nvSpPr>
          <p:spPr>
            <a:xfrm>
              <a:off x="214314" y="4429132"/>
              <a:ext cx="3714744" cy="642942"/>
            </a:xfrm>
            <a:prstGeom prst="rect">
              <a:avLst/>
            </a:prstGeom>
            <a:noFill/>
            <a:ln w="28575" cap="flat" cmpd="sng">
              <a:solidFill>
                <a:srgbClr val="FF3300"/>
              </a:solidFill>
              <a:prstDash val="solid"/>
              <a:round/>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r>
                <a:rPr lang="zh-CN" altLang="en-US" sz="2800" dirty="0">
                  <a:latin typeface="Arial" panose="020B0604020202020204" pitchFamily="34" charset="0"/>
                </a:rPr>
                <a:t>对</a:t>
              </a:r>
              <a:r>
                <a:rPr lang="zh-CN" altLang="en-US" sz="2800" dirty="0">
                  <a:solidFill>
                    <a:srgbClr val="0000FF"/>
                  </a:solidFill>
                  <a:latin typeface="Arial" panose="020B0604020202020204" pitchFamily="34" charset="0"/>
                </a:rPr>
                <a:t>视图</a:t>
              </a:r>
              <a:r>
                <a:rPr lang="zh-CN" altLang="en-US" sz="2800" dirty="0">
                  <a:latin typeface="Arial" panose="020B0604020202020204" pitchFamily="34" charset="0"/>
                </a:rPr>
                <a:t>查询的</a:t>
              </a:r>
              <a:r>
                <a:rPr lang="en-US" altLang="zh-CN" sz="2800" dirty="0">
                  <a:latin typeface="Arial" panose="020B0604020202020204" pitchFamily="34" charset="0"/>
                </a:rPr>
                <a:t>SQL</a:t>
              </a:r>
              <a:r>
                <a:rPr lang="zh-CN" altLang="en-US" sz="2800" dirty="0">
                  <a:latin typeface="Arial" panose="020B0604020202020204" pitchFamily="34" charset="0"/>
                </a:rPr>
                <a:t>语句</a:t>
              </a:r>
              <a:endParaRPr lang="zh-CN" altLang="en-US" sz="2800" dirty="0">
                <a:latin typeface="Arial" panose="020B0604020202020204" pitchFamily="34" charset="0"/>
              </a:endParaRPr>
            </a:p>
          </p:txBody>
        </p:sp>
        <p:sp>
          <p:nvSpPr>
            <p:cNvPr id="67590" name="矩形 6"/>
            <p:cNvSpPr/>
            <p:nvPr/>
          </p:nvSpPr>
          <p:spPr>
            <a:xfrm>
              <a:off x="5214974" y="4429132"/>
              <a:ext cx="3714744" cy="642942"/>
            </a:xfrm>
            <a:prstGeom prst="rect">
              <a:avLst/>
            </a:prstGeom>
            <a:noFill/>
            <a:ln w="28575" cap="flat" cmpd="sng">
              <a:solidFill>
                <a:srgbClr val="FF3300"/>
              </a:solidFill>
              <a:prstDash val="solid"/>
              <a:round/>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r>
                <a:rPr lang="zh-CN" altLang="en-US" sz="2800" dirty="0">
                  <a:latin typeface="Arial" panose="020B0604020202020204" pitchFamily="34" charset="0"/>
                </a:rPr>
                <a:t>对</a:t>
              </a:r>
              <a:r>
                <a:rPr lang="zh-CN" altLang="en-US" sz="2800" dirty="0">
                  <a:solidFill>
                    <a:srgbClr val="0000FF"/>
                  </a:solidFill>
                  <a:latin typeface="Arial" panose="020B0604020202020204" pitchFamily="34" charset="0"/>
                </a:rPr>
                <a:t>表</a:t>
              </a:r>
              <a:r>
                <a:rPr lang="zh-CN" altLang="en-US" sz="2800" dirty="0">
                  <a:latin typeface="Arial" panose="020B0604020202020204" pitchFamily="34" charset="0"/>
                </a:rPr>
                <a:t>查询的</a:t>
              </a:r>
              <a:r>
                <a:rPr lang="en-US" altLang="zh-CN" sz="2800" dirty="0">
                  <a:latin typeface="Arial" panose="020B0604020202020204" pitchFamily="34" charset="0"/>
                </a:rPr>
                <a:t>SQL</a:t>
              </a:r>
              <a:r>
                <a:rPr lang="zh-CN" altLang="en-US" sz="2800" dirty="0">
                  <a:latin typeface="Arial" panose="020B0604020202020204" pitchFamily="34" charset="0"/>
                </a:rPr>
                <a:t>语句</a:t>
              </a:r>
              <a:endParaRPr lang="zh-CN" altLang="en-US" sz="2800" dirty="0">
                <a:latin typeface="Arial" panose="020B0604020202020204" pitchFamily="34" charset="0"/>
              </a:endParaRPr>
            </a:p>
          </p:txBody>
        </p:sp>
        <p:grpSp>
          <p:nvGrpSpPr>
            <p:cNvPr id="67591" name="组合 9"/>
            <p:cNvGrpSpPr/>
            <p:nvPr/>
          </p:nvGrpSpPr>
          <p:grpSpPr>
            <a:xfrm>
              <a:off x="4143372" y="4143380"/>
              <a:ext cx="928694" cy="785818"/>
              <a:chOff x="4357686" y="4500570"/>
              <a:chExt cx="928694" cy="785818"/>
            </a:xfrm>
          </p:grpSpPr>
          <p:sp>
            <p:nvSpPr>
              <p:cNvPr id="67592" name="右箭头 7"/>
              <p:cNvSpPr/>
              <p:nvPr/>
            </p:nvSpPr>
            <p:spPr>
              <a:xfrm>
                <a:off x="4357686" y="5000636"/>
                <a:ext cx="928694" cy="285752"/>
              </a:xfrm>
              <a:prstGeom prst="rightArrow">
                <a:avLst>
                  <a:gd name="adj1" fmla="val 50000"/>
                  <a:gd name="adj2" fmla="val 49998"/>
                </a:avLst>
              </a:prstGeom>
              <a:gradFill rotWithShape="1">
                <a:gsLst>
                  <a:gs pos="0">
                    <a:srgbClr val="FF3399"/>
                  </a:gs>
                  <a:gs pos="100000">
                    <a:srgbClr val="B2246B"/>
                  </a:gs>
                </a:gsLst>
                <a:path path="rect">
                  <a:fillToRect l="50000" t="50000" r="50000" b="50000"/>
                </a:path>
                <a:tileRect/>
              </a:gradFill>
              <a:ln w="28575">
                <a:noFill/>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en-US" sz="4000" dirty="0">
                  <a:solidFill>
                    <a:srgbClr val="0000FF"/>
                  </a:solidFill>
                  <a:latin typeface="Arial" panose="020B0604020202020204" pitchFamily="34" charset="0"/>
                </a:endParaRPr>
              </a:p>
            </p:txBody>
          </p:sp>
          <p:sp>
            <p:nvSpPr>
              <p:cNvPr id="67593" name="矩形 8"/>
              <p:cNvSpPr/>
              <p:nvPr/>
            </p:nvSpPr>
            <p:spPr>
              <a:xfrm>
                <a:off x="4357686" y="4500570"/>
                <a:ext cx="857256" cy="500066"/>
              </a:xfrm>
              <a:prstGeom prst="rect">
                <a:avLst/>
              </a:prstGeom>
              <a:noFill/>
              <a:ln w="28575">
                <a:noFill/>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r>
                  <a:rPr lang="zh-CN" altLang="en-US" sz="2400" dirty="0">
                    <a:latin typeface="Arial" panose="020B0604020202020204" pitchFamily="34" charset="0"/>
                  </a:rPr>
                  <a:t>转换</a:t>
                </a:r>
                <a:endParaRPr lang="zh-CN" altLang="en-US" sz="2400" dirty="0">
                  <a:latin typeface="Arial" panose="020B0604020202020204" pitchFamily="34" charset="0"/>
                </a:endParaRPr>
              </a:p>
            </p:txBody>
          </p:sp>
        </p:grpSp>
      </p:grpSp>
    </p:spTree>
  </p:cSld>
  <p:clrMapOvr>
    <a:masterClrMapping/>
  </p:clrMapOvr>
  <p:transition>
    <p:random/>
    <p:sndAc>
      <p:stSnd>
        <p:snd r:embed="rId1" name="CAMERA.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142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查询视图</a:t>
            </a: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r>
              <a:rPr kumimoji="1" lang="zh-CN" altLang="en-US" sz="36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视图消解过程</a:t>
            </a:r>
            <a:r>
              <a:rPr kumimoji="1" lang="en-US" altLang="zh-CN" sz="36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1</a:t>
            </a:r>
            <a:endParaRPr kumimoji="1" lang="en-US" altLang="zh-CN" sz="36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871428" name="Rectangle 4"/>
          <p:cNvSpPr/>
          <p:nvPr/>
        </p:nvSpPr>
        <p:spPr>
          <a:xfrm>
            <a:off x="3960813" y="2365375"/>
            <a:ext cx="5040312" cy="2232025"/>
          </a:xfrm>
          <a:prstGeom prst="rect">
            <a:avLst/>
          </a:prstGeom>
          <a:solidFill>
            <a:srgbClr val="CCFFFF"/>
          </a:solidFill>
          <a:ln w="28575" cap="flat" cmpd="sng">
            <a:solidFill>
              <a:schemeClr val="bg1"/>
            </a:solidFill>
            <a:prstDash val="solid"/>
            <a:miter/>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buClrTx/>
              <a:buSzTx/>
              <a:buFontTx/>
              <a:buNone/>
            </a:pPr>
            <a:r>
              <a:rPr lang="en-US" altLang="zh-CN" sz="2800" dirty="0">
                <a:solidFill>
                  <a:srgbClr val="FF0000"/>
                </a:solidFill>
                <a:latin typeface="Arial" panose="020B0604020202020204" pitchFamily="34" charset="0"/>
              </a:rPr>
              <a:t> CREATE  VIEW </a:t>
            </a:r>
            <a:r>
              <a:rPr lang="en-US" altLang="zh-CN" sz="2800" dirty="0">
                <a:solidFill>
                  <a:srgbClr val="0000CC"/>
                </a:solidFill>
                <a:latin typeface="Arial" panose="020B0604020202020204" pitchFamily="34" charset="0"/>
              </a:rPr>
              <a:t> </a:t>
            </a:r>
            <a:r>
              <a:rPr lang="en-US" altLang="zh-CN" sz="2800" dirty="0">
                <a:latin typeface="Arial" panose="020B0604020202020204" pitchFamily="34" charset="0"/>
              </a:rPr>
              <a:t>IS_Student</a:t>
            </a:r>
            <a:endParaRPr lang="en-US" altLang="zh-CN" sz="2800" dirty="0">
              <a:latin typeface="Arial" panose="020B0604020202020204" pitchFamily="34" charset="0"/>
            </a:endParaRPr>
          </a:p>
          <a:p>
            <a:pPr marL="0" lvl="0" indent="0" eaLnBrk="1" hangingPunct="1">
              <a:buClrTx/>
              <a:buSzTx/>
              <a:buFontTx/>
              <a:buNone/>
            </a:pPr>
            <a:r>
              <a:rPr lang="en-US" altLang="zh-CN" sz="2800" dirty="0">
                <a:solidFill>
                  <a:srgbClr val="FF3300"/>
                </a:solidFill>
                <a:latin typeface="Arial" panose="020B0604020202020204" pitchFamily="34" charset="0"/>
              </a:rPr>
              <a:t> AS</a:t>
            </a: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buClrTx/>
              <a:buSzTx/>
              <a:buFontTx/>
              <a:buNone/>
            </a:pPr>
            <a:r>
              <a:rPr lang="en-US" altLang="zh-CN" sz="2800" dirty="0">
                <a:latin typeface="Arial" panose="020B0604020202020204" pitchFamily="34" charset="0"/>
              </a:rPr>
              <a:t>   </a:t>
            </a:r>
            <a:r>
              <a:rPr lang="en-US" altLang="zh-CN" sz="2800" dirty="0">
                <a:solidFill>
                  <a:srgbClr val="0000CC"/>
                </a:solidFill>
                <a:latin typeface="Arial" panose="020B0604020202020204" pitchFamily="34" charset="0"/>
              </a:rPr>
              <a:t>SELECT  </a:t>
            </a:r>
            <a:r>
              <a:rPr lang="en-US" altLang="zh-CN" sz="2800" dirty="0">
                <a:solidFill>
                  <a:srgbClr val="0000CC"/>
                </a:solidFill>
                <a:latin typeface="Arial" panose="020B0604020202020204" pitchFamily="34" charset="0"/>
                <a:sym typeface="Symbol" panose="05050102010706020507" pitchFamily="18" charset="2"/>
              </a:rPr>
              <a:t>Sno, Sname, Ssex</a:t>
            </a:r>
            <a:endParaRPr lang="en-US" altLang="zh-CN" sz="2800" dirty="0">
              <a:solidFill>
                <a:srgbClr val="0000CC"/>
              </a:solidFill>
              <a:latin typeface="Arial" panose="020B0604020202020204" pitchFamily="34" charset="0"/>
            </a:endParaRPr>
          </a:p>
          <a:p>
            <a:pPr marL="0" lvl="0" indent="0" eaLnBrk="1" hangingPunct="1">
              <a:buClrTx/>
              <a:buSzTx/>
              <a:buFontTx/>
              <a:buNone/>
            </a:pPr>
            <a:r>
              <a:rPr lang="en-US" altLang="zh-CN" sz="2800" dirty="0">
                <a:solidFill>
                  <a:srgbClr val="0000CC"/>
                </a:solidFill>
                <a:latin typeface="Arial" panose="020B0604020202020204" pitchFamily="34" charset="0"/>
              </a:rPr>
              <a:t>   FROM     S</a:t>
            </a:r>
            <a:endParaRPr lang="en-US" altLang="zh-CN" sz="2800" dirty="0">
              <a:solidFill>
                <a:srgbClr val="0000CC"/>
              </a:solidFill>
              <a:latin typeface="Arial" panose="020B0604020202020204" pitchFamily="34" charset="0"/>
            </a:endParaRPr>
          </a:p>
          <a:p>
            <a:pPr marL="0" lvl="0" indent="0" eaLnBrk="1" hangingPunct="1">
              <a:buClrTx/>
              <a:buSzTx/>
              <a:buFontTx/>
              <a:buNone/>
            </a:pPr>
            <a:r>
              <a:rPr lang="en-US" altLang="zh-CN" sz="2800" dirty="0">
                <a:solidFill>
                  <a:srgbClr val="0000CC"/>
                </a:solidFill>
                <a:latin typeface="Arial" panose="020B0604020202020204" pitchFamily="34" charset="0"/>
              </a:rPr>
              <a:t>   WHERE  Sdept= 'IS' ;</a:t>
            </a:r>
            <a:endParaRPr lang="en-US" altLang="zh-CN" sz="2000" dirty="0">
              <a:solidFill>
                <a:srgbClr val="0000CC"/>
              </a:solidFill>
              <a:latin typeface="Arial" panose="020B0604020202020204" pitchFamily="34" charset="0"/>
            </a:endParaRPr>
          </a:p>
        </p:txBody>
      </p:sp>
      <p:sp>
        <p:nvSpPr>
          <p:cNvPr id="68612" name="Rectangle 5"/>
          <p:cNvSpPr/>
          <p:nvPr/>
        </p:nvSpPr>
        <p:spPr>
          <a:xfrm>
            <a:off x="69850" y="855663"/>
            <a:ext cx="4502150" cy="1493837"/>
          </a:xfrm>
          <a:prstGeom prst="rect">
            <a:avLst/>
          </a:prstGeom>
          <a:solidFill>
            <a:srgbClr val="FFDDFF"/>
          </a:solidFill>
          <a:ln w="28575" cap="flat" cmpd="sng">
            <a:solidFill>
              <a:srgbClr val="FF3300"/>
            </a:solidFill>
            <a:prstDash val="solid"/>
            <a:miter/>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buClrTx/>
              <a:buSzTx/>
              <a:buFontTx/>
              <a:buNone/>
            </a:pPr>
            <a:r>
              <a:rPr lang="en-US" altLang="zh-CN" sz="3200" dirty="0">
                <a:solidFill>
                  <a:srgbClr val="0000CC"/>
                </a:solidFill>
                <a:latin typeface="Arial" panose="020B0604020202020204" pitchFamily="34" charset="0"/>
              </a:rPr>
              <a:t> </a:t>
            </a:r>
            <a:r>
              <a:rPr lang="en-US" altLang="zh-CN" sz="3200" dirty="0">
                <a:latin typeface="Arial" panose="020B0604020202020204" pitchFamily="34" charset="0"/>
              </a:rPr>
              <a:t>SELECT  Sno, Sname</a:t>
            </a:r>
            <a:endParaRPr lang="en-US" altLang="zh-CN" sz="3200" dirty="0">
              <a:latin typeface="Arial" panose="020B0604020202020204" pitchFamily="34" charset="0"/>
            </a:endParaRPr>
          </a:p>
          <a:p>
            <a:pPr marL="0" lvl="0" indent="0" eaLnBrk="1" hangingPunct="1">
              <a:buClrTx/>
              <a:buSzTx/>
              <a:buFontTx/>
              <a:buNone/>
            </a:pPr>
            <a:r>
              <a:rPr lang="en-US" altLang="zh-CN" sz="3200" dirty="0">
                <a:latin typeface="Arial" panose="020B0604020202020204" pitchFamily="34" charset="0"/>
              </a:rPr>
              <a:t> FROM  </a:t>
            </a:r>
            <a:r>
              <a:rPr lang="en-US" altLang="zh-CN" sz="3200" dirty="0">
                <a:solidFill>
                  <a:srgbClr val="0033CC"/>
                </a:solidFill>
                <a:latin typeface="Arial" panose="020B0604020202020204" pitchFamily="34" charset="0"/>
              </a:rPr>
              <a:t>IS_Student</a:t>
            </a:r>
            <a:endParaRPr lang="en-US" altLang="zh-CN" sz="2400" dirty="0">
              <a:solidFill>
                <a:srgbClr val="0033CC"/>
              </a:solidFill>
              <a:latin typeface="Arial" panose="020B0604020202020204" pitchFamily="34" charset="0"/>
            </a:endParaRPr>
          </a:p>
          <a:p>
            <a:pPr marL="0" lvl="0" indent="0" eaLnBrk="1" hangingPunct="1">
              <a:buClrTx/>
              <a:buSzTx/>
              <a:buFontTx/>
              <a:buNone/>
            </a:pPr>
            <a:r>
              <a:rPr lang="en-US" altLang="zh-CN" sz="3200" dirty="0">
                <a:latin typeface="Arial" panose="020B0604020202020204" pitchFamily="34" charset="0"/>
              </a:rPr>
              <a:t> WHERE  Ssex=</a:t>
            </a:r>
            <a:r>
              <a:rPr lang="en-US" altLang="zh-CN" dirty="0">
                <a:latin typeface="Arial" panose="020B0604020202020204" pitchFamily="34" charset="0"/>
              </a:rPr>
              <a:t>'</a:t>
            </a:r>
            <a:r>
              <a:rPr lang="zh-CN" altLang="en-US" sz="3200" dirty="0">
                <a:latin typeface="Arial" panose="020B0604020202020204" pitchFamily="34" charset="0"/>
              </a:rPr>
              <a:t>男</a:t>
            </a:r>
            <a:r>
              <a:rPr lang="en-US" altLang="zh-CN" dirty="0">
                <a:latin typeface="Arial" panose="020B0604020202020204" pitchFamily="34" charset="0"/>
              </a:rPr>
              <a:t>'</a:t>
            </a:r>
            <a:r>
              <a:rPr lang="en-US" altLang="zh-CN" sz="3200" dirty="0">
                <a:latin typeface="Arial" panose="020B0604020202020204" pitchFamily="34" charset="0"/>
              </a:rPr>
              <a:t>;</a:t>
            </a:r>
            <a:endParaRPr lang="en-US" altLang="zh-CN" sz="3200" dirty="0">
              <a:latin typeface="Arial" panose="020B0604020202020204" pitchFamily="34" charset="0"/>
            </a:endParaRPr>
          </a:p>
        </p:txBody>
      </p:sp>
      <p:sp>
        <p:nvSpPr>
          <p:cNvPr id="871430" name="Rectangle 6"/>
          <p:cNvSpPr/>
          <p:nvPr/>
        </p:nvSpPr>
        <p:spPr>
          <a:xfrm>
            <a:off x="715963" y="4625975"/>
            <a:ext cx="7848600" cy="1898650"/>
          </a:xfrm>
          <a:prstGeom prst="rect">
            <a:avLst/>
          </a:prstGeom>
          <a:solidFill>
            <a:srgbClr val="FFFF99"/>
          </a:solidFill>
          <a:ln w="28575" cap="flat" cmpd="sng">
            <a:solidFill>
              <a:srgbClr val="FF9900"/>
            </a:solidFill>
            <a:prstDash val="solid"/>
            <a:miter/>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buClrTx/>
              <a:buSzTx/>
              <a:buFontTx/>
              <a:buNone/>
            </a:pPr>
            <a:r>
              <a:rPr lang="en-US" altLang="zh-CN" sz="3200" dirty="0">
                <a:solidFill>
                  <a:srgbClr val="0000CC"/>
                </a:solidFill>
                <a:latin typeface="Arial" panose="020B0604020202020204" pitchFamily="34" charset="0"/>
              </a:rPr>
              <a:t> </a:t>
            </a:r>
            <a:r>
              <a:rPr lang="en-US" altLang="zh-CN" sz="3200" dirty="0">
                <a:latin typeface="Arial" panose="020B0604020202020204" pitchFamily="34" charset="0"/>
              </a:rPr>
              <a:t>SELECT  </a:t>
            </a:r>
            <a:r>
              <a:rPr lang="en-US" altLang="zh-CN" sz="3200" dirty="0">
                <a:solidFill>
                  <a:srgbClr val="FF0000"/>
                </a:solidFill>
                <a:latin typeface="Arial" panose="020B0604020202020204" pitchFamily="34" charset="0"/>
              </a:rPr>
              <a:t>S.</a:t>
            </a:r>
            <a:r>
              <a:rPr lang="en-US" altLang="zh-CN" sz="3200" dirty="0">
                <a:latin typeface="Arial" panose="020B0604020202020204" pitchFamily="34" charset="0"/>
                <a:sym typeface="Symbol" panose="05050102010706020507" pitchFamily="18" charset="2"/>
              </a:rPr>
              <a:t>Sno, </a:t>
            </a:r>
            <a:r>
              <a:rPr lang="en-US" altLang="zh-CN" sz="3200" dirty="0">
                <a:solidFill>
                  <a:srgbClr val="FF0000"/>
                </a:solidFill>
                <a:latin typeface="Arial" panose="020B0604020202020204" pitchFamily="34" charset="0"/>
                <a:sym typeface="Symbol" panose="05050102010706020507" pitchFamily="18" charset="2"/>
              </a:rPr>
              <a:t>S.</a:t>
            </a:r>
            <a:r>
              <a:rPr lang="en-US" altLang="zh-CN" sz="3200" dirty="0">
                <a:latin typeface="Arial" panose="020B0604020202020204" pitchFamily="34" charset="0"/>
                <a:sym typeface="Symbol" panose="05050102010706020507" pitchFamily="18" charset="2"/>
              </a:rPr>
              <a:t>Sname</a:t>
            </a:r>
            <a:endParaRPr lang="en-US" altLang="zh-CN" sz="3200" dirty="0">
              <a:latin typeface="Arial" panose="020B0604020202020204" pitchFamily="34" charset="0"/>
            </a:endParaRPr>
          </a:p>
          <a:p>
            <a:pPr marL="0" lvl="0" indent="0" eaLnBrk="1" hangingPunct="1">
              <a:buClrTx/>
              <a:buSzTx/>
              <a:buFontTx/>
              <a:buNone/>
            </a:pPr>
            <a:r>
              <a:rPr lang="en-US" altLang="zh-CN" sz="3200" dirty="0">
                <a:latin typeface="Arial" panose="020B0604020202020204" pitchFamily="34" charset="0"/>
              </a:rPr>
              <a:t> FROM  </a:t>
            </a:r>
            <a:r>
              <a:rPr lang="en-US" altLang="zh-CN" sz="3200" dirty="0">
                <a:solidFill>
                  <a:srgbClr val="FF0000"/>
                </a:solidFill>
                <a:latin typeface="Arial" panose="020B0604020202020204" pitchFamily="34" charset="0"/>
              </a:rPr>
              <a:t>S</a:t>
            </a:r>
            <a:endParaRPr lang="en-US" altLang="zh-CN" sz="3200" dirty="0">
              <a:solidFill>
                <a:srgbClr val="FF0000"/>
              </a:solidFill>
              <a:latin typeface="Arial" panose="020B0604020202020204" pitchFamily="34" charset="0"/>
            </a:endParaRPr>
          </a:p>
          <a:p>
            <a:pPr marL="0" lvl="0" indent="0" eaLnBrk="1" hangingPunct="1">
              <a:buClrTx/>
              <a:buSzTx/>
              <a:buFontTx/>
              <a:buNone/>
            </a:pPr>
            <a:r>
              <a:rPr lang="en-US" altLang="zh-CN" sz="3200" dirty="0">
                <a:latin typeface="Arial" panose="020B0604020202020204" pitchFamily="34" charset="0"/>
              </a:rPr>
              <a:t> WHERE  Ssex='</a:t>
            </a:r>
            <a:r>
              <a:rPr lang="zh-CN" altLang="en-US" sz="3200" dirty="0">
                <a:latin typeface="Arial" panose="020B0604020202020204" pitchFamily="34" charset="0"/>
              </a:rPr>
              <a:t>男</a:t>
            </a:r>
            <a:r>
              <a:rPr lang="en-US" altLang="zh-CN" sz="3200" dirty="0">
                <a:latin typeface="Arial" panose="020B0604020202020204" pitchFamily="34" charset="0"/>
              </a:rPr>
              <a:t>'</a:t>
            </a:r>
            <a:r>
              <a:rPr lang="en-US" altLang="zh-CN" sz="4000" dirty="0">
                <a:solidFill>
                  <a:srgbClr val="0000FF"/>
                </a:solidFill>
                <a:latin typeface="Arial" panose="020B0604020202020204" pitchFamily="34" charset="0"/>
              </a:rPr>
              <a:t>  </a:t>
            </a:r>
            <a:r>
              <a:rPr lang="en-US" altLang="zh-CN" sz="3200" dirty="0">
                <a:solidFill>
                  <a:srgbClr val="C00000"/>
                </a:solidFill>
                <a:latin typeface="Arial" panose="020B0604020202020204" pitchFamily="34" charset="0"/>
              </a:rPr>
              <a:t>AND</a:t>
            </a:r>
            <a:r>
              <a:rPr lang="en-US" altLang="zh-CN" sz="4000" dirty="0">
                <a:solidFill>
                  <a:srgbClr val="0000FF"/>
                </a:solidFill>
                <a:latin typeface="Arial" panose="020B0604020202020204" pitchFamily="34" charset="0"/>
              </a:rPr>
              <a:t>  </a:t>
            </a:r>
            <a:r>
              <a:rPr lang="en-US" altLang="zh-CN" sz="3200" dirty="0">
                <a:latin typeface="Arial" panose="020B0604020202020204" pitchFamily="34" charset="0"/>
              </a:rPr>
              <a:t>Sdept= 'IS';</a:t>
            </a:r>
            <a:endParaRPr lang="en-US" altLang="zh-CN" sz="3200" dirty="0">
              <a:latin typeface="Arial" panose="020B0604020202020204" pitchFamily="34" charset="0"/>
            </a:endParaRPr>
          </a:p>
        </p:txBody>
      </p:sp>
      <p:sp>
        <p:nvSpPr>
          <p:cNvPr id="871431" name="Line 7"/>
          <p:cNvSpPr/>
          <p:nvPr/>
        </p:nvSpPr>
        <p:spPr>
          <a:xfrm>
            <a:off x="3995738" y="1628775"/>
            <a:ext cx="1223962" cy="647700"/>
          </a:xfrm>
          <a:prstGeom prst="line">
            <a:avLst/>
          </a:prstGeom>
          <a:ln w="38100" cap="flat" cmpd="sng">
            <a:solidFill>
              <a:srgbClr val="FF0000"/>
            </a:solidFill>
            <a:prstDash val="sysDot"/>
            <a:headEnd type="none" w="med" len="med"/>
            <a:tailEnd type="triangle" w="med" len="med"/>
          </a:ln>
        </p:spPr>
      </p:sp>
      <p:sp>
        <p:nvSpPr>
          <p:cNvPr id="871432" name="Line 8"/>
          <p:cNvSpPr/>
          <p:nvPr/>
        </p:nvSpPr>
        <p:spPr>
          <a:xfrm flipH="1">
            <a:off x="2700338" y="4071938"/>
            <a:ext cx="3086100" cy="1444625"/>
          </a:xfrm>
          <a:prstGeom prst="line">
            <a:avLst/>
          </a:prstGeom>
          <a:ln w="38100" cap="flat" cmpd="sng">
            <a:solidFill>
              <a:srgbClr val="FF0000"/>
            </a:solidFill>
            <a:prstDash val="sysDot"/>
            <a:headEnd type="none" w="med" len="med"/>
            <a:tailEnd type="triangle" w="med" len="med"/>
          </a:ln>
        </p:spPr>
      </p:sp>
      <p:sp>
        <p:nvSpPr>
          <p:cNvPr id="871433" name="Line 9"/>
          <p:cNvSpPr/>
          <p:nvPr/>
        </p:nvSpPr>
        <p:spPr>
          <a:xfrm>
            <a:off x="2411413" y="1341438"/>
            <a:ext cx="792162" cy="3527425"/>
          </a:xfrm>
          <a:prstGeom prst="line">
            <a:avLst/>
          </a:prstGeom>
          <a:ln w="38100" cap="flat" cmpd="sng">
            <a:solidFill>
              <a:srgbClr val="FF0000"/>
            </a:solidFill>
            <a:prstDash val="sysDot"/>
            <a:headEnd type="none" w="med" len="med"/>
            <a:tailEnd type="triangle" w="med" len="med"/>
          </a:ln>
        </p:spPr>
      </p:sp>
      <p:sp>
        <p:nvSpPr>
          <p:cNvPr id="871435" name="Line 11"/>
          <p:cNvSpPr/>
          <p:nvPr/>
        </p:nvSpPr>
        <p:spPr>
          <a:xfrm flipH="1">
            <a:off x="6715125" y="4508500"/>
            <a:ext cx="88900" cy="1420813"/>
          </a:xfrm>
          <a:prstGeom prst="line">
            <a:avLst/>
          </a:prstGeom>
          <a:ln w="38100" cap="flat" cmpd="sng">
            <a:solidFill>
              <a:srgbClr val="FF0000"/>
            </a:solidFill>
            <a:prstDash val="sysDot"/>
            <a:headEnd type="none" w="med" len="med"/>
            <a:tailEnd type="triangle" w="med" len="med"/>
          </a:ln>
        </p:spPr>
      </p:sp>
      <p:sp>
        <p:nvSpPr>
          <p:cNvPr id="10" name="Line 9"/>
          <p:cNvSpPr/>
          <p:nvPr/>
        </p:nvSpPr>
        <p:spPr>
          <a:xfrm>
            <a:off x="2220913" y="2170113"/>
            <a:ext cx="993775" cy="3759200"/>
          </a:xfrm>
          <a:prstGeom prst="line">
            <a:avLst/>
          </a:prstGeom>
          <a:ln w="38100" cap="flat" cmpd="sng">
            <a:solidFill>
              <a:srgbClr val="FF0000"/>
            </a:solidFill>
            <a:prstDash val="sysDot"/>
            <a:headEnd type="none" w="med" len="med"/>
            <a:tailEnd type="triangle" w="med" len="med"/>
          </a:ln>
        </p:spPr>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14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14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871431"/>
                                        </p:tgtEl>
                                        <p:attrNameLst>
                                          <p:attrName>style.visibility</p:attrName>
                                        </p:attrNameLst>
                                      </p:cBhvr>
                                      <p:to>
                                        <p:strVal val="visible"/>
                                      </p:to>
                                    </p:set>
                                    <p:animEffect transition="in" filter="wipe(up)">
                                      <p:cBhvr>
                                        <p:cTn id="15" dur="500"/>
                                        <p:tgtEl>
                                          <p:spTgt spid="87143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871432"/>
                                        </p:tgtEl>
                                        <p:attrNameLst>
                                          <p:attrName>style.visibility</p:attrName>
                                        </p:attrNameLst>
                                      </p:cBhvr>
                                      <p:to>
                                        <p:strVal val="visible"/>
                                      </p:to>
                                    </p:set>
                                    <p:animEffect transition="in" filter="wipe(up)">
                                      <p:cBhvr>
                                        <p:cTn id="20" dur="500"/>
                                        <p:tgtEl>
                                          <p:spTgt spid="87143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up)">
                                      <p:cBhvr>
                                        <p:cTn id="25" dur="500"/>
                                        <p:tgtEl>
                                          <p:spTgt spid="10"/>
                                        </p:tgtEl>
                                      </p:cBhvr>
                                    </p:animEffect>
                                  </p:childTnLst>
                                </p:cTn>
                              </p:par>
                              <p:par>
                                <p:cTn id="26" presetID="22" presetClass="entr" presetSubtype="1" fill="hold" nodeType="withEffect">
                                  <p:stCondLst>
                                    <p:cond delay="0"/>
                                  </p:stCondLst>
                                  <p:childTnLst>
                                    <p:set>
                                      <p:cBhvr>
                                        <p:cTn id="27" dur="1" fill="hold">
                                          <p:stCondLst>
                                            <p:cond delay="0"/>
                                          </p:stCondLst>
                                        </p:cTn>
                                        <p:tgtEl>
                                          <p:spTgt spid="871435"/>
                                        </p:tgtEl>
                                        <p:attrNameLst>
                                          <p:attrName>style.visibility</p:attrName>
                                        </p:attrNameLst>
                                      </p:cBhvr>
                                      <p:to>
                                        <p:strVal val="visible"/>
                                      </p:to>
                                    </p:set>
                                    <p:animEffect transition="in" filter="wipe(up)">
                                      <p:cBhvr>
                                        <p:cTn id="28" dur="500"/>
                                        <p:tgtEl>
                                          <p:spTgt spid="87143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871433"/>
                                        </p:tgtEl>
                                        <p:attrNameLst>
                                          <p:attrName>style.visibility</p:attrName>
                                        </p:attrNameLst>
                                      </p:cBhvr>
                                      <p:to>
                                        <p:strVal val="visible"/>
                                      </p:to>
                                    </p:set>
                                    <p:animEffect transition="in" filter="wipe(up)">
                                      <p:cBhvr>
                                        <p:cTn id="33" dur="500"/>
                                        <p:tgtEl>
                                          <p:spTgt spid="871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1428" grpId="0" animBg="1"/>
      <p:bldP spid="87143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2459" name="Rectangle 11"/>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查询视图</a:t>
            </a: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r>
              <a:rPr kumimoji="1" lang="zh-CN" altLang="en-US" sz="36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视图消解过程</a:t>
            </a:r>
            <a:r>
              <a:rPr kumimoji="1" lang="en-US" altLang="zh-CN" sz="36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2</a:t>
            </a:r>
            <a:endParaRPr kumimoji="1" lang="en-US" altLang="zh-CN" sz="36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69635" name="Rectangle 12"/>
          <p:cNvSpPr>
            <a:spLocks noGrp="1"/>
          </p:cNvSpPr>
          <p:nvPr>
            <p:ph idx="1"/>
          </p:nvPr>
        </p:nvSpPr>
        <p:spPr>
          <a:xfrm>
            <a:off x="152400" y="850900"/>
            <a:ext cx="8848725" cy="863600"/>
          </a:xfrm>
        </p:spPr>
        <p:txBody>
          <a:bodyPr vert="horz" wrap="square" lIns="91440" tIns="45720" rIns="91440" bIns="45720" anchor="t" anchorCtr="0"/>
          <a:p>
            <a:r>
              <a:rPr lang="zh-CN" altLang="en-US" sz="3200" dirty="0"/>
              <a:t>不能得到等价的</a:t>
            </a:r>
            <a:r>
              <a:rPr lang="en-US" altLang="zh-CN" sz="3200" dirty="0"/>
              <a:t>SELECT</a:t>
            </a:r>
            <a:r>
              <a:rPr lang="zh-CN" altLang="en-US" sz="3200" dirty="0"/>
              <a:t>语句，则建立临时表</a:t>
            </a:r>
            <a:endParaRPr lang="zh-CN" altLang="en-US" sz="3200" dirty="0"/>
          </a:p>
        </p:txBody>
      </p:sp>
      <p:sp>
        <p:nvSpPr>
          <p:cNvPr id="872451" name="Rectangle 3"/>
          <p:cNvSpPr/>
          <p:nvPr/>
        </p:nvSpPr>
        <p:spPr>
          <a:xfrm>
            <a:off x="3348038" y="3068638"/>
            <a:ext cx="5707062" cy="2016125"/>
          </a:xfrm>
          <a:prstGeom prst="rect">
            <a:avLst/>
          </a:prstGeom>
          <a:solidFill>
            <a:srgbClr val="CCFFFF"/>
          </a:solidFill>
          <a:ln w="28575" cap="flat" cmpd="sng">
            <a:solidFill>
              <a:schemeClr val="bg1"/>
            </a:solidFill>
            <a:prstDash val="solid"/>
            <a:miter/>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lnSpc>
                <a:spcPct val="90000"/>
              </a:lnSpc>
              <a:buClrTx/>
              <a:buSzTx/>
              <a:buFontTx/>
              <a:buNone/>
            </a:pPr>
            <a:r>
              <a:rPr lang="en-US" altLang="zh-CN" sz="2800" dirty="0">
                <a:solidFill>
                  <a:srgbClr val="FF0000"/>
                </a:solidFill>
                <a:latin typeface="Arial" panose="020B0604020202020204" pitchFamily="34" charset="0"/>
              </a:rPr>
              <a:t> CREATE  VIEW</a:t>
            </a:r>
            <a:r>
              <a:rPr lang="en-US" altLang="zh-CN" sz="2800" dirty="0">
                <a:solidFill>
                  <a:srgbClr val="0000CC"/>
                </a:solidFill>
                <a:latin typeface="Arial" panose="020B0604020202020204" pitchFamily="34" charset="0"/>
              </a:rPr>
              <a:t>  </a:t>
            </a:r>
            <a:r>
              <a:rPr lang="en-US" altLang="zh-CN" sz="2800" dirty="0">
                <a:latin typeface="Arial" panose="020B0604020202020204" pitchFamily="34" charset="0"/>
              </a:rPr>
              <a:t>S_G(Sno,</a:t>
            </a:r>
            <a:r>
              <a:rPr lang="en-US" altLang="zh-CN" sz="2800" dirty="0">
                <a:solidFill>
                  <a:srgbClr val="0000CC"/>
                </a:solidFill>
                <a:latin typeface="Arial" panose="020B0604020202020204" pitchFamily="34" charset="0"/>
              </a:rPr>
              <a:t> </a:t>
            </a:r>
            <a:r>
              <a:rPr lang="en-US" altLang="zh-CN" sz="2800" dirty="0">
                <a:latin typeface="Arial" panose="020B0604020202020204" pitchFamily="34" charset="0"/>
              </a:rPr>
              <a:t>Gavg)</a:t>
            </a:r>
            <a:endParaRPr lang="en-US" altLang="zh-CN" sz="2800" dirty="0">
              <a:latin typeface="Arial" panose="020B0604020202020204" pitchFamily="34" charset="0"/>
            </a:endParaRPr>
          </a:p>
          <a:p>
            <a:pPr marL="0" lvl="0" indent="0" eaLnBrk="1" hangingPunct="1">
              <a:lnSpc>
                <a:spcPct val="90000"/>
              </a:lnSpc>
              <a:buClrTx/>
              <a:buSzTx/>
              <a:buFontTx/>
              <a:buNone/>
            </a:pPr>
            <a:r>
              <a:rPr lang="en-US" altLang="zh-CN" sz="2800" dirty="0">
                <a:solidFill>
                  <a:srgbClr val="0000CC"/>
                </a:solidFill>
                <a:latin typeface="Arial" panose="020B0604020202020204" pitchFamily="34" charset="0"/>
              </a:rPr>
              <a:t>  </a:t>
            </a:r>
            <a:r>
              <a:rPr lang="en-US" altLang="zh-CN" sz="2800" dirty="0">
                <a:solidFill>
                  <a:srgbClr val="FF0000"/>
                </a:solidFill>
                <a:latin typeface="Arial" panose="020B0604020202020204" pitchFamily="34" charset="0"/>
              </a:rPr>
              <a:t>AS</a:t>
            </a: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lnSpc>
                <a:spcPct val="90000"/>
              </a:lnSpc>
              <a:buClrTx/>
              <a:buSzTx/>
              <a:buFontTx/>
              <a:buNone/>
            </a:pPr>
            <a:r>
              <a:rPr lang="en-US" altLang="zh-CN" sz="2800" dirty="0">
                <a:solidFill>
                  <a:srgbClr val="0000CC"/>
                </a:solidFill>
                <a:latin typeface="Arial" panose="020B0604020202020204" pitchFamily="34" charset="0"/>
              </a:rPr>
              <a:t>      SELECT  Sno, </a:t>
            </a:r>
            <a:r>
              <a:rPr lang="en-US" altLang="zh-CN" sz="2800" dirty="0">
                <a:solidFill>
                  <a:srgbClr val="FF0000"/>
                </a:solidFill>
                <a:latin typeface="Arial" panose="020B0604020202020204" pitchFamily="34" charset="0"/>
              </a:rPr>
              <a:t>AVG</a:t>
            </a:r>
            <a:r>
              <a:rPr lang="en-US" altLang="zh-CN" sz="2800" dirty="0">
                <a:solidFill>
                  <a:srgbClr val="0000CC"/>
                </a:solidFill>
                <a:latin typeface="Arial" panose="020B0604020202020204" pitchFamily="34" charset="0"/>
              </a:rPr>
              <a:t>(Score)</a:t>
            </a:r>
            <a:endParaRPr lang="en-US" altLang="zh-CN" sz="2800" dirty="0">
              <a:solidFill>
                <a:srgbClr val="0000CC"/>
              </a:solidFill>
              <a:latin typeface="Arial" panose="020B0604020202020204" pitchFamily="34" charset="0"/>
            </a:endParaRPr>
          </a:p>
          <a:p>
            <a:pPr marL="0" lvl="0" indent="0" eaLnBrk="1" hangingPunct="1">
              <a:lnSpc>
                <a:spcPct val="90000"/>
              </a:lnSpc>
              <a:buClrTx/>
              <a:buSzTx/>
              <a:buFontTx/>
              <a:buNone/>
            </a:pPr>
            <a:r>
              <a:rPr lang="en-US" altLang="zh-CN" sz="2800" dirty="0">
                <a:solidFill>
                  <a:srgbClr val="0000CC"/>
                </a:solidFill>
                <a:latin typeface="Arial" panose="020B0604020202020204" pitchFamily="34" charset="0"/>
              </a:rPr>
              <a:t>       FROM  SC</a:t>
            </a:r>
            <a:endParaRPr lang="en-US" altLang="zh-CN" sz="2800" dirty="0">
              <a:solidFill>
                <a:srgbClr val="0000CC"/>
              </a:solidFill>
              <a:latin typeface="Arial" panose="020B0604020202020204" pitchFamily="34" charset="0"/>
            </a:endParaRPr>
          </a:p>
          <a:p>
            <a:pPr marL="0" lvl="0" indent="0" eaLnBrk="1" hangingPunct="1">
              <a:lnSpc>
                <a:spcPct val="90000"/>
              </a:lnSpc>
              <a:buClrTx/>
              <a:buSzTx/>
              <a:buFontTx/>
              <a:buNone/>
            </a:pPr>
            <a:r>
              <a:rPr lang="en-US" altLang="zh-CN" sz="2800" dirty="0">
                <a:solidFill>
                  <a:srgbClr val="0000CC"/>
                </a:solidFill>
                <a:latin typeface="Arial" panose="020B0604020202020204" pitchFamily="34" charset="0"/>
              </a:rPr>
              <a:t>       GROUP BY  Sno ;</a:t>
            </a:r>
            <a:endParaRPr lang="en-US" altLang="zh-CN" sz="2800" dirty="0">
              <a:solidFill>
                <a:srgbClr val="0000CC"/>
              </a:solidFill>
              <a:latin typeface="Arial" panose="020B0604020202020204" pitchFamily="34" charset="0"/>
            </a:endParaRPr>
          </a:p>
        </p:txBody>
      </p:sp>
      <p:sp>
        <p:nvSpPr>
          <p:cNvPr id="69637" name="Rectangle 4"/>
          <p:cNvSpPr/>
          <p:nvPr/>
        </p:nvSpPr>
        <p:spPr>
          <a:xfrm>
            <a:off x="142875" y="1503363"/>
            <a:ext cx="4124325" cy="1512887"/>
          </a:xfrm>
          <a:prstGeom prst="rect">
            <a:avLst/>
          </a:prstGeom>
          <a:solidFill>
            <a:srgbClr val="FFDDFF"/>
          </a:solidFill>
          <a:ln w="28575" cap="flat" cmpd="sng">
            <a:solidFill>
              <a:srgbClr val="FF3300"/>
            </a:solidFill>
            <a:prstDash val="solid"/>
            <a:miter/>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lnSpc>
                <a:spcPct val="95000"/>
              </a:lnSpc>
              <a:buClrTx/>
              <a:buSzTx/>
              <a:buFontTx/>
              <a:buNone/>
            </a:pPr>
            <a:r>
              <a:rPr lang="en-US" altLang="zh-CN" sz="3200" dirty="0">
                <a:solidFill>
                  <a:srgbClr val="0000CC"/>
                </a:solidFill>
                <a:latin typeface="Arial" panose="020B0604020202020204" pitchFamily="34" charset="0"/>
              </a:rPr>
              <a:t> </a:t>
            </a:r>
            <a:r>
              <a:rPr lang="en-US" altLang="zh-CN" sz="3200" dirty="0">
                <a:latin typeface="Arial" panose="020B0604020202020204" pitchFamily="34" charset="0"/>
              </a:rPr>
              <a:t>SELECT  Sno, Gavg</a:t>
            </a:r>
            <a:endParaRPr lang="en-US" altLang="zh-CN" sz="2400" dirty="0">
              <a:latin typeface="Arial" panose="020B0604020202020204" pitchFamily="34" charset="0"/>
            </a:endParaRPr>
          </a:p>
          <a:p>
            <a:pPr marL="0" lvl="0" indent="0" eaLnBrk="1" hangingPunct="1">
              <a:lnSpc>
                <a:spcPct val="95000"/>
              </a:lnSpc>
              <a:buClrTx/>
              <a:buSzTx/>
              <a:buFontTx/>
              <a:buNone/>
            </a:pPr>
            <a:r>
              <a:rPr lang="en-US" altLang="zh-CN" sz="3200" dirty="0">
                <a:latin typeface="Arial" panose="020B0604020202020204" pitchFamily="34" charset="0"/>
              </a:rPr>
              <a:t> FROM  </a:t>
            </a:r>
            <a:r>
              <a:rPr lang="en-US" altLang="zh-CN" sz="3200" dirty="0">
                <a:solidFill>
                  <a:srgbClr val="FF0000"/>
                </a:solidFill>
                <a:latin typeface="Arial" panose="020B0604020202020204" pitchFamily="34" charset="0"/>
              </a:rPr>
              <a:t>S_G</a:t>
            </a:r>
            <a:endParaRPr lang="en-US" altLang="zh-CN" sz="3200" dirty="0">
              <a:solidFill>
                <a:srgbClr val="FF0000"/>
              </a:solidFill>
              <a:latin typeface="Arial" panose="020B0604020202020204" pitchFamily="34" charset="0"/>
            </a:endParaRPr>
          </a:p>
          <a:p>
            <a:pPr marL="0" lvl="0" indent="0" eaLnBrk="1" hangingPunct="1">
              <a:lnSpc>
                <a:spcPct val="95000"/>
              </a:lnSpc>
              <a:buClrTx/>
              <a:buSzTx/>
              <a:buFontTx/>
              <a:buNone/>
            </a:pPr>
            <a:r>
              <a:rPr lang="en-US" altLang="zh-CN" sz="3200" dirty="0">
                <a:latin typeface="Arial" panose="020B0604020202020204" pitchFamily="34" charset="0"/>
              </a:rPr>
              <a:t> WHERE  Gavg&gt;=80;</a:t>
            </a:r>
            <a:endParaRPr lang="en-US" altLang="zh-CN" sz="3200" dirty="0">
              <a:latin typeface="Arial" panose="020B0604020202020204" pitchFamily="34" charset="0"/>
            </a:endParaRPr>
          </a:p>
        </p:txBody>
      </p:sp>
      <p:sp>
        <p:nvSpPr>
          <p:cNvPr id="872461" name="Rectangle 13"/>
          <p:cNvSpPr/>
          <p:nvPr/>
        </p:nvSpPr>
        <p:spPr>
          <a:xfrm>
            <a:off x="806450" y="5118100"/>
            <a:ext cx="5908675" cy="1466850"/>
          </a:xfrm>
          <a:prstGeom prst="rect">
            <a:avLst/>
          </a:prstGeom>
          <a:solidFill>
            <a:srgbClr val="FFFF66"/>
          </a:solidFill>
          <a:ln w="28575" cap="flat" cmpd="sng">
            <a:solidFill>
              <a:srgbClr val="FF9900"/>
            </a:solidFill>
            <a:prstDash val="solid"/>
            <a:miter/>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lnSpc>
                <a:spcPct val="90000"/>
              </a:lnSpc>
              <a:buClrTx/>
              <a:buSzTx/>
              <a:buFontTx/>
              <a:buNone/>
            </a:pPr>
            <a:r>
              <a:rPr lang="en-US" altLang="zh-CN" sz="3200" dirty="0">
                <a:solidFill>
                  <a:srgbClr val="0000CC"/>
                </a:solidFill>
                <a:latin typeface="Arial" panose="020B0604020202020204" pitchFamily="34" charset="0"/>
              </a:rPr>
              <a:t> </a:t>
            </a:r>
            <a:r>
              <a:rPr lang="en-US" altLang="zh-CN" sz="3200" dirty="0">
                <a:solidFill>
                  <a:srgbClr val="FF0000"/>
                </a:solidFill>
                <a:latin typeface="Arial" panose="020B0604020202020204" pitchFamily="34" charset="0"/>
              </a:rPr>
              <a:t>CREATE  TABLE</a:t>
            </a:r>
            <a:r>
              <a:rPr lang="en-US" altLang="zh-CN" sz="3200" dirty="0">
                <a:solidFill>
                  <a:srgbClr val="0000CC"/>
                </a:solidFill>
                <a:latin typeface="Arial" panose="020B0604020202020204" pitchFamily="34" charset="0"/>
              </a:rPr>
              <a:t>  Tmp_S_G</a:t>
            </a:r>
            <a:endParaRPr lang="en-US" altLang="zh-CN" sz="3200" dirty="0">
              <a:solidFill>
                <a:srgbClr val="0000CC"/>
              </a:solidFill>
              <a:latin typeface="Arial" panose="020B0604020202020204" pitchFamily="34" charset="0"/>
            </a:endParaRPr>
          </a:p>
          <a:p>
            <a:pPr marL="0" lvl="0" indent="0" eaLnBrk="1" hangingPunct="1">
              <a:lnSpc>
                <a:spcPct val="90000"/>
              </a:lnSpc>
              <a:buClrTx/>
              <a:buSzTx/>
              <a:buFontTx/>
              <a:buNone/>
            </a:pPr>
            <a:r>
              <a:rPr lang="en-US" altLang="zh-CN" sz="3200" dirty="0">
                <a:solidFill>
                  <a:srgbClr val="0000CC"/>
                </a:solidFill>
                <a:latin typeface="Arial" panose="020B0604020202020204" pitchFamily="34" charset="0"/>
              </a:rPr>
              <a:t>   ( Sno  CHAR(6) ,</a:t>
            </a:r>
            <a:endParaRPr lang="en-US" altLang="zh-CN" sz="3200" dirty="0">
              <a:solidFill>
                <a:srgbClr val="0000CC"/>
              </a:solidFill>
              <a:latin typeface="Arial" panose="020B0604020202020204" pitchFamily="34" charset="0"/>
            </a:endParaRPr>
          </a:p>
          <a:p>
            <a:pPr marL="0" lvl="0" indent="0" eaLnBrk="1" hangingPunct="1">
              <a:lnSpc>
                <a:spcPct val="90000"/>
              </a:lnSpc>
              <a:buClrTx/>
              <a:buSzTx/>
              <a:buFontTx/>
              <a:buNone/>
            </a:pPr>
            <a:r>
              <a:rPr lang="en-US" altLang="zh-CN" sz="3200" dirty="0">
                <a:solidFill>
                  <a:srgbClr val="0000CC"/>
                </a:solidFill>
                <a:latin typeface="Arial" panose="020B0604020202020204" pitchFamily="34" charset="0"/>
              </a:rPr>
              <a:t>     Avgs  INT  );</a:t>
            </a:r>
            <a:r>
              <a:rPr lang="en-US" altLang="zh-CN" sz="3200" dirty="0">
                <a:solidFill>
                  <a:srgbClr val="0000FF"/>
                </a:solidFill>
                <a:latin typeface="Arial" panose="020B0604020202020204" pitchFamily="34" charset="0"/>
              </a:rPr>
              <a:t>     </a:t>
            </a:r>
            <a:endParaRPr lang="en-US" altLang="zh-CN" sz="3200" dirty="0">
              <a:solidFill>
                <a:srgbClr val="0000FF"/>
              </a:solidFill>
              <a:latin typeface="Arial" panose="020B0604020202020204" pitchFamily="34" charset="0"/>
            </a:endParaRPr>
          </a:p>
        </p:txBody>
      </p:sp>
      <p:grpSp>
        <p:nvGrpSpPr>
          <p:cNvPr id="2" name="组合 35"/>
          <p:cNvGrpSpPr/>
          <p:nvPr/>
        </p:nvGrpSpPr>
        <p:grpSpPr>
          <a:xfrm>
            <a:off x="4286250" y="1500188"/>
            <a:ext cx="4714875" cy="1512887"/>
            <a:chOff x="4286248" y="1500174"/>
            <a:chExt cx="4714908" cy="1512887"/>
          </a:xfrm>
        </p:grpSpPr>
        <p:sp>
          <p:nvSpPr>
            <p:cNvPr id="69647" name="Rectangle 4"/>
            <p:cNvSpPr/>
            <p:nvPr/>
          </p:nvSpPr>
          <p:spPr>
            <a:xfrm>
              <a:off x="4876831" y="1500174"/>
              <a:ext cx="4124325" cy="1512887"/>
            </a:xfrm>
            <a:prstGeom prst="rect">
              <a:avLst/>
            </a:prstGeom>
            <a:solidFill>
              <a:srgbClr val="FFDDFF"/>
            </a:solidFill>
            <a:ln w="28575" cap="flat" cmpd="sng">
              <a:solidFill>
                <a:srgbClr val="FF3300"/>
              </a:solidFill>
              <a:prstDash val="solid"/>
              <a:miter/>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lnSpc>
                  <a:spcPct val="95000"/>
                </a:lnSpc>
                <a:buClrTx/>
                <a:buSzTx/>
                <a:buFontTx/>
                <a:buNone/>
              </a:pPr>
              <a:r>
                <a:rPr lang="en-US" altLang="zh-CN" sz="3200" dirty="0">
                  <a:solidFill>
                    <a:srgbClr val="0000CC"/>
                  </a:solidFill>
                  <a:latin typeface="Arial" panose="020B0604020202020204" pitchFamily="34" charset="0"/>
                </a:rPr>
                <a:t> </a:t>
              </a:r>
              <a:r>
                <a:rPr lang="en-US" altLang="zh-CN" sz="3200" dirty="0">
                  <a:latin typeface="Arial" panose="020B0604020202020204" pitchFamily="34" charset="0"/>
                </a:rPr>
                <a:t>SELECT  Sno, Gavg</a:t>
              </a:r>
              <a:endParaRPr lang="en-US" altLang="zh-CN" sz="2400" dirty="0">
                <a:latin typeface="Arial" panose="020B0604020202020204" pitchFamily="34" charset="0"/>
              </a:endParaRPr>
            </a:p>
            <a:p>
              <a:pPr marL="0" lvl="0" indent="0" eaLnBrk="1" hangingPunct="1">
                <a:lnSpc>
                  <a:spcPct val="95000"/>
                </a:lnSpc>
                <a:buClrTx/>
                <a:buSzTx/>
                <a:buFontTx/>
                <a:buNone/>
              </a:pPr>
              <a:r>
                <a:rPr lang="en-US" altLang="zh-CN" sz="3200" dirty="0">
                  <a:latin typeface="Arial" panose="020B0604020202020204" pitchFamily="34" charset="0"/>
                </a:rPr>
                <a:t> FROM  </a:t>
              </a:r>
              <a:r>
                <a:rPr lang="en-US" altLang="zh-CN" sz="3200" dirty="0">
                  <a:solidFill>
                    <a:srgbClr val="FF0000"/>
                  </a:solidFill>
                  <a:latin typeface="Arial" panose="020B0604020202020204" pitchFamily="34" charset="0"/>
                </a:rPr>
                <a:t>Tmp_S_G</a:t>
              </a:r>
              <a:endParaRPr lang="en-US" altLang="zh-CN" sz="3200" dirty="0">
                <a:solidFill>
                  <a:srgbClr val="FF0000"/>
                </a:solidFill>
                <a:latin typeface="Arial" panose="020B0604020202020204" pitchFamily="34" charset="0"/>
              </a:endParaRPr>
            </a:p>
            <a:p>
              <a:pPr marL="0" lvl="0" indent="0" eaLnBrk="1" hangingPunct="1">
                <a:lnSpc>
                  <a:spcPct val="95000"/>
                </a:lnSpc>
                <a:buClrTx/>
                <a:buSzTx/>
                <a:buFontTx/>
                <a:buNone/>
              </a:pPr>
              <a:r>
                <a:rPr lang="en-US" altLang="zh-CN" sz="3200" dirty="0">
                  <a:latin typeface="Arial" panose="020B0604020202020204" pitchFamily="34" charset="0"/>
                </a:rPr>
                <a:t> WHERE  Gavg&gt;=80;</a:t>
              </a:r>
              <a:endParaRPr lang="en-US" altLang="zh-CN" sz="3200" dirty="0">
                <a:latin typeface="Arial" panose="020B0604020202020204" pitchFamily="34" charset="0"/>
              </a:endParaRPr>
            </a:p>
          </p:txBody>
        </p:sp>
        <p:sp>
          <p:nvSpPr>
            <p:cNvPr id="69648" name="右箭头 34"/>
            <p:cNvSpPr/>
            <p:nvPr/>
          </p:nvSpPr>
          <p:spPr>
            <a:xfrm>
              <a:off x="4286248" y="2071678"/>
              <a:ext cx="571504" cy="285752"/>
            </a:xfrm>
            <a:prstGeom prst="rightArrow">
              <a:avLst>
                <a:gd name="adj1" fmla="val 50000"/>
                <a:gd name="adj2" fmla="val 50000"/>
              </a:avLst>
            </a:prstGeom>
            <a:gradFill rotWithShape="1">
              <a:gsLst>
                <a:gs pos="0">
                  <a:srgbClr val="FF3399"/>
                </a:gs>
                <a:gs pos="100000">
                  <a:srgbClr val="B2246B"/>
                </a:gs>
              </a:gsLst>
              <a:path path="rect">
                <a:fillToRect l="50000" t="50000" r="50000" b="50000"/>
              </a:path>
              <a:tileRect/>
            </a:gradFill>
            <a:ln w="28575">
              <a:noFill/>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en-US" sz="4000" dirty="0">
                <a:solidFill>
                  <a:srgbClr val="0000FF"/>
                </a:solidFill>
                <a:latin typeface="Arial" panose="020B0604020202020204" pitchFamily="34" charset="0"/>
              </a:endParaRPr>
            </a:p>
          </p:txBody>
        </p:sp>
      </p:grpSp>
      <p:grpSp>
        <p:nvGrpSpPr>
          <p:cNvPr id="3" name="组合 37"/>
          <p:cNvGrpSpPr/>
          <p:nvPr/>
        </p:nvGrpSpPr>
        <p:grpSpPr>
          <a:xfrm>
            <a:off x="1571625" y="3863975"/>
            <a:ext cx="7286625" cy="1993900"/>
            <a:chOff x="1571604" y="3863750"/>
            <a:chExt cx="7286676" cy="1994142"/>
          </a:xfrm>
        </p:grpSpPr>
        <p:cxnSp>
          <p:nvCxnSpPr>
            <p:cNvPr id="69641" name="直接连接符 19"/>
            <p:cNvCxnSpPr/>
            <p:nvPr/>
          </p:nvCxnSpPr>
          <p:spPr>
            <a:xfrm rot="5400000">
              <a:off x="7429520" y="5357032"/>
              <a:ext cx="714380" cy="1588"/>
            </a:xfrm>
            <a:prstGeom prst="line">
              <a:avLst/>
            </a:prstGeom>
            <a:ln w="28575" cap="flat" cmpd="sng">
              <a:solidFill>
                <a:srgbClr val="FF0000"/>
              </a:solidFill>
              <a:prstDash val="solid"/>
              <a:headEnd type="none" w="med" len="med"/>
              <a:tailEnd type="none" w="med" len="med"/>
            </a:ln>
          </p:spPr>
        </p:cxnSp>
        <p:cxnSp>
          <p:nvCxnSpPr>
            <p:cNvPr id="69642" name="直接箭头连接符 22"/>
            <p:cNvCxnSpPr/>
            <p:nvPr/>
          </p:nvCxnSpPr>
          <p:spPr>
            <a:xfrm rot="10800000">
              <a:off x="6715140" y="5714222"/>
              <a:ext cx="1071570" cy="6367"/>
            </a:xfrm>
            <a:prstGeom prst="straightConnector1">
              <a:avLst/>
            </a:prstGeom>
            <a:ln w="28575" cap="flat" cmpd="sng">
              <a:solidFill>
                <a:srgbClr val="FF0000"/>
              </a:solidFill>
              <a:prstDash val="solid"/>
              <a:headEnd type="none" w="med" len="med"/>
              <a:tailEnd type="arrow" w="med" len="med"/>
            </a:ln>
          </p:spPr>
        </p:cxnSp>
        <p:sp>
          <p:nvSpPr>
            <p:cNvPr id="69643" name="矩形 7"/>
            <p:cNvSpPr/>
            <p:nvPr/>
          </p:nvSpPr>
          <p:spPr>
            <a:xfrm>
              <a:off x="3643306" y="3863750"/>
              <a:ext cx="5143536" cy="1143008"/>
            </a:xfrm>
            <a:prstGeom prst="rect">
              <a:avLst/>
            </a:prstGeom>
            <a:noFill/>
            <a:ln w="38100" cap="flat" cmpd="sng">
              <a:solidFill>
                <a:srgbClr val="FF0000"/>
              </a:solidFill>
              <a:prstDash val="solid"/>
              <a:round/>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en-US" sz="4000" dirty="0">
                <a:solidFill>
                  <a:srgbClr val="0000FF"/>
                </a:solidFill>
                <a:latin typeface="Arial" panose="020B0604020202020204" pitchFamily="34" charset="0"/>
              </a:endParaRPr>
            </a:p>
          </p:txBody>
        </p:sp>
        <p:sp>
          <p:nvSpPr>
            <p:cNvPr id="69644" name="矩形 10"/>
            <p:cNvSpPr/>
            <p:nvPr/>
          </p:nvSpPr>
          <p:spPr>
            <a:xfrm>
              <a:off x="1571604" y="4071942"/>
              <a:ext cx="1071570" cy="500066"/>
            </a:xfrm>
            <a:prstGeom prst="rect">
              <a:avLst/>
            </a:prstGeom>
            <a:noFill/>
            <a:ln w="28575">
              <a:noFill/>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buClrTx/>
                <a:buSzTx/>
                <a:buFontTx/>
                <a:buNone/>
              </a:pPr>
              <a:r>
                <a:rPr lang="en-US" altLang="zh-CN" sz="4000" dirty="0">
                  <a:solidFill>
                    <a:srgbClr val="0000FF"/>
                  </a:solidFill>
                  <a:latin typeface="Arial" panose="020B0604020202020204" pitchFamily="34" charset="0"/>
                </a:rPr>
                <a:t> </a:t>
              </a:r>
              <a:r>
                <a:rPr lang="zh-CN" altLang="en-US" sz="2800" dirty="0">
                  <a:latin typeface="Arial" panose="020B0604020202020204" pitchFamily="34" charset="0"/>
                </a:rPr>
                <a:t>执行</a:t>
              </a:r>
              <a:endParaRPr lang="zh-CN" altLang="en-US" sz="4000" dirty="0">
                <a:latin typeface="Arial" panose="020B0604020202020204" pitchFamily="34" charset="0"/>
              </a:endParaRPr>
            </a:p>
          </p:txBody>
        </p:sp>
        <p:cxnSp>
          <p:nvCxnSpPr>
            <p:cNvPr id="69645" name="直接箭头连接符 24"/>
            <p:cNvCxnSpPr>
              <a:endCxn id="69643" idx="1"/>
            </p:cNvCxnSpPr>
            <p:nvPr/>
          </p:nvCxnSpPr>
          <p:spPr>
            <a:xfrm>
              <a:off x="2571736" y="4435254"/>
              <a:ext cx="1071570" cy="1588"/>
            </a:xfrm>
            <a:prstGeom prst="straightConnector1">
              <a:avLst/>
            </a:prstGeom>
            <a:ln w="28575" cap="flat" cmpd="sng">
              <a:solidFill>
                <a:srgbClr val="FF0000"/>
              </a:solidFill>
              <a:prstDash val="solid"/>
              <a:headEnd type="none" w="med" len="med"/>
              <a:tailEnd type="arrow" w="med" len="med"/>
            </a:ln>
          </p:spPr>
        </p:cxnSp>
        <p:sp>
          <p:nvSpPr>
            <p:cNvPr id="69646" name="矩形 36"/>
            <p:cNvSpPr/>
            <p:nvPr/>
          </p:nvSpPr>
          <p:spPr>
            <a:xfrm>
              <a:off x="7929586" y="5357826"/>
              <a:ext cx="928694" cy="500066"/>
            </a:xfrm>
            <a:prstGeom prst="rect">
              <a:avLst/>
            </a:prstGeom>
            <a:noFill/>
            <a:ln w="28575">
              <a:noFill/>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buClrTx/>
                <a:buSzTx/>
                <a:buFontTx/>
                <a:buNone/>
              </a:pPr>
              <a:r>
                <a:rPr lang="zh-CN" altLang="en-US" sz="2800" dirty="0">
                  <a:latin typeface="Arial" panose="020B0604020202020204" pitchFamily="34" charset="0"/>
                </a:rPr>
                <a:t>存入</a:t>
              </a:r>
              <a:endParaRPr lang="zh-CN" altLang="en-US" sz="4000" dirty="0">
                <a:latin typeface="Arial" panose="020B0604020202020204" pitchFamily="34" charset="0"/>
              </a:endParaRPr>
            </a:p>
          </p:txBody>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24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24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1" grpId="0" animBg="1"/>
      <p:bldP spid="87246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idx="1"/>
          </p:nvPr>
        </p:nvSpPr>
        <p:spPr>
          <a:xfrm>
            <a:off x="152400" y="908050"/>
            <a:ext cx="8740775" cy="5545138"/>
          </a:xfrm>
        </p:spPr>
        <p:txBody>
          <a:bodyPr vert="horz" wrap="square" lIns="91440" tIns="45720" rIns="91440" bIns="45720" anchor="t" anchorCtr="0"/>
          <a:p>
            <a:pPr marL="263525" indent="-263525">
              <a:spcBef>
                <a:spcPct val="35000"/>
              </a:spcBef>
            </a:pPr>
            <a:r>
              <a:rPr lang="zh-CN" altLang="en-US" dirty="0"/>
              <a:t>视图的更新受到约束</a:t>
            </a:r>
            <a:endParaRPr lang="zh-CN" altLang="en-US" dirty="0"/>
          </a:p>
          <a:p>
            <a:pPr marL="263525" indent="-263525">
              <a:spcBef>
                <a:spcPct val="35000"/>
              </a:spcBef>
              <a:buNone/>
            </a:pPr>
            <a:r>
              <a:rPr lang="zh-CN" altLang="en-US" dirty="0"/>
              <a:t>例：</a:t>
            </a:r>
            <a:endParaRPr lang="zh-CN" altLang="en-US" dirty="0"/>
          </a:p>
        </p:txBody>
      </p:sp>
      <p:sp>
        <p:nvSpPr>
          <p:cNvPr id="86937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4</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更新视图</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70660" name="Rectangle 4"/>
          <p:cNvSpPr/>
          <p:nvPr/>
        </p:nvSpPr>
        <p:spPr>
          <a:xfrm>
            <a:off x="1571625" y="1989138"/>
            <a:ext cx="6624638" cy="2232025"/>
          </a:xfrm>
          <a:prstGeom prst="rect">
            <a:avLst/>
          </a:prstGeom>
          <a:solidFill>
            <a:srgbClr val="CCFFFF"/>
          </a:solidFill>
          <a:ln w="28575" cap="flat" cmpd="sng">
            <a:solidFill>
              <a:schemeClr val="bg1"/>
            </a:solidFill>
            <a:prstDash val="solid"/>
            <a:miter/>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lnSpc>
                <a:spcPct val="90000"/>
              </a:lnSpc>
              <a:buClrTx/>
              <a:buSzTx/>
              <a:buFontTx/>
              <a:buNone/>
            </a:pPr>
            <a:r>
              <a:rPr lang="en-US" altLang="zh-CN" sz="2800" dirty="0">
                <a:solidFill>
                  <a:srgbClr val="FF0000"/>
                </a:solidFill>
                <a:latin typeface="Arial" panose="020B0604020202020204" pitchFamily="34" charset="0"/>
              </a:rPr>
              <a:t> </a:t>
            </a:r>
            <a:r>
              <a:rPr lang="en-US" altLang="zh-CN" sz="3200" dirty="0">
                <a:solidFill>
                  <a:srgbClr val="FF0000"/>
                </a:solidFill>
                <a:latin typeface="Arial" panose="020B0604020202020204" pitchFamily="34" charset="0"/>
              </a:rPr>
              <a:t>CREATE  VIEW</a:t>
            </a:r>
            <a:r>
              <a:rPr lang="en-US" altLang="zh-CN" sz="3200" dirty="0">
                <a:solidFill>
                  <a:srgbClr val="0000CC"/>
                </a:solidFill>
                <a:latin typeface="Arial" panose="020B0604020202020204" pitchFamily="34" charset="0"/>
              </a:rPr>
              <a:t>  </a:t>
            </a:r>
            <a:r>
              <a:rPr lang="en-US" altLang="zh-CN" sz="3200" dirty="0">
                <a:latin typeface="Arial" panose="020B0604020202020204" pitchFamily="34" charset="0"/>
              </a:rPr>
              <a:t>S_G(Sno,</a:t>
            </a:r>
            <a:r>
              <a:rPr lang="en-US" altLang="zh-CN" sz="3200" dirty="0">
                <a:solidFill>
                  <a:srgbClr val="0000CC"/>
                </a:solidFill>
                <a:latin typeface="Arial" panose="020B0604020202020204" pitchFamily="34" charset="0"/>
              </a:rPr>
              <a:t> </a:t>
            </a:r>
            <a:r>
              <a:rPr lang="en-US" altLang="zh-CN" sz="3200" dirty="0">
                <a:latin typeface="Arial" panose="020B0604020202020204" pitchFamily="34" charset="0"/>
              </a:rPr>
              <a:t>Gavg)</a:t>
            </a:r>
            <a:endParaRPr lang="en-US" altLang="zh-CN" sz="3200" dirty="0">
              <a:latin typeface="Arial" panose="020B0604020202020204" pitchFamily="34" charset="0"/>
            </a:endParaRPr>
          </a:p>
          <a:p>
            <a:pPr marL="0" lvl="0" indent="0" eaLnBrk="1" hangingPunct="1">
              <a:lnSpc>
                <a:spcPct val="90000"/>
              </a:lnSpc>
              <a:buClrTx/>
              <a:buSzTx/>
              <a:buFontTx/>
              <a:buNone/>
            </a:pPr>
            <a:r>
              <a:rPr lang="en-US" altLang="zh-CN" sz="3200" dirty="0">
                <a:solidFill>
                  <a:srgbClr val="0000CC"/>
                </a:solidFill>
                <a:latin typeface="Arial" panose="020B0604020202020204" pitchFamily="34" charset="0"/>
              </a:rPr>
              <a:t>  </a:t>
            </a:r>
            <a:r>
              <a:rPr lang="en-US" altLang="zh-CN" sz="3200" dirty="0">
                <a:solidFill>
                  <a:srgbClr val="FF0000"/>
                </a:solidFill>
                <a:latin typeface="Arial" panose="020B0604020202020204" pitchFamily="34" charset="0"/>
              </a:rPr>
              <a:t>AS</a:t>
            </a:r>
            <a:r>
              <a:rPr lang="en-US" altLang="zh-CN" sz="3200" dirty="0">
                <a:solidFill>
                  <a:srgbClr val="0000CC"/>
                </a:solidFill>
                <a:latin typeface="Arial" panose="020B0604020202020204" pitchFamily="34" charset="0"/>
              </a:rPr>
              <a:t>  </a:t>
            </a:r>
            <a:endParaRPr lang="en-US" altLang="zh-CN" sz="3200" dirty="0">
              <a:solidFill>
                <a:srgbClr val="0000CC"/>
              </a:solidFill>
              <a:latin typeface="Arial" panose="020B0604020202020204" pitchFamily="34" charset="0"/>
            </a:endParaRPr>
          </a:p>
          <a:p>
            <a:pPr marL="0" lvl="0" indent="0" eaLnBrk="1" hangingPunct="1">
              <a:lnSpc>
                <a:spcPct val="90000"/>
              </a:lnSpc>
              <a:buClrTx/>
              <a:buSzTx/>
              <a:buFontTx/>
              <a:buNone/>
            </a:pPr>
            <a:r>
              <a:rPr lang="en-US" altLang="zh-CN" sz="3200" dirty="0">
                <a:solidFill>
                  <a:srgbClr val="0000CC"/>
                </a:solidFill>
                <a:latin typeface="Arial" panose="020B0604020202020204" pitchFamily="34" charset="0"/>
              </a:rPr>
              <a:t>      SELECT  Sno, </a:t>
            </a:r>
            <a:r>
              <a:rPr lang="en-US" altLang="zh-CN" sz="3200" dirty="0">
                <a:solidFill>
                  <a:srgbClr val="FF0000"/>
                </a:solidFill>
                <a:latin typeface="Arial" panose="020B0604020202020204" pitchFamily="34" charset="0"/>
              </a:rPr>
              <a:t>AVG</a:t>
            </a:r>
            <a:r>
              <a:rPr lang="en-US" altLang="zh-CN" sz="3200" dirty="0">
                <a:solidFill>
                  <a:srgbClr val="0000CC"/>
                </a:solidFill>
                <a:latin typeface="Arial" panose="020B0604020202020204" pitchFamily="34" charset="0"/>
              </a:rPr>
              <a:t>(Score)</a:t>
            </a:r>
            <a:endParaRPr lang="en-US" altLang="zh-CN" sz="3200" dirty="0">
              <a:solidFill>
                <a:srgbClr val="0000CC"/>
              </a:solidFill>
              <a:latin typeface="Arial" panose="020B0604020202020204" pitchFamily="34" charset="0"/>
            </a:endParaRPr>
          </a:p>
          <a:p>
            <a:pPr marL="0" lvl="0" indent="0" eaLnBrk="1" hangingPunct="1">
              <a:lnSpc>
                <a:spcPct val="90000"/>
              </a:lnSpc>
              <a:buClrTx/>
              <a:buSzTx/>
              <a:buFontTx/>
              <a:buNone/>
            </a:pPr>
            <a:r>
              <a:rPr lang="en-US" altLang="zh-CN" sz="3200" dirty="0">
                <a:solidFill>
                  <a:srgbClr val="0000CC"/>
                </a:solidFill>
                <a:latin typeface="Arial" panose="020B0604020202020204" pitchFamily="34" charset="0"/>
              </a:rPr>
              <a:t>       FROM  SC</a:t>
            </a:r>
            <a:endParaRPr lang="en-US" altLang="zh-CN" sz="3200" dirty="0">
              <a:solidFill>
                <a:srgbClr val="0000CC"/>
              </a:solidFill>
              <a:latin typeface="Arial" panose="020B0604020202020204" pitchFamily="34" charset="0"/>
            </a:endParaRPr>
          </a:p>
          <a:p>
            <a:pPr marL="0" lvl="0" indent="0" eaLnBrk="1" hangingPunct="1">
              <a:lnSpc>
                <a:spcPct val="90000"/>
              </a:lnSpc>
              <a:buClrTx/>
              <a:buSzTx/>
              <a:buFontTx/>
              <a:buNone/>
            </a:pPr>
            <a:r>
              <a:rPr lang="en-US" altLang="zh-CN" sz="3200" dirty="0">
                <a:solidFill>
                  <a:srgbClr val="0000CC"/>
                </a:solidFill>
                <a:latin typeface="Arial" panose="020B0604020202020204" pitchFamily="34" charset="0"/>
              </a:rPr>
              <a:t>       GROUP BY  Sno ;</a:t>
            </a:r>
            <a:endParaRPr lang="en-US" altLang="zh-CN" sz="3200" dirty="0">
              <a:solidFill>
                <a:srgbClr val="0000CC"/>
              </a:solidFill>
              <a:latin typeface="Arial" panose="020B0604020202020204" pitchFamily="34" charset="0"/>
            </a:endParaRPr>
          </a:p>
        </p:txBody>
      </p:sp>
      <p:sp>
        <p:nvSpPr>
          <p:cNvPr id="70661" name="Rectangle 5"/>
          <p:cNvSpPr/>
          <p:nvPr/>
        </p:nvSpPr>
        <p:spPr>
          <a:xfrm>
            <a:off x="1571625" y="4508500"/>
            <a:ext cx="4968875" cy="1512888"/>
          </a:xfrm>
          <a:prstGeom prst="rect">
            <a:avLst/>
          </a:prstGeom>
          <a:solidFill>
            <a:srgbClr val="FFDDFF"/>
          </a:solidFill>
          <a:ln w="28575" cap="flat" cmpd="sng">
            <a:solidFill>
              <a:srgbClr val="FF3300"/>
            </a:solidFill>
            <a:prstDash val="solid"/>
            <a:miter/>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lnSpc>
                <a:spcPct val="95000"/>
              </a:lnSpc>
              <a:buClrTx/>
              <a:buSzTx/>
              <a:buFontTx/>
              <a:buNone/>
            </a:pPr>
            <a:r>
              <a:rPr lang="en-US" altLang="zh-CN" sz="3200" dirty="0">
                <a:solidFill>
                  <a:srgbClr val="0000CC"/>
                </a:solidFill>
                <a:latin typeface="Arial" panose="020B0604020202020204" pitchFamily="34" charset="0"/>
              </a:rPr>
              <a:t> </a:t>
            </a:r>
            <a:r>
              <a:rPr lang="en-US" altLang="zh-CN" sz="3200" dirty="0">
                <a:latin typeface="Arial" panose="020B0604020202020204" pitchFamily="34" charset="0"/>
              </a:rPr>
              <a:t>UPDATE  </a:t>
            </a:r>
            <a:r>
              <a:rPr lang="en-US" altLang="zh-CN" sz="3200" dirty="0">
                <a:solidFill>
                  <a:srgbClr val="0000FF"/>
                </a:solidFill>
                <a:latin typeface="Arial" panose="020B0604020202020204" pitchFamily="34" charset="0"/>
              </a:rPr>
              <a:t>S_G</a:t>
            </a:r>
            <a:r>
              <a:rPr lang="en-US" altLang="zh-CN" sz="3200" dirty="0">
                <a:latin typeface="Arial" panose="020B0604020202020204" pitchFamily="34" charset="0"/>
              </a:rPr>
              <a:t> </a:t>
            </a:r>
            <a:endParaRPr lang="en-US" altLang="zh-CN" sz="2400" dirty="0">
              <a:latin typeface="Arial" panose="020B0604020202020204" pitchFamily="34" charset="0"/>
            </a:endParaRPr>
          </a:p>
          <a:p>
            <a:pPr marL="0" lvl="0" indent="0" eaLnBrk="1" hangingPunct="1">
              <a:lnSpc>
                <a:spcPct val="95000"/>
              </a:lnSpc>
              <a:buClrTx/>
              <a:buSzTx/>
              <a:buFontTx/>
              <a:buNone/>
            </a:pPr>
            <a:r>
              <a:rPr lang="en-US" altLang="zh-CN" sz="3200" dirty="0">
                <a:latin typeface="Arial" panose="020B0604020202020204" pitchFamily="34" charset="0"/>
              </a:rPr>
              <a:t> SET  Gavg=90</a:t>
            </a:r>
            <a:endParaRPr lang="en-US" altLang="zh-CN" sz="3200" dirty="0">
              <a:solidFill>
                <a:srgbClr val="0000FF"/>
              </a:solidFill>
              <a:latin typeface="Arial" panose="020B0604020202020204" pitchFamily="34" charset="0"/>
            </a:endParaRPr>
          </a:p>
          <a:p>
            <a:pPr marL="0" lvl="0" indent="0" eaLnBrk="1" hangingPunct="1">
              <a:lnSpc>
                <a:spcPct val="95000"/>
              </a:lnSpc>
              <a:buClrTx/>
              <a:buSzTx/>
              <a:buFontTx/>
              <a:buNone/>
            </a:pPr>
            <a:r>
              <a:rPr lang="en-US" altLang="zh-CN" sz="3200" dirty="0">
                <a:latin typeface="Arial" panose="020B0604020202020204" pitchFamily="34" charset="0"/>
              </a:rPr>
              <a:t> WHERE  Sno='090989';</a:t>
            </a:r>
            <a:endParaRPr lang="en-US" altLang="zh-CN" sz="3200" dirty="0">
              <a:latin typeface="Arial" panose="020B0604020202020204" pitchFamily="34" charset="0"/>
            </a:endParaRPr>
          </a:p>
        </p:txBody>
      </p:sp>
      <p:sp>
        <p:nvSpPr>
          <p:cNvPr id="869382" name="AutoShape 6"/>
          <p:cNvSpPr/>
          <p:nvPr/>
        </p:nvSpPr>
        <p:spPr>
          <a:xfrm>
            <a:off x="6756400" y="4508500"/>
            <a:ext cx="1655763" cy="649288"/>
          </a:xfrm>
          <a:prstGeom prst="wedgeRoundRectCallout">
            <a:avLst>
              <a:gd name="adj1" fmla="val -152588"/>
              <a:gd name="adj2" fmla="val -11856"/>
              <a:gd name="adj3" fmla="val 16667"/>
            </a:avLst>
          </a:prstGeom>
          <a:solidFill>
            <a:srgbClr val="FFFF99"/>
          </a:solidFill>
          <a:ln w="28575" cap="flat" cmpd="sng">
            <a:solidFill>
              <a:srgbClr val="FF0000"/>
            </a:solidFill>
            <a:prstDash val="solid"/>
            <a:miter/>
            <a:headEnd type="none" w="med" len="med"/>
            <a:tailEnd type="none" w="med" len="med"/>
          </a:ln>
        </p:spPr>
        <p:txBody>
          <a:bodyPr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r>
              <a:rPr lang="zh-CN" altLang="en-US" sz="2800" dirty="0">
                <a:latin typeface="Arial" panose="020B0604020202020204" pitchFamily="34" charset="0"/>
              </a:rPr>
              <a:t>不可更新</a:t>
            </a:r>
            <a:endParaRPr lang="zh-CN" altLang="en-US" sz="2800" dirty="0">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1500"/>
                                  </p:stCondLst>
                                  <p:childTnLst>
                                    <p:set>
                                      <p:cBhvr>
                                        <p:cTn id="6" dur="1" fill="hold">
                                          <p:stCondLst>
                                            <p:cond delay="0"/>
                                          </p:stCondLst>
                                        </p:cTn>
                                        <p:tgtEl>
                                          <p:spTgt spid="869382"/>
                                        </p:tgtEl>
                                        <p:attrNameLst>
                                          <p:attrName>style.visibility</p:attrName>
                                        </p:attrNameLst>
                                      </p:cBhvr>
                                      <p:to>
                                        <p:strVal val="visible"/>
                                      </p:to>
                                    </p:set>
                                    <p:animEffect transition="in" filter="wipe(right)">
                                      <p:cBhvr>
                                        <p:cTn id="7" dur="500"/>
                                        <p:tgtEl>
                                          <p:spTgt spid="869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938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idx="1"/>
          </p:nvPr>
        </p:nvSpPr>
        <p:spPr>
          <a:xfrm>
            <a:off x="152400" y="908050"/>
            <a:ext cx="8740775" cy="5545138"/>
          </a:xfrm>
        </p:spPr>
        <p:txBody>
          <a:bodyPr vert="horz" wrap="square" lIns="91440" tIns="45720" rIns="91440" bIns="45720" anchor="t" anchorCtr="0"/>
          <a:p>
            <a:pPr marL="263525" indent="-263525">
              <a:spcBef>
                <a:spcPct val="35000"/>
              </a:spcBef>
            </a:pPr>
            <a:r>
              <a:rPr lang="zh-CN" altLang="en-US" dirty="0"/>
              <a:t>视图的更新受到约束：</a:t>
            </a:r>
            <a:endParaRPr lang="zh-CN" altLang="en-US" dirty="0"/>
          </a:p>
          <a:p>
            <a:pPr marL="713105" lvl="1" indent="-263525">
              <a:lnSpc>
                <a:spcPct val="95000"/>
              </a:lnSpc>
              <a:spcBef>
                <a:spcPct val="30000"/>
              </a:spcBef>
            </a:pPr>
            <a:r>
              <a:rPr lang="zh-CN" altLang="en-US" sz="3600" dirty="0"/>
              <a:t>若视图是一个</a:t>
            </a:r>
            <a:r>
              <a:rPr lang="zh-CN" altLang="en-US" sz="3600" dirty="0">
                <a:solidFill>
                  <a:srgbClr val="CC3300"/>
                </a:solidFill>
              </a:rPr>
              <a:t>行列子集</a:t>
            </a:r>
            <a:r>
              <a:rPr lang="en-US" altLang="zh-CN" sz="3600" dirty="0"/>
              <a:t>(</a:t>
            </a:r>
            <a:r>
              <a:rPr lang="zh-CN" altLang="en-US" sz="3600" dirty="0"/>
              <a:t>来自一个表，保留主键</a:t>
            </a:r>
            <a:r>
              <a:rPr lang="en-US" altLang="zh-CN" sz="3600" dirty="0"/>
              <a:t>)</a:t>
            </a:r>
            <a:r>
              <a:rPr lang="zh-CN" altLang="en-US" sz="3600" dirty="0"/>
              <a:t>，则可通过该视图进行更新操作。</a:t>
            </a:r>
            <a:endParaRPr lang="zh-CN" altLang="en-US" sz="3600" dirty="0"/>
          </a:p>
          <a:p>
            <a:pPr marL="713105" lvl="1" indent="-263525">
              <a:lnSpc>
                <a:spcPct val="95000"/>
              </a:lnSpc>
              <a:spcBef>
                <a:spcPct val="30000"/>
              </a:spcBef>
            </a:pPr>
            <a:r>
              <a:rPr lang="zh-CN" altLang="en-US" sz="3600" dirty="0"/>
              <a:t>若视图涉及到多个表，则更新操作被拒绝。</a:t>
            </a:r>
            <a:endParaRPr lang="zh-CN" altLang="en-US" sz="3600" dirty="0"/>
          </a:p>
          <a:p>
            <a:pPr marL="713105" lvl="1" indent="-263525">
              <a:lnSpc>
                <a:spcPct val="95000"/>
              </a:lnSpc>
              <a:spcBef>
                <a:spcPct val="30000"/>
              </a:spcBef>
            </a:pPr>
            <a:r>
              <a:rPr lang="zh-CN" altLang="en-US" sz="3600" dirty="0"/>
              <a:t>若视图的生成中涉及到聚集函数或是分组操作，则更新操作被拒绝。</a:t>
            </a:r>
            <a:endParaRPr lang="zh-CN" altLang="en-US" sz="3600" dirty="0"/>
          </a:p>
        </p:txBody>
      </p:sp>
      <p:sp>
        <p:nvSpPr>
          <p:cNvPr id="87552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4</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更新视图</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idx="1"/>
          </p:nvPr>
        </p:nvSpPr>
        <p:spPr>
          <a:xfrm>
            <a:off x="152400" y="1143000"/>
            <a:ext cx="8740775" cy="5273675"/>
          </a:xfrm>
        </p:spPr>
        <p:txBody>
          <a:bodyPr vert="horz" wrap="square" lIns="91440" tIns="45720" rIns="91440" bIns="45720" anchor="t" anchorCtr="0"/>
          <a:p>
            <a:pPr marL="365125" indent="-365125">
              <a:lnSpc>
                <a:spcPct val="135000"/>
              </a:lnSpc>
            </a:pPr>
            <a:r>
              <a:rPr lang="zh-CN" altLang="en-US" dirty="0"/>
              <a:t>定制不同用户的不同数据要求</a:t>
            </a:r>
            <a:endParaRPr lang="zh-CN" altLang="en-US" dirty="0"/>
          </a:p>
          <a:p>
            <a:pPr marL="365125" indent="-365125">
              <a:lnSpc>
                <a:spcPct val="135000"/>
              </a:lnSpc>
            </a:pPr>
            <a:r>
              <a:rPr lang="zh-CN" altLang="en-US" dirty="0"/>
              <a:t>简化用户的操作</a:t>
            </a:r>
            <a:endParaRPr lang="zh-CN" altLang="en-US" dirty="0"/>
          </a:p>
          <a:p>
            <a:pPr marL="365125" indent="-365125">
              <a:lnSpc>
                <a:spcPct val="110000"/>
              </a:lnSpc>
              <a:spcBef>
                <a:spcPct val="25000"/>
              </a:spcBef>
            </a:pPr>
            <a:r>
              <a:rPr lang="zh-CN" altLang="en-US" dirty="0"/>
              <a:t>提供简单而有效的安全机制</a:t>
            </a:r>
            <a:endParaRPr lang="zh-CN" altLang="en-US" dirty="0"/>
          </a:p>
          <a:p>
            <a:pPr marL="365125" indent="-365125">
              <a:lnSpc>
                <a:spcPct val="110000"/>
              </a:lnSpc>
              <a:spcBef>
                <a:spcPct val="25000"/>
              </a:spcBef>
            </a:pPr>
            <a:r>
              <a:rPr lang="zh-CN" altLang="en-US" dirty="0"/>
              <a:t>对重构数据库提供了一定程度的逻辑独立性</a:t>
            </a:r>
            <a:endParaRPr lang="zh-CN" altLang="en-US" dirty="0"/>
          </a:p>
          <a:p>
            <a:pPr marL="365125" indent="-365125">
              <a:lnSpc>
                <a:spcPct val="135000"/>
              </a:lnSpc>
            </a:pPr>
            <a:endParaRPr lang="en-US" altLang="zh-CN" dirty="0"/>
          </a:p>
        </p:txBody>
      </p:sp>
      <p:sp>
        <p:nvSpPr>
          <p:cNvPr id="3379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5</a:t>
            </a:r>
            <a:r>
              <a:rPr lang="en-US" altLang="zh-CN" noProof="0" smtClean="0">
                <a:ln>
                  <a:noFill/>
                </a:ln>
                <a:uLnTx/>
                <a:uFillTx/>
                <a:sym typeface="+mn-ea"/>
              </a:rPr>
              <a:t>) </a:t>
            </a: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视图的作用</a:t>
            </a:r>
            <a:endPar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4802" name="Rectangle 2"/>
          <p:cNvSpPr>
            <a:spLocks noGrp="1"/>
          </p:cNvSpPr>
          <p:nvPr>
            <p:ph idx="1"/>
          </p:nvPr>
        </p:nvSpPr>
        <p:spPr>
          <a:xfrm>
            <a:off x="179388" y="836613"/>
            <a:ext cx="8785225" cy="5580062"/>
          </a:xfrm>
        </p:spPr>
        <p:txBody>
          <a:bodyPr vert="horz" wrap="square" lIns="91440" tIns="45720" rIns="91440" bIns="45720" anchor="t" anchorCtr="0"/>
          <a:p>
            <a:pPr marL="365125" indent="-365125">
              <a:buNone/>
            </a:pPr>
            <a:r>
              <a:rPr lang="en-US" altLang="zh-CN" sz="3200" dirty="0">
                <a:latin typeface="Arial" panose="020B0604020202020204" pitchFamily="34" charset="0"/>
              </a:rPr>
              <a:t>S( Sno,Sname,Ssex,Sage,Sdept)</a:t>
            </a:r>
            <a:r>
              <a:rPr lang="zh-CN" altLang="en-US" sz="3200" dirty="0">
                <a:latin typeface="Arial" panose="020B0604020202020204" pitchFamily="34" charset="0"/>
              </a:rPr>
              <a:t>，重构为：</a:t>
            </a:r>
            <a:endParaRPr lang="en-US" altLang="zh-CN" sz="3200" dirty="0">
              <a:latin typeface="Arial" panose="020B0604020202020204" pitchFamily="34" charset="0"/>
            </a:endParaRPr>
          </a:p>
          <a:p>
            <a:pPr marL="365125" indent="-365125">
              <a:buNone/>
            </a:pPr>
            <a:r>
              <a:rPr lang="en-US" altLang="zh-CN" sz="3200" dirty="0">
                <a:solidFill>
                  <a:srgbClr val="C00000"/>
                </a:solidFill>
                <a:latin typeface="Arial" panose="020B0604020202020204" pitchFamily="34" charset="0"/>
              </a:rPr>
              <a:t>         SX( Sno,Sname,Sage)</a:t>
            </a:r>
            <a:endParaRPr lang="en-US" altLang="zh-CN" sz="3200" dirty="0">
              <a:solidFill>
                <a:srgbClr val="C00000"/>
              </a:solidFill>
              <a:latin typeface="Arial" panose="020B0604020202020204" pitchFamily="34" charset="0"/>
            </a:endParaRPr>
          </a:p>
          <a:p>
            <a:pPr marL="365125" indent="-365125">
              <a:buNone/>
            </a:pPr>
            <a:r>
              <a:rPr lang="en-US" altLang="zh-CN" sz="3200" dirty="0">
                <a:solidFill>
                  <a:srgbClr val="C00000"/>
                </a:solidFill>
                <a:latin typeface="Arial" panose="020B0604020202020204" pitchFamily="34" charset="0"/>
              </a:rPr>
              <a:t>         SY( Sno,Ssex,Sdept)</a:t>
            </a:r>
            <a:endParaRPr lang="en-US" altLang="zh-CN" sz="3200" dirty="0">
              <a:solidFill>
                <a:srgbClr val="C00000"/>
              </a:solidFill>
              <a:latin typeface="Arial" panose="020B0604020202020204" pitchFamily="34" charset="0"/>
            </a:endParaRPr>
          </a:p>
          <a:p>
            <a:pPr marL="365125" indent="-365125">
              <a:spcBef>
                <a:spcPts val="1800"/>
              </a:spcBef>
              <a:buNone/>
            </a:pPr>
            <a:r>
              <a:rPr lang="en-US" altLang="zh-CN" sz="2800" dirty="0">
                <a:solidFill>
                  <a:srgbClr val="0000CC"/>
                </a:solidFill>
                <a:latin typeface="Arial" panose="020B0604020202020204" pitchFamily="34" charset="0"/>
              </a:rPr>
              <a:t>CREATE VIEW </a:t>
            </a:r>
            <a:r>
              <a:rPr lang="en-US" altLang="zh-CN" sz="2800" dirty="0">
                <a:solidFill>
                  <a:srgbClr val="FF3300"/>
                </a:solidFill>
                <a:latin typeface="Arial" panose="020B0604020202020204" pitchFamily="34" charset="0"/>
              </a:rPr>
              <a:t>V_S</a:t>
            </a:r>
            <a:r>
              <a:rPr lang="en-US" altLang="zh-CN" sz="2800" dirty="0">
                <a:solidFill>
                  <a:srgbClr val="0000CC"/>
                </a:solidFill>
                <a:latin typeface="Arial" panose="020B0604020202020204" pitchFamily="34" charset="0"/>
              </a:rPr>
              <a:t>(Sno,Sname,Sage, Ssex, Sdept)</a:t>
            </a:r>
            <a:endParaRPr lang="en-US" altLang="zh-CN" sz="2800" dirty="0">
              <a:solidFill>
                <a:srgbClr val="0000CC"/>
              </a:solidFill>
              <a:latin typeface="Arial" panose="020B0604020202020204" pitchFamily="34" charset="0"/>
            </a:endParaRPr>
          </a:p>
          <a:p>
            <a:pPr marL="365125" indent="-365125">
              <a:buNone/>
            </a:pPr>
            <a:r>
              <a:rPr lang="en-US" altLang="zh-CN" sz="2800" dirty="0">
                <a:solidFill>
                  <a:srgbClr val="0000CC"/>
                </a:solidFill>
                <a:latin typeface="Arial" panose="020B0604020202020204" pitchFamily="34" charset="0"/>
              </a:rPr>
              <a:t>     </a:t>
            </a:r>
            <a:r>
              <a:rPr lang="en-US" altLang="zh-CN" sz="2800" dirty="0">
                <a:solidFill>
                  <a:srgbClr val="FF3300"/>
                </a:solidFill>
                <a:latin typeface="Arial" panose="020B0604020202020204" pitchFamily="34" charset="0"/>
              </a:rPr>
              <a:t>AS</a:t>
            </a: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365125" indent="-365125">
              <a:buNone/>
            </a:pPr>
            <a:r>
              <a:rPr lang="en-US" altLang="zh-CN" sz="2800" dirty="0">
                <a:solidFill>
                  <a:srgbClr val="0000CC"/>
                </a:solidFill>
                <a:latin typeface="Arial" panose="020B0604020202020204" pitchFamily="34" charset="0"/>
              </a:rPr>
              <a:t>    SELECT  SX.Sno, Sname, Sage, Ssex, Sdept</a:t>
            </a:r>
            <a:endParaRPr lang="en-US" altLang="zh-CN" sz="2800" dirty="0">
              <a:solidFill>
                <a:srgbClr val="0000CC"/>
              </a:solidFill>
              <a:latin typeface="Arial" panose="020B0604020202020204" pitchFamily="34" charset="0"/>
            </a:endParaRPr>
          </a:p>
          <a:p>
            <a:pPr marL="365125" indent="-365125">
              <a:buNone/>
            </a:pPr>
            <a:r>
              <a:rPr lang="en-US" altLang="zh-CN" sz="2800" dirty="0">
                <a:solidFill>
                  <a:srgbClr val="0000CC"/>
                </a:solidFill>
                <a:latin typeface="Arial" panose="020B0604020202020204" pitchFamily="34" charset="0"/>
              </a:rPr>
              <a:t>    FROM     SX,SY</a:t>
            </a:r>
            <a:endParaRPr lang="en-US" altLang="zh-CN" sz="2800" dirty="0">
              <a:solidFill>
                <a:srgbClr val="0000CC"/>
              </a:solidFill>
              <a:latin typeface="Arial" panose="020B0604020202020204" pitchFamily="34" charset="0"/>
            </a:endParaRPr>
          </a:p>
          <a:p>
            <a:pPr marL="365125" indent="-365125">
              <a:buNone/>
            </a:pPr>
            <a:r>
              <a:rPr lang="en-US" altLang="zh-CN" sz="2800" dirty="0">
                <a:solidFill>
                  <a:srgbClr val="0000CC"/>
                </a:solidFill>
                <a:latin typeface="Arial" panose="020B0604020202020204" pitchFamily="34" charset="0"/>
              </a:rPr>
              <a:t>    WHERE  SX.Sno= SY.Sno;</a:t>
            </a:r>
            <a:endParaRPr lang="en-US" altLang="zh-CN" sz="2800" dirty="0">
              <a:solidFill>
                <a:srgbClr val="0000CC"/>
              </a:solidFill>
              <a:latin typeface="Arial" panose="020B0604020202020204" pitchFamily="34" charset="0"/>
            </a:endParaRPr>
          </a:p>
          <a:p>
            <a:pPr marL="365125" indent="-365125">
              <a:lnSpc>
                <a:spcPct val="95000"/>
              </a:lnSpc>
              <a:spcBef>
                <a:spcPts val="1800"/>
              </a:spcBef>
            </a:pPr>
            <a:r>
              <a:rPr lang="zh-CN" altLang="en-US" sz="3200" dirty="0"/>
              <a:t>虽然逻辑结构改变，但通过建立视图</a:t>
            </a:r>
            <a:r>
              <a:rPr lang="en-US" altLang="zh-CN" sz="3200" dirty="0"/>
              <a:t>V_S</a:t>
            </a:r>
            <a:r>
              <a:rPr lang="zh-CN" altLang="en-US" sz="3200" dirty="0"/>
              <a:t>，使用户的应用程序保持不变，应用程序通过视图仍然能查找数据。</a:t>
            </a:r>
            <a:endParaRPr lang="zh-CN" altLang="en-US" sz="2000" dirty="0">
              <a:solidFill>
                <a:srgbClr val="0000CC"/>
              </a:solidFill>
              <a:latin typeface="Arial" panose="020B0604020202020204" pitchFamily="34" charset="0"/>
            </a:endParaRPr>
          </a:p>
        </p:txBody>
      </p:sp>
      <p:sp>
        <p:nvSpPr>
          <p:cNvPr id="84480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5</a:t>
            </a:r>
            <a:r>
              <a:rPr lang="en-US" altLang="zh-CN" noProof="0" smtClean="0">
                <a:ln>
                  <a:noFill/>
                </a:ln>
                <a:uLnTx/>
                <a:uFillTx/>
                <a:sym typeface="+mn-ea"/>
              </a:rPr>
              <a:t>)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视图的作用</a:t>
            </a: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_</a:t>
            </a:r>
            <a:r>
              <a:rPr kumimoji="1" lang="zh-CN" altLang="en-US" sz="3600" b="1" i="0" u="none" strike="noStrike" kern="0" cap="none" spc="0" normalizeH="0" baseline="0" noProof="0" smtClean="0">
                <a:ln>
                  <a:noFill/>
                </a:ln>
                <a:solidFill>
                  <a:schemeClr val="bg2"/>
                </a:solidFill>
                <a:effectLst>
                  <a:outerShdw blurRad="38100" dist="38100" dir="2700000" algn="tl">
                    <a:srgbClr val="C0C0C0"/>
                  </a:outerShdw>
                </a:effectLst>
                <a:uLnTx/>
                <a:uFillTx/>
                <a:latin typeface="+mj-lt"/>
                <a:ea typeface="+mj-ea"/>
                <a:cs typeface="+mj-cs"/>
              </a:rPr>
              <a:t>举例</a:t>
            </a:r>
            <a:endParaRPr kumimoji="1" lang="zh-CN" altLang="en-US" sz="3600" b="1" i="0" u="none" strike="noStrike" kern="0" cap="none" spc="0" normalizeH="0" baseline="0" noProof="0" smtClean="0">
              <a:ln>
                <a:noFill/>
              </a:ln>
              <a:solidFill>
                <a:schemeClr val="bg2"/>
              </a:solidFill>
              <a:effectLst>
                <a:outerShdw blurRad="38100" dist="38100" dir="2700000" algn="tl">
                  <a:srgbClr val="C0C0C0"/>
                </a:outerShdw>
              </a:effectLst>
              <a:uLnTx/>
              <a:uFillTx/>
              <a:latin typeface="+mj-lt"/>
              <a:ea typeface="+mj-ea"/>
              <a:cs typeface="+mj-cs"/>
            </a:endParaRPr>
          </a:p>
        </p:txBody>
      </p:sp>
      <p:sp>
        <p:nvSpPr>
          <p:cNvPr id="844804" name="Rectangle 4"/>
          <p:cNvSpPr/>
          <p:nvPr/>
        </p:nvSpPr>
        <p:spPr>
          <a:xfrm>
            <a:off x="179388" y="2492375"/>
            <a:ext cx="8713787" cy="2305050"/>
          </a:xfrm>
          <a:prstGeom prst="rect">
            <a:avLst/>
          </a:prstGeom>
          <a:noFill/>
          <a:ln w="28575" cap="flat" cmpd="sng">
            <a:solidFill>
              <a:srgbClr val="FF3300"/>
            </a:solidFill>
            <a:prstDash val="solid"/>
            <a:miter/>
            <a:headEnd type="none" w="med" len="med"/>
            <a:tailEnd type="none" w="med" len="med"/>
          </a:ln>
        </p:spPr>
        <p:txBody>
          <a:bodyPr wrap="none" lIns="0" tIns="0" rIns="0" bIns="0" anchor="ctr" anchorCtr="0"/>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algn="ctr" eaLnBrk="1" hangingPunct="1">
              <a:buClrTx/>
              <a:buSzTx/>
              <a:buFontTx/>
              <a:buNone/>
            </a:pPr>
            <a:endParaRPr lang="zh-CN" altLang="zh-CN" sz="4000" dirty="0">
              <a:solidFill>
                <a:srgbClr val="0000FF"/>
              </a:solidFill>
              <a:latin typeface="Arial" panose="020B0604020202020204" pitchFamily="34" charset="0"/>
            </a:endParaRPr>
          </a:p>
        </p:txBody>
      </p:sp>
      <p:sp>
        <p:nvSpPr>
          <p:cNvPr id="844805" name="AutoShape 5">
            <a:hlinkClick r:id="rId1" action="ppaction://hlinksldjump"/>
          </p:cNvPr>
          <p:cNvSpPr>
            <a:spLocks noChangeArrowheads="1"/>
          </p:cNvSpPr>
          <p:nvPr/>
        </p:nvSpPr>
        <p:spPr bwMode="auto">
          <a:xfrm>
            <a:off x="8286750"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000" b="1" i="0" u="none" strike="noStrike" kern="1200" cap="none" spc="0" normalizeH="0" baseline="0" noProof="0">
              <a:ln>
                <a:noFill/>
              </a:ln>
              <a:solidFill>
                <a:srgbClr val="0000FF"/>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4802">
                                            <p:txEl>
                                              <p:charRg st="93" end="138"/>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4802">
                                            <p:txEl>
                                              <p:charRg st="138" end="14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44802">
                                            <p:txEl>
                                              <p:charRg st="147" end="19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44802">
                                            <p:txEl>
                                              <p:charRg st="192" end="21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44802">
                                            <p:txEl>
                                              <p:charRg st="211" end="238"/>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84480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844802">
                                            <p:txEl>
                                              <p:charRg st="238" end="28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4802" grpId="0" build="p"/>
      <p:bldP spid="84480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4258" name="Rectangle 2"/>
          <p:cNvSpPr>
            <a:spLocks noGrp="1" noChangeArrowheads="1"/>
          </p:cNvSpPr>
          <p:nvPr>
            <p:ph type="title"/>
          </p:nvPr>
        </p:nvSpPr>
        <p:spPr>
          <a:xfrm>
            <a:off x="179388" y="115888"/>
            <a:ext cx="8659813" cy="503238"/>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视图</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练习</a:t>
            </a:r>
            <a:r>
              <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1</a:t>
            </a:r>
            <a:endPar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74755" name="Rectangle 3"/>
          <p:cNvSpPr>
            <a:spLocks noGrp="1"/>
          </p:cNvSpPr>
          <p:nvPr>
            <p:ph type="body" sz="half" idx="1"/>
          </p:nvPr>
        </p:nvSpPr>
        <p:spPr>
          <a:xfrm>
            <a:off x="152400" y="765175"/>
            <a:ext cx="8740775" cy="3743325"/>
          </a:xfrm>
        </p:spPr>
        <p:txBody>
          <a:bodyPr vert="horz" wrap="square" lIns="91440" tIns="45720" rIns="91440" bIns="45720" anchor="t" anchorCtr="0"/>
          <a:p>
            <a:pPr marL="0" indent="0">
              <a:lnSpc>
                <a:spcPct val="90000"/>
              </a:lnSpc>
              <a:buClr>
                <a:srgbClr val="FF0000"/>
              </a:buClr>
              <a:buSzPct val="120000"/>
              <a:buFont typeface="Wingdings" panose="05000000000000000000" pitchFamily="2" charset="2"/>
              <a:buNone/>
            </a:pPr>
            <a:r>
              <a:rPr lang="en-US" altLang="zh-CN" dirty="0">
                <a:latin typeface="Arial" panose="020B0604020202020204" pitchFamily="34" charset="0"/>
              </a:rPr>
              <a:t>   </a:t>
            </a:r>
            <a:r>
              <a:rPr lang="zh-CN" altLang="en-US" sz="3200" dirty="0">
                <a:latin typeface="Arial" panose="020B0604020202020204" pitchFamily="34" charset="0"/>
              </a:rPr>
              <a:t>已知关系</a:t>
            </a:r>
            <a:r>
              <a:rPr lang="en-US" altLang="zh-CN" sz="3200" dirty="0">
                <a:latin typeface="Arial" panose="020B0604020202020204" pitchFamily="34" charset="0"/>
              </a:rPr>
              <a:t>R</a:t>
            </a:r>
            <a:r>
              <a:rPr lang="zh-CN" altLang="en-US" sz="3200" dirty="0">
                <a:latin typeface="Arial" panose="020B0604020202020204" pitchFamily="34" charset="0"/>
              </a:rPr>
              <a:t>和</a:t>
            </a:r>
            <a:r>
              <a:rPr lang="en-US" altLang="zh-CN" sz="3200" dirty="0">
                <a:latin typeface="Arial" panose="020B0604020202020204" pitchFamily="34" charset="0"/>
              </a:rPr>
              <a:t>S</a:t>
            </a:r>
            <a:r>
              <a:rPr lang="zh-CN" altLang="en-US" sz="3200" dirty="0">
                <a:latin typeface="Arial" panose="020B0604020202020204" pitchFamily="34" charset="0"/>
              </a:rPr>
              <a:t>如图所示，执行如下</a:t>
            </a:r>
            <a:r>
              <a:rPr lang="en-US" altLang="zh-CN" sz="3200" dirty="0">
                <a:latin typeface="Arial" panose="020B0604020202020204" pitchFamily="34" charset="0"/>
              </a:rPr>
              <a:t>SQL</a:t>
            </a:r>
            <a:r>
              <a:rPr lang="zh-CN" altLang="en-US" sz="3200" dirty="0">
                <a:latin typeface="Arial" panose="020B0604020202020204" pitchFamily="34" charset="0"/>
              </a:rPr>
              <a:t>语句</a:t>
            </a:r>
            <a:endParaRPr lang="zh-CN" altLang="en-US" sz="3200" dirty="0">
              <a:latin typeface="Arial" panose="020B0604020202020204" pitchFamily="34" charset="0"/>
            </a:endParaRPr>
          </a:p>
          <a:p>
            <a:pPr marL="0" indent="0">
              <a:lnSpc>
                <a:spcPct val="90000"/>
              </a:lnSpc>
              <a:buClr>
                <a:srgbClr val="FF0000"/>
              </a:buClr>
              <a:buSzPct val="120000"/>
              <a:buFont typeface="Wingdings" panose="05000000000000000000" pitchFamily="2" charset="2"/>
              <a:buNone/>
            </a:pPr>
            <a:endParaRPr lang="zh-CN" altLang="en-US" sz="3200" dirty="0">
              <a:latin typeface="Arial" panose="020B0604020202020204" pitchFamily="34" charset="0"/>
            </a:endParaRPr>
          </a:p>
          <a:p>
            <a:pPr marL="0" indent="0">
              <a:lnSpc>
                <a:spcPct val="90000"/>
              </a:lnSpc>
              <a:buClr>
                <a:srgbClr val="FF0000"/>
              </a:buClr>
              <a:buSzPct val="120000"/>
              <a:buFont typeface="Wingdings" panose="05000000000000000000" pitchFamily="2" charset="2"/>
              <a:buNone/>
            </a:pPr>
            <a:endParaRPr lang="zh-CN" altLang="en-US" sz="3200" dirty="0">
              <a:latin typeface="Arial" panose="020B0604020202020204" pitchFamily="34" charset="0"/>
            </a:endParaRPr>
          </a:p>
          <a:p>
            <a:pPr marL="0" indent="0">
              <a:lnSpc>
                <a:spcPct val="90000"/>
              </a:lnSpc>
              <a:buClr>
                <a:srgbClr val="FF0000"/>
              </a:buClr>
              <a:buSzPct val="120000"/>
              <a:buFont typeface="Wingdings" panose="05000000000000000000" pitchFamily="2" charset="2"/>
              <a:buNone/>
            </a:pPr>
            <a:endParaRPr lang="zh-CN" altLang="en-US" sz="3200" dirty="0">
              <a:latin typeface="Arial" panose="020B0604020202020204" pitchFamily="34" charset="0"/>
            </a:endParaRPr>
          </a:p>
          <a:p>
            <a:pPr marL="0" indent="0">
              <a:lnSpc>
                <a:spcPct val="90000"/>
              </a:lnSpc>
              <a:buClr>
                <a:srgbClr val="FF0000"/>
              </a:buClr>
              <a:buSzPct val="120000"/>
              <a:buFont typeface="Wingdings" panose="05000000000000000000" pitchFamily="2" charset="2"/>
              <a:buNone/>
            </a:pPr>
            <a:endParaRPr lang="zh-CN" altLang="en-US" sz="3200" dirty="0">
              <a:latin typeface="Arial" panose="020B0604020202020204" pitchFamily="34" charset="0"/>
            </a:endParaRPr>
          </a:p>
          <a:p>
            <a:pPr marL="0" indent="0">
              <a:lnSpc>
                <a:spcPct val="90000"/>
              </a:lnSpc>
              <a:spcBef>
                <a:spcPct val="10000"/>
              </a:spcBef>
              <a:buClr>
                <a:srgbClr val="FF0000"/>
              </a:buClr>
              <a:buSzPct val="120000"/>
              <a:buFont typeface="Wingdings" panose="05000000000000000000" pitchFamily="2" charset="2"/>
              <a:buNone/>
            </a:pPr>
            <a:r>
              <a:rPr lang="zh-CN" altLang="en-US" sz="3200" dirty="0">
                <a:latin typeface="Arial" panose="020B0604020202020204" pitchFamily="34" charset="0"/>
              </a:rPr>
              <a:t>试给出：</a:t>
            </a:r>
            <a:endParaRPr lang="zh-CN" altLang="en-US" sz="3200" dirty="0">
              <a:latin typeface="Arial" panose="020B0604020202020204" pitchFamily="34" charset="0"/>
            </a:endParaRPr>
          </a:p>
          <a:p>
            <a:pPr marL="0" indent="0">
              <a:lnSpc>
                <a:spcPct val="90000"/>
              </a:lnSpc>
              <a:buClr>
                <a:srgbClr val="FF0000"/>
              </a:buClr>
              <a:buSzPct val="120000"/>
              <a:buFont typeface="Wingdings" panose="05000000000000000000" pitchFamily="2" charset="2"/>
              <a:buNone/>
            </a:pPr>
            <a:r>
              <a:rPr lang="en-US" altLang="zh-CN" sz="3200" dirty="0">
                <a:latin typeface="Arial" panose="020B0604020202020204" pitchFamily="34" charset="0"/>
              </a:rPr>
              <a:t>(1) </a:t>
            </a:r>
            <a:r>
              <a:rPr lang="zh-CN" altLang="en-US" sz="3200" dirty="0">
                <a:latin typeface="Arial" panose="020B0604020202020204" pitchFamily="34" charset="0"/>
              </a:rPr>
              <a:t>视图</a:t>
            </a:r>
            <a:r>
              <a:rPr lang="en-US" altLang="zh-CN" sz="3200" dirty="0">
                <a:latin typeface="Arial" panose="020B0604020202020204" pitchFamily="34" charset="0"/>
              </a:rPr>
              <a:t>H</a:t>
            </a:r>
            <a:r>
              <a:rPr lang="zh-CN" altLang="en-US" sz="3200" dirty="0">
                <a:latin typeface="Arial" panose="020B0604020202020204" pitchFamily="34" charset="0"/>
              </a:rPr>
              <a:t>；</a:t>
            </a:r>
            <a:endParaRPr lang="zh-CN" altLang="en-US" sz="3200" dirty="0">
              <a:latin typeface="Arial" panose="020B0604020202020204" pitchFamily="34" charset="0"/>
            </a:endParaRPr>
          </a:p>
          <a:p>
            <a:pPr marL="0" indent="0">
              <a:lnSpc>
                <a:spcPct val="90000"/>
              </a:lnSpc>
              <a:buClr>
                <a:srgbClr val="FF0000"/>
              </a:buClr>
              <a:buSzPct val="120000"/>
              <a:buFont typeface="Wingdings" panose="05000000000000000000" pitchFamily="2" charset="2"/>
              <a:buNone/>
            </a:pPr>
            <a:r>
              <a:rPr lang="en-US" altLang="zh-CN" sz="3200" dirty="0">
                <a:latin typeface="Arial" panose="020B0604020202020204" pitchFamily="34" charset="0"/>
              </a:rPr>
              <a:t>(2) </a:t>
            </a:r>
            <a:r>
              <a:rPr lang="zh-CN" altLang="en-US" sz="3200" dirty="0">
                <a:latin typeface="Arial" panose="020B0604020202020204" pitchFamily="34" charset="0"/>
              </a:rPr>
              <a:t>对视图</a:t>
            </a:r>
            <a:r>
              <a:rPr lang="en-US" altLang="zh-CN" sz="3200" dirty="0">
                <a:latin typeface="Arial" panose="020B0604020202020204" pitchFamily="34" charset="0"/>
              </a:rPr>
              <a:t>H</a:t>
            </a:r>
            <a:r>
              <a:rPr lang="zh-CN" altLang="en-US" sz="3200" dirty="0">
                <a:latin typeface="Arial" panose="020B0604020202020204" pitchFamily="34" charset="0"/>
              </a:rPr>
              <a:t>的查询结果。</a:t>
            </a:r>
            <a:endParaRPr lang="zh-CN" altLang="en-US" sz="3200" dirty="0">
              <a:latin typeface="Arial" panose="020B0604020202020204" pitchFamily="34" charset="0"/>
            </a:endParaRPr>
          </a:p>
        </p:txBody>
      </p:sp>
      <p:graphicFrame>
        <p:nvGraphicFramePr>
          <p:cNvPr id="864260" name="Group 4"/>
          <p:cNvGraphicFramePr>
            <a:graphicFrameLocks noGrp="1"/>
          </p:cNvGraphicFramePr>
          <p:nvPr>
            <p:ph sz="half" idx="1"/>
          </p:nvPr>
        </p:nvGraphicFramePr>
        <p:xfrm>
          <a:off x="1365250" y="4672013"/>
          <a:ext cx="2846388" cy="2073276"/>
        </p:xfrm>
        <a:graphic>
          <a:graphicData uri="http://schemas.openxmlformats.org/drawingml/2006/table">
            <a:tbl>
              <a:tblPr/>
              <a:tblGrid>
                <a:gridCol w="949325"/>
                <a:gridCol w="947738"/>
                <a:gridCol w="949325"/>
              </a:tblGrid>
              <a:tr h="518319">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1" lang="en-US" altLang="zh-CN" sz="28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1" lang="en-US" altLang="zh-CN" sz="28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1" lang="en-US" altLang="zh-CN" sz="28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18319">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18319">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18319">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74778" name="Text Box 26"/>
          <p:cNvSpPr txBox="1"/>
          <p:nvPr/>
        </p:nvSpPr>
        <p:spPr>
          <a:xfrm>
            <a:off x="854075" y="4718050"/>
            <a:ext cx="477838" cy="579438"/>
          </a:xfrm>
          <a:prstGeom prst="rect">
            <a:avLst/>
          </a:prstGeom>
          <a:noFill/>
          <a:ln w="9525">
            <a:noFill/>
          </a:ln>
        </p:spPr>
        <p:txBody>
          <a:bodyPr wrap="none">
            <a:spAutoFit/>
          </a:bodyPr>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buClrTx/>
              <a:buSzTx/>
              <a:buFontTx/>
              <a:buNone/>
            </a:pPr>
            <a:r>
              <a:rPr lang="en-US" altLang="zh-CN" sz="3200" dirty="0">
                <a:solidFill>
                  <a:srgbClr val="FF3300"/>
                </a:solidFill>
                <a:latin typeface="Arial" panose="020B0604020202020204" pitchFamily="34" charset="0"/>
              </a:rPr>
              <a:t>R</a:t>
            </a:r>
            <a:endParaRPr lang="en-US" altLang="zh-CN" sz="3200" dirty="0">
              <a:solidFill>
                <a:srgbClr val="FF3300"/>
              </a:solidFill>
              <a:latin typeface="Arial" panose="020B0604020202020204" pitchFamily="34" charset="0"/>
            </a:endParaRPr>
          </a:p>
        </p:txBody>
      </p:sp>
      <p:graphicFrame>
        <p:nvGraphicFramePr>
          <p:cNvPr id="864283" name="Group 27"/>
          <p:cNvGraphicFramePr>
            <a:graphicFrameLocks noGrp="1"/>
          </p:cNvGraphicFramePr>
          <p:nvPr/>
        </p:nvGraphicFramePr>
        <p:xfrm>
          <a:off x="5181600" y="4672013"/>
          <a:ext cx="2846388" cy="2073276"/>
        </p:xfrm>
        <a:graphic>
          <a:graphicData uri="http://schemas.openxmlformats.org/drawingml/2006/table">
            <a:tbl>
              <a:tblPr/>
              <a:tblGrid>
                <a:gridCol w="949325"/>
                <a:gridCol w="947738"/>
                <a:gridCol w="949325"/>
              </a:tblGrid>
              <a:tr h="518319">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1" lang="en-US" altLang="zh-CN" sz="28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D</a:t>
                      </a:r>
                      <a:endParaRPr kumimoji="1" lang="en-US" altLang="zh-CN" sz="28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1" lang="en-US" altLang="zh-CN" sz="28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18319">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e1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18319">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e2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18319">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e2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34" marB="4573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74801" name="Text Box 49"/>
          <p:cNvSpPr txBox="1"/>
          <p:nvPr/>
        </p:nvSpPr>
        <p:spPr>
          <a:xfrm>
            <a:off x="4716463" y="4721225"/>
            <a:ext cx="455612" cy="579438"/>
          </a:xfrm>
          <a:prstGeom prst="rect">
            <a:avLst/>
          </a:prstGeom>
          <a:noFill/>
          <a:ln w="9525">
            <a:noFill/>
          </a:ln>
        </p:spPr>
        <p:txBody>
          <a:bodyPr wrap="none">
            <a:spAutoFit/>
          </a:bodyPr>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buClrTx/>
              <a:buSzTx/>
              <a:buFontTx/>
              <a:buNone/>
            </a:pPr>
            <a:r>
              <a:rPr lang="en-US" altLang="zh-CN" sz="3200" dirty="0">
                <a:solidFill>
                  <a:srgbClr val="FF3300"/>
                </a:solidFill>
                <a:latin typeface="Arial" panose="020B0604020202020204" pitchFamily="34" charset="0"/>
              </a:rPr>
              <a:t>S</a:t>
            </a:r>
            <a:endParaRPr lang="en-US" altLang="zh-CN" sz="3200" dirty="0">
              <a:solidFill>
                <a:srgbClr val="FF3300"/>
              </a:solidFill>
              <a:latin typeface="Arial" panose="020B0604020202020204" pitchFamily="34" charset="0"/>
            </a:endParaRPr>
          </a:p>
        </p:txBody>
      </p:sp>
      <p:sp>
        <p:nvSpPr>
          <p:cNvPr id="74802" name="Rectangle 50"/>
          <p:cNvSpPr/>
          <p:nvPr/>
        </p:nvSpPr>
        <p:spPr>
          <a:xfrm>
            <a:off x="250825" y="1296988"/>
            <a:ext cx="6392863" cy="1782762"/>
          </a:xfrm>
          <a:prstGeom prst="rect">
            <a:avLst/>
          </a:prstGeom>
          <a:solidFill>
            <a:srgbClr val="CCFFCC"/>
          </a:solidFill>
          <a:ln w="28575" cap="flat" cmpd="sng">
            <a:solidFill>
              <a:srgbClr val="0000CC"/>
            </a:solidFill>
            <a:prstDash val="solid"/>
            <a:miter/>
            <a:headEnd type="none" w="med" len="med"/>
            <a:tailEnd type="none" w="med" len="med"/>
          </a:ln>
        </p:spPr>
        <p:txBody>
          <a:bodyPr lIns="72000" tIns="72000" rIns="36000" bIns="36000">
            <a:spAutoFit/>
          </a:bodyPr>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lnSpc>
                <a:spcPct val="85000"/>
              </a:lnSpc>
              <a:buClrTx/>
              <a:buSzTx/>
              <a:buFontTx/>
              <a:buNone/>
            </a:pPr>
            <a:r>
              <a:rPr lang="en-US" altLang="zh-CN" sz="3200" dirty="0">
                <a:latin typeface="Arial" panose="020B0604020202020204" pitchFamily="34" charset="0"/>
              </a:rPr>
              <a:t>CREATE  VIEW  H( A,B,C,D,E )</a:t>
            </a:r>
            <a:endParaRPr lang="en-US" altLang="zh-CN" sz="3200" dirty="0">
              <a:latin typeface="Arial" panose="020B0604020202020204" pitchFamily="34" charset="0"/>
            </a:endParaRPr>
          </a:p>
          <a:p>
            <a:pPr marL="0" lvl="0" indent="0" eaLnBrk="1" hangingPunct="1">
              <a:lnSpc>
                <a:spcPct val="85000"/>
              </a:lnSpc>
              <a:buClrTx/>
              <a:buSzTx/>
              <a:buFontTx/>
              <a:buNone/>
            </a:pPr>
            <a:r>
              <a:rPr lang="en-US" altLang="zh-CN" sz="3200" dirty="0">
                <a:latin typeface="Arial" panose="020B0604020202020204" pitchFamily="34" charset="0"/>
              </a:rPr>
              <a:t>    AS   SELECT  A, B, R.C, D, E</a:t>
            </a:r>
            <a:endParaRPr lang="en-US" altLang="zh-CN" sz="3200" dirty="0">
              <a:latin typeface="Arial" panose="020B0604020202020204" pitchFamily="34" charset="0"/>
            </a:endParaRPr>
          </a:p>
          <a:p>
            <a:pPr marL="0" lvl="0" indent="0" eaLnBrk="1" hangingPunct="1">
              <a:lnSpc>
                <a:spcPct val="85000"/>
              </a:lnSpc>
              <a:buClrTx/>
              <a:buSzTx/>
              <a:buFontTx/>
              <a:buNone/>
            </a:pPr>
            <a:r>
              <a:rPr lang="en-US" altLang="zh-CN" sz="3200" dirty="0">
                <a:latin typeface="Arial" panose="020B0604020202020204" pitchFamily="34" charset="0"/>
              </a:rPr>
              <a:t>            FROM  R, S  </a:t>
            </a:r>
            <a:endParaRPr lang="en-US" altLang="zh-CN" sz="3200" dirty="0">
              <a:latin typeface="Arial" panose="020B0604020202020204" pitchFamily="34" charset="0"/>
            </a:endParaRPr>
          </a:p>
          <a:p>
            <a:pPr marL="0" lvl="0" indent="0" eaLnBrk="1" hangingPunct="1">
              <a:lnSpc>
                <a:spcPct val="85000"/>
              </a:lnSpc>
              <a:buClrTx/>
              <a:buSzTx/>
              <a:buFontTx/>
              <a:buNone/>
            </a:pPr>
            <a:r>
              <a:rPr lang="en-US" altLang="zh-CN" sz="3200" dirty="0">
                <a:latin typeface="Arial" panose="020B0604020202020204" pitchFamily="34" charset="0"/>
              </a:rPr>
              <a:t>            WHERE  R.C=S.C ;</a:t>
            </a:r>
            <a:endParaRPr lang="en-US" altLang="zh-CN" sz="3200" dirty="0">
              <a:latin typeface="Arial" panose="020B0604020202020204" pitchFamily="34" charset="0"/>
            </a:endParaRPr>
          </a:p>
        </p:txBody>
      </p:sp>
      <p:sp>
        <p:nvSpPr>
          <p:cNvPr id="74803" name="Rectangle 51"/>
          <p:cNvSpPr/>
          <p:nvPr/>
        </p:nvSpPr>
        <p:spPr>
          <a:xfrm>
            <a:off x="5508625" y="3082925"/>
            <a:ext cx="3382963" cy="1473200"/>
          </a:xfrm>
          <a:prstGeom prst="rect">
            <a:avLst/>
          </a:prstGeom>
          <a:solidFill>
            <a:srgbClr val="FFFF99"/>
          </a:solidFill>
          <a:ln w="28575" cap="flat" cmpd="sng">
            <a:solidFill>
              <a:srgbClr val="0000CC"/>
            </a:solidFill>
            <a:prstDash val="solid"/>
            <a:miter/>
            <a:headEnd type="none" w="med" len="med"/>
            <a:tailEnd type="none" w="med" len="med"/>
          </a:ln>
        </p:spPr>
        <p:txBody>
          <a:bodyPr lIns="72000" tIns="144000" rIns="0" bIns="72000">
            <a:spAutoFit/>
          </a:bodyPr>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lnSpc>
                <a:spcPct val="85000"/>
              </a:lnSpc>
              <a:buClrTx/>
              <a:buSzTx/>
              <a:buFontTx/>
              <a:buNone/>
            </a:pPr>
            <a:r>
              <a:rPr lang="en-US" altLang="zh-CN" sz="3200" dirty="0">
                <a:latin typeface="Arial" panose="020B0604020202020204" pitchFamily="34" charset="0"/>
              </a:rPr>
              <a:t>SELECT   B,D,E</a:t>
            </a:r>
            <a:endParaRPr lang="en-US" altLang="zh-CN" sz="3200" dirty="0">
              <a:latin typeface="Arial" panose="020B0604020202020204" pitchFamily="34" charset="0"/>
            </a:endParaRPr>
          </a:p>
          <a:p>
            <a:pPr marL="0" lvl="0" indent="0" eaLnBrk="1" hangingPunct="1">
              <a:lnSpc>
                <a:spcPct val="85000"/>
              </a:lnSpc>
              <a:buClrTx/>
              <a:buSzTx/>
              <a:buFontTx/>
              <a:buNone/>
            </a:pPr>
            <a:r>
              <a:rPr lang="en-US" altLang="zh-CN" sz="3200" dirty="0">
                <a:latin typeface="Arial" panose="020B0604020202020204" pitchFamily="34" charset="0"/>
              </a:rPr>
              <a:t>FROM   H  </a:t>
            </a:r>
            <a:endParaRPr lang="en-US" altLang="zh-CN" sz="3200" dirty="0">
              <a:latin typeface="Arial" panose="020B0604020202020204" pitchFamily="34" charset="0"/>
            </a:endParaRPr>
          </a:p>
          <a:p>
            <a:pPr marL="0" lvl="0" indent="0" eaLnBrk="1" hangingPunct="1">
              <a:lnSpc>
                <a:spcPct val="85000"/>
              </a:lnSpc>
              <a:buClrTx/>
              <a:buSzTx/>
              <a:buFontTx/>
              <a:buNone/>
            </a:pPr>
            <a:r>
              <a:rPr lang="en-US" altLang="zh-CN" sz="3200" dirty="0">
                <a:latin typeface="Arial" panose="020B0604020202020204" pitchFamily="34" charset="0"/>
              </a:rPr>
              <a:t>WHERE  C=‘C2’ ;</a:t>
            </a:r>
            <a:endParaRPr lang="en-US" altLang="zh-CN" sz="3200" dirty="0">
              <a:latin typeface="Arial" panose="020B0604020202020204" pitchFamily="34" charset="0"/>
            </a:endParaRPr>
          </a:p>
        </p:txBody>
      </p:sp>
    </p:spTree>
  </p:cSld>
  <p:clrMapOvr>
    <a:masterClrMapping/>
  </p:clrMapOvr>
  <p:transition>
    <p:random/>
    <p:sndAc>
      <p:stSnd>
        <p:snd r:embed="rId1" name="CAMERA.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6306" name="Rectangle 2"/>
          <p:cNvSpPr>
            <a:spLocks noGrp="1" noChangeArrowheads="1"/>
          </p:cNvSpPr>
          <p:nvPr>
            <p:ph type="title"/>
          </p:nvPr>
        </p:nvSpPr>
        <p:spPr>
          <a:xfrm>
            <a:off x="179388" y="115888"/>
            <a:ext cx="8659813" cy="503238"/>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视图</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练习</a:t>
            </a:r>
            <a:r>
              <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1</a:t>
            </a:r>
            <a:endPar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866307" name="Rectangle 3"/>
          <p:cNvSpPr>
            <a:spLocks noGrp="1"/>
          </p:cNvSpPr>
          <p:nvPr>
            <p:ph type="body" sz="half" idx="1"/>
          </p:nvPr>
        </p:nvSpPr>
        <p:spPr>
          <a:xfrm>
            <a:off x="152400" y="836613"/>
            <a:ext cx="4348163" cy="876300"/>
          </a:xfrm>
        </p:spPr>
        <p:txBody>
          <a:bodyPr vert="horz" wrap="square" lIns="91440" tIns="45720" rIns="91440" bIns="45720" anchor="t" anchorCtr="0"/>
          <a:p>
            <a:pPr marL="265430" indent="-265430">
              <a:buClr>
                <a:srgbClr val="FF0000"/>
              </a:buClr>
              <a:buSzPct val="80000"/>
              <a:buFont typeface="Wingdings" panose="05000000000000000000" pitchFamily="2" charset="2"/>
              <a:buNone/>
            </a:pPr>
            <a:r>
              <a:rPr lang="zh-CN" altLang="en-US" dirty="0">
                <a:latin typeface="Arial" panose="020B0604020202020204" pitchFamily="34" charset="0"/>
              </a:rPr>
              <a:t>视图</a:t>
            </a:r>
            <a:r>
              <a:rPr lang="en-US" altLang="zh-CN" dirty="0">
                <a:latin typeface="Arial" panose="020B0604020202020204" pitchFamily="34" charset="0"/>
              </a:rPr>
              <a:t>H</a:t>
            </a:r>
            <a:r>
              <a:rPr lang="zh-CN" altLang="en-US" dirty="0">
                <a:latin typeface="Arial" panose="020B0604020202020204" pitchFamily="34" charset="0"/>
              </a:rPr>
              <a:t>为：</a:t>
            </a:r>
            <a:endParaRPr lang="zh-CN" altLang="en-US" dirty="0">
              <a:latin typeface="Arial" panose="020B0604020202020204" pitchFamily="34" charset="0"/>
            </a:endParaRPr>
          </a:p>
        </p:txBody>
      </p:sp>
      <p:graphicFrame>
        <p:nvGraphicFramePr>
          <p:cNvPr id="866308" name="Group 4"/>
          <p:cNvGraphicFramePr>
            <a:graphicFrameLocks noGrp="1"/>
          </p:cNvGraphicFramePr>
          <p:nvPr>
            <p:ph sz="quarter" idx="1"/>
          </p:nvPr>
        </p:nvGraphicFramePr>
        <p:xfrm>
          <a:off x="2555875" y="1071563"/>
          <a:ext cx="5230813" cy="2316164"/>
        </p:xfrm>
        <a:graphic>
          <a:graphicData uri="http://schemas.openxmlformats.org/drawingml/2006/table">
            <a:tbl>
              <a:tblPr/>
              <a:tblGrid>
                <a:gridCol w="1046163"/>
                <a:gridCol w="1044575"/>
                <a:gridCol w="1046162"/>
                <a:gridCol w="1047750"/>
                <a:gridCol w="1046163"/>
              </a:tblGrid>
              <a:tr h="579041">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D</a:t>
                      </a:r>
                      <a:endPar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041">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a1</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d1</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e1</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79041">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e2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79041">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a3</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e2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4" marB="4571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866350" name="Rectangle 46"/>
          <p:cNvSpPr/>
          <p:nvPr/>
        </p:nvSpPr>
        <p:spPr>
          <a:xfrm>
            <a:off x="179388" y="4035425"/>
            <a:ext cx="8740775" cy="649288"/>
          </a:xfrm>
          <a:prstGeom prst="rect">
            <a:avLst/>
          </a:prstGeom>
          <a:noFill/>
          <a:ln w="9525">
            <a:noFill/>
          </a:ln>
        </p:spPr>
        <p:txBody>
          <a:bodyPr/>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265430" lvl="0" indent="-265430">
              <a:buSzPct val="80000"/>
              <a:buNone/>
            </a:pPr>
            <a:r>
              <a:rPr lang="zh-CN" altLang="en-US" dirty="0">
                <a:latin typeface="Arial" panose="020B0604020202020204" pitchFamily="34" charset="0"/>
              </a:rPr>
              <a:t>对视图</a:t>
            </a:r>
            <a:r>
              <a:rPr lang="en-US" altLang="zh-CN" dirty="0">
                <a:latin typeface="Arial" panose="020B0604020202020204" pitchFamily="34" charset="0"/>
              </a:rPr>
              <a:t>H</a:t>
            </a:r>
            <a:r>
              <a:rPr lang="zh-CN" altLang="en-US" dirty="0">
                <a:latin typeface="Arial" panose="020B0604020202020204" pitchFamily="34" charset="0"/>
              </a:rPr>
              <a:t>的查询结果为：</a:t>
            </a:r>
            <a:endParaRPr lang="zh-CN" altLang="en-US" dirty="0">
              <a:latin typeface="Arial" panose="020B0604020202020204" pitchFamily="34" charset="0"/>
            </a:endParaRPr>
          </a:p>
        </p:txBody>
      </p:sp>
      <p:graphicFrame>
        <p:nvGraphicFramePr>
          <p:cNvPr id="866351" name="Group 47"/>
          <p:cNvGraphicFramePr>
            <a:graphicFrameLocks noGrp="1"/>
          </p:cNvGraphicFramePr>
          <p:nvPr>
            <p:ph sz="quarter" idx="1"/>
          </p:nvPr>
        </p:nvGraphicFramePr>
        <p:xfrm>
          <a:off x="3635375" y="4733925"/>
          <a:ext cx="4348163" cy="1736725"/>
        </p:xfrm>
        <a:graphic>
          <a:graphicData uri="http://schemas.openxmlformats.org/drawingml/2006/table">
            <a:tbl>
              <a:tblPr/>
              <a:tblGrid>
                <a:gridCol w="1450975"/>
                <a:gridCol w="1446213"/>
                <a:gridCol w="1450975"/>
              </a:tblGrid>
              <a:tr h="578908">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D</a:t>
                      </a:r>
                      <a:endPar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E</a:t>
                      </a:r>
                      <a:endPar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8908">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e2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78908">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d2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e2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03" marB="45703"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6307">
                                            <p:txEl>
                                              <p:charRg st="0"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6630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663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663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6307" grpId="0" build="p"/>
      <p:bldP spid="86635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2274" name="Rectangle 2"/>
          <p:cNvSpPr>
            <a:spLocks noGrp="1" noChangeArrowheads="1"/>
          </p:cNvSpPr>
          <p:nvPr>
            <p:ph type="title"/>
          </p:nvPr>
        </p:nvSpPr>
        <p:spPr>
          <a:xfrm>
            <a:off x="179388" y="115888"/>
            <a:ext cx="8659813" cy="503238"/>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视图</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练习</a:t>
            </a:r>
            <a:r>
              <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2</a:t>
            </a:r>
            <a:endPar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822275" name="Rectangle 3"/>
          <p:cNvSpPr>
            <a:spLocks noGrp="1" noChangeArrowheads="1"/>
          </p:cNvSpPr>
          <p:nvPr>
            <p:ph type="body" sz="half" idx="1"/>
          </p:nvPr>
        </p:nvSpPr>
        <p:spPr>
          <a:xfrm>
            <a:off x="152400" y="836613"/>
            <a:ext cx="5788025" cy="5653088"/>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
                <a:srgbClr val="FF0000"/>
              </a:buClr>
              <a:buSzPct val="120000"/>
              <a:buFont typeface="Wingdings" panose="05000000000000000000" pitchFamily="2" charset="2"/>
              <a:buNone/>
              <a:defRPr/>
            </a:pP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已知关系</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R</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如图所示，用</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SQL</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语句完成下列操作：</a:t>
            </a:r>
            <a:endPar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533400" marR="0" lvl="0" indent="-533400" algn="l" defTabSz="914400" rtl="0" eaLnBrk="0" fontAlgn="base" latinLnBrk="0" hangingPunct="0">
              <a:lnSpc>
                <a:spcPct val="100000"/>
              </a:lnSpc>
              <a:spcBef>
                <a:spcPct val="35000"/>
              </a:spcBef>
              <a:spcAft>
                <a:spcPct val="0"/>
              </a:spcAft>
              <a:buClr>
                <a:srgbClr val="FF0000"/>
              </a:buClr>
              <a:buSzPct val="120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1.  </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按属性</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分组，求出每组中在属性</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C</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上的最大值和最小值，且将他们置于视图</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RVIEW</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中；</a:t>
            </a:r>
            <a:endPar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533400" marR="0" lvl="0" indent="-533400" algn="l" defTabSz="914400" rtl="0" eaLnBrk="0" fontAlgn="base" latinLnBrk="0" hangingPunct="0">
              <a:lnSpc>
                <a:spcPct val="100000"/>
              </a:lnSpc>
              <a:spcBef>
                <a:spcPts val="600"/>
              </a:spcBef>
              <a:spcAft>
                <a:spcPct val="0"/>
              </a:spcAft>
              <a:buClr>
                <a:srgbClr val="FF0000"/>
              </a:buClr>
              <a:buSzPct val="120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2.  </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在视图</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RVIEW</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中查询属性</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A=’98’</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的纪录。</a:t>
            </a:r>
            <a:endPar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p:txBody>
      </p:sp>
      <p:graphicFrame>
        <p:nvGraphicFramePr>
          <p:cNvPr id="822276" name="Group 4"/>
          <p:cNvGraphicFramePr>
            <a:graphicFrameLocks noGrp="1"/>
          </p:cNvGraphicFramePr>
          <p:nvPr>
            <p:ph sz="half" idx="1"/>
          </p:nvPr>
        </p:nvGraphicFramePr>
        <p:xfrm>
          <a:off x="6118225" y="1681163"/>
          <a:ext cx="2846388" cy="3579813"/>
        </p:xfrm>
        <a:graphic>
          <a:graphicData uri="http://schemas.openxmlformats.org/drawingml/2006/table">
            <a:tbl>
              <a:tblPr/>
              <a:tblGrid>
                <a:gridCol w="949325"/>
                <a:gridCol w="947738"/>
                <a:gridCol w="949325"/>
              </a:tblGrid>
              <a:tr h="596900">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A</a:t>
                      </a:r>
                      <a:endPar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B</a:t>
                      </a:r>
                      <a:endPar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C</a:t>
                      </a:r>
                      <a:endParaRPr kumimoji="1" lang="en-US" altLang="zh-CN" sz="32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96900">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97</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88</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96900">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97</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95313">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97</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69</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96900">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98</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93</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96900">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buClr>
                          <a:srgbClr val="FF0000"/>
                        </a:buClr>
                        <a:buSzPct val="65000"/>
                        <a:buFont typeface="Wingdings" panose="05000000000000000000" pitchFamily="2" charset="2"/>
                        <a:defRPr kumimoji="1"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33CC"/>
                        </a:buClr>
                        <a:buSzPct val="65000"/>
                        <a:buFont typeface="Wingdings" panose="05000000000000000000" pitchFamily="2" charset="2"/>
                        <a:defRPr kumimoji="1"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kumimoji="1"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FF3399"/>
                        </a:buClr>
                        <a:buSzPct val="65000"/>
                        <a:buFont typeface="Wingdings" panose="05000000000000000000" pitchFamily="2" charset="2"/>
                        <a:defRPr kumimoji="1"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76834" name="Text Box 34"/>
          <p:cNvSpPr txBox="1"/>
          <p:nvPr/>
        </p:nvSpPr>
        <p:spPr>
          <a:xfrm>
            <a:off x="6877050" y="981075"/>
            <a:ext cx="1431925" cy="641350"/>
          </a:xfrm>
          <a:prstGeom prst="rect">
            <a:avLst/>
          </a:prstGeom>
          <a:noFill/>
          <a:ln w="9525">
            <a:noFill/>
          </a:ln>
        </p:spPr>
        <p:txBody>
          <a:bodyPr wrap="none">
            <a:spAutoFit/>
          </a:bodyPr>
          <a:lst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33CC"/>
              </a:buClr>
              <a:buSzPct val="65000"/>
              <a:buFont typeface="Wingdings" panose="05000000000000000000" pitchFamily="2" charset="2"/>
              <a:buChar char="n"/>
              <a:defRPr kumimoji="1" sz="3200" b="1">
                <a:solidFill>
                  <a:srgbClr val="000000"/>
                </a:solidFill>
                <a:latin typeface="+mn-lt"/>
                <a:ea typeface="+mn-ea"/>
              </a:defRPr>
            </a:lvl2pPr>
            <a:lvl3pPr marL="1430655"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mn-lt"/>
                <a:ea typeface="+mn-ea"/>
              </a:defRPr>
            </a:lvl3pPr>
            <a:lvl4pPr marL="1927225"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4pPr>
            <a:lvl5pPr marL="2335530" indent="-228600" algn="l" rtl="0" eaLnBrk="0" fontAlgn="base" hangingPunct="0">
              <a:spcBef>
                <a:spcPct val="20000"/>
              </a:spcBef>
              <a:spcAft>
                <a:spcPct val="0"/>
              </a:spcAft>
              <a:buClr>
                <a:srgbClr val="FF3399"/>
              </a:buClr>
              <a:buSzPct val="65000"/>
              <a:buFont typeface="Wingdings" panose="05000000000000000000" pitchFamily="2" charset="2"/>
              <a:buChar char="n"/>
              <a:defRPr kumimoji="1" sz="2400" b="1">
                <a:solidFill>
                  <a:srgbClr val="000000"/>
                </a:solidFill>
                <a:latin typeface="+mn-lt"/>
                <a:ea typeface="+mn-ea"/>
              </a:defRPr>
            </a:lvl5pPr>
          </a:lstStyle>
          <a:p>
            <a:pPr marL="0" lvl="0" indent="0" eaLnBrk="1" hangingPunct="1">
              <a:buClrTx/>
              <a:buSzTx/>
              <a:buFontTx/>
              <a:buNone/>
            </a:pPr>
            <a:r>
              <a:rPr lang="zh-CN" altLang="en-US" dirty="0">
                <a:solidFill>
                  <a:srgbClr val="FF3300"/>
                </a:solidFill>
                <a:latin typeface="Arial" panose="020B0604020202020204" pitchFamily="34" charset="0"/>
              </a:rPr>
              <a:t>关系</a:t>
            </a:r>
            <a:r>
              <a:rPr lang="en-US" altLang="zh-CN" dirty="0">
                <a:solidFill>
                  <a:srgbClr val="FF3300"/>
                </a:solidFill>
                <a:latin typeface="Arial" panose="020B0604020202020204" pitchFamily="34" charset="0"/>
              </a:rPr>
              <a:t>R</a:t>
            </a:r>
            <a:endParaRPr lang="en-US" altLang="zh-CN" dirty="0">
              <a:solidFill>
                <a:srgbClr val="FF3300"/>
              </a:solidFill>
              <a:latin typeface="Arial" panose="020B0604020202020204" pitchFamily="34" charset="0"/>
            </a:endParaRPr>
          </a:p>
        </p:txBody>
      </p:sp>
    </p:spTree>
  </p:cSld>
  <p:clrMapOvr>
    <a:masterClrMapping/>
  </p:clrMapOvr>
  <p:transition>
    <p:random/>
    <p:sndAc>
      <p:stSnd>
        <p:snd r:embed="rId1" name="CAMERA.WAV"/>
      </p:stSnd>
    </p:sndAc>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54018" name="Rectangle 2"/>
          <p:cNvSpPr>
            <a:spLocks noGrp="1" noChangeArrowheads="1"/>
          </p:cNvSpPr>
          <p:nvPr>
            <p:ph type="title"/>
          </p:nvPr>
        </p:nvSpPr>
        <p:spPr>
          <a:xfrm>
            <a:off x="179388" y="115888"/>
            <a:ext cx="8659813" cy="503238"/>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视图</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练习</a:t>
            </a:r>
            <a:r>
              <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2</a:t>
            </a:r>
            <a:endParaRPr kumimoji="1" lang="en-US" altLang="zh-CN"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854019" name="Rectangle 3"/>
          <p:cNvSpPr>
            <a:spLocks noGrp="1"/>
          </p:cNvSpPr>
          <p:nvPr>
            <p:ph type="body" sz="half" idx="1"/>
          </p:nvPr>
        </p:nvSpPr>
        <p:spPr>
          <a:xfrm>
            <a:off x="152400" y="836613"/>
            <a:ext cx="8740775" cy="5653087"/>
          </a:xfrm>
        </p:spPr>
        <p:txBody>
          <a:bodyPr vert="horz" wrap="square" lIns="91440" tIns="45720" rIns="91440" bIns="45720" anchor="t" anchorCtr="0"/>
          <a:p>
            <a:pPr marL="265430" indent="-265430">
              <a:buClr>
                <a:srgbClr val="FF0000"/>
              </a:buClr>
              <a:buSzPct val="75000"/>
              <a:buFont typeface="Wingdings" panose="05000000000000000000" pitchFamily="2" charset="2"/>
            </a:pPr>
            <a:r>
              <a:rPr lang="zh-CN" altLang="en-US" sz="3200" dirty="0">
                <a:latin typeface="Arial" panose="020B0604020202020204" pitchFamily="34" charset="0"/>
              </a:rPr>
              <a:t>按属性</a:t>
            </a:r>
            <a:r>
              <a:rPr lang="en-US" altLang="zh-CN" sz="3200" dirty="0">
                <a:latin typeface="Arial" panose="020B0604020202020204" pitchFamily="34" charset="0"/>
              </a:rPr>
              <a:t>A</a:t>
            </a:r>
            <a:r>
              <a:rPr lang="zh-CN" altLang="en-US" sz="3200" dirty="0">
                <a:latin typeface="Arial" panose="020B0604020202020204" pitchFamily="34" charset="0"/>
              </a:rPr>
              <a:t>分组，求出每组中在属性</a:t>
            </a:r>
            <a:r>
              <a:rPr lang="en-US" altLang="zh-CN" sz="3200" dirty="0">
                <a:latin typeface="Arial" panose="020B0604020202020204" pitchFamily="34" charset="0"/>
              </a:rPr>
              <a:t>C</a:t>
            </a:r>
            <a:r>
              <a:rPr lang="zh-CN" altLang="en-US" sz="3200" dirty="0">
                <a:latin typeface="Arial" panose="020B0604020202020204" pitchFamily="34" charset="0"/>
              </a:rPr>
              <a:t>上的最大值和最小值，将他们置于视图</a:t>
            </a:r>
            <a:r>
              <a:rPr lang="en-US" altLang="zh-CN" sz="3200" dirty="0">
                <a:latin typeface="Arial" panose="020B0604020202020204" pitchFamily="34" charset="0"/>
              </a:rPr>
              <a:t>RVIEW</a:t>
            </a:r>
            <a:r>
              <a:rPr lang="zh-CN" altLang="en-US" sz="3200" dirty="0">
                <a:latin typeface="Arial" panose="020B0604020202020204" pitchFamily="34" charset="0"/>
              </a:rPr>
              <a:t>中；</a:t>
            </a:r>
            <a:endParaRPr lang="zh-CN" altLang="en-US" sz="3200" dirty="0">
              <a:latin typeface="Arial" panose="020B0604020202020204" pitchFamily="34" charset="0"/>
            </a:endParaRPr>
          </a:p>
          <a:p>
            <a:pPr marL="265430" indent="-265430">
              <a:buClr>
                <a:srgbClr val="FF0000"/>
              </a:buClr>
              <a:buSzPct val="80000"/>
              <a:buFont typeface="Wingdings" panose="05000000000000000000" pitchFamily="2" charset="2"/>
            </a:pPr>
            <a:r>
              <a:rPr lang="zh-CN" altLang="en-US" sz="3200" dirty="0">
                <a:latin typeface="Arial" panose="020B0604020202020204" pitchFamily="34" charset="0"/>
              </a:rPr>
              <a:t>在视图</a:t>
            </a:r>
            <a:r>
              <a:rPr lang="en-US" altLang="zh-CN" sz="3200" dirty="0">
                <a:latin typeface="Arial" panose="020B0604020202020204" pitchFamily="34" charset="0"/>
              </a:rPr>
              <a:t>RVIEW</a:t>
            </a:r>
            <a:r>
              <a:rPr lang="zh-CN" altLang="en-US" sz="3200" dirty="0">
                <a:latin typeface="Arial" panose="020B0604020202020204" pitchFamily="34" charset="0"/>
              </a:rPr>
              <a:t>中查询属性</a:t>
            </a:r>
            <a:r>
              <a:rPr lang="en-US" altLang="zh-CN" sz="3200" dirty="0">
                <a:latin typeface="Arial" panose="020B0604020202020204" pitchFamily="34" charset="0"/>
              </a:rPr>
              <a:t>A=’98’</a:t>
            </a:r>
            <a:r>
              <a:rPr lang="zh-CN" altLang="en-US" sz="3200" dirty="0">
                <a:latin typeface="Arial" panose="020B0604020202020204" pitchFamily="34" charset="0"/>
              </a:rPr>
              <a:t>的纪录。</a:t>
            </a:r>
            <a:endParaRPr lang="zh-CN" altLang="en-US" sz="3200" dirty="0">
              <a:latin typeface="Arial" panose="020B0604020202020204" pitchFamily="34" charset="0"/>
            </a:endParaRPr>
          </a:p>
          <a:p>
            <a:pPr marL="265430" indent="-265430">
              <a:buClr>
                <a:srgbClr val="FF0000"/>
              </a:buClr>
              <a:buSzPct val="65000"/>
              <a:buFont typeface="Wingdings" panose="05000000000000000000" pitchFamily="2" charset="2"/>
              <a:buNone/>
            </a:pPr>
            <a:r>
              <a:rPr lang="zh-CN" altLang="en-US" sz="3200" dirty="0"/>
              <a:t>     </a:t>
            </a:r>
            <a:r>
              <a:rPr lang="en-US" altLang="zh-CN" sz="3200" dirty="0">
                <a:solidFill>
                  <a:srgbClr val="FF0000"/>
                </a:solidFill>
                <a:latin typeface="Arial" panose="020B0604020202020204" pitchFamily="34" charset="0"/>
              </a:rPr>
              <a:t>CREATE VIEW</a:t>
            </a:r>
            <a:r>
              <a:rPr lang="en-US" altLang="zh-CN" sz="3200" dirty="0">
                <a:latin typeface="Arial" panose="020B0604020202020204" pitchFamily="34" charset="0"/>
              </a:rPr>
              <a:t>  RVIEW(A, MAXC, MINC)</a:t>
            </a:r>
            <a:endParaRPr lang="en-US" altLang="zh-CN" sz="3200" dirty="0">
              <a:latin typeface="Arial" panose="020B0604020202020204" pitchFamily="34" charset="0"/>
            </a:endParaRPr>
          </a:p>
          <a:p>
            <a:pPr marL="265430" indent="-265430">
              <a:buClr>
                <a:srgbClr val="FF0000"/>
              </a:buClr>
              <a:buSzPct val="65000"/>
              <a:buFont typeface="Wingdings" panose="05000000000000000000" pitchFamily="2" charset="2"/>
              <a:buNone/>
            </a:pPr>
            <a:r>
              <a:rPr lang="en-US" altLang="zh-CN" sz="3200" dirty="0">
                <a:latin typeface="Arial" panose="020B0604020202020204" pitchFamily="34" charset="0"/>
              </a:rPr>
              <a:t>          </a:t>
            </a:r>
            <a:r>
              <a:rPr lang="en-US" altLang="zh-CN" sz="3200" dirty="0">
                <a:solidFill>
                  <a:srgbClr val="FF0000"/>
                </a:solidFill>
                <a:latin typeface="Arial" panose="020B0604020202020204" pitchFamily="34" charset="0"/>
              </a:rPr>
              <a:t>AS</a:t>
            </a:r>
            <a:endParaRPr lang="en-US" altLang="zh-CN" sz="3200" dirty="0">
              <a:solidFill>
                <a:srgbClr val="FF0000"/>
              </a:solidFill>
              <a:latin typeface="Arial" panose="020B0604020202020204" pitchFamily="34" charset="0"/>
            </a:endParaRPr>
          </a:p>
          <a:p>
            <a:pPr marL="265430" indent="-265430">
              <a:buClr>
                <a:srgbClr val="FF0000"/>
              </a:buClr>
              <a:buSzPct val="65000"/>
              <a:buFont typeface="Wingdings" panose="05000000000000000000" pitchFamily="2" charset="2"/>
              <a:buNone/>
            </a:pPr>
            <a:r>
              <a:rPr lang="en-US" altLang="zh-CN" sz="3200" dirty="0">
                <a:latin typeface="Arial" panose="020B0604020202020204" pitchFamily="34" charset="0"/>
              </a:rPr>
              <a:t>          SELECT   A, </a:t>
            </a:r>
            <a:r>
              <a:rPr lang="en-US" altLang="zh-CN" sz="3200" dirty="0">
                <a:solidFill>
                  <a:srgbClr val="CC3300"/>
                </a:solidFill>
                <a:latin typeface="Arial" panose="020B0604020202020204" pitchFamily="34" charset="0"/>
              </a:rPr>
              <a:t>MAX</a:t>
            </a:r>
            <a:r>
              <a:rPr lang="en-US" altLang="zh-CN" sz="3200" dirty="0">
                <a:latin typeface="Arial" panose="020B0604020202020204" pitchFamily="34" charset="0"/>
              </a:rPr>
              <a:t>(C), </a:t>
            </a:r>
            <a:r>
              <a:rPr lang="en-US" altLang="zh-CN" sz="3200" dirty="0">
                <a:solidFill>
                  <a:srgbClr val="CC3300"/>
                </a:solidFill>
                <a:latin typeface="Arial" panose="020B0604020202020204" pitchFamily="34" charset="0"/>
              </a:rPr>
              <a:t>MIN</a:t>
            </a:r>
            <a:r>
              <a:rPr lang="en-US" altLang="zh-CN" sz="3200" dirty="0">
                <a:latin typeface="Arial" panose="020B0604020202020204" pitchFamily="34" charset="0"/>
              </a:rPr>
              <a:t>(C)</a:t>
            </a:r>
            <a:endParaRPr lang="en-US" altLang="zh-CN" sz="3200" dirty="0">
              <a:latin typeface="Arial" panose="020B0604020202020204" pitchFamily="34" charset="0"/>
            </a:endParaRPr>
          </a:p>
          <a:p>
            <a:pPr marL="265430" indent="-265430">
              <a:buClr>
                <a:srgbClr val="FF0000"/>
              </a:buClr>
              <a:buSzPct val="65000"/>
              <a:buFont typeface="Wingdings" panose="05000000000000000000" pitchFamily="2" charset="2"/>
              <a:buNone/>
            </a:pPr>
            <a:r>
              <a:rPr lang="en-US" altLang="zh-CN" sz="3200" dirty="0">
                <a:latin typeface="Arial" panose="020B0604020202020204" pitchFamily="34" charset="0"/>
              </a:rPr>
              <a:t>          FROM   R</a:t>
            </a:r>
            <a:endParaRPr lang="en-US" altLang="zh-CN" sz="3200" dirty="0">
              <a:latin typeface="Arial" panose="020B0604020202020204" pitchFamily="34" charset="0"/>
            </a:endParaRPr>
          </a:p>
          <a:p>
            <a:pPr marL="265430" indent="-265430">
              <a:buClr>
                <a:srgbClr val="FF0000"/>
              </a:buClr>
              <a:buSzPct val="65000"/>
              <a:buFont typeface="Wingdings" panose="05000000000000000000" pitchFamily="2" charset="2"/>
              <a:buNone/>
            </a:pPr>
            <a:r>
              <a:rPr lang="en-US" altLang="zh-CN" sz="3200" dirty="0">
                <a:latin typeface="Arial" panose="020B0604020202020204" pitchFamily="34" charset="0"/>
              </a:rPr>
              <a:t>          GROUP BY   A ;   </a:t>
            </a:r>
            <a:endParaRPr lang="en-US" altLang="zh-CN" sz="3200" dirty="0">
              <a:latin typeface="Arial" panose="020B0604020202020204" pitchFamily="34" charset="0"/>
            </a:endParaRPr>
          </a:p>
          <a:p>
            <a:pPr marL="265430" indent="-265430">
              <a:spcBef>
                <a:spcPct val="40000"/>
              </a:spcBef>
              <a:buClr>
                <a:srgbClr val="FF0000"/>
              </a:buClr>
              <a:buSzPct val="65000"/>
              <a:buFont typeface="Wingdings" panose="05000000000000000000" pitchFamily="2" charset="2"/>
              <a:buNone/>
            </a:pPr>
            <a:r>
              <a:rPr lang="en-US" altLang="zh-CN" sz="3200" dirty="0">
                <a:latin typeface="Arial" panose="020B0604020202020204" pitchFamily="34" charset="0"/>
              </a:rPr>
              <a:t>      </a:t>
            </a:r>
            <a:r>
              <a:rPr lang="en-US" altLang="zh-CN" sz="3200" dirty="0">
                <a:solidFill>
                  <a:srgbClr val="0033CC"/>
                </a:solidFill>
                <a:latin typeface="Arial" panose="020B0604020202020204" pitchFamily="34" charset="0"/>
              </a:rPr>
              <a:t>SELECT   </a:t>
            </a:r>
            <a:r>
              <a:rPr lang="en-US" altLang="zh-CN" sz="3200" dirty="0">
                <a:solidFill>
                  <a:srgbClr val="0033CC"/>
                </a:solidFill>
                <a:latin typeface="黑体" panose="02010609060101010101" pitchFamily="2" charset="-122"/>
              </a:rPr>
              <a:t>*</a:t>
            </a:r>
            <a:endParaRPr lang="en-US" altLang="zh-CN" sz="3200" dirty="0">
              <a:solidFill>
                <a:srgbClr val="0033CC"/>
              </a:solidFill>
              <a:latin typeface="黑体" panose="02010609060101010101" pitchFamily="2" charset="-122"/>
            </a:endParaRPr>
          </a:p>
          <a:p>
            <a:pPr marL="265430" indent="-265430">
              <a:buClr>
                <a:srgbClr val="FF0000"/>
              </a:buClr>
              <a:buSzPct val="65000"/>
              <a:buFont typeface="Wingdings" panose="05000000000000000000" pitchFamily="2" charset="2"/>
              <a:buNone/>
            </a:pPr>
            <a:r>
              <a:rPr lang="en-US" altLang="zh-CN" sz="3200" dirty="0">
                <a:solidFill>
                  <a:srgbClr val="0033CC"/>
                </a:solidFill>
                <a:latin typeface="Arial" panose="020B0604020202020204" pitchFamily="34" charset="0"/>
              </a:rPr>
              <a:t>	    FROM   RVIEW</a:t>
            </a:r>
            <a:endParaRPr lang="en-US" altLang="zh-CN" sz="3200" dirty="0">
              <a:solidFill>
                <a:srgbClr val="0033CC"/>
              </a:solidFill>
              <a:latin typeface="Arial" panose="020B0604020202020204" pitchFamily="34" charset="0"/>
            </a:endParaRPr>
          </a:p>
          <a:p>
            <a:pPr marL="265430" indent="-265430">
              <a:buClr>
                <a:srgbClr val="FF0000"/>
              </a:buClr>
              <a:buSzPct val="65000"/>
              <a:buFont typeface="Wingdings" panose="05000000000000000000" pitchFamily="2" charset="2"/>
              <a:buNone/>
            </a:pPr>
            <a:r>
              <a:rPr lang="en-US" altLang="zh-CN" sz="3200" dirty="0">
                <a:solidFill>
                  <a:srgbClr val="0033CC"/>
                </a:solidFill>
                <a:latin typeface="Arial" panose="020B0604020202020204" pitchFamily="34" charset="0"/>
              </a:rPr>
              <a:t>	    WHERE   A=’98’ ;</a:t>
            </a:r>
            <a:endParaRPr lang="en-US" altLang="zh-CN" sz="2400" dirty="0">
              <a:solidFill>
                <a:srgbClr val="0033CC"/>
              </a:solidFill>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4019">
                                            <p:txEl>
                                              <p:charRg st="65" end="10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54019">
                                            <p:txEl>
                                              <p:charRg st="104" end="11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54019">
                                            <p:txEl>
                                              <p:charRg st="117" end="15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54019">
                                            <p:txEl>
                                              <p:charRg st="154" end="17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54019">
                                            <p:txEl>
                                              <p:charRg st="173" end="20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54019">
                                            <p:txEl>
                                              <p:charRg st="201" end="21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54019">
                                            <p:txEl>
                                              <p:charRg st="218" end="23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54019">
                                            <p:txEl>
                                              <p:charRg st="236" end="25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019"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4" name="矩形 3"/>
          <p:cNvSpPr/>
          <p:nvPr/>
        </p:nvSpPr>
        <p:spPr>
          <a:xfrm>
            <a:off x="2727008" y="2829560"/>
            <a:ext cx="3689985" cy="1198880"/>
          </a:xfrm>
          <a:prstGeom prst="rect">
            <a:avLst/>
          </a:prstGeom>
          <a:noFill/>
          <a:ln>
            <a:noFill/>
          </a:ln>
        </p:spPr>
        <p:txBody>
          <a:bodyPr wrap="none" rtlCol="0" anchor="t">
            <a:spAutoFit/>
          </a:bodyPr>
          <a:p>
            <a:pPr algn="ctr"/>
            <a:r>
              <a:rPr lang="en-US" altLang="zh-CN" sz="7200" b="1">
                <a:solidFill>
                  <a:schemeClr val="accent1"/>
                </a:solidFill>
                <a:effectLst>
                  <a:outerShdw blurRad="38100" dist="25400" dir="5400000" algn="ctr" rotWithShape="0">
                    <a:srgbClr val="6E747A">
                      <a:alpha val="43000"/>
                    </a:srgbClr>
                  </a:outerShdw>
                </a:effectLst>
              </a:rPr>
              <a:t>Thanks!</a:t>
            </a:r>
            <a:endParaRPr lang="zh-CN" altLang="en-US" sz="7200" b="1">
              <a:solidFill>
                <a:schemeClr val="accent1"/>
              </a:solidFill>
              <a:effectLst>
                <a:outerShdw blurRad="38100" dist="25400" dir="5400000" algn="ctr" rotWithShape="0">
                  <a:srgbClr val="6E747A">
                    <a:alpha val="43000"/>
                  </a:srgbClr>
                </a:outerShdw>
              </a:effectLst>
            </a:endParaRPr>
          </a:p>
        </p:txBody>
      </p:sp>
    </p:spTree>
  </p:cSld>
  <p:clrMapOvr>
    <a:masterClrMapping/>
  </p:clrMapOvr>
  <p:transition>
    <p:random/>
    <p:sndAc>
      <p:stSnd>
        <p:snd r:embed="rId1" name="CAMERA.WAV"/>
      </p:stSnd>
    </p:sndAc>
  </p:transition>
</p:sld>
</file>

<file path=ppt/tags/tag1.xml><?xml version="1.0" encoding="utf-8"?>
<p:tagLst xmlns:p="http://schemas.openxmlformats.org/presentationml/2006/main">
  <p:tag name="COMMONDATA" val="eyJoZGlkIjoiNjAxYWNjNWM4YjUwYzdkM2Y4ZDNlNzBkZmE0NjZkZTkifQ=="/>
  <p:tag name="KSO_WPP_MARK_KEY" val="c05184e7-4921-486a-9ef5-f8541916a7e2"/>
</p:tagLst>
</file>

<file path=ppt/theme/theme1.xml><?xml version="1.0" encoding="utf-8"?>
<a:theme xmlns:a="http://schemas.openxmlformats.org/drawingml/2006/main" name="HXH">
  <a:themeElements>
    <a:clrScheme name="">
      <a:dk1>
        <a:srgbClr val="00354E"/>
      </a:dk1>
      <a:lt1>
        <a:srgbClr val="EAEAEA"/>
      </a:lt1>
      <a:dk2>
        <a:srgbClr val="0099CC"/>
      </a:dk2>
      <a:lt2>
        <a:srgbClr val="CCECFF"/>
      </a:lt2>
      <a:accent1>
        <a:srgbClr val="0099CC"/>
      </a:accent1>
      <a:accent2>
        <a:srgbClr val="6699FF"/>
      </a:accent2>
      <a:accent3>
        <a:srgbClr val="AACAE2"/>
      </a:accent3>
      <a:accent4>
        <a:srgbClr val="C8C8C8"/>
      </a:accent4>
      <a:accent5>
        <a:srgbClr val="AACAE2"/>
      </a:accent5>
      <a:accent6>
        <a:srgbClr val="5C8AE7"/>
      </a:accent6>
      <a:hlink>
        <a:srgbClr val="CCCCFF"/>
      </a:hlink>
      <a:folHlink>
        <a:srgbClr val="5E6FD4"/>
      </a:folHlink>
    </a:clrScheme>
    <a:fontScheme name="HXH">
      <a:majorFont>
        <a:latin typeface="Arial"/>
        <a:ea typeface="幼圆"/>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FF3399"/>
            </a:gs>
            <a:gs pos="100000">
              <a:srgbClr val="FF3399">
                <a:gamma/>
                <a:shade val="69804"/>
                <a:invGamma/>
              </a:srgbClr>
            </a:gs>
          </a:gsLst>
          <a:path path="rect">
            <a:fillToRect l="50000" t="50000" r="50000" b="50000"/>
          </a:path>
        </a:gradFill>
        <a:ln w="28575" cap="flat" cmpd="sng" algn="ctr">
          <a:noFill/>
          <a:prstDash val="solid"/>
          <a:round/>
          <a:headEnd type="none" w="med" len="med"/>
          <a:tailEnd type="none" w="med" len="med"/>
        </a:ln>
      </a:spPr>
      <a:bodyPr vert="horz" wrap="none" lIns="0" tIns="0" rIns="0" bIns="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40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defRPr>
        </a:defPPr>
      </a:lstStyle>
    </a:spDef>
    <a:lnDef>
      <a:spPr bwMode="auto">
        <a:xfrm>
          <a:off x="0" y="0"/>
          <a:ext cx="1" cy="1"/>
        </a:xfrm>
        <a:custGeom>
          <a:avLst/>
          <a:gdLst/>
          <a:ahLst/>
          <a:cxnLst/>
          <a:rect l="0" t="0" r="0" b="0"/>
          <a:pathLst/>
        </a:custGeom>
        <a:gradFill rotWithShape="1">
          <a:gsLst>
            <a:gs pos="0">
              <a:srgbClr val="FF3399"/>
            </a:gs>
            <a:gs pos="100000">
              <a:srgbClr val="FF3399">
                <a:gamma/>
                <a:shade val="69804"/>
                <a:invGamma/>
              </a:srgbClr>
            </a:gs>
          </a:gsLst>
          <a:path path="rect">
            <a:fillToRect l="50000" t="50000" r="50000" b="50000"/>
          </a:path>
        </a:gradFill>
        <a:ln w="28575" cap="flat" cmpd="sng" algn="ctr">
          <a:noFill/>
          <a:prstDash val="solid"/>
          <a:round/>
          <a:headEnd type="none" w="med" len="med"/>
          <a:tailEnd type="none" w="med" len="med"/>
        </a:ln>
      </a:spPr>
      <a:bodyPr vert="horz" wrap="none" lIns="0" tIns="0" rIns="0" bIns="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40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defRPr>
        </a:defPPr>
      </a:lstStyle>
    </a:lnDef>
  </a:objectDefaults>
  <a:extraClrSchemeLst>
    <a:extraClrScheme>
      <a:clrScheme name="HXH 1">
        <a:dk1>
          <a:srgbClr val="00354E"/>
        </a:dk1>
        <a:lt1>
          <a:srgbClr val="EAEAEA"/>
        </a:lt1>
        <a:dk2>
          <a:srgbClr val="006699"/>
        </a:dk2>
        <a:lt2>
          <a:srgbClr val="CCECFF"/>
        </a:lt2>
        <a:accent1>
          <a:srgbClr val="006699"/>
        </a:accent1>
        <a:accent2>
          <a:srgbClr val="6699FF"/>
        </a:accent2>
        <a:accent3>
          <a:srgbClr val="AAB8CA"/>
        </a:accent3>
        <a:accent4>
          <a:srgbClr val="C8C8C8"/>
        </a:accent4>
        <a:accent5>
          <a:srgbClr val="AAB8CA"/>
        </a:accent5>
        <a:accent6>
          <a:srgbClr val="5C8AE7"/>
        </a:accent6>
        <a:hlink>
          <a:srgbClr val="CCCCFF"/>
        </a:hlink>
        <a:folHlink>
          <a:srgbClr val="5E6FD4"/>
        </a:folHlink>
      </a:clrScheme>
      <a:clrMap bg1="dk2" tx1="lt1" bg2="dk1" tx2="lt2" accent1="accent1" accent2="accent2" accent3="accent3" accent4="accent4" accent5="accent5" accent6="accent6" hlink="hlink" folHlink="folHlink"/>
    </a:extraClrScheme>
    <a:extraClrScheme>
      <a:clrScheme name="HXH 2">
        <a:dk1>
          <a:srgbClr val="000080"/>
        </a:dk1>
        <a:lt1>
          <a:srgbClr val="FFFFFF"/>
        </a:lt1>
        <a:dk2>
          <a:srgbClr val="3366CC"/>
        </a:dk2>
        <a:lt2>
          <a:srgbClr val="7A7C93"/>
        </a:lt2>
        <a:accent1>
          <a:srgbClr val="006699"/>
        </a:accent1>
        <a:accent2>
          <a:srgbClr val="6699FF"/>
        </a:accent2>
        <a:accent3>
          <a:srgbClr val="FFFFFF"/>
        </a:accent3>
        <a:accent4>
          <a:srgbClr val="00006C"/>
        </a:accent4>
        <a:accent5>
          <a:srgbClr val="AAB8CA"/>
        </a:accent5>
        <a:accent6>
          <a:srgbClr val="5C8AE7"/>
        </a:accent6>
        <a:hlink>
          <a:srgbClr val="CCCCFF"/>
        </a:hlink>
        <a:folHlink>
          <a:srgbClr val="5E6FD4"/>
        </a:folHlink>
      </a:clrScheme>
      <a:clrMap bg1="lt1" tx1="dk1" bg2="lt2" tx2="dk2" accent1="accent1" accent2="accent2" accent3="accent3" accent4="accent4" accent5="accent5" accent6="accent6" hlink="hlink" folHlink="folHlink"/>
    </a:extraClrScheme>
    <a:extraClrScheme>
      <a:clrScheme name="HXH 3">
        <a:dk1>
          <a:srgbClr val="000000"/>
        </a:dk1>
        <a:lt1>
          <a:srgbClr val="FFFFFF"/>
        </a:lt1>
        <a:dk2>
          <a:srgbClr val="000000"/>
        </a:dk2>
        <a:lt2>
          <a:srgbClr val="868686"/>
        </a:lt2>
        <a:accent1>
          <a:srgbClr val="969696"/>
        </a:accent1>
        <a:accent2>
          <a:srgbClr val="CBCBCB"/>
        </a:accent2>
        <a:accent3>
          <a:srgbClr val="FFFFFF"/>
        </a:accent3>
        <a:accent4>
          <a:srgbClr val="000000"/>
        </a:accent4>
        <a:accent5>
          <a:srgbClr val="C9C9C9"/>
        </a:accent5>
        <a:accent6>
          <a:srgbClr val="B8B8B8"/>
        </a:accent6>
        <a:hlink>
          <a:srgbClr val="EAEAEA"/>
        </a:hlink>
        <a:folHlink>
          <a:srgbClr val="5F5F5F"/>
        </a:folHlink>
      </a:clrScheme>
      <a:clrMap bg1="lt1" tx1="dk1" bg2="lt2" tx2="dk2" accent1="accent1" accent2="accent2" accent3="accent3" accent4="accent4" accent5="accent5" accent6="accent6" hlink="hlink" folHlink="folHlink"/>
    </a:extraClrScheme>
    <a:extraClrScheme>
      <a:clrScheme name="HXH 4">
        <a:dk1>
          <a:srgbClr val="660066"/>
        </a:dk1>
        <a:lt1>
          <a:srgbClr val="EAEAEA"/>
        </a:lt1>
        <a:dk2>
          <a:srgbClr val="3366CC"/>
        </a:dk2>
        <a:lt2>
          <a:srgbClr val="7A7C93"/>
        </a:lt2>
        <a:accent1>
          <a:srgbClr val="00CCCC"/>
        </a:accent1>
        <a:accent2>
          <a:srgbClr val="CC66FF"/>
        </a:accent2>
        <a:accent3>
          <a:srgbClr val="F3F3F3"/>
        </a:accent3>
        <a:accent4>
          <a:srgbClr val="560056"/>
        </a:accent4>
        <a:accent5>
          <a:srgbClr val="AAE2E2"/>
        </a:accent5>
        <a:accent6>
          <a:srgbClr val="B95CE7"/>
        </a:accent6>
        <a:hlink>
          <a:srgbClr val="CCFFCC"/>
        </a:hlink>
        <a:folHlink>
          <a:srgbClr val="FFCC66"/>
        </a:folHlink>
      </a:clrScheme>
      <a:clrMap bg1="lt1" tx1="dk1" bg2="lt2" tx2="dk2" accent1="accent1" accent2="accent2" accent3="accent3" accent4="accent4" accent5="accent5" accent6="accent6" hlink="hlink" folHlink="folHlink"/>
    </a:extraClrScheme>
    <a:extraClrScheme>
      <a:clrScheme name="HXH 5">
        <a:dk1>
          <a:srgbClr val="003366"/>
        </a:dk1>
        <a:lt1>
          <a:srgbClr val="EAEAEA"/>
        </a:lt1>
        <a:dk2>
          <a:srgbClr val="009999"/>
        </a:dk2>
        <a:lt2>
          <a:srgbClr val="FFFFFF"/>
        </a:lt2>
        <a:accent1>
          <a:srgbClr val="008080"/>
        </a:accent1>
        <a:accent2>
          <a:srgbClr val="00CCCC"/>
        </a:accent2>
        <a:accent3>
          <a:srgbClr val="AACACA"/>
        </a:accent3>
        <a:accent4>
          <a:srgbClr val="C8C8C8"/>
        </a:accent4>
        <a:accent5>
          <a:srgbClr val="AAC0C0"/>
        </a:accent5>
        <a:accent6>
          <a:srgbClr val="00B9B9"/>
        </a:accent6>
        <a:hlink>
          <a:srgbClr val="A7DDE1"/>
        </a:hlink>
        <a:folHlink>
          <a:srgbClr val="319CB7"/>
        </a:folHlink>
      </a:clrScheme>
      <a:clrMap bg1="dk2" tx1="lt1" bg2="dk1" tx2="lt2" accent1="accent1" accent2="accent2" accent3="accent3" accent4="accent4" accent5="accent5" accent6="accent6" hlink="hlink" folHlink="folHlink"/>
    </a:extraClrScheme>
    <a:extraClrScheme>
      <a:clrScheme name="HXH 6">
        <a:dk1>
          <a:srgbClr val="00354E"/>
        </a:dk1>
        <a:lt1>
          <a:srgbClr val="EAEAEA"/>
        </a:lt1>
        <a:dk2>
          <a:srgbClr val="6D67AA"/>
        </a:dk2>
        <a:lt2>
          <a:srgbClr val="CCCCFF"/>
        </a:lt2>
        <a:accent1>
          <a:srgbClr val="6600CC"/>
        </a:accent1>
        <a:accent2>
          <a:srgbClr val="9999FF"/>
        </a:accent2>
        <a:accent3>
          <a:srgbClr val="BAB8D2"/>
        </a:accent3>
        <a:accent4>
          <a:srgbClr val="C8C8C8"/>
        </a:accent4>
        <a:accent5>
          <a:srgbClr val="B8AAE2"/>
        </a:accent5>
        <a:accent6>
          <a:srgbClr val="8A8AE7"/>
        </a:accent6>
        <a:hlink>
          <a:srgbClr val="CCCCFF"/>
        </a:hlink>
        <a:folHlink>
          <a:srgbClr val="9D70B8"/>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7679</Words>
  <Application>WPS 演示</Application>
  <PresentationFormat>全屏显示(4:3)</PresentationFormat>
  <Paragraphs>887</Paragraphs>
  <Slides>51</Slides>
  <Notes>36</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51</vt:i4>
      </vt:variant>
    </vt:vector>
  </HeadingPairs>
  <TitlesOfParts>
    <vt:vector size="65" baseType="lpstr">
      <vt:lpstr>Arial</vt:lpstr>
      <vt:lpstr>宋体</vt:lpstr>
      <vt:lpstr>Wingdings</vt:lpstr>
      <vt:lpstr>黑体</vt:lpstr>
      <vt:lpstr>楷体_GB2312</vt:lpstr>
      <vt:lpstr>幼圆</vt:lpstr>
      <vt:lpstr>华文新魏</vt:lpstr>
      <vt:lpstr>华文中宋</vt:lpstr>
      <vt:lpstr>微软雅黑</vt:lpstr>
      <vt:lpstr>Arial Unicode MS</vt:lpstr>
      <vt:lpstr>Symbol</vt:lpstr>
      <vt:lpstr>Times New Roman</vt:lpstr>
      <vt:lpstr>新宋体</vt:lpstr>
      <vt:lpstr>HXH</vt:lpstr>
      <vt:lpstr>PowerPoint 演示文稿</vt:lpstr>
      <vt:lpstr>主要内容</vt:lpstr>
      <vt:lpstr>5.4 数据更新</vt:lpstr>
      <vt:lpstr>1) 插入单个元组</vt:lpstr>
      <vt:lpstr>插入单个元组的规则</vt:lpstr>
      <vt:lpstr>插入单个元组的规则</vt:lpstr>
      <vt:lpstr>插入单个元组举例1</vt:lpstr>
      <vt:lpstr>插入单个元组举例2</vt:lpstr>
      <vt:lpstr>2) 插入子查询结果</vt:lpstr>
      <vt:lpstr>插入子查询结果规则</vt:lpstr>
      <vt:lpstr>插入子查询结果举例1</vt:lpstr>
      <vt:lpstr>插入子查询结果举例2</vt:lpstr>
      <vt:lpstr>插入子查询结果举例3</vt:lpstr>
      <vt:lpstr>插入数据的完整性检查</vt:lpstr>
      <vt:lpstr>插入数据的完整性检查</vt:lpstr>
      <vt:lpstr>5.4 数据更新</vt:lpstr>
      <vt:lpstr>5.4.2 修改数据</vt:lpstr>
      <vt:lpstr>1) 修改某一个元组的值举例</vt:lpstr>
      <vt:lpstr>2) 修改多个元组的值举例</vt:lpstr>
      <vt:lpstr>3) 带子查询的修改语句举例</vt:lpstr>
      <vt:lpstr>修改数据的完整性检查</vt:lpstr>
      <vt:lpstr>5.4 数据更新</vt:lpstr>
      <vt:lpstr>5.4.3 删除数据</vt:lpstr>
      <vt:lpstr>1) 删除某一个元组的值举例</vt:lpstr>
      <vt:lpstr>2) 删除多个元组的值举例</vt:lpstr>
      <vt:lpstr>3) 带子查询的删除语句举例</vt:lpstr>
      <vt:lpstr>删除数据的完整性检查</vt:lpstr>
      <vt:lpstr>删除数据注意事项</vt:lpstr>
      <vt:lpstr>主要内容</vt:lpstr>
      <vt:lpstr>5.5 视图</vt:lpstr>
      <vt:lpstr>5.5 视图</vt:lpstr>
      <vt:lpstr>1) 定义视图</vt:lpstr>
      <vt:lpstr>定义视图举例1－行列子集视图</vt:lpstr>
      <vt:lpstr>定义视图举例2－ WITH …的视图</vt:lpstr>
      <vt:lpstr>定义视图举例3－基于多个表的视图</vt:lpstr>
      <vt:lpstr>定义视图举例4－基于视图的视图</vt:lpstr>
      <vt:lpstr>定义视图举例5－带表达式的视图</vt:lpstr>
      <vt:lpstr>定义视图举例6－建立分组视图</vt:lpstr>
      <vt:lpstr>2) 删除视图</vt:lpstr>
      <vt:lpstr>3) 查询视图</vt:lpstr>
      <vt:lpstr>3) 查询视图—视图消解过程1</vt:lpstr>
      <vt:lpstr>3) 查询视图—视图消解过程2</vt:lpstr>
      <vt:lpstr>4) 更新视图</vt:lpstr>
      <vt:lpstr>4) 更新视图</vt:lpstr>
      <vt:lpstr>5) 视图的作用</vt:lpstr>
      <vt:lpstr>5) 视图的作用_举例</vt:lpstr>
      <vt:lpstr>视图练习1</vt:lpstr>
      <vt:lpstr>视图练习1</vt:lpstr>
      <vt:lpstr>视图练习2</vt:lpstr>
      <vt:lpstr>视图练习2</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火星叔叔</cp:lastModifiedBy>
  <cp:revision>2085</cp:revision>
  <dcterms:created xsi:type="dcterms:W3CDTF">2007-03-26T07:48:00Z</dcterms:created>
  <dcterms:modified xsi:type="dcterms:W3CDTF">2023-05-18T06:19:13Z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A1A8CCBAC55641CEA7C4A41CD7765556</vt:lpwstr>
  </property>
  <property fmtid="{D5CDD505-2E9C-101B-9397-08002B2CF9AE}" pid="3" name="KSOProductBuildVer">
    <vt:lpwstr>2052-11.1.0.14309</vt:lpwstr>
  </property>
</Properties>
</file>