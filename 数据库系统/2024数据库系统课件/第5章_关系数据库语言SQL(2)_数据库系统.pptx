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wav" ContentType="audio/x-wav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ctiveX/activeX1.bin" ContentType="application/vnd.ms-office.activeX"/>
  <Override PartName="/ppt/activeX/activeX1.xml" ContentType="application/vnd.ms-office.activeX+xml"/>
  <Override PartName="/ppt/activeX/activeX10.bin" ContentType="application/vnd.ms-office.activeX"/>
  <Override PartName="/ppt/activeX/activeX10.xml" ContentType="application/vnd.ms-office.activeX+xml"/>
  <Override PartName="/ppt/activeX/activeX11.bin" ContentType="application/vnd.ms-office.activeX"/>
  <Override PartName="/ppt/activeX/activeX11.xml" ContentType="application/vnd.ms-office.activeX+xml"/>
  <Override PartName="/ppt/activeX/activeX12.bin" ContentType="application/vnd.ms-office.activeX"/>
  <Override PartName="/ppt/activeX/activeX12.xml" ContentType="application/vnd.ms-office.activeX+xml"/>
  <Override PartName="/ppt/activeX/activeX2.bin" ContentType="application/vnd.ms-office.activeX"/>
  <Override PartName="/ppt/activeX/activeX2.xml" ContentType="application/vnd.ms-office.activeX+xml"/>
  <Override PartName="/ppt/activeX/activeX3.bin" ContentType="application/vnd.ms-office.activeX"/>
  <Override PartName="/ppt/activeX/activeX3.xml" ContentType="application/vnd.ms-office.activeX+xml"/>
  <Override PartName="/ppt/activeX/activeX4.bin" ContentType="application/vnd.ms-office.activeX"/>
  <Override PartName="/ppt/activeX/activeX4.xml" ContentType="application/vnd.ms-office.activeX+xml"/>
  <Override PartName="/ppt/activeX/activeX5.bin" ContentType="application/vnd.ms-office.activeX"/>
  <Override PartName="/ppt/activeX/activeX5.xml" ContentType="application/vnd.ms-office.activeX+xml"/>
  <Override PartName="/ppt/activeX/activeX6.bin" ContentType="application/vnd.ms-office.activeX"/>
  <Override PartName="/ppt/activeX/activeX6.xml" ContentType="application/vnd.ms-office.activeX+xml"/>
  <Override PartName="/ppt/activeX/activeX7.bin" ContentType="application/vnd.ms-office.activeX"/>
  <Override PartName="/ppt/activeX/activeX7.xml" ContentType="application/vnd.ms-office.activeX+xml"/>
  <Override PartName="/ppt/activeX/activeX8.bin" ContentType="application/vnd.ms-office.activeX"/>
  <Override PartName="/ppt/activeX/activeX8.xml" ContentType="application/vnd.ms-office.activeX+xml"/>
  <Override PartName="/ppt/activeX/activeX9.bin" ContentType="application/vnd.ms-office.activeX"/>
  <Override PartName="/ppt/activeX/activeX9.xml" ContentType="application/vnd.ms-office.activeX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46"/>
  </p:handoutMasterIdLst>
  <p:sldIdLst>
    <p:sldId id="697" r:id="rId3"/>
    <p:sldId id="712" r:id="rId4"/>
    <p:sldId id="627" r:id="rId6"/>
    <p:sldId id="273" r:id="rId7"/>
    <p:sldId id="526" r:id="rId8"/>
    <p:sldId id="347" r:id="rId9"/>
    <p:sldId id="343" r:id="rId10"/>
    <p:sldId id="628" r:id="rId11"/>
    <p:sldId id="758" r:id="rId12"/>
    <p:sldId id="726" r:id="rId13"/>
    <p:sldId id="725" r:id="rId14"/>
    <p:sldId id="724" r:id="rId15"/>
    <p:sldId id="529" r:id="rId16"/>
    <p:sldId id="629" r:id="rId17"/>
    <p:sldId id="630" r:id="rId18"/>
    <p:sldId id="735" r:id="rId19"/>
    <p:sldId id="736" r:id="rId20"/>
    <p:sldId id="727" r:id="rId21"/>
    <p:sldId id="728" r:id="rId22"/>
    <p:sldId id="730" r:id="rId23"/>
    <p:sldId id="732" r:id="rId24"/>
    <p:sldId id="734" r:id="rId25"/>
    <p:sldId id="717" r:id="rId26"/>
    <p:sldId id="739" r:id="rId27"/>
    <p:sldId id="740" r:id="rId28"/>
    <p:sldId id="741" r:id="rId29"/>
    <p:sldId id="742" r:id="rId30"/>
    <p:sldId id="743" r:id="rId31"/>
    <p:sldId id="746" r:id="rId32"/>
    <p:sldId id="747" r:id="rId33"/>
    <p:sldId id="748" r:id="rId34"/>
    <p:sldId id="749" r:id="rId35"/>
    <p:sldId id="750" r:id="rId36"/>
    <p:sldId id="751" r:id="rId37"/>
    <p:sldId id="752" r:id="rId38"/>
    <p:sldId id="754" r:id="rId39"/>
    <p:sldId id="755" r:id="rId40"/>
    <p:sldId id="762" r:id="rId41"/>
    <p:sldId id="763" r:id="rId42"/>
    <p:sldId id="757" r:id="rId43"/>
    <p:sldId id="756" r:id="rId44"/>
    <p:sldId id="791" r:id="rId45"/>
  </p:sldIdLst>
  <p:sldSz cx="9144000" cy="6858000" type="screen4x3"/>
  <p:notesSz cx="6858000" cy="9144000"/>
  <p:custDataLst>
    <p:tags r:id="rId50"/>
  </p:custDataLst>
  <p:defaultTextStyle>
    <a:defPPr>
      <a:defRPr lang="zh-CN"/>
    </a:defPPr>
    <a:lvl1pPr marL="0" lvl="0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600" b="1" i="0" u="none" kern="1200" baseline="0">
        <a:solidFill>
          <a:srgbClr val="0000FF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1pPr>
    <a:lvl2pPr marL="457200" lvl="1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600" b="1" i="0" u="none" kern="1200" baseline="0">
        <a:solidFill>
          <a:srgbClr val="0000FF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2pPr>
    <a:lvl3pPr marL="914400" lvl="2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600" b="1" i="0" u="none" kern="1200" baseline="0">
        <a:solidFill>
          <a:srgbClr val="0000FF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3pPr>
    <a:lvl4pPr marL="1371600" lvl="3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600" b="1" i="0" u="none" kern="1200" baseline="0">
        <a:solidFill>
          <a:srgbClr val="0000FF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4pPr>
    <a:lvl5pPr marL="1828800" lvl="4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600" b="1" i="0" u="none" kern="1200" baseline="0">
        <a:solidFill>
          <a:srgbClr val="0000FF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5pPr>
    <a:lvl6pPr marL="2286000" lvl="5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600" b="1" i="0" u="none" kern="1200" baseline="0">
        <a:solidFill>
          <a:srgbClr val="0000FF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6pPr>
    <a:lvl7pPr marL="2743200" lvl="6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600" b="1" i="0" u="none" kern="1200" baseline="0">
        <a:solidFill>
          <a:srgbClr val="0000FF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7pPr>
    <a:lvl8pPr marL="3200400" lvl="7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600" b="1" i="0" u="none" kern="1200" baseline="0">
        <a:solidFill>
          <a:srgbClr val="0000FF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8pPr>
    <a:lvl9pPr marL="3657600" lvl="8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600" b="1" i="0" u="none" kern="1200" baseline="0">
        <a:solidFill>
          <a:srgbClr val="0000FF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33CC"/>
    <a:srgbClr val="FFCCFF"/>
    <a:srgbClr val="CC3300"/>
    <a:srgbClr val="FFFF99"/>
    <a:srgbClr val="DDDDDD"/>
    <a:srgbClr val="FF0000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222"/>
    <p:restoredTop sz="85951"/>
  </p:normalViewPr>
  <p:slideViewPr>
    <p:cSldViewPr showGuides="1">
      <p:cViewPr varScale="1">
        <p:scale>
          <a:sx n="56" d="100"/>
          <a:sy n="56" d="100"/>
        </p:scale>
        <p:origin x="-1626" y="-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tags" Target="tags/tag2.xml"/><Relationship Id="rId5" Type="http://schemas.openxmlformats.org/officeDocument/2006/relationships/notesMaster" Target="notesMasters/notesMaster1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handoutMaster" Target="handoutMasters/handoutMaster1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_rels/activeX3.xml.rels><?xml version="1.0" encoding="UTF-8" standalone="yes"?>
<Relationships xmlns="http://schemas.openxmlformats.org/package/2006/relationships"><Relationship Id="rId1" Type="http://schemas.microsoft.com/office/2006/relationships/activeXControlBinary" Target="activeX3.bin"/></Relationships>
</file>

<file path=ppt/activeX/_rels/activeX4.xml.rels><?xml version="1.0" encoding="UTF-8" standalone="yes"?>
<Relationships xmlns="http://schemas.openxmlformats.org/package/2006/relationships"><Relationship Id="rId1" Type="http://schemas.microsoft.com/office/2006/relationships/activeXControlBinary" Target="activeX4.bin"/></Relationships>
</file>

<file path=ppt/activeX/_rels/activeX5.xml.rels><?xml version="1.0" encoding="UTF-8" standalone="yes"?>
<Relationships xmlns="http://schemas.openxmlformats.org/package/2006/relationships"><Relationship Id="rId1" Type="http://schemas.microsoft.com/office/2006/relationships/activeXControlBinary" Target="activeX5.bin"/></Relationships>
</file>

<file path=ppt/activeX/_rels/activeX6.xml.rels><?xml version="1.0" encoding="UTF-8" standalone="yes"?>
<Relationships xmlns="http://schemas.openxmlformats.org/package/2006/relationships"><Relationship Id="rId1" Type="http://schemas.microsoft.com/office/2006/relationships/activeXControlBinary" Target="activeX6.bin"/></Relationships>
</file>

<file path=ppt/activeX/_rels/activeX7.xml.rels><?xml version="1.0" encoding="UTF-8" standalone="yes"?>
<Relationships xmlns="http://schemas.openxmlformats.org/package/2006/relationships"><Relationship Id="rId1" Type="http://schemas.microsoft.com/office/2006/relationships/activeXControlBinary" Target="activeX7.bin"/></Relationships>
</file>

<file path=ppt/activeX/_rels/activeX8.xml.rels><?xml version="1.0" encoding="UTF-8" standalone="yes"?>
<Relationships xmlns="http://schemas.openxmlformats.org/package/2006/relationships"><Relationship Id="rId1" Type="http://schemas.microsoft.com/office/2006/relationships/activeXControlBinary" Target="activeX8.bin"/></Relationships>
</file>

<file path=ppt/activeX/_rels/activeX9.xml.rels><?xml version="1.0" encoding="UTF-8" standalone="yes"?>
<Relationships xmlns="http://schemas.openxmlformats.org/package/2006/relationships"><Relationship Id="rId1" Type="http://schemas.microsoft.com/office/2006/relationships/activeXControlBinary" Target="activeX9.bin"/></Relationships>
</file>

<file path=ppt/activeX/_rels/activeX10.xml.rels><?xml version="1.0" encoding="UTF-8" standalone="yes"?>
<Relationships xmlns="http://schemas.openxmlformats.org/package/2006/relationships"><Relationship Id="rId1" Type="http://schemas.microsoft.com/office/2006/relationships/activeXControlBinary" Target="activeX10.bin"/></Relationships>
</file>

<file path=ppt/activeX/_rels/activeX11.xml.rels><?xml version="1.0" encoding="UTF-8" standalone="yes"?>
<Relationships xmlns="http://schemas.openxmlformats.org/package/2006/relationships"><Relationship Id="rId1" Type="http://schemas.microsoft.com/office/2006/relationships/activeXControlBinary" Target="activeX11.bin"/></Relationships>
</file>

<file path=ppt/activeX/_rels/activeX12.xml.rels><?xml version="1.0" encoding="UTF-8" standalone="yes"?>
<Relationships xmlns="http://schemas.openxmlformats.org/package/2006/relationships"><Relationship Id="rId1" Type="http://schemas.microsoft.com/office/2006/relationships/activeXControlBinary" Target="activeX12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3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4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5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6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7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8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9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10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1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12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09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99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99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99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588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861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861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963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96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US" altLang="zh-CN" dirty="0"/>
              <a:t>SQL</a:t>
            </a:r>
            <a:r>
              <a:rPr lang="zh-CN" altLang="en-US" dirty="0"/>
              <a:t>的主要功能之一是实现数据库查询。</a:t>
            </a:r>
            <a:endParaRPr lang="zh-CN" altLang="en-US" dirty="0"/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065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066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algn="just" eaLnBrk="1" hangingPunct="1">
              <a:lnSpc>
                <a:spcPct val="120000"/>
              </a:lnSpc>
            </a:pPr>
            <a:r>
              <a:rPr lang="zh-CN" altLang="en-US" sz="1000" dirty="0"/>
              <a:t>连接字段</a:t>
            </a:r>
            <a:endParaRPr lang="zh-CN" altLang="en-US" sz="1000" dirty="0"/>
          </a:p>
          <a:p>
            <a:pPr lvl="1" algn="just" eaLnBrk="1" hangingPunct="1">
              <a:lnSpc>
                <a:spcPct val="120000"/>
              </a:lnSpc>
              <a:buChar char="•"/>
            </a:pPr>
            <a:r>
              <a:rPr lang="zh-CN" altLang="en-US" dirty="0"/>
              <a:t>连接谓词中的列名称为连接字段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buChar char="•"/>
            </a:pPr>
            <a:r>
              <a:rPr lang="zh-CN" altLang="en-US" dirty="0"/>
              <a:t>连接条件中的各连接字段类型必须是可比的，但不必是相同的</a:t>
            </a:r>
            <a:endParaRPr lang="zh-CN" altLang="en-US" dirty="0"/>
          </a:p>
          <a:p>
            <a:pPr lvl="0" eaLnBrk="1" hangingPunct="1"/>
            <a:endParaRPr lang="zh-CN" altLang="en-US" dirty="0"/>
          </a:p>
          <a:p>
            <a:pPr lvl="0" eaLnBrk="1" hangingPunct="1"/>
            <a:r>
              <a:rPr lang="zh-CN" altLang="en-US" dirty="0"/>
              <a:t>连接操作的执行过程</a:t>
            </a:r>
            <a:r>
              <a:rPr lang="en-US" altLang="zh-CN" dirty="0"/>
              <a:t>:</a:t>
            </a:r>
            <a:endParaRPr lang="en-US" altLang="zh-CN" dirty="0"/>
          </a:p>
          <a:p>
            <a:pPr lvl="0" algn="just" eaLnBrk="1" hangingPunct="1"/>
            <a:r>
              <a:rPr lang="en-US" altLang="zh-CN" sz="1400" dirty="0"/>
              <a:t>    </a:t>
            </a:r>
            <a:r>
              <a:rPr lang="zh-CN" altLang="en-US" sz="1400" b="1" dirty="0"/>
              <a:t>嵌套循环法</a:t>
            </a:r>
            <a:r>
              <a:rPr lang="en-US" altLang="zh-CN" sz="1400" b="1" dirty="0"/>
              <a:t>(NESTED-LOOP)</a:t>
            </a:r>
            <a:endParaRPr lang="en-US" altLang="zh-CN" sz="1400" b="1" dirty="0"/>
          </a:p>
          <a:p>
            <a:pPr lvl="1" algn="just" eaLnBrk="1" hangingPunct="1">
              <a:lnSpc>
                <a:spcPct val="120000"/>
              </a:lnSpc>
              <a:buChar char="•"/>
            </a:pPr>
            <a:r>
              <a:rPr lang="zh-CN" altLang="en-US" dirty="0"/>
              <a:t>首先在表</a:t>
            </a:r>
            <a:r>
              <a:rPr lang="en-US" altLang="zh-CN" dirty="0"/>
              <a:t>1</a:t>
            </a:r>
            <a:r>
              <a:rPr lang="zh-CN" altLang="en-US" dirty="0"/>
              <a:t>中找到第一个元组，然后从头开始扫描表</a:t>
            </a:r>
            <a:r>
              <a:rPr lang="en-US" altLang="zh-CN" dirty="0"/>
              <a:t>2</a:t>
            </a:r>
            <a:r>
              <a:rPr lang="zh-CN" altLang="en-US" dirty="0"/>
              <a:t>，逐一查找满足连接件的元组，找到后就将表</a:t>
            </a:r>
            <a:r>
              <a:rPr lang="en-US" altLang="zh-CN" dirty="0"/>
              <a:t>1</a:t>
            </a:r>
            <a:r>
              <a:rPr lang="zh-CN" altLang="en-US" dirty="0"/>
              <a:t>中的第一个元组与该元组拼接起来，形成结果表中一个元组。</a:t>
            </a:r>
            <a:endParaRPr lang="zh-CN" altLang="en-US" dirty="0"/>
          </a:p>
          <a:p>
            <a:pPr lvl="1" algn="just" eaLnBrk="1" hangingPunct="1">
              <a:lnSpc>
                <a:spcPct val="120000"/>
              </a:lnSpc>
              <a:buChar char="•"/>
            </a:pPr>
            <a:r>
              <a:rPr lang="zh-CN" altLang="en-US" dirty="0"/>
              <a:t>表</a:t>
            </a:r>
            <a:r>
              <a:rPr lang="en-US" altLang="zh-CN" dirty="0"/>
              <a:t>2</a:t>
            </a:r>
            <a:r>
              <a:rPr lang="zh-CN" altLang="en-US" dirty="0"/>
              <a:t>全部查找完后，再找表</a:t>
            </a:r>
            <a:r>
              <a:rPr lang="en-US" altLang="zh-CN" dirty="0"/>
              <a:t>1</a:t>
            </a:r>
            <a:r>
              <a:rPr lang="zh-CN" altLang="en-US" dirty="0"/>
              <a:t>中第二个元组，然后再从头开始扫描表</a:t>
            </a:r>
            <a:r>
              <a:rPr lang="en-US" altLang="zh-CN" dirty="0"/>
              <a:t>2</a:t>
            </a:r>
            <a:r>
              <a:rPr lang="zh-CN" altLang="en-US" dirty="0"/>
              <a:t>，逐一查找满足连接条件的元组，找到后就将表</a:t>
            </a:r>
            <a:r>
              <a:rPr lang="en-US" altLang="zh-CN" dirty="0"/>
              <a:t>1</a:t>
            </a:r>
            <a:r>
              <a:rPr lang="zh-CN" altLang="en-US" dirty="0"/>
              <a:t>中的第二个元组与该元组拼接起来，形成结果表中一个元组。</a:t>
            </a:r>
            <a:endParaRPr lang="zh-CN" altLang="en-US" dirty="0"/>
          </a:p>
          <a:p>
            <a:pPr lvl="1" algn="just" eaLnBrk="1" hangingPunct="1">
              <a:lnSpc>
                <a:spcPct val="120000"/>
              </a:lnSpc>
              <a:buChar char="•"/>
            </a:pPr>
            <a:r>
              <a:rPr lang="zh-CN" altLang="en-US" dirty="0"/>
              <a:t>重复上述操作，直到表</a:t>
            </a:r>
            <a:r>
              <a:rPr lang="en-US" altLang="zh-CN" dirty="0"/>
              <a:t>1</a:t>
            </a:r>
            <a:r>
              <a:rPr lang="zh-CN" altLang="en-US" dirty="0"/>
              <a:t>中的全部元组都处理完毕</a:t>
            </a:r>
            <a:endParaRPr lang="zh-CN" altLang="en-US" dirty="0"/>
          </a:p>
          <a:p>
            <a:pPr lvl="1" algn="just" eaLnBrk="1" hangingPunct="1">
              <a:lnSpc>
                <a:spcPct val="120000"/>
              </a:lnSpc>
            </a:pPr>
            <a:endParaRPr lang="zh-CN" altLang="en-US" dirty="0"/>
          </a:p>
          <a:p>
            <a:pPr lvl="0" algn="just" eaLnBrk="1" hangingPunct="1">
              <a:lnSpc>
                <a:spcPct val="120000"/>
              </a:lnSpc>
            </a:pPr>
            <a:r>
              <a:rPr lang="zh-CN" altLang="en-US" dirty="0"/>
              <a:t>    </a:t>
            </a:r>
            <a:r>
              <a:rPr lang="zh-CN" altLang="en-US" b="1" dirty="0"/>
              <a:t>排序合并法</a:t>
            </a:r>
            <a:r>
              <a:rPr lang="en-US" altLang="zh-CN" b="1" dirty="0"/>
              <a:t>(SORT-MERGE),</a:t>
            </a:r>
            <a:r>
              <a:rPr lang="zh-CN" altLang="en-US" b="1" dirty="0"/>
              <a:t>常用于</a:t>
            </a:r>
            <a:r>
              <a:rPr lang="en-US" altLang="zh-CN" b="1" dirty="0"/>
              <a:t>=</a:t>
            </a:r>
            <a:r>
              <a:rPr lang="zh-CN" altLang="en-US" b="1" dirty="0"/>
              <a:t>连接</a:t>
            </a:r>
            <a:endParaRPr lang="zh-CN" altLang="en-US" b="1" dirty="0"/>
          </a:p>
          <a:p>
            <a:pPr lvl="1" algn="just" eaLnBrk="1" hangingPunct="1">
              <a:lnSpc>
                <a:spcPct val="120000"/>
              </a:lnSpc>
              <a:buChar char="•"/>
            </a:pPr>
            <a:r>
              <a:rPr lang="zh-CN" altLang="en-US" dirty="0"/>
              <a:t>首先按连接属性对表</a:t>
            </a:r>
            <a:r>
              <a:rPr lang="en-US" altLang="zh-CN" dirty="0"/>
              <a:t>1</a:t>
            </a:r>
            <a:r>
              <a:rPr lang="zh-CN" altLang="en-US" dirty="0"/>
              <a:t>和表</a:t>
            </a:r>
            <a:r>
              <a:rPr lang="en-US" altLang="zh-CN" dirty="0"/>
              <a:t>2</a:t>
            </a:r>
            <a:r>
              <a:rPr lang="zh-CN" altLang="en-US" dirty="0"/>
              <a:t>排序</a:t>
            </a:r>
            <a:endParaRPr lang="zh-CN" altLang="en-US" dirty="0"/>
          </a:p>
          <a:p>
            <a:pPr lvl="1" algn="just" eaLnBrk="1" hangingPunct="1">
              <a:lnSpc>
                <a:spcPct val="120000"/>
              </a:lnSpc>
              <a:buChar char="•"/>
            </a:pPr>
            <a:r>
              <a:rPr lang="zh-CN" altLang="en-US" dirty="0"/>
              <a:t>对表</a:t>
            </a:r>
            <a:r>
              <a:rPr lang="en-US" altLang="zh-CN" dirty="0"/>
              <a:t>1</a:t>
            </a:r>
            <a:r>
              <a:rPr lang="zh-CN" altLang="en-US" dirty="0"/>
              <a:t>的第一个元组，从头开始扫描表</a:t>
            </a:r>
            <a:r>
              <a:rPr lang="en-US" altLang="zh-CN" dirty="0"/>
              <a:t>2</a:t>
            </a:r>
            <a:r>
              <a:rPr lang="zh-CN" altLang="en-US" dirty="0"/>
              <a:t>，顺序查找满足连接条件的元组，找到后就将表</a:t>
            </a:r>
            <a:r>
              <a:rPr lang="en-US" altLang="zh-CN" dirty="0"/>
              <a:t>1</a:t>
            </a:r>
            <a:r>
              <a:rPr lang="zh-CN" altLang="en-US" dirty="0"/>
              <a:t>中的第一个元组与该元组拼接起来，形成结果表中一个元组。当遇到表</a:t>
            </a:r>
            <a:r>
              <a:rPr lang="en-US" altLang="zh-CN" dirty="0"/>
              <a:t>2</a:t>
            </a:r>
            <a:r>
              <a:rPr lang="zh-CN" altLang="en-US" dirty="0"/>
              <a:t>中第一条大于表</a:t>
            </a:r>
            <a:r>
              <a:rPr lang="en-US" altLang="zh-CN" dirty="0"/>
              <a:t>1</a:t>
            </a:r>
            <a:r>
              <a:rPr lang="zh-CN" altLang="en-US" dirty="0"/>
              <a:t>连接字段值的元组时，对表</a:t>
            </a:r>
            <a:r>
              <a:rPr lang="en-US" altLang="zh-CN" dirty="0"/>
              <a:t>2</a:t>
            </a:r>
            <a:r>
              <a:rPr lang="zh-CN" altLang="en-US" dirty="0"/>
              <a:t>的查询不再继续</a:t>
            </a:r>
            <a:endParaRPr lang="zh-CN" altLang="en-US" dirty="0"/>
          </a:p>
          <a:p>
            <a:pPr lvl="1" algn="just" eaLnBrk="1" hangingPunct="1">
              <a:lnSpc>
                <a:spcPct val="140000"/>
              </a:lnSpc>
              <a:buChar char="•"/>
            </a:pPr>
            <a:r>
              <a:rPr lang="zh-CN" altLang="en-US" dirty="0"/>
              <a:t>找到表</a:t>
            </a:r>
            <a:r>
              <a:rPr lang="en-US" altLang="zh-CN" dirty="0"/>
              <a:t>1</a:t>
            </a:r>
            <a:r>
              <a:rPr lang="zh-CN" altLang="en-US" dirty="0"/>
              <a:t>的第二条元组，然后从刚才的中断点处继续顺序扫描表</a:t>
            </a:r>
            <a:r>
              <a:rPr lang="en-US" altLang="zh-CN" dirty="0"/>
              <a:t>2</a:t>
            </a:r>
            <a:r>
              <a:rPr lang="zh-CN" altLang="en-US" dirty="0"/>
              <a:t>，查找满足连接条件的元组，找到后就将表</a:t>
            </a:r>
            <a:r>
              <a:rPr lang="en-US" altLang="zh-CN" dirty="0"/>
              <a:t>1</a:t>
            </a:r>
            <a:r>
              <a:rPr lang="zh-CN" altLang="en-US" dirty="0"/>
              <a:t>中的第一个元组与该元组拼接起来，形成结果表中一个元组。直接遇到表</a:t>
            </a:r>
            <a:r>
              <a:rPr lang="en-US" altLang="zh-CN" dirty="0"/>
              <a:t>2</a:t>
            </a:r>
            <a:r>
              <a:rPr lang="zh-CN" altLang="en-US" dirty="0"/>
              <a:t>中大于表</a:t>
            </a:r>
            <a:r>
              <a:rPr lang="en-US" altLang="zh-CN" dirty="0"/>
              <a:t>1</a:t>
            </a:r>
            <a:r>
              <a:rPr lang="zh-CN" altLang="en-US" dirty="0"/>
              <a:t>连接字段值的元组时，对表</a:t>
            </a:r>
            <a:r>
              <a:rPr lang="en-US" altLang="zh-CN" dirty="0"/>
              <a:t>2</a:t>
            </a:r>
            <a:r>
              <a:rPr lang="zh-CN" altLang="en-US" dirty="0"/>
              <a:t>的查询不再继续</a:t>
            </a:r>
            <a:endParaRPr lang="zh-CN" altLang="en-US" dirty="0"/>
          </a:p>
          <a:p>
            <a:pPr lvl="1" algn="just" eaLnBrk="1" hangingPunct="1">
              <a:lnSpc>
                <a:spcPct val="140000"/>
              </a:lnSpc>
              <a:buChar char="•"/>
            </a:pPr>
            <a:r>
              <a:rPr lang="zh-CN" altLang="en-US" dirty="0"/>
              <a:t>重复上述操作，直到表</a:t>
            </a:r>
            <a:r>
              <a:rPr lang="en-US" altLang="zh-CN" dirty="0"/>
              <a:t>1</a:t>
            </a:r>
            <a:r>
              <a:rPr lang="zh-CN" altLang="en-US" dirty="0"/>
              <a:t>或表</a:t>
            </a:r>
            <a:r>
              <a:rPr lang="en-US" altLang="zh-CN" dirty="0"/>
              <a:t>2</a:t>
            </a:r>
            <a:r>
              <a:rPr lang="zh-CN" altLang="en-US" dirty="0"/>
              <a:t>中的全部元组都处理完毕为止 </a:t>
            </a:r>
            <a:endParaRPr lang="zh-CN" altLang="en-US" dirty="0"/>
          </a:p>
          <a:p>
            <a:pPr lvl="0" algn="just" eaLnBrk="1" hangingPunct="1">
              <a:lnSpc>
                <a:spcPct val="120000"/>
              </a:lnSpc>
            </a:pPr>
            <a:endParaRPr lang="zh-CN" altLang="en-US" dirty="0"/>
          </a:p>
          <a:p>
            <a:pPr lvl="0" algn="just" eaLnBrk="1" hangingPunct="1">
              <a:lnSpc>
                <a:spcPct val="120000"/>
              </a:lnSpc>
            </a:pPr>
            <a:r>
              <a:rPr lang="zh-CN" altLang="en-US" dirty="0"/>
              <a:t>    </a:t>
            </a:r>
            <a:r>
              <a:rPr lang="zh-CN" altLang="en-US" b="1" dirty="0"/>
              <a:t>索引连接</a:t>
            </a:r>
            <a:r>
              <a:rPr lang="en-US" altLang="zh-CN" b="1" dirty="0"/>
              <a:t>(INDEX-JOIN)</a:t>
            </a:r>
            <a:endParaRPr lang="en-US" altLang="zh-CN" b="1" dirty="0"/>
          </a:p>
          <a:p>
            <a:pPr lvl="1" algn="just" eaLnBrk="1" hangingPunct="1">
              <a:lnSpc>
                <a:spcPct val="140000"/>
              </a:lnSpc>
              <a:buChar char="•"/>
            </a:pPr>
            <a:r>
              <a:rPr lang="zh-CN" altLang="en-US" dirty="0"/>
              <a:t>对表</a:t>
            </a:r>
            <a:r>
              <a:rPr lang="en-US" altLang="zh-CN" dirty="0"/>
              <a:t>2</a:t>
            </a:r>
            <a:r>
              <a:rPr lang="zh-CN" altLang="en-US" dirty="0"/>
              <a:t>按连接字段建立索引</a:t>
            </a:r>
            <a:endParaRPr lang="zh-CN" altLang="en-US" dirty="0"/>
          </a:p>
          <a:p>
            <a:pPr lvl="1" algn="just" eaLnBrk="1" hangingPunct="1">
              <a:lnSpc>
                <a:spcPct val="140000"/>
              </a:lnSpc>
              <a:buChar char="•"/>
            </a:pPr>
            <a:r>
              <a:rPr lang="zh-CN" altLang="en-US" dirty="0"/>
              <a:t>对表</a:t>
            </a:r>
            <a:r>
              <a:rPr lang="en-US" altLang="zh-CN" dirty="0"/>
              <a:t>1</a:t>
            </a:r>
            <a:r>
              <a:rPr lang="zh-CN" altLang="en-US" dirty="0"/>
              <a:t>中的每个元组，依次根据其连接字段值查询表</a:t>
            </a:r>
            <a:r>
              <a:rPr lang="en-US" altLang="zh-CN" dirty="0"/>
              <a:t>2</a:t>
            </a:r>
            <a:r>
              <a:rPr lang="zh-CN" altLang="en-US" dirty="0"/>
              <a:t>的索引，从中找到满足条件的元组，找到后就将表</a:t>
            </a:r>
            <a:r>
              <a:rPr lang="en-US" altLang="zh-CN" dirty="0"/>
              <a:t>1</a:t>
            </a:r>
            <a:r>
              <a:rPr lang="zh-CN" altLang="en-US" dirty="0"/>
              <a:t>中的第一个元组与该元组拼接起来，形成结果表中一个元组 </a:t>
            </a:r>
            <a:endParaRPr lang="zh-CN" altLang="en-US" dirty="0"/>
          </a:p>
          <a:p>
            <a:pPr lvl="0" algn="just" eaLnBrk="1" hangingPunct="1">
              <a:lnSpc>
                <a:spcPct val="120000"/>
              </a:lnSpc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168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US" altLang="zh-CN" dirty="0"/>
              <a:t>	</a:t>
            </a:r>
            <a:r>
              <a:rPr lang="zh-CN" altLang="en-US" dirty="0"/>
              <a:t>利用</a:t>
            </a:r>
            <a:r>
              <a:rPr lang="en-US" altLang="zh-CN" dirty="0"/>
              <a:t>SELECT</a:t>
            </a:r>
            <a:r>
              <a:rPr lang="zh-CN" altLang="en-US" dirty="0"/>
              <a:t>语句进行数据库查询时，可以把多个表、视图的数据结合起来，使得查询结果的每一行中包含来自多个表达式或视图的数据，这种操作被称为连接查询。</a:t>
            </a:r>
            <a:endParaRPr lang="zh-CN" altLang="en-US" dirty="0"/>
          </a:p>
          <a:p>
            <a:pPr lvl="0" algn="just" eaLnBrk="1" hangingPunct="1"/>
            <a:r>
              <a:rPr lang="zh-CN" altLang="en-US" dirty="0"/>
              <a:t>	连接查询的方法是在</a:t>
            </a:r>
            <a:r>
              <a:rPr lang="en-US" altLang="zh-CN" dirty="0"/>
              <a:t>SELECT</a:t>
            </a:r>
            <a:r>
              <a:rPr lang="zh-CN" altLang="en-US" dirty="0"/>
              <a:t>命令的</a:t>
            </a:r>
            <a:r>
              <a:rPr lang="en-US" altLang="zh-CN" dirty="0"/>
              <a:t>FROM</a:t>
            </a:r>
            <a:r>
              <a:rPr lang="zh-CN" altLang="en-US" dirty="0"/>
              <a:t>子句中指定两个或多个将被连接查询的表或视图，并且在</a:t>
            </a:r>
            <a:r>
              <a:rPr lang="en-US" altLang="zh-CN" dirty="0"/>
              <a:t>WHERE</a:t>
            </a:r>
            <a:r>
              <a:rPr lang="zh-CN" altLang="en-US" dirty="0"/>
              <a:t>子句指示如何把多个表的数据进行合并。根据</a:t>
            </a:r>
            <a:r>
              <a:rPr lang="en-US" altLang="zh-CN" dirty="0"/>
              <a:t>WHERE</a:t>
            </a:r>
            <a:r>
              <a:rPr lang="zh-CN" altLang="en-US" dirty="0"/>
              <a:t>子句中的条件表达式是等还是不等式，可以把连接查询分为等式连接和不等式连接。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270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373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373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1" algn="just" eaLnBrk="1" hangingPunct="1">
              <a:lnSpc>
                <a:spcPct val="150000"/>
              </a:lnSpc>
            </a:pPr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475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algn="just" eaLnBrk="1" hangingPunct="1">
              <a:lnSpc>
                <a:spcPct val="150000"/>
              </a:lnSpc>
            </a:pPr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577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578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algn="just" eaLnBrk="1" hangingPunct="1">
              <a:lnSpc>
                <a:spcPct val="150000"/>
              </a:lnSpc>
            </a:pPr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680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680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algn="just" eaLnBrk="1" hangingPunct="1"/>
            <a:r>
              <a:rPr lang="en-US" altLang="zh-CN" sz="1000" dirty="0"/>
              <a:t>WHERE</a:t>
            </a:r>
            <a:r>
              <a:rPr lang="zh-CN" altLang="en-US" sz="1000" dirty="0"/>
              <a:t>子句中含多个连接条件时，称为复合条件连接</a:t>
            </a:r>
            <a:endParaRPr lang="zh-CN" altLang="en-US" sz="1000" dirty="0"/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782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782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885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885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987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987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algn="just" eaLnBrk="1" hangingPunct="1">
              <a:lnSpc>
                <a:spcPct val="130000"/>
              </a:lnSpc>
            </a:pPr>
            <a:r>
              <a:rPr lang="zh-CN" altLang="en-US" dirty="0"/>
              <a:t>由于所有属性名都是同名属性，因此必须使用别名前缀。</a:t>
            </a:r>
            <a:endParaRPr lang="zh-CN" altLang="en-US" dirty="0"/>
          </a:p>
          <a:p>
            <a:pPr lvl="0" algn="just" eaLnBrk="1" hangingPunct="1">
              <a:lnSpc>
                <a:spcPct val="130000"/>
              </a:lnSpc>
            </a:pPr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089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algn="just" eaLnBrk="1" hangingPunct="1">
              <a:lnSpc>
                <a:spcPct val="130000"/>
              </a:lnSpc>
            </a:pPr>
            <a:endParaRPr lang="zh-CN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192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192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US" altLang="zh-CN" dirty="0"/>
              <a:t>SQL</a:t>
            </a:r>
            <a:r>
              <a:rPr lang="zh-CN" altLang="en-US" dirty="0"/>
              <a:t>的主要功能之一是实现数据库查询。</a:t>
            </a:r>
            <a:endParaRPr lang="zh-CN" altLang="en-US" dirty="0"/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294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294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algn="just" eaLnBrk="1" hangingPunct="1"/>
            <a:r>
              <a:rPr lang="zh-CN" altLang="en-US" dirty="0">
                <a:latin typeface="宋体" panose="02010600030101010101" pitchFamily="2" charset="-122"/>
              </a:rPr>
              <a:t>标准</a:t>
            </a:r>
            <a:r>
              <a:rPr lang="en-US" altLang="zh-CN" dirty="0">
                <a:latin typeface="宋体" panose="02010600030101010101" pitchFamily="2" charset="-122"/>
              </a:rPr>
              <a:t>SQL</a:t>
            </a:r>
            <a:r>
              <a:rPr lang="zh-CN" altLang="en-US" dirty="0">
                <a:latin typeface="宋体" panose="02010600030101010101" pitchFamily="2" charset="-122"/>
              </a:rPr>
              <a:t>直接支持的集合操作种类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zh-CN" altLang="en-US" sz="1400" dirty="0">
                <a:latin typeface="宋体" panose="02010600030101010101" pitchFamily="2" charset="-122"/>
              </a:rPr>
              <a:t>并操作</a:t>
            </a:r>
            <a:r>
              <a:rPr lang="en-US" altLang="zh-CN" sz="1400" dirty="0">
                <a:latin typeface="宋体" panose="02010600030101010101" pitchFamily="2" charset="-122"/>
              </a:rPr>
              <a:t>(UNION)</a:t>
            </a:r>
            <a:endParaRPr lang="en-US" altLang="zh-CN" sz="1400" dirty="0">
              <a:latin typeface="宋体" panose="02010600030101010101" pitchFamily="2" charset="-122"/>
            </a:endParaRPr>
          </a:p>
          <a:p>
            <a:pPr lvl="1" algn="just" eaLnBrk="1" hangingPunct="1"/>
            <a:endParaRPr lang="en-US" altLang="zh-CN" sz="1400" dirty="0">
              <a:latin typeface="宋体" panose="02010600030101010101" pitchFamily="2" charset="-122"/>
            </a:endParaRPr>
          </a:p>
          <a:p>
            <a:pPr lvl="0" algn="just" eaLnBrk="1" hangingPunct="1"/>
            <a:r>
              <a:rPr lang="zh-CN" altLang="en-US" dirty="0">
                <a:latin typeface="宋体" panose="02010600030101010101" pitchFamily="2" charset="-122"/>
              </a:rPr>
              <a:t>一般商用数据库支持的集合操作种类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zh-CN" altLang="en-US" sz="1400" dirty="0">
                <a:latin typeface="宋体" panose="02010600030101010101" pitchFamily="2" charset="-122"/>
              </a:rPr>
              <a:t>并操作</a:t>
            </a:r>
            <a:r>
              <a:rPr lang="en-US" altLang="zh-CN" sz="1400" dirty="0">
                <a:latin typeface="宋体" panose="02010600030101010101" pitchFamily="2" charset="-122"/>
              </a:rPr>
              <a:t>(UNION)</a:t>
            </a:r>
            <a:endParaRPr lang="en-US" altLang="zh-CN" sz="1400" dirty="0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zh-CN" altLang="en-US" sz="1400" dirty="0">
                <a:latin typeface="宋体" panose="02010600030101010101" pitchFamily="2" charset="-122"/>
              </a:rPr>
              <a:t>交操作</a:t>
            </a:r>
            <a:r>
              <a:rPr lang="en-US" altLang="zh-CN" sz="1400" dirty="0">
                <a:latin typeface="宋体" panose="02010600030101010101" pitchFamily="2" charset="-122"/>
              </a:rPr>
              <a:t>(INTERSECT)</a:t>
            </a:r>
            <a:endParaRPr lang="en-US" altLang="zh-CN" sz="1400" dirty="0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zh-CN" altLang="en-US" sz="1400" dirty="0">
                <a:latin typeface="宋体" panose="02010600030101010101" pitchFamily="2" charset="-122"/>
              </a:rPr>
              <a:t>差操作</a:t>
            </a:r>
            <a:r>
              <a:rPr lang="en-US" altLang="zh-CN" sz="1400" dirty="0">
                <a:latin typeface="宋体" panose="02010600030101010101" pitchFamily="2" charset="-122"/>
              </a:rPr>
              <a:t>(MINUS)</a:t>
            </a:r>
            <a:endParaRPr lang="en-US" altLang="zh-CN" sz="1400" dirty="0">
              <a:latin typeface="宋体" panose="02010600030101010101" pitchFamily="2" charset="-122"/>
            </a:endParaRPr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397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397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499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499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601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602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704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buChar char="•"/>
            </a:pPr>
            <a:r>
              <a:rPr lang="zh-CN" altLang="en-US" dirty="0"/>
              <a:t>子查询是一种把查询的结果作为参数返回给另一个查询的一种查询。</a:t>
            </a:r>
            <a:endParaRPr lang="zh-CN" altLang="en-US" dirty="0"/>
          </a:p>
          <a:p>
            <a:pPr lvl="0" eaLnBrk="1" hangingPunct="1">
              <a:buChar char="•"/>
            </a:pPr>
            <a:r>
              <a:rPr lang="zh-CN" altLang="en-US" dirty="0"/>
              <a:t>子查询可被嵌套的深度依用户的需要而定</a:t>
            </a:r>
            <a:endParaRPr lang="zh-CN" altLang="en-US" dirty="0"/>
          </a:p>
          <a:p>
            <a:pPr lvl="0" eaLnBrk="1" hangingPunct="1">
              <a:lnSpc>
                <a:spcPct val="140000"/>
              </a:lnSpc>
              <a:buChar char="•"/>
            </a:pPr>
            <a:r>
              <a:rPr lang="zh-CN" altLang="en-US" dirty="0"/>
              <a:t>层层嵌套方式反映了 </a:t>
            </a:r>
            <a:r>
              <a:rPr lang="en-US" altLang="zh-CN" dirty="0"/>
              <a:t>SQL</a:t>
            </a:r>
            <a:r>
              <a:rPr lang="zh-CN" altLang="en-US" dirty="0"/>
              <a:t>语言的结构化</a:t>
            </a:r>
            <a:endParaRPr lang="zh-CN" altLang="en-US" dirty="0"/>
          </a:p>
          <a:p>
            <a:pPr lvl="0" eaLnBrk="1" hangingPunct="1">
              <a:lnSpc>
                <a:spcPct val="140000"/>
              </a:lnSpc>
              <a:buChar char="•"/>
            </a:pPr>
            <a:r>
              <a:rPr lang="zh-CN" altLang="en-US" dirty="0"/>
              <a:t>有些嵌套查询可以用连接运算替代</a:t>
            </a:r>
            <a:endParaRPr lang="zh-CN" altLang="en-US" dirty="0"/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806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806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909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909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9011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011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sz="1000" dirty="0">
                <a:solidFill>
                  <a:srgbClr val="FF3399"/>
                </a:solidFill>
              </a:rPr>
              <a:t>从后向前：</a:t>
            </a:r>
            <a:endParaRPr lang="zh-CN" altLang="en-US" sz="1000" dirty="0">
              <a:solidFill>
                <a:srgbClr val="FF3399"/>
              </a:solidFill>
            </a:endParaRPr>
          </a:p>
          <a:p>
            <a:pPr lvl="0" eaLnBrk="1" hangingPunct="1"/>
            <a:r>
              <a:rPr lang="zh-CN" altLang="en-US" sz="1000" dirty="0">
                <a:solidFill>
                  <a:srgbClr val="FF3399"/>
                </a:solidFill>
              </a:rPr>
              <a:t>① 首先在</a:t>
            </a:r>
            <a:r>
              <a:rPr lang="en-US" altLang="zh-CN" sz="1000" dirty="0">
                <a:solidFill>
                  <a:srgbClr val="FF3399"/>
                </a:solidFill>
              </a:rPr>
              <a:t>Course</a:t>
            </a:r>
            <a:r>
              <a:rPr lang="zh-CN" altLang="en-US" sz="1000" dirty="0">
                <a:solidFill>
                  <a:srgbClr val="FF3399"/>
                </a:solidFill>
              </a:rPr>
              <a:t>关系中找出“数据库原理”的课程号，结果为</a:t>
            </a:r>
            <a:r>
              <a:rPr lang="en-US" altLang="zh-CN" sz="1000" dirty="0">
                <a:solidFill>
                  <a:srgbClr val="FF3399"/>
                </a:solidFill>
              </a:rPr>
              <a:t>3</a:t>
            </a:r>
            <a:r>
              <a:rPr lang="zh-CN" altLang="en-US" sz="1000" dirty="0">
                <a:solidFill>
                  <a:srgbClr val="FF3399"/>
                </a:solidFill>
              </a:rPr>
              <a:t>号</a:t>
            </a:r>
            <a:endParaRPr lang="zh-CN" altLang="en-US" sz="1000" dirty="0">
              <a:solidFill>
                <a:srgbClr val="FF3399"/>
              </a:solidFill>
            </a:endParaRPr>
          </a:p>
          <a:p>
            <a:pPr lvl="0" eaLnBrk="1" hangingPunct="1"/>
            <a:r>
              <a:rPr lang="zh-CN" altLang="en-US" sz="1000" dirty="0">
                <a:solidFill>
                  <a:srgbClr val="FF3399"/>
                </a:solidFill>
              </a:rPr>
              <a:t>② 然后在</a:t>
            </a:r>
            <a:r>
              <a:rPr lang="en-US" altLang="zh-CN" sz="1000" dirty="0">
                <a:solidFill>
                  <a:srgbClr val="FF3399"/>
                </a:solidFill>
              </a:rPr>
              <a:t>SC</a:t>
            </a:r>
            <a:r>
              <a:rPr lang="zh-CN" altLang="en-US" sz="1000" dirty="0">
                <a:solidFill>
                  <a:srgbClr val="FF3399"/>
                </a:solidFill>
              </a:rPr>
              <a:t>关系中找出选修了</a:t>
            </a:r>
            <a:r>
              <a:rPr lang="en-US" altLang="zh-CN" sz="1000" dirty="0">
                <a:solidFill>
                  <a:srgbClr val="FF3399"/>
                </a:solidFill>
              </a:rPr>
              <a:t>3</a:t>
            </a:r>
            <a:r>
              <a:rPr lang="zh-CN" altLang="en-US" sz="1000" dirty="0">
                <a:solidFill>
                  <a:srgbClr val="FF3399"/>
                </a:solidFill>
              </a:rPr>
              <a:t>号课程的学生学号</a:t>
            </a:r>
            <a:endParaRPr lang="zh-CN" altLang="en-US" sz="1000" dirty="0">
              <a:solidFill>
                <a:srgbClr val="FF3399"/>
              </a:solidFill>
            </a:endParaRPr>
          </a:p>
          <a:p>
            <a:pPr lvl="0" eaLnBrk="1" hangingPunct="1"/>
            <a:r>
              <a:rPr lang="zh-CN" altLang="en-US" sz="1000" dirty="0">
                <a:solidFill>
                  <a:srgbClr val="FF3399"/>
                </a:solidFill>
              </a:rPr>
              <a:t>③ 最后在</a:t>
            </a:r>
            <a:r>
              <a:rPr lang="en-US" altLang="zh-CN" sz="1000" dirty="0">
                <a:solidFill>
                  <a:srgbClr val="FF3399"/>
                </a:solidFill>
              </a:rPr>
              <a:t>Student</a:t>
            </a:r>
            <a:r>
              <a:rPr lang="zh-CN" altLang="en-US" sz="1000" dirty="0">
                <a:solidFill>
                  <a:srgbClr val="FF3399"/>
                </a:solidFill>
              </a:rPr>
              <a:t>关系中取出</a:t>
            </a:r>
            <a:r>
              <a:rPr lang="en-US" altLang="zh-CN" sz="1000" dirty="0">
                <a:solidFill>
                  <a:srgbClr val="FF3399"/>
                </a:solidFill>
              </a:rPr>
              <a:t>Sno</a:t>
            </a:r>
            <a:r>
              <a:rPr lang="zh-CN" altLang="en-US" sz="1000" dirty="0">
                <a:solidFill>
                  <a:srgbClr val="FF3399"/>
                </a:solidFill>
              </a:rPr>
              <a:t>和</a:t>
            </a:r>
            <a:r>
              <a:rPr lang="en-US" altLang="zh-CN" sz="1000" dirty="0">
                <a:solidFill>
                  <a:srgbClr val="FF3399"/>
                </a:solidFill>
              </a:rPr>
              <a:t>Sname</a:t>
            </a:r>
            <a:endParaRPr lang="en-US" altLang="zh-CN" sz="1000" dirty="0">
              <a:solidFill>
                <a:srgbClr val="FF3399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9113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114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sz="1000" dirty="0">
              <a:solidFill>
                <a:srgbClr val="FF3399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9216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216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lnSpc>
                <a:spcPct val="160000"/>
              </a:lnSpc>
            </a:pPr>
            <a:r>
              <a:rPr lang="zh-CN" altLang="en-US" dirty="0"/>
              <a:t>与</a:t>
            </a:r>
            <a:r>
              <a:rPr lang="en-US" altLang="zh-CN" dirty="0"/>
              <a:t>ANY</a:t>
            </a:r>
            <a:r>
              <a:rPr lang="zh-CN" altLang="en-US" dirty="0"/>
              <a:t>或</a:t>
            </a:r>
            <a:r>
              <a:rPr lang="en-US" altLang="zh-CN" dirty="0"/>
              <a:t>ALL</a:t>
            </a:r>
            <a:r>
              <a:rPr lang="zh-CN" altLang="en-US" dirty="0"/>
              <a:t>谓词配合使用</a:t>
            </a:r>
            <a:endParaRPr lang="zh-CN" altLang="en-US" dirty="0"/>
          </a:p>
          <a:p>
            <a:pPr lvl="0" eaLnBrk="1" hangingPunct="1"/>
            <a:endParaRPr lang="zh-CN" altLang="en-US" dirty="0"/>
          </a:p>
          <a:p>
            <a:pPr lvl="0" eaLnBrk="1" hangingPunct="1">
              <a:buFont typeface="宋体" panose="02010600030101010101" pitchFamily="2" charset="-122"/>
              <a:buChar char="•"/>
            </a:pPr>
            <a:r>
              <a:rPr lang="zh-CN" altLang="en-US" dirty="0"/>
              <a:t>子查询一定要跟在比较符之后</a:t>
            </a:r>
            <a:endParaRPr lang="zh-CN" altLang="en-US" dirty="0"/>
          </a:p>
          <a:p>
            <a:pPr lvl="0" eaLnBrk="1" hangingPunct="1">
              <a:buFont typeface="宋体" panose="02010600030101010101" pitchFamily="2" charset="-122"/>
              <a:buChar char="•"/>
            </a:pPr>
            <a:r>
              <a:rPr lang="zh-CN" altLang="en-US" dirty="0"/>
              <a:t>    </a:t>
            </a:r>
            <a:r>
              <a:rPr lang="zh-CN" altLang="en-US" dirty="0">
                <a:solidFill>
                  <a:srgbClr val="D75B5B"/>
                </a:solidFill>
              </a:rPr>
              <a:t>错误</a:t>
            </a:r>
            <a:r>
              <a:rPr lang="zh-CN" altLang="en-US" dirty="0"/>
              <a:t>的例子：</a:t>
            </a:r>
            <a:endParaRPr lang="zh-CN" altLang="en-US" dirty="0"/>
          </a:p>
          <a:p>
            <a:pPr lvl="0" eaLnBrk="1" hangingPunct="1">
              <a:buFont typeface="宋体" panose="02010600030101010101" pitchFamily="2" charset="-122"/>
              <a:buChar char="•"/>
            </a:pPr>
            <a:r>
              <a:rPr lang="zh-CN" altLang="en-US" dirty="0"/>
              <a:t>     </a:t>
            </a:r>
            <a:r>
              <a:rPr lang="en-US" altLang="zh-CN" dirty="0"/>
              <a:t>SELECT  Sno</a:t>
            </a:r>
            <a:r>
              <a:rPr lang="zh-CN" altLang="en-US" dirty="0"/>
              <a:t>，</a:t>
            </a:r>
            <a:r>
              <a:rPr lang="en-US" altLang="zh-CN" dirty="0"/>
              <a:t>Sname</a:t>
            </a:r>
            <a:r>
              <a:rPr lang="zh-CN" altLang="en-US" dirty="0"/>
              <a:t>，</a:t>
            </a:r>
            <a:r>
              <a:rPr lang="en-US" altLang="zh-CN" dirty="0"/>
              <a:t>Sdept</a:t>
            </a:r>
            <a:endParaRPr lang="en-US" altLang="zh-CN" dirty="0"/>
          </a:p>
          <a:p>
            <a:pPr lvl="0" eaLnBrk="1" hangingPunct="1">
              <a:buFont typeface="宋体" panose="02010600030101010101" pitchFamily="2" charset="-122"/>
              <a:buChar char="•"/>
            </a:pPr>
            <a:r>
              <a:rPr lang="en-US" altLang="zh-CN" dirty="0"/>
              <a:t>     FROM     S</a:t>
            </a:r>
            <a:endParaRPr lang="en-US" altLang="zh-CN" dirty="0"/>
          </a:p>
          <a:p>
            <a:pPr lvl="0" eaLnBrk="1" hangingPunct="1">
              <a:buFont typeface="宋体" panose="02010600030101010101" pitchFamily="2" charset="-122"/>
              <a:buChar char="•"/>
            </a:pPr>
            <a:r>
              <a:rPr lang="en-US" altLang="zh-CN" dirty="0"/>
              <a:t>     WHERE ( SELECT Sdept FROM S  WHERE Sname= ‘ </a:t>
            </a:r>
            <a:r>
              <a:rPr lang="zh-CN" altLang="en-US" dirty="0"/>
              <a:t>刘晨 ’ </a:t>
            </a:r>
            <a:r>
              <a:rPr lang="en-US" altLang="zh-CN" dirty="0"/>
              <a:t>) </a:t>
            </a:r>
            <a:endParaRPr lang="en-US" altLang="zh-CN" dirty="0"/>
          </a:p>
          <a:p>
            <a:pPr lvl="0" eaLnBrk="1" hangingPunct="1">
              <a:buFont typeface="宋体" panose="02010600030101010101" pitchFamily="2" charset="-122"/>
              <a:buChar char="•"/>
            </a:pPr>
            <a:r>
              <a:rPr lang="en-US" altLang="zh-CN" dirty="0">
                <a:solidFill>
                  <a:srgbClr val="D75B5B"/>
                </a:solidFill>
              </a:rPr>
              <a:t>                     = Sdept</a:t>
            </a:r>
            <a:r>
              <a:rPr lang="zh-CN" altLang="en-US" dirty="0"/>
              <a:t>；</a:t>
            </a:r>
            <a:endParaRPr lang="zh-CN" altLang="en-US" dirty="0"/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9318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buFont typeface="宋体" panose="02010600030101010101" pitchFamily="2" charset="-122"/>
              <a:buChar char="•"/>
            </a:pPr>
            <a:r>
              <a:rPr lang="zh-CN" altLang="en-US" dirty="0"/>
              <a:t>执行过程</a:t>
            </a:r>
            <a:endParaRPr lang="zh-CN" altLang="en-US" dirty="0"/>
          </a:p>
          <a:p>
            <a:pPr lvl="0" eaLnBrk="1" hangingPunct="1">
              <a:lnSpc>
                <a:spcPct val="120000"/>
              </a:lnSpc>
              <a:buFont typeface="宋体" panose="02010600030101010101" pitchFamily="2" charset="-122"/>
              <a:buChar char="•"/>
            </a:pPr>
            <a:r>
              <a:rPr lang="en-US" altLang="zh-CN" dirty="0"/>
              <a:t>1.DBMS</a:t>
            </a:r>
            <a:r>
              <a:rPr lang="zh-CN" altLang="en-US" dirty="0"/>
              <a:t>执行此查询时，首先处理子查询，找出</a:t>
            </a:r>
            <a:r>
              <a:rPr lang="en-US" altLang="zh-CN" dirty="0"/>
              <a:t>IS</a:t>
            </a:r>
            <a:r>
              <a:rPr lang="zh-CN" altLang="en-US" dirty="0"/>
              <a:t>系中所有学生的年龄，构成一个集合</a:t>
            </a:r>
            <a:r>
              <a:rPr lang="en-US" altLang="zh-CN" dirty="0"/>
              <a:t>(19</a:t>
            </a:r>
            <a:r>
              <a:rPr lang="zh-CN" altLang="en-US" dirty="0"/>
              <a:t>，</a:t>
            </a:r>
            <a:r>
              <a:rPr lang="en-US" altLang="zh-CN" dirty="0"/>
              <a:t>18)</a:t>
            </a:r>
            <a:endParaRPr lang="en-US" altLang="zh-CN" dirty="0"/>
          </a:p>
          <a:p>
            <a:pPr lvl="0" eaLnBrk="1" hangingPunct="1">
              <a:lnSpc>
                <a:spcPct val="120000"/>
              </a:lnSpc>
              <a:buFont typeface="宋体" panose="02010600030101010101" pitchFamily="2" charset="-122"/>
              <a:buChar char="•"/>
            </a:pPr>
            <a:r>
              <a:rPr lang="en-US" altLang="zh-CN" dirty="0"/>
              <a:t>2. </a:t>
            </a:r>
            <a:r>
              <a:rPr lang="zh-CN" altLang="en-US" dirty="0"/>
              <a:t>处理父查询，找所有不是</a:t>
            </a:r>
            <a:r>
              <a:rPr lang="en-US" altLang="zh-CN" dirty="0"/>
              <a:t>IS</a:t>
            </a:r>
            <a:r>
              <a:rPr lang="zh-CN" altLang="en-US" dirty="0"/>
              <a:t>系且年龄小于</a:t>
            </a:r>
            <a:r>
              <a:rPr lang="en-US" altLang="zh-CN" dirty="0"/>
              <a:t>19 </a:t>
            </a:r>
            <a:r>
              <a:rPr lang="zh-CN" altLang="en-US" dirty="0">
                <a:solidFill>
                  <a:srgbClr val="D75B5B"/>
                </a:solidFill>
              </a:rPr>
              <a:t>或 </a:t>
            </a:r>
            <a:r>
              <a:rPr lang="en-US" altLang="zh-CN" dirty="0"/>
              <a:t>18</a:t>
            </a:r>
            <a:r>
              <a:rPr lang="zh-CN" altLang="en-US" dirty="0"/>
              <a:t>的学生</a:t>
            </a:r>
            <a:endParaRPr lang="zh-CN" altLang="en-US" dirty="0"/>
          </a:p>
          <a:p>
            <a:pPr lvl="0" eaLnBrk="1" hangingPunct="1">
              <a:buChar char="•"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9421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421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用集函数实现子查询通常比直接用</a:t>
            </a:r>
            <a:r>
              <a:rPr lang="en-US" altLang="zh-CN" dirty="0"/>
              <a:t>ANY</a:t>
            </a:r>
            <a:r>
              <a:rPr lang="zh-CN" altLang="en-US" dirty="0"/>
              <a:t>或</a:t>
            </a:r>
            <a:r>
              <a:rPr lang="en-US" altLang="zh-CN" dirty="0"/>
              <a:t>ALL</a:t>
            </a:r>
            <a:r>
              <a:rPr lang="zh-CN" altLang="en-US" dirty="0"/>
              <a:t>查询效率要高，因为前者通常能够减少比较次数。</a:t>
            </a:r>
            <a:endParaRPr lang="zh-CN" altLang="en-US" dirty="0"/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9523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52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buFont typeface="宋体" panose="02010600030101010101" pitchFamily="2" charset="-122"/>
              <a:buChar char="•"/>
            </a:pPr>
            <a:r>
              <a:rPr lang="zh-CN" altLang="en-US" dirty="0"/>
              <a:t>执行过程</a:t>
            </a:r>
            <a:endParaRPr lang="zh-CN" altLang="en-US" dirty="0"/>
          </a:p>
          <a:p>
            <a:pPr lvl="0" eaLnBrk="1" hangingPunct="1">
              <a:lnSpc>
                <a:spcPct val="120000"/>
              </a:lnSpc>
              <a:buFont typeface="宋体" panose="02010600030101010101" pitchFamily="2" charset="-122"/>
              <a:buChar char="•"/>
            </a:pPr>
            <a:r>
              <a:rPr lang="en-US" altLang="zh-CN" dirty="0"/>
              <a:t>1.DBMS</a:t>
            </a:r>
            <a:r>
              <a:rPr lang="zh-CN" altLang="en-US" dirty="0"/>
              <a:t>执行此查询时，首先处理子查询，找出</a:t>
            </a:r>
            <a:r>
              <a:rPr lang="en-US" altLang="zh-CN" dirty="0"/>
              <a:t>IS</a:t>
            </a:r>
            <a:r>
              <a:rPr lang="zh-CN" altLang="en-US" dirty="0"/>
              <a:t>系中所有学生的年龄，构成一个集合</a:t>
            </a:r>
            <a:r>
              <a:rPr lang="en-US" altLang="zh-CN" dirty="0"/>
              <a:t>(19</a:t>
            </a:r>
            <a:r>
              <a:rPr lang="zh-CN" altLang="en-US" dirty="0"/>
              <a:t>，</a:t>
            </a:r>
            <a:r>
              <a:rPr lang="en-US" altLang="zh-CN" dirty="0"/>
              <a:t>18)</a:t>
            </a:r>
            <a:endParaRPr lang="en-US" altLang="zh-CN" dirty="0"/>
          </a:p>
          <a:p>
            <a:pPr lvl="0" eaLnBrk="1" hangingPunct="1">
              <a:lnSpc>
                <a:spcPct val="120000"/>
              </a:lnSpc>
              <a:buFont typeface="宋体" panose="02010600030101010101" pitchFamily="2" charset="-122"/>
              <a:buChar char="•"/>
            </a:pPr>
            <a:r>
              <a:rPr lang="en-US" altLang="zh-CN" dirty="0"/>
              <a:t>2. </a:t>
            </a:r>
            <a:r>
              <a:rPr lang="zh-CN" altLang="en-US" dirty="0"/>
              <a:t>处理父查询，找所有不是</a:t>
            </a:r>
            <a:r>
              <a:rPr lang="en-US" altLang="zh-CN" dirty="0"/>
              <a:t>IS</a:t>
            </a:r>
            <a:r>
              <a:rPr lang="zh-CN" altLang="en-US" dirty="0"/>
              <a:t>系且年龄小于</a:t>
            </a:r>
            <a:r>
              <a:rPr lang="en-US" altLang="zh-CN" dirty="0"/>
              <a:t>19 </a:t>
            </a:r>
            <a:r>
              <a:rPr lang="zh-CN" altLang="en-US" dirty="0">
                <a:solidFill>
                  <a:srgbClr val="D75B5B"/>
                </a:solidFill>
              </a:rPr>
              <a:t>或 </a:t>
            </a:r>
            <a:r>
              <a:rPr lang="en-US" altLang="zh-CN" dirty="0"/>
              <a:t>18</a:t>
            </a:r>
            <a:r>
              <a:rPr lang="zh-CN" altLang="en-US" dirty="0"/>
              <a:t>的学生</a:t>
            </a:r>
            <a:endParaRPr lang="zh-CN" altLang="en-US" dirty="0"/>
          </a:p>
          <a:p>
            <a:pPr lvl="0" eaLnBrk="1" hangingPunct="1">
              <a:buChar char="•"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9625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626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buFont typeface="宋体" panose="02010600030101010101" pitchFamily="2" charset="-122"/>
              <a:buChar char="•"/>
            </a:pPr>
            <a:r>
              <a:rPr lang="zh-CN" altLang="en-US" dirty="0"/>
              <a:t>查询结果为空表。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marL="627380" lvl="1" indent="-274955">
              <a:spcBef>
                <a:spcPct val="0"/>
              </a:spcBef>
            </a:pPr>
            <a:r>
              <a:rPr lang="zh-CN" altLang="en-US" dirty="0">
                <a:cs typeface="Courier New" panose="02070309020205020404" pitchFamily="49" charset="0"/>
              </a:rPr>
              <a:t>带有</a:t>
            </a:r>
            <a:r>
              <a:rPr lang="en-US" altLang="zh-CN" dirty="0">
                <a:cs typeface="Courier New" panose="02070309020205020404" pitchFamily="49" charset="0"/>
              </a:rPr>
              <a:t>EXISTS</a:t>
            </a:r>
            <a:r>
              <a:rPr lang="zh-CN" altLang="en-US" dirty="0">
                <a:cs typeface="Courier New" panose="02070309020205020404" pitchFamily="49" charset="0"/>
              </a:rPr>
              <a:t>的子查询不返回任何数据，只产生逻辑真“</a:t>
            </a:r>
            <a:r>
              <a:rPr lang="en-US" altLang="zh-CN" dirty="0">
                <a:cs typeface="Courier New" panose="02070309020205020404" pitchFamily="49" charset="0"/>
              </a:rPr>
              <a:t>True”</a:t>
            </a:r>
            <a:r>
              <a:rPr lang="zh-CN" altLang="en-US" dirty="0">
                <a:cs typeface="Courier New" panose="02070309020205020404" pitchFamily="49" charset="0"/>
              </a:rPr>
              <a:t>或逻辑假“</a:t>
            </a:r>
            <a:r>
              <a:rPr lang="en-US" altLang="zh-CN" dirty="0">
                <a:cs typeface="Courier New" panose="02070309020205020404" pitchFamily="49" charset="0"/>
              </a:rPr>
              <a:t>False”</a:t>
            </a:r>
            <a:r>
              <a:rPr lang="zh-CN" altLang="en-US" dirty="0">
                <a:cs typeface="Courier New" panose="02070309020205020404" pitchFamily="49" charset="0"/>
              </a:rPr>
              <a:t>。</a:t>
            </a:r>
            <a:endParaRPr lang="zh-CN" altLang="en-US" dirty="0">
              <a:cs typeface="Courier New" panose="02070309020205020404" pitchFamily="49" charset="0"/>
            </a:endParaRPr>
          </a:p>
          <a:p>
            <a:pPr lvl="2">
              <a:spcBef>
                <a:spcPct val="15000"/>
              </a:spcBef>
            </a:pPr>
            <a:r>
              <a:rPr lang="zh-CN" altLang="en-US" sz="3200" dirty="0">
                <a:cs typeface="Courier New" panose="02070309020205020404" pitchFamily="49" charset="0"/>
              </a:rPr>
              <a:t>若内层查询结果</a:t>
            </a:r>
            <a:r>
              <a:rPr lang="zh-CN" altLang="en-US" sz="3200" dirty="0">
                <a:solidFill>
                  <a:srgbClr val="FF3300"/>
                </a:solidFill>
                <a:cs typeface="Courier New" panose="02070309020205020404" pitchFamily="49" charset="0"/>
              </a:rPr>
              <a:t>非空</a:t>
            </a:r>
            <a:r>
              <a:rPr lang="zh-CN" altLang="en-US" sz="3200" dirty="0">
                <a:cs typeface="Courier New" panose="02070309020205020404" pitchFamily="49" charset="0"/>
              </a:rPr>
              <a:t>，则返回</a:t>
            </a:r>
            <a:r>
              <a:rPr lang="zh-CN" altLang="en-US" sz="3200" dirty="0">
                <a:solidFill>
                  <a:srgbClr val="FF3300"/>
                </a:solidFill>
                <a:cs typeface="Courier New" panose="02070309020205020404" pitchFamily="49" charset="0"/>
              </a:rPr>
              <a:t>真值</a:t>
            </a:r>
            <a:endParaRPr lang="zh-CN" altLang="en-US" sz="3200" dirty="0">
              <a:solidFill>
                <a:srgbClr val="FF3300"/>
              </a:solidFill>
              <a:cs typeface="Courier New" panose="02070309020205020404" pitchFamily="49" charset="0"/>
            </a:endParaRPr>
          </a:p>
          <a:p>
            <a:pPr lvl="2">
              <a:spcBef>
                <a:spcPct val="15000"/>
              </a:spcBef>
            </a:pPr>
            <a:r>
              <a:rPr lang="zh-CN" altLang="en-US" sz="3200" dirty="0">
                <a:cs typeface="Courier New" panose="02070309020205020404" pitchFamily="49" charset="0"/>
              </a:rPr>
              <a:t>若内层查询结果</a:t>
            </a:r>
            <a:r>
              <a:rPr lang="zh-CN" altLang="en-US" sz="3200" dirty="0">
                <a:solidFill>
                  <a:srgbClr val="FF3300"/>
                </a:solidFill>
                <a:cs typeface="Courier New" panose="02070309020205020404" pitchFamily="49" charset="0"/>
              </a:rPr>
              <a:t>为空</a:t>
            </a:r>
            <a:r>
              <a:rPr lang="zh-CN" altLang="en-US" sz="3200" dirty="0">
                <a:cs typeface="Courier New" panose="02070309020205020404" pitchFamily="49" charset="0"/>
              </a:rPr>
              <a:t>，则返回</a:t>
            </a:r>
            <a:r>
              <a:rPr lang="zh-CN" altLang="en-US" sz="3200" dirty="0">
                <a:solidFill>
                  <a:srgbClr val="FF3300"/>
                </a:solidFill>
                <a:cs typeface="Courier New" panose="02070309020205020404" pitchFamily="49" charset="0"/>
              </a:rPr>
              <a:t>假值</a:t>
            </a:r>
            <a:endParaRPr lang="zh-CN" altLang="en-US" sz="3200" dirty="0">
              <a:solidFill>
                <a:srgbClr val="FF3300"/>
              </a:solidFill>
              <a:cs typeface="Courier New" panose="02070309020205020404" pitchFamily="49" charset="0"/>
            </a:endParaRPr>
          </a:p>
          <a:p>
            <a:pPr marL="627380" lvl="1" indent="-274955">
              <a:spcBef>
                <a:spcPct val="40000"/>
              </a:spcBef>
            </a:pPr>
            <a:r>
              <a:rPr lang="zh-CN" altLang="en-US" dirty="0">
                <a:cs typeface="Courier New" panose="02070309020205020404" pitchFamily="49" charset="0"/>
              </a:rPr>
              <a:t>由</a:t>
            </a:r>
            <a:r>
              <a:rPr lang="en-US" altLang="zh-CN" dirty="0">
                <a:cs typeface="Courier New" panose="02070309020205020404" pitchFamily="49" charset="0"/>
              </a:rPr>
              <a:t>EXISTS</a:t>
            </a:r>
            <a:r>
              <a:rPr lang="zh-CN" altLang="en-US" dirty="0">
                <a:cs typeface="Courier New" panose="02070309020205020404" pitchFamily="49" charset="0"/>
              </a:rPr>
              <a:t>引出的子查询，其目标列表达式通常都用</a:t>
            </a:r>
            <a:r>
              <a:rPr lang="zh-CN" altLang="en-US" dirty="0">
                <a:solidFill>
                  <a:srgbClr val="0000CC"/>
                </a:solidFill>
                <a:cs typeface="Courier New" panose="02070309020205020404" pitchFamily="49" charset="0"/>
              </a:rPr>
              <a:t>“</a:t>
            </a:r>
            <a:r>
              <a:rPr lang="zh-CN" altLang="en-US" dirty="0">
                <a:solidFill>
                  <a:srgbClr val="FF0000"/>
                </a:solidFill>
                <a:cs typeface="Courier New" panose="02070309020205020404" pitchFamily="49" charset="0"/>
                <a:sym typeface="Symbol" panose="05050102010706020507" pitchFamily="18" charset="2"/>
              </a:rPr>
              <a:t></a:t>
            </a:r>
            <a:r>
              <a:rPr lang="zh-CN" altLang="en-US" dirty="0">
                <a:solidFill>
                  <a:srgbClr val="0000CC"/>
                </a:solidFill>
                <a:cs typeface="Courier New" panose="02070309020205020404" pitchFamily="49" charset="0"/>
                <a:sym typeface="Symbol" panose="05050102010706020507" pitchFamily="18" charset="2"/>
              </a:rPr>
              <a:t>”</a:t>
            </a:r>
            <a:r>
              <a:rPr lang="zh-CN" altLang="en-US" dirty="0">
                <a:cs typeface="Courier New" panose="02070309020205020404" pitchFamily="49" charset="0"/>
              </a:rPr>
              <a:t> ，因为带</a:t>
            </a:r>
            <a:r>
              <a:rPr lang="en-US" altLang="zh-CN" dirty="0">
                <a:cs typeface="Courier New" panose="02070309020205020404" pitchFamily="49" charset="0"/>
              </a:rPr>
              <a:t>EXISTS</a:t>
            </a:r>
            <a:r>
              <a:rPr lang="zh-CN" altLang="en-US" dirty="0">
                <a:cs typeface="Courier New" panose="02070309020205020404" pitchFamily="49" charset="0"/>
              </a:rPr>
              <a:t>的子查询只返回真值或假值，给出列名无实际意义。</a:t>
            </a:r>
            <a:endParaRPr lang="zh-CN" altLang="en-US" dirty="0">
              <a:cs typeface="Courier New" panose="02070309020205020404" pitchFamily="49" charset="0"/>
            </a:endParaRPr>
          </a:p>
          <a:p>
            <a:pPr lvl="0"/>
            <a:endParaRPr lang="zh-CN" altLang="en-US" dirty="0"/>
          </a:p>
        </p:txBody>
      </p:sp>
      <p:sp>
        <p:nvSpPr>
          <p:cNvPr id="972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当未确定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zh-CN" altLang="en-US" dirty="0"/>
              <a:t>的值时，子查询无法得到结果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983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933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marL="0" lvl="1" indent="0"/>
            <a:r>
              <a:rPr lang="zh-CN" altLang="en-US" dirty="0">
                <a:cs typeface="Courier New" panose="02070309020205020404" pitchFamily="49" charset="0"/>
              </a:rPr>
              <a:t>由</a:t>
            </a:r>
            <a:r>
              <a:rPr lang="en-US" altLang="zh-CN" dirty="0">
                <a:cs typeface="Courier New" panose="02070309020205020404" pitchFamily="49" charset="0"/>
              </a:rPr>
              <a:t>EXISTS</a:t>
            </a:r>
            <a:r>
              <a:rPr lang="zh-CN" altLang="en-US" dirty="0">
                <a:cs typeface="Courier New" panose="02070309020205020404" pitchFamily="49" charset="0"/>
              </a:rPr>
              <a:t>引出的子查询，其目标列表达式通常都用</a:t>
            </a:r>
            <a:r>
              <a:rPr lang="zh-CN" altLang="en-US" dirty="0">
                <a:solidFill>
                  <a:srgbClr val="0000CC"/>
                </a:solidFill>
                <a:cs typeface="Courier New" panose="02070309020205020404" pitchFamily="49" charset="0"/>
              </a:rPr>
              <a:t>“</a:t>
            </a:r>
            <a:r>
              <a:rPr lang="zh-CN" altLang="en-US" dirty="0">
                <a:solidFill>
                  <a:srgbClr val="FF0000"/>
                </a:solidFill>
                <a:cs typeface="Courier New" panose="02070309020205020404" pitchFamily="49" charset="0"/>
                <a:sym typeface="Symbol" panose="05050102010706020507" pitchFamily="18" charset="2"/>
              </a:rPr>
              <a:t></a:t>
            </a:r>
            <a:r>
              <a:rPr lang="zh-CN" altLang="en-US" dirty="0">
                <a:solidFill>
                  <a:srgbClr val="0000CC"/>
                </a:solidFill>
                <a:cs typeface="Courier New" panose="02070309020205020404" pitchFamily="49" charset="0"/>
                <a:sym typeface="Symbol" panose="05050102010706020507" pitchFamily="18" charset="2"/>
              </a:rPr>
              <a:t>”</a:t>
            </a:r>
            <a:r>
              <a:rPr lang="zh-CN" altLang="en-US" dirty="0">
                <a:cs typeface="Courier New" panose="02070309020205020404" pitchFamily="49" charset="0"/>
              </a:rPr>
              <a:t> ，因为带</a:t>
            </a:r>
            <a:r>
              <a:rPr lang="en-US" altLang="zh-CN" dirty="0">
                <a:cs typeface="Courier New" panose="02070309020205020404" pitchFamily="49" charset="0"/>
              </a:rPr>
              <a:t>EXISTS</a:t>
            </a:r>
            <a:r>
              <a:rPr lang="zh-CN" altLang="en-US" dirty="0">
                <a:cs typeface="Courier New" panose="02070309020205020404" pitchFamily="49" charset="0"/>
              </a:rPr>
              <a:t>的子查询只返回真值或假值，给出列名无实际意义。</a:t>
            </a:r>
            <a:endParaRPr lang="zh-CN" altLang="en-US" dirty="0">
              <a:cs typeface="Courier New" panose="02070309020205020404" pitchFamily="49" charset="0"/>
            </a:endParaRPr>
          </a:p>
          <a:p>
            <a:pPr lvl="0"/>
            <a:endParaRPr lang="zh-CN" altLang="en-US" dirty="0"/>
          </a:p>
        </p:txBody>
      </p:sp>
      <p:sp>
        <p:nvSpPr>
          <p:cNvPr id="993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audio" Target="../media/audio1.wav"/><Relationship Id="rId4" Type="http://schemas.openxmlformats.org/officeDocument/2006/relationships/image" Target="../media/image3.wmf"/><Relationship Id="rId3" Type="http://schemas.openxmlformats.org/officeDocument/2006/relationships/control" Target="../activeX/activeX1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audio" Target="../media/audio1.wav"/><Relationship Id="rId4" Type="http://schemas.openxmlformats.org/officeDocument/2006/relationships/image" Target="../media/image4.wmf"/><Relationship Id="rId3" Type="http://schemas.openxmlformats.org/officeDocument/2006/relationships/control" Target="../activeX/activeX2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audio" Target="../media/audio1.wav"/><Relationship Id="rId4" Type="http://schemas.openxmlformats.org/officeDocument/2006/relationships/image" Target="../media/image5.wmf"/><Relationship Id="rId3" Type="http://schemas.openxmlformats.org/officeDocument/2006/relationships/control" Target="../activeX/activeX3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audio" Target="../media/audio1.wav"/><Relationship Id="rId4" Type="http://schemas.openxmlformats.org/officeDocument/2006/relationships/image" Target="../media/image5.wmf"/><Relationship Id="rId3" Type="http://schemas.openxmlformats.org/officeDocument/2006/relationships/control" Target="../activeX/activeX4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audio" Target="../media/audio1.wav"/><Relationship Id="rId4" Type="http://schemas.openxmlformats.org/officeDocument/2006/relationships/image" Target="../media/image6.wmf"/><Relationship Id="rId3" Type="http://schemas.openxmlformats.org/officeDocument/2006/relationships/control" Target="../activeX/activeX5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audio" Target="../media/audio1.wav"/><Relationship Id="rId4" Type="http://schemas.openxmlformats.org/officeDocument/2006/relationships/image" Target="../media/image6.wmf"/><Relationship Id="rId3" Type="http://schemas.openxmlformats.org/officeDocument/2006/relationships/control" Target="../activeX/activeX6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audio" Target="../media/audio1.wav"/><Relationship Id="rId4" Type="http://schemas.openxmlformats.org/officeDocument/2006/relationships/image" Target="../media/image7.wmf"/><Relationship Id="rId3" Type="http://schemas.openxmlformats.org/officeDocument/2006/relationships/control" Target="../activeX/activeX7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8.vml"/><Relationship Id="rId5" Type="http://schemas.openxmlformats.org/officeDocument/2006/relationships/audio" Target="../media/audio1.wav"/><Relationship Id="rId4" Type="http://schemas.openxmlformats.org/officeDocument/2006/relationships/image" Target="../media/image7.wmf"/><Relationship Id="rId3" Type="http://schemas.openxmlformats.org/officeDocument/2006/relationships/control" Target="../activeX/activeX8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audio" Target="../media/audio1.wav"/><Relationship Id="rId4" Type="http://schemas.openxmlformats.org/officeDocument/2006/relationships/image" Target="../media/image8.wmf"/><Relationship Id="rId3" Type="http://schemas.openxmlformats.org/officeDocument/2006/relationships/control" Target="../activeX/activeX9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audio" Target="../media/audio1.wav"/><Relationship Id="rId4" Type="http://schemas.openxmlformats.org/officeDocument/2006/relationships/image" Target="../media/image9.wmf"/><Relationship Id="rId3" Type="http://schemas.openxmlformats.org/officeDocument/2006/relationships/control" Target="../activeX/activeX10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.vml"/><Relationship Id="rId5" Type="http://schemas.openxmlformats.org/officeDocument/2006/relationships/audio" Target="../media/audio1.wav"/><Relationship Id="rId4" Type="http://schemas.openxmlformats.org/officeDocument/2006/relationships/image" Target="../media/image10.wmf"/><Relationship Id="rId3" Type="http://schemas.openxmlformats.org/officeDocument/2006/relationships/control" Target="../activeX/activeX11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6" name="Group 2"/>
          <p:cNvGrpSpPr/>
          <p:nvPr/>
        </p:nvGrpSpPr>
        <p:grpSpPr>
          <a:xfrm>
            <a:off x="-293687" y="533400"/>
            <a:ext cx="9437687" cy="6632575"/>
            <a:chOff x="-186" y="351"/>
            <a:chExt cx="5945" cy="4178"/>
          </a:xfrm>
        </p:grpSpPr>
        <p:grpSp>
          <p:nvGrpSpPr>
            <p:cNvPr id="13322" name="Group 3"/>
            <p:cNvGrpSpPr/>
            <p:nvPr/>
          </p:nvGrpSpPr>
          <p:grpSpPr>
            <a:xfrm>
              <a:off x="-186" y="351"/>
              <a:ext cx="4316" cy="4178"/>
              <a:chOff x="-186" y="351"/>
              <a:chExt cx="4316" cy="4178"/>
            </a:xfrm>
          </p:grpSpPr>
          <p:grpSp>
            <p:nvGrpSpPr>
              <p:cNvPr id="13324" name="Group 4"/>
              <p:cNvGrpSpPr/>
              <p:nvPr/>
            </p:nvGrpSpPr>
            <p:grpSpPr>
              <a:xfrm>
                <a:off x="-186" y="351"/>
                <a:ext cx="4316" cy="4178"/>
                <a:chOff x="-186" y="351"/>
                <a:chExt cx="4316" cy="4178"/>
              </a:xfrm>
            </p:grpSpPr>
            <p:sp>
              <p:nvSpPr>
                <p:cNvPr id="13326" name="AutoShape 5"/>
                <p:cNvSpPr/>
                <p:nvPr/>
              </p:nvSpPr>
              <p:spPr>
                <a:xfrm rot="-9240000">
                  <a:off x="-186" y="351"/>
                  <a:ext cx="4316" cy="4178"/>
                </a:xfrm>
                <a:prstGeom prst="diamond">
                  <a:avLst/>
                </a:prstGeom>
                <a:gradFill rotWithShape="0">
                  <a:gsLst>
                    <a:gs pos="0">
                      <a:schemeClr val="bg2"/>
                    </a:gs>
                    <a:gs pos="100000">
                      <a:schemeClr val="bg1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9525">
                  <a:noFill/>
                </a:ln>
              </p:spPr>
              <p:txBody>
                <a:bodyPr wrap="none" anchor="ctr" anchorCtr="0"/>
                <a:p>
                  <a:pPr lvl="0" eaLnBrk="1" hangingPunct="1">
                    <a:buNone/>
                  </a:pPr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327" name="AutoShape 6" descr="Cloth"/>
                <p:cNvSpPr/>
                <p:nvPr/>
              </p:nvSpPr>
              <p:spPr>
                <a:xfrm rot="-9240000">
                  <a:off x="694" y="1203"/>
                  <a:ext cx="2556" cy="2474"/>
                </a:xfrm>
                <a:prstGeom prst="diamond">
                  <a:avLst/>
                </a:prstGeom>
                <a:blipFill rotWithShape="0">
                  <a:blip r:embed="rId2"/>
                </a:blipFill>
                <a:ln w="9525">
                  <a:noFill/>
                </a:ln>
              </p:spPr>
              <p:txBody>
                <a:bodyPr wrap="none" anchor="ctr" anchorCtr="0"/>
                <a:p>
                  <a:pPr lvl="0" eaLnBrk="1" hangingPunct="1">
                    <a:buNone/>
                  </a:pPr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328" name="Rectangle 7"/>
                <p:cNvSpPr/>
                <p:nvPr/>
              </p:nvSpPr>
              <p:spPr>
                <a:xfrm rot="-9240000">
                  <a:off x="2249" y="2499"/>
                  <a:ext cx="649" cy="280"/>
                </a:xfrm>
                <a:prstGeom prst="rect">
                  <a:avLst/>
                </a:prstGeom>
                <a:solidFill>
                  <a:schemeClr val="folHlink">
                    <a:alpha val="50195"/>
                  </a:schemeClr>
                </a:solidFill>
                <a:ln w="9525">
                  <a:noFill/>
                </a:ln>
              </p:spPr>
              <p:txBody>
                <a:bodyPr wrap="none" anchor="ctr" anchorCtr="0"/>
                <a:p>
                  <a:pPr lvl="0" eaLnBrk="1" hangingPunct="1">
                    <a:buNone/>
                  </a:pPr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329" name="Oval 8"/>
                <p:cNvSpPr/>
                <p:nvPr/>
              </p:nvSpPr>
              <p:spPr>
                <a:xfrm rot="-9240000">
                  <a:off x="1292" y="2567"/>
                  <a:ext cx="570" cy="528"/>
                </a:xfrm>
                <a:prstGeom prst="ellipse">
                  <a:avLst/>
                </a:prstGeom>
                <a:solidFill>
                  <a:schemeClr val="accent1">
                    <a:alpha val="50195"/>
                  </a:schemeClr>
                </a:solidFill>
                <a:ln w="9525">
                  <a:noFill/>
                </a:ln>
              </p:spPr>
              <p:txBody>
                <a:bodyPr wrap="none" anchor="ctr" anchorCtr="0"/>
                <a:p>
                  <a:pPr lvl="0" eaLnBrk="1" hangingPunct="1">
                    <a:buNone/>
                  </a:pPr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330" name="Rectangle 9"/>
                <p:cNvSpPr/>
                <p:nvPr/>
              </p:nvSpPr>
              <p:spPr>
                <a:xfrm rot="-9240000">
                  <a:off x="2373" y="2047"/>
                  <a:ext cx="446" cy="81"/>
                </a:xfrm>
                <a:prstGeom prst="rect">
                  <a:avLst/>
                </a:prstGeom>
                <a:solidFill>
                  <a:schemeClr val="accent1">
                    <a:alpha val="50195"/>
                  </a:schemeClr>
                </a:solidFill>
                <a:ln w="9525">
                  <a:noFill/>
                </a:ln>
              </p:spPr>
              <p:txBody>
                <a:bodyPr wrap="none" anchor="ctr" anchorCtr="0"/>
                <a:p>
                  <a:pPr lvl="0" eaLnBrk="1" hangingPunct="1">
                    <a:buNone/>
                  </a:pPr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331" name="Rectangle 10"/>
                <p:cNvSpPr/>
                <p:nvPr/>
              </p:nvSpPr>
              <p:spPr>
                <a:xfrm rot="-9240000">
                  <a:off x="1927" y="3071"/>
                  <a:ext cx="445" cy="82"/>
                </a:xfrm>
                <a:prstGeom prst="rect">
                  <a:avLst/>
                </a:prstGeom>
                <a:solidFill>
                  <a:schemeClr val="accent1">
                    <a:alpha val="50195"/>
                  </a:schemeClr>
                </a:solidFill>
                <a:ln w="9525">
                  <a:noFill/>
                </a:ln>
              </p:spPr>
              <p:txBody>
                <a:bodyPr wrap="none" anchor="ctr" anchorCtr="0"/>
                <a:p>
                  <a:pPr lvl="0" eaLnBrk="1" hangingPunct="1">
                    <a:buNone/>
                  </a:pPr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332" name="Arc 11"/>
                <p:cNvSpPr/>
                <p:nvPr/>
              </p:nvSpPr>
              <p:spPr>
                <a:xfrm rot="10485000">
                  <a:off x="1261" y="1548"/>
                  <a:ext cx="723" cy="847"/>
                </a:xfrm>
                <a:custGeom>
                  <a:avLst/>
                  <a:gdLst/>
                  <a:ahLst/>
                  <a:cxnLst>
                    <a:cxn ang="0">
                      <a:pos x="2" y="847"/>
                    </a:cxn>
                    <a:cxn ang="0">
                      <a:pos x="723" y="688"/>
                    </a:cxn>
                    <a:cxn ang="0">
                      <a:pos x="363" y="771"/>
                    </a:cxn>
                  </a:cxnLst>
                  <a:pathLst>
                    <a:path w="43074" h="23720" fill="none">
                      <a:moveTo>
                        <a:pt x="104" y="23719"/>
                      </a:moveTo>
                      <a:cubicBezTo>
                        <a:pt x="34" y="23015"/>
                        <a:pt x="0" y="22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2626" y="-1"/>
                        <a:pt x="41882" y="8305"/>
                        <a:pt x="43073" y="19267"/>
                      </a:cubicBezTo>
                    </a:path>
                    <a:path w="43074" h="23720" stroke="0">
                      <a:moveTo>
                        <a:pt x="104" y="23719"/>
                      </a:moveTo>
                      <a:cubicBezTo>
                        <a:pt x="34" y="23015"/>
                        <a:pt x="0" y="22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2626" y="-1"/>
                        <a:pt x="41882" y="8305"/>
                        <a:pt x="43073" y="19267"/>
                      </a:cubicBezTo>
                      <a:lnTo>
                        <a:pt x="21600" y="21600"/>
                      </a:lnTo>
                      <a:lnTo>
                        <a:pt x="104" y="23719"/>
                      </a:lnTo>
                      <a:close/>
                    </a:path>
                  </a:pathLst>
                </a:custGeom>
                <a:solidFill>
                  <a:schemeClr val="folHlink">
                    <a:alpha val="50195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3333" name="Freeform 12"/>
                <p:cNvSpPr/>
                <p:nvPr/>
              </p:nvSpPr>
              <p:spPr>
                <a:xfrm>
                  <a:off x="1300" y="1374"/>
                  <a:ext cx="1035" cy="2007"/>
                </a:xfrm>
                <a:custGeom>
                  <a:avLst/>
                  <a:gdLst/>
                  <a:ahLst/>
                  <a:cxnLst>
                    <a:cxn ang="0">
                      <a:pos x="56" y="2006"/>
                    </a:cxn>
                    <a:cxn ang="0">
                      <a:pos x="0" y="1843"/>
                    </a:cxn>
                    <a:cxn ang="0">
                      <a:pos x="871" y="56"/>
                    </a:cxn>
                    <a:cxn ang="0">
                      <a:pos x="1034" y="0"/>
                    </a:cxn>
                    <a:cxn ang="0">
                      <a:pos x="56" y="2006"/>
                    </a:cxn>
                  </a:cxnLst>
                  <a:pathLst>
                    <a:path w="1035" h="2007">
                      <a:moveTo>
                        <a:pt x="56" y="2006"/>
                      </a:moveTo>
                      <a:lnTo>
                        <a:pt x="0" y="1843"/>
                      </a:lnTo>
                      <a:lnTo>
                        <a:pt x="871" y="56"/>
                      </a:lnTo>
                      <a:lnTo>
                        <a:pt x="1034" y="0"/>
                      </a:lnTo>
                      <a:lnTo>
                        <a:pt x="56" y="2006"/>
                      </a:lnTo>
                    </a:path>
                  </a:pathLst>
                </a:custGeom>
                <a:solidFill>
                  <a:schemeClr val="hlink">
                    <a:alpha val="50195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13325" name="Freeform 13"/>
              <p:cNvSpPr/>
              <p:nvPr/>
            </p:nvSpPr>
            <p:spPr>
              <a:xfrm>
                <a:off x="2448" y="1810"/>
                <a:ext cx="324" cy="231"/>
              </a:xfrm>
              <a:custGeom>
                <a:avLst/>
                <a:gdLst/>
                <a:ahLst/>
                <a:cxnLst>
                  <a:cxn ang="0">
                    <a:pos x="321" y="226"/>
                  </a:cxn>
                  <a:cxn ang="0">
                    <a:pos x="287" y="123"/>
                  </a:cxn>
                  <a:cxn ang="0">
                    <a:pos x="53" y="9"/>
                  </a:cxn>
                  <a:cxn ang="0">
                    <a:pos x="35" y="0"/>
                  </a:cxn>
                  <a:cxn ang="0">
                    <a:pos x="0" y="72"/>
                  </a:cxn>
                  <a:cxn ang="0">
                    <a:pos x="323" y="230"/>
                  </a:cxn>
                </a:cxnLst>
                <a:pathLst>
                  <a:path w="324" h="231">
                    <a:moveTo>
                      <a:pt x="321" y="226"/>
                    </a:moveTo>
                    <a:lnTo>
                      <a:pt x="287" y="123"/>
                    </a:lnTo>
                    <a:lnTo>
                      <a:pt x="53" y="9"/>
                    </a:lnTo>
                    <a:lnTo>
                      <a:pt x="35" y="0"/>
                    </a:lnTo>
                    <a:lnTo>
                      <a:pt x="0" y="72"/>
                    </a:lnTo>
                    <a:lnTo>
                      <a:pt x="323" y="230"/>
                    </a:lnTo>
                  </a:path>
                </a:pathLst>
              </a:custGeom>
              <a:solidFill>
                <a:schemeClr val="accent1">
                  <a:alpha val="50195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3323" name="Rectangle 14"/>
            <p:cNvSpPr/>
            <p:nvPr/>
          </p:nvSpPr>
          <p:spPr>
            <a:xfrm>
              <a:off x="768" y="720"/>
              <a:ext cx="4991" cy="816"/>
            </a:xfrm>
            <a:prstGeom prst="rect">
              <a:avLst/>
            </a:prstGeom>
            <a:solidFill>
              <a:schemeClr val="accent2">
                <a:alpha val="50195"/>
              </a:schemeClr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4111" name="Rectangle 15"/>
          <p:cNvSpPr>
            <a:spLocks noGrp="1" noChangeArrowheads="1"/>
          </p:cNvSpPr>
          <p:nvPr>
            <p:ph type="ctrTitle" sz="quarter"/>
          </p:nvPr>
        </p:nvSpPr>
        <p:spPr>
          <a:xfrm>
            <a:off x="1217613" y="12192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724400" y="2819400"/>
            <a:ext cx="4267200" cy="3200400"/>
          </a:xfrm>
        </p:spPr>
        <p:txBody>
          <a:bodyPr lIns="92075" tIns="46038" rIns="92075" bIns="46038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  <a:endParaRPr lang="en-US" altLang="zh-CN"/>
          </a:p>
        </p:txBody>
      </p:sp>
      <p:sp>
        <p:nvSpPr>
          <p:cNvPr id="20" name="Rectangle 17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1524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algn="l" eaLnBrk="0" hangingPunct="0">
              <a:defRPr sz="1400" b="0" i="1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18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 i="1">
                <a:latin typeface="+mj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600" b="1" i="1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j-lt"/>
              <a:ea typeface="黑体" panose="02010609060101010101" pitchFamily="2" charset="-122"/>
              <a:cs typeface="+mn-cs"/>
            </a:endParaRPr>
          </a:p>
        </p:txBody>
      </p:sp>
      <p:sp>
        <p:nvSpPr>
          <p:cNvPr id="22" name="Rectangle 19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i="1" dirty="0"/>
            </a:fld>
            <a:endParaRPr lang="en-US" altLang="zh-CN" i="1" dirty="0"/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PhAnim="0" showMasterSp="0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7" descr="paint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774700"/>
            <a:ext cx="4716463" cy="142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ext Box 28"/>
          <p:cNvSpPr txBox="1">
            <a:spLocks noChangeArrowheads="1"/>
          </p:cNvSpPr>
          <p:nvPr/>
        </p:nvSpPr>
        <p:spPr bwMode="auto">
          <a:xfrm>
            <a:off x="8496300" y="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p>
            <a:pPr lvl="0" eaLnBrk="0" hangingPunct="0">
              <a:buNone/>
            </a:pPr>
            <a:fld id="{9A0DB2DC-4C9A-4742-B13C-FB6460FD3503}" type="slidenum">
              <a:rPr lang="en-US" altLang="zh-CN" sz="2400" dirty="0">
                <a:solidFill>
                  <a:srgbClr val="808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</a:fld>
            <a:endParaRPr lang="en-US" altLang="zh-CN" sz="2400" dirty="0">
              <a:solidFill>
                <a:srgbClr val="8080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4341" name="Rectangle 25"/>
          <p:cNvSpPr/>
          <p:nvPr/>
        </p:nvSpPr>
        <p:spPr>
          <a:xfrm>
            <a:off x="1828800" y="6461125"/>
            <a:ext cx="2667000" cy="3968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lvl="0" algn="l" eaLnBrk="0" hangingPunct="0">
              <a:buNone/>
            </a:pPr>
            <a:endParaRPr lang="en-US" altLang="zh-CN" sz="2000" b="0" dirty="0">
              <a:solidFill>
                <a:srgbClr val="808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" name="页脚占位符 3"/>
          <p:cNvSpPr>
            <a:spLocks noGrp="1"/>
          </p:cNvSpPr>
          <p:nvPr>
            <p:ph type="ftr" sz="quarter" idx="3"/>
          </p:nvPr>
        </p:nvSpPr>
        <p:spPr>
          <a:xfrm>
            <a:off x="37338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4339" name="" r:id="rId3" imgW="684213" imgH="569913"/>
        </mc:Choice>
        <mc:Fallback>
          <p:control name="" r:id="rId3" imgW="684213" imgH="569913">
            <p:pic>
              <p:nvPicPr>
                <p:cNvPr id="0" name="Host Control  14338"/>
                <p:cNvPicPr/>
                <p:nvPr userDrawn="1"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0" y="6245225"/>
                  <a:ext cx="684213" cy="569913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PhAnim="0" showMasterSp="0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7" descr="paint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774700"/>
            <a:ext cx="4716463" cy="142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ext Box 28"/>
          <p:cNvSpPr txBox="1">
            <a:spLocks noChangeArrowheads="1"/>
          </p:cNvSpPr>
          <p:nvPr/>
        </p:nvSpPr>
        <p:spPr bwMode="auto">
          <a:xfrm>
            <a:off x="8496300" y="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p>
            <a:pPr lvl="0" eaLnBrk="0" hangingPunct="0">
              <a:buNone/>
            </a:pPr>
            <a:fld id="{9A0DB2DC-4C9A-4742-B13C-FB6460FD3503}" type="slidenum">
              <a:rPr lang="en-US" altLang="zh-CN" sz="2400" dirty="0">
                <a:solidFill>
                  <a:srgbClr val="808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</a:fld>
            <a:endParaRPr lang="en-US" altLang="zh-CN" sz="2400" dirty="0">
              <a:solidFill>
                <a:srgbClr val="8080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5365" name="Rectangle 25"/>
          <p:cNvSpPr/>
          <p:nvPr/>
        </p:nvSpPr>
        <p:spPr>
          <a:xfrm>
            <a:off x="1828800" y="6461125"/>
            <a:ext cx="2667000" cy="3968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lvl="0" algn="l" eaLnBrk="0" hangingPunct="0">
              <a:buNone/>
            </a:pPr>
            <a:endParaRPr lang="en-US" altLang="zh-CN" sz="2000" b="0" dirty="0">
              <a:solidFill>
                <a:srgbClr val="808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" y="908050"/>
            <a:ext cx="43481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2963" y="908050"/>
            <a:ext cx="43481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7338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5363" name="" r:id="rId3" imgW="684213" imgH="569913"/>
        </mc:Choice>
        <mc:Fallback>
          <p:control name="" r:id="rId3" imgW="684213" imgH="569913">
            <p:pic>
              <p:nvPicPr>
                <p:cNvPr id="0" name="Host Control  15362"/>
                <p:cNvPicPr/>
                <p:nvPr userDrawn="1"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0" y="6245225"/>
                  <a:ext cx="684213" cy="569913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PhAnim="0" showMasterSp="0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7" descr="paint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774700"/>
            <a:ext cx="4716463" cy="142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ext Box 28"/>
          <p:cNvSpPr txBox="1">
            <a:spLocks noChangeArrowheads="1"/>
          </p:cNvSpPr>
          <p:nvPr/>
        </p:nvSpPr>
        <p:spPr bwMode="auto">
          <a:xfrm>
            <a:off x="8496300" y="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p>
            <a:pPr lvl="0" eaLnBrk="0" hangingPunct="0">
              <a:buNone/>
            </a:pPr>
            <a:fld id="{9A0DB2DC-4C9A-4742-B13C-FB6460FD3503}" type="slidenum">
              <a:rPr lang="en-US" altLang="zh-CN" sz="2400" dirty="0">
                <a:solidFill>
                  <a:srgbClr val="808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</a:fld>
            <a:endParaRPr lang="en-US" altLang="zh-CN" sz="2400" dirty="0">
              <a:solidFill>
                <a:srgbClr val="8080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6389" name="Rectangle 25"/>
          <p:cNvSpPr/>
          <p:nvPr/>
        </p:nvSpPr>
        <p:spPr>
          <a:xfrm>
            <a:off x="1828800" y="6461125"/>
            <a:ext cx="2667000" cy="3968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lvl="0" algn="l" eaLnBrk="0" hangingPunct="0">
              <a:buNone/>
            </a:pPr>
            <a:endParaRPr lang="en-US" altLang="zh-CN" sz="2000" b="0" dirty="0">
              <a:solidFill>
                <a:srgbClr val="808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页脚占位符 6"/>
          <p:cNvSpPr>
            <a:spLocks noGrp="1"/>
          </p:cNvSpPr>
          <p:nvPr>
            <p:ph type="ftr" sz="quarter" idx="13"/>
          </p:nvPr>
        </p:nvSpPr>
        <p:spPr>
          <a:xfrm>
            <a:off x="37338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4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6387" name="" r:id="rId3" imgW="684213" imgH="569913"/>
        </mc:Choice>
        <mc:Fallback>
          <p:control name="" r:id="rId3" imgW="684213" imgH="569913">
            <p:pic>
              <p:nvPicPr>
                <p:cNvPr id="0" name="Host Control  16386"/>
                <p:cNvPicPr/>
                <p:nvPr userDrawn="1"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0" y="6245225"/>
                  <a:ext cx="684213" cy="569913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PhAnim="0" showMasterSp="0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7" descr="paint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774700"/>
            <a:ext cx="4716463" cy="142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ext Box 28"/>
          <p:cNvSpPr txBox="1">
            <a:spLocks noChangeArrowheads="1"/>
          </p:cNvSpPr>
          <p:nvPr/>
        </p:nvSpPr>
        <p:spPr bwMode="auto">
          <a:xfrm>
            <a:off x="8496300" y="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p>
            <a:pPr lvl="0" eaLnBrk="0" hangingPunct="0">
              <a:buNone/>
            </a:pPr>
            <a:fld id="{9A0DB2DC-4C9A-4742-B13C-FB6460FD3503}" type="slidenum">
              <a:rPr lang="en-US" altLang="zh-CN" sz="2400" dirty="0">
                <a:solidFill>
                  <a:srgbClr val="808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</a:fld>
            <a:endParaRPr lang="en-US" altLang="zh-CN" sz="2400" dirty="0">
              <a:solidFill>
                <a:srgbClr val="8080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7413" name="Rectangle 25"/>
          <p:cNvSpPr/>
          <p:nvPr/>
        </p:nvSpPr>
        <p:spPr>
          <a:xfrm>
            <a:off x="1828800" y="6461125"/>
            <a:ext cx="2667000" cy="3968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lvl="0" algn="l" eaLnBrk="0" hangingPunct="0">
              <a:buNone/>
            </a:pPr>
            <a:endParaRPr lang="en-US" altLang="zh-CN" sz="2000" b="0" dirty="0">
              <a:solidFill>
                <a:srgbClr val="808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" name="页脚占位符 2"/>
          <p:cNvSpPr>
            <a:spLocks noGrp="1"/>
          </p:cNvSpPr>
          <p:nvPr>
            <p:ph type="ftr" sz="quarter" idx="3"/>
          </p:nvPr>
        </p:nvSpPr>
        <p:spPr>
          <a:xfrm>
            <a:off x="37338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11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7411" name="" r:id="rId3" imgW="684213" imgH="569913"/>
        </mc:Choice>
        <mc:Fallback>
          <p:control name="" r:id="rId3" imgW="684213" imgH="569913">
            <p:pic>
              <p:nvPicPr>
                <p:cNvPr id="0" name="Host Control  17410"/>
                <p:cNvPicPr/>
                <p:nvPr userDrawn="1"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0" y="6245225"/>
                  <a:ext cx="684213" cy="569913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PhAnim="0" showMasterSp="0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7" descr="paint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774700"/>
            <a:ext cx="4716463" cy="142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ext Box 28"/>
          <p:cNvSpPr txBox="1">
            <a:spLocks noChangeArrowheads="1"/>
          </p:cNvSpPr>
          <p:nvPr/>
        </p:nvSpPr>
        <p:spPr bwMode="auto">
          <a:xfrm>
            <a:off x="8496300" y="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p>
            <a:pPr lvl="0" eaLnBrk="0" hangingPunct="0">
              <a:buNone/>
            </a:pPr>
            <a:fld id="{9A0DB2DC-4C9A-4742-B13C-FB6460FD3503}" type="slidenum">
              <a:rPr lang="en-US" altLang="zh-CN" sz="2400" dirty="0">
                <a:solidFill>
                  <a:srgbClr val="808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</a:fld>
            <a:endParaRPr lang="en-US" altLang="zh-CN" sz="2400" dirty="0">
              <a:solidFill>
                <a:srgbClr val="8080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8437" name="Rectangle 25"/>
          <p:cNvSpPr/>
          <p:nvPr/>
        </p:nvSpPr>
        <p:spPr>
          <a:xfrm>
            <a:off x="1828800" y="6461125"/>
            <a:ext cx="2667000" cy="3968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lvl="0" algn="l" eaLnBrk="0" hangingPunct="0">
              <a:buNone/>
            </a:pPr>
            <a:endParaRPr lang="en-US" altLang="zh-CN" sz="2000" b="0" dirty="0">
              <a:solidFill>
                <a:srgbClr val="808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37338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11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8435" name="" r:id="rId3" imgW="684213" imgH="569913"/>
        </mc:Choice>
        <mc:Fallback>
          <p:control name="" r:id="rId3" imgW="684213" imgH="569913">
            <p:pic>
              <p:nvPicPr>
                <p:cNvPr id="0" name="Host Control  18434"/>
                <p:cNvPicPr/>
                <p:nvPr userDrawn="1"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0" y="6245225"/>
                  <a:ext cx="684213" cy="569913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PhAnim="0" showMasterSp="0">
  <p:cSld name="内容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7" descr="paint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774700"/>
            <a:ext cx="4716463" cy="142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ext Box 28"/>
          <p:cNvSpPr txBox="1">
            <a:spLocks noChangeArrowheads="1"/>
          </p:cNvSpPr>
          <p:nvPr/>
        </p:nvSpPr>
        <p:spPr bwMode="auto">
          <a:xfrm>
            <a:off x="8496300" y="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p>
            <a:pPr lvl="0" eaLnBrk="0" hangingPunct="0">
              <a:buNone/>
            </a:pPr>
            <a:fld id="{9A0DB2DC-4C9A-4742-B13C-FB6460FD3503}" type="slidenum">
              <a:rPr lang="en-US" altLang="zh-CN" sz="2400" dirty="0">
                <a:solidFill>
                  <a:srgbClr val="808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</a:fld>
            <a:endParaRPr lang="en-US" altLang="zh-CN" sz="2400" dirty="0">
              <a:solidFill>
                <a:srgbClr val="8080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9461" name="Rectangle 25"/>
          <p:cNvSpPr/>
          <p:nvPr/>
        </p:nvSpPr>
        <p:spPr>
          <a:xfrm>
            <a:off x="1828800" y="6461125"/>
            <a:ext cx="2667000" cy="3968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lvl="0" algn="l" eaLnBrk="0" hangingPunct="0">
              <a:buNone/>
            </a:pPr>
            <a:endParaRPr lang="en-US" altLang="zh-CN" sz="2000" b="0" dirty="0">
              <a:solidFill>
                <a:srgbClr val="808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7338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9459" name="" r:id="rId3" imgW="684213" imgH="569913"/>
        </mc:Choice>
        <mc:Fallback>
          <p:control name="" r:id="rId3" imgW="684213" imgH="569913">
            <p:pic>
              <p:nvPicPr>
                <p:cNvPr id="0" name="Host Control  19458"/>
                <p:cNvPicPr/>
                <p:nvPr userDrawn="1"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0" y="6245225"/>
                  <a:ext cx="684213" cy="569913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PhAnim="0" showMasterSp="0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7" descr="paint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774700"/>
            <a:ext cx="4716463" cy="142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ext Box 28"/>
          <p:cNvSpPr txBox="1">
            <a:spLocks noChangeArrowheads="1"/>
          </p:cNvSpPr>
          <p:nvPr/>
        </p:nvSpPr>
        <p:spPr bwMode="auto">
          <a:xfrm>
            <a:off x="8496300" y="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p>
            <a:pPr lvl="0" eaLnBrk="0" hangingPunct="0">
              <a:buNone/>
            </a:pPr>
            <a:fld id="{9A0DB2DC-4C9A-4742-B13C-FB6460FD3503}" type="slidenum">
              <a:rPr lang="en-US" altLang="zh-CN" sz="2400" dirty="0">
                <a:solidFill>
                  <a:srgbClr val="808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</a:fld>
            <a:endParaRPr lang="en-US" altLang="zh-CN" sz="2400" dirty="0">
              <a:solidFill>
                <a:srgbClr val="8080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0485" name="Rectangle 25"/>
          <p:cNvSpPr/>
          <p:nvPr/>
        </p:nvSpPr>
        <p:spPr>
          <a:xfrm>
            <a:off x="1828800" y="6461125"/>
            <a:ext cx="2667000" cy="3968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lvl="0" algn="l" eaLnBrk="0" hangingPunct="0">
              <a:buNone/>
            </a:pPr>
            <a:endParaRPr lang="en-US" altLang="zh-CN" sz="2000" b="0" dirty="0">
              <a:solidFill>
                <a:srgbClr val="808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7338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20483" name="" r:id="rId3" imgW="684213" imgH="569913"/>
        </mc:Choice>
        <mc:Fallback>
          <p:control name="" r:id="rId3" imgW="684213" imgH="569913">
            <p:pic>
              <p:nvPicPr>
                <p:cNvPr id="0" name="Host Control  20482"/>
                <p:cNvPicPr/>
                <p:nvPr userDrawn="1"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0" y="6245225"/>
                  <a:ext cx="684213" cy="569913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PhAnim="0" showMasterSp="0">
  <p:cSld name="标题和竖排文字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7" descr="paint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774700"/>
            <a:ext cx="4716463" cy="142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ext Box 28"/>
          <p:cNvSpPr txBox="1">
            <a:spLocks noChangeArrowheads="1"/>
          </p:cNvSpPr>
          <p:nvPr/>
        </p:nvSpPr>
        <p:spPr bwMode="auto">
          <a:xfrm>
            <a:off x="8496300" y="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p>
            <a:pPr lvl="0" eaLnBrk="0" hangingPunct="0">
              <a:buNone/>
            </a:pPr>
            <a:fld id="{9A0DB2DC-4C9A-4742-B13C-FB6460FD3503}" type="slidenum">
              <a:rPr lang="en-US" altLang="zh-CN" sz="2400" dirty="0">
                <a:solidFill>
                  <a:srgbClr val="808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</a:fld>
            <a:endParaRPr lang="en-US" altLang="zh-CN" sz="2400" dirty="0">
              <a:solidFill>
                <a:srgbClr val="8080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1509" name="Rectangle 25"/>
          <p:cNvSpPr/>
          <p:nvPr/>
        </p:nvSpPr>
        <p:spPr>
          <a:xfrm>
            <a:off x="1828800" y="6461125"/>
            <a:ext cx="2667000" cy="3968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lvl="0" algn="l" eaLnBrk="0" hangingPunct="0">
              <a:buNone/>
            </a:pPr>
            <a:endParaRPr lang="en-US" altLang="zh-CN" sz="2000" b="0" dirty="0">
              <a:solidFill>
                <a:srgbClr val="808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页脚占位符 3"/>
          <p:cNvSpPr>
            <a:spLocks noGrp="1"/>
          </p:cNvSpPr>
          <p:nvPr>
            <p:ph type="ftr" sz="quarter" idx="3"/>
          </p:nvPr>
        </p:nvSpPr>
        <p:spPr>
          <a:xfrm>
            <a:off x="37338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21507" name="" r:id="rId3" imgW="684213" imgH="569913"/>
        </mc:Choice>
        <mc:Fallback>
          <p:control name="" r:id="rId3" imgW="684213" imgH="569913">
            <p:pic>
              <p:nvPicPr>
                <p:cNvPr id="0" name="Host Control  21506"/>
                <p:cNvPicPr/>
                <p:nvPr userDrawn="1"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0" y="6245225"/>
                  <a:ext cx="684213" cy="569913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PhAnim="0" showMasterSp="0">
  <p:cSld name="垂直排列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7" descr="paint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774700"/>
            <a:ext cx="4716463" cy="142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ext Box 28"/>
          <p:cNvSpPr txBox="1">
            <a:spLocks noChangeArrowheads="1"/>
          </p:cNvSpPr>
          <p:nvPr/>
        </p:nvSpPr>
        <p:spPr bwMode="auto">
          <a:xfrm>
            <a:off x="8496300" y="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p>
            <a:pPr lvl="0" eaLnBrk="0" hangingPunct="0">
              <a:buNone/>
            </a:pPr>
            <a:fld id="{9A0DB2DC-4C9A-4742-B13C-FB6460FD3503}" type="slidenum">
              <a:rPr lang="en-US" altLang="zh-CN" sz="2400" dirty="0">
                <a:solidFill>
                  <a:srgbClr val="808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</a:fld>
            <a:endParaRPr lang="en-US" altLang="zh-CN" sz="2400" dirty="0">
              <a:solidFill>
                <a:srgbClr val="8080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2533" name="Rectangle 25"/>
          <p:cNvSpPr/>
          <p:nvPr/>
        </p:nvSpPr>
        <p:spPr>
          <a:xfrm>
            <a:off x="1828800" y="6461125"/>
            <a:ext cx="2667000" cy="3968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lvl="0" algn="l" eaLnBrk="0" hangingPunct="0">
              <a:buNone/>
            </a:pPr>
            <a:endParaRPr lang="en-US" altLang="zh-CN" sz="2000" b="0" dirty="0">
              <a:solidFill>
                <a:srgbClr val="808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78625" y="73025"/>
            <a:ext cx="2222500" cy="64166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7950" y="73025"/>
            <a:ext cx="6518275" cy="64166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页脚占位符 3"/>
          <p:cNvSpPr>
            <a:spLocks noGrp="1"/>
          </p:cNvSpPr>
          <p:nvPr>
            <p:ph type="ftr" sz="quarter" idx="3"/>
          </p:nvPr>
        </p:nvSpPr>
        <p:spPr>
          <a:xfrm>
            <a:off x="37338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22531" name="" r:id="rId3" imgW="684213" imgH="569913"/>
        </mc:Choice>
        <mc:Fallback>
          <p:control name="" r:id="rId3" imgW="684213" imgH="569913">
            <p:pic>
              <p:nvPicPr>
                <p:cNvPr id="0" name="Host Control  22530"/>
                <p:cNvPicPr/>
                <p:nvPr userDrawn="1"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0" y="6245225"/>
                  <a:ext cx="684213" cy="569913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PhAnim="0" showMasterSp="0">
  <p:cSld name="标题，文本与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7" descr="paint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774700"/>
            <a:ext cx="4716463" cy="142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ext Box 28"/>
          <p:cNvSpPr txBox="1">
            <a:spLocks noChangeArrowheads="1"/>
          </p:cNvSpPr>
          <p:nvPr/>
        </p:nvSpPr>
        <p:spPr bwMode="auto">
          <a:xfrm>
            <a:off x="8496300" y="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p>
            <a:pPr lvl="0" eaLnBrk="0" hangingPunct="0">
              <a:buNone/>
            </a:pPr>
            <a:fld id="{9A0DB2DC-4C9A-4742-B13C-FB6460FD3503}" type="slidenum">
              <a:rPr lang="en-US" altLang="zh-CN" sz="2400" dirty="0">
                <a:solidFill>
                  <a:srgbClr val="808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</a:fld>
            <a:endParaRPr lang="en-US" altLang="zh-CN" sz="2400" dirty="0">
              <a:solidFill>
                <a:srgbClr val="8080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3557" name="Rectangle 25"/>
          <p:cNvSpPr/>
          <p:nvPr/>
        </p:nvSpPr>
        <p:spPr>
          <a:xfrm>
            <a:off x="1828800" y="6461125"/>
            <a:ext cx="2667000" cy="3968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lvl="0" algn="l" eaLnBrk="0" hangingPunct="0">
              <a:buNone/>
            </a:pPr>
            <a:endParaRPr lang="en-US" altLang="zh-CN" sz="2000" b="0" dirty="0">
              <a:solidFill>
                <a:srgbClr val="808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950" y="73025"/>
            <a:ext cx="8839200" cy="6921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2400" y="908050"/>
            <a:ext cx="4348163" cy="55816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2963" y="908050"/>
            <a:ext cx="4348162" cy="55816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7338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23555" name="" r:id="rId3" imgW="684213" imgH="569913"/>
        </mc:Choice>
        <mc:Fallback>
          <p:control name="" r:id="rId3" imgW="684213" imgH="569913">
            <p:pic>
              <p:nvPicPr>
                <p:cNvPr id="0" name="Host Control  23554"/>
                <p:cNvPicPr/>
                <p:nvPr userDrawn="1"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0" y="6245225"/>
                  <a:ext cx="684213" cy="569913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 showMasterPhAnim="0" showMasterSp="0">
  <p:cSld name="标题，文本与两项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7" descr="paint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774700"/>
            <a:ext cx="4716463" cy="142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ext Box 28"/>
          <p:cNvSpPr txBox="1">
            <a:spLocks noChangeArrowheads="1"/>
          </p:cNvSpPr>
          <p:nvPr/>
        </p:nvSpPr>
        <p:spPr bwMode="auto">
          <a:xfrm>
            <a:off x="8496300" y="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p>
            <a:pPr lvl="0" eaLnBrk="0" hangingPunct="0">
              <a:buNone/>
            </a:pPr>
            <a:fld id="{9A0DB2DC-4C9A-4742-B13C-FB6460FD3503}" type="slidenum">
              <a:rPr lang="en-US" altLang="zh-CN" sz="2400" dirty="0">
                <a:solidFill>
                  <a:srgbClr val="808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</a:fld>
            <a:endParaRPr lang="en-US" altLang="zh-CN" sz="2400" dirty="0">
              <a:solidFill>
                <a:srgbClr val="8080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4581" name="Rectangle 25"/>
          <p:cNvSpPr/>
          <p:nvPr/>
        </p:nvSpPr>
        <p:spPr>
          <a:xfrm>
            <a:off x="1828800" y="6461125"/>
            <a:ext cx="2667000" cy="3968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lvl="0" algn="l" eaLnBrk="0" hangingPunct="0">
              <a:buNone/>
            </a:pPr>
            <a:endParaRPr lang="en-US" altLang="zh-CN" sz="2000" b="0" dirty="0">
              <a:solidFill>
                <a:srgbClr val="808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950" y="73025"/>
            <a:ext cx="8839200" cy="6921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2400" y="908050"/>
            <a:ext cx="4348163" cy="55816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52963" y="908050"/>
            <a:ext cx="4348162" cy="27146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52963" y="3775075"/>
            <a:ext cx="4348162" cy="27146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3"/>
          </p:nvPr>
        </p:nvSpPr>
        <p:spPr>
          <a:xfrm>
            <a:off x="37338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24579" name="" r:id="rId3" imgW="684213" imgH="569913"/>
        </mc:Choice>
        <mc:Fallback>
          <p:control name="" r:id="rId3" imgW="684213" imgH="569913">
            <p:pic>
              <p:nvPicPr>
                <p:cNvPr id="0" name="Host Control  24578"/>
                <p:cNvPicPr/>
                <p:nvPr userDrawn="1"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0" y="6245225"/>
                  <a:ext cx="684213" cy="569913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vmlDrawing" Target="../drawings/vmlDrawing12.vml"/><Relationship Id="rId17" Type="http://schemas.openxmlformats.org/officeDocument/2006/relationships/audio" Target="../media/audio1.wav"/><Relationship Id="rId16" Type="http://schemas.openxmlformats.org/officeDocument/2006/relationships/image" Target="../media/image11.wmf"/><Relationship Id="rId15" Type="http://schemas.openxmlformats.org/officeDocument/2006/relationships/control" Target="../activeX/activeX12.xml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82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142875"/>
            <a:ext cx="8839200" cy="5508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  <a:endParaRPr lang="en-US" altLang="zh-CN" dirty="0" smtClean="0"/>
          </a:p>
        </p:txBody>
      </p:sp>
      <p:sp>
        <p:nvSpPr>
          <p:cNvPr id="1029" name="Rectangle 23"/>
          <p:cNvSpPr>
            <a:spLocks noGrp="1"/>
          </p:cNvSpPr>
          <p:nvPr>
            <p:ph type="body" idx="1"/>
          </p:nvPr>
        </p:nvSpPr>
        <p:spPr>
          <a:xfrm>
            <a:off x="152400" y="957263"/>
            <a:ext cx="8848725" cy="54895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0" name="Rectangle 25"/>
          <p:cNvSpPr/>
          <p:nvPr/>
        </p:nvSpPr>
        <p:spPr>
          <a:xfrm>
            <a:off x="1828800" y="6461125"/>
            <a:ext cx="2667000" cy="3968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lvl="0" algn="l" eaLnBrk="0" hangingPunct="0">
              <a:buNone/>
            </a:pPr>
            <a:endParaRPr lang="en-US" altLang="zh-CN" sz="2000" b="0" dirty="0">
              <a:solidFill>
                <a:srgbClr val="808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3099" name="Picture 27" descr="paint"/>
          <p:cNvPicPr>
            <a:picLocks noChangeAspect="1"/>
          </p:cNvPicPr>
          <p:nvPr userDrawn="1"/>
        </p:nvPicPr>
        <p:blipFill>
          <a:blip r:embed="rId14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774700"/>
            <a:ext cx="4716463" cy="142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00" name="Text Box 28"/>
          <p:cNvSpPr txBox="1">
            <a:spLocks noChangeArrowheads="1"/>
          </p:cNvSpPr>
          <p:nvPr/>
        </p:nvSpPr>
        <p:spPr bwMode="auto">
          <a:xfrm>
            <a:off x="3929063" y="640080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p>
            <a:pPr lvl="0" eaLnBrk="0" hangingPunct="0">
              <a:buNone/>
            </a:pPr>
            <a:fld id="{9A0DB2DC-4C9A-4742-B13C-FB6460FD3503}" type="slidenum">
              <a:rPr lang="en-US" altLang="zh-CN" sz="2400" dirty="0">
                <a:solidFill>
                  <a:srgbClr val="808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</a:fld>
            <a:endParaRPr lang="en-US" altLang="zh-CN" sz="2400" dirty="0">
              <a:solidFill>
                <a:srgbClr val="8080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26" name="" r:id="rId15" imgW="684213" imgH="569913"/>
        </mc:Choice>
        <mc:Fallback>
          <p:control name="" r:id="rId15" imgW="684213" imgH="569913">
            <p:pic>
              <p:nvPicPr>
                <p:cNvPr id="0" name="Host Control  1025"/>
                <p:cNvPicPr/>
                <p:nvPr userDrawn="1"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0" y="6245225"/>
                  <a:ext cx="684213" cy="569913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random/>
    <p:sndAc>
      <p:stSnd>
        <p:snd r:embed="rId17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幼圆" panose="020105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幼圆" panose="020105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幼圆" panose="020105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幼圆" panose="02010509060101010101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幼圆" panose="02010509060101010101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幼圆" panose="02010509060101010101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幼圆" panose="02010509060101010101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幼圆" panose="02010509060101010101" pitchFamily="49" charset="-122"/>
        </a:defRPr>
      </a:lvl9pPr>
    </p:titleStyle>
    <p:bodyStyle>
      <a:lvl1pPr marL="269875" indent="-269875" algn="l" rtl="0" eaLnBrk="0" fontAlgn="base" hangingPunct="0">
        <a:spcBef>
          <a:spcPct val="0"/>
        </a:spcBef>
        <a:spcAft>
          <a:spcPct val="0"/>
        </a:spcAft>
        <a:buClr>
          <a:srgbClr val="3333CC"/>
        </a:buClr>
        <a:buSzPct val="65000"/>
        <a:buFont typeface="Wingdings" panose="05000000000000000000" pitchFamily="2" charset="2"/>
        <a:buChar char="n"/>
        <a:defRPr kumimoji="1" sz="3600" b="1">
          <a:solidFill>
            <a:srgbClr val="000000"/>
          </a:solidFill>
          <a:latin typeface="+mn-lt"/>
          <a:ea typeface="+mn-ea"/>
          <a:cs typeface="+mn-cs"/>
        </a:defRPr>
      </a:lvl1pPr>
      <a:lvl2pPr marL="811530" indent="-269875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65000"/>
        <a:buFont typeface="Wingdings" panose="05000000000000000000" pitchFamily="2" charset="2"/>
        <a:buChar char="n"/>
        <a:defRPr kumimoji="1" sz="3200" b="1">
          <a:solidFill>
            <a:srgbClr val="000000"/>
          </a:solidFill>
          <a:latin typeface="+mn-lt"/>
          <a:ea typeface="+mn-ea"/>
        </a:defRPr>
      </a:lvl2pPr>
      <a:lvl3pPr marL="1339850" indent="-259080" algn="l" rtl="0" eaLnBrk="0" fontAlgn="base" hangingPunct="0">
        <a:spcBef>
          <a:spcPct val="20000"/>
        </a:spcBef>
        <a:spcAft>
          <a:spcPct val="0"/>
        </a:spcAft>
        <a:buClr>
          <a:srgbClr val="996633"/>
        </a:buClr>
        <a:buSzPct val="65000"/>
        <a:buFont typeface="Wingdings" panose="05000000000000000000" pitchFamily="2" charset="2"/>
        <a:buChar char="n"/>
        <a:defRPr kumimoji="1" sz="2800" b="1">
          <a:solidFill>
            <a:srgbClr val="000000"/>
          </a:solidFill>
          <a:latin typeface="+mn-lt"/>
          <a:ea typeface="+mn-ea"/>
        </a:defRPr>
      </a:lvl3pPr>
      <a:lvl4pPr marL="1927225" indent="-3175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kumimoji="1" sz="2400" b="1">
          <a:solidFill>
            <a:srgbClr val="000000"/>
          </a:solidFill>
          <a:latin typeface="+mn-lt"/>
          <a:ea typeface="+mn-ea"/>
        </a:defRPr>
      </a:lvl4pPr>
      <a:lvl5pPr marL="2335530" indent="-2286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kumimoji="1" sz="2400" b="1">
          <a:solidFill>
            <a:srgbClr val="000000"/>
          </a:solidFill>
          <a:latin typeface="+mn-lt"/>
          <a:ea typeface="+mn-ea"/>
        </a:defRPr>
      </a:lvl5pPr>
      <a:lvl6pPr marL="2792730" indent="-2286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kumimoji="1" sz="2400" b="1">
          <a:solidFill>
            <a:srgbClr val="000000"/>
          </a:solidFill>
          <a:latin typeface="+mn-lt"/>
          <a:ea typeface="+mn-ea"/>
        </a:defRPr>
      </a:lvl6pPr>
      <a:lvl7pPr marL="3249930" indent="-2286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kumimoji="1" sz="2400" b="1">
          <a:solidFill>
            <a:srgbClr val="000000"/>
          </a:solidFill>
          <a:latin typeface="+mn-lt"/>
          <a:ea typeface="+mn-ea"/>
        </a:defRPr>
      </a:lvl7pPr>
      <a:lvl8pPr marL="3707130" indent="-2286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kumimoji="1" sz="2400" b="1">
          <a:solidFill>
            <a:srgbClr val="000000"/>
          </a:solidFill>
          <a:latin typeface="+mn-lt"/>
          <a:ea typeface="+mn-ea"/>
        </a:defRPr>
      </a:lvl8pPr>
      <a:lvl9pPr marL="4164330" indent="-2286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kumimoji="1" sz="2400" b="1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audio1.wav"/><Relationship Id="rId1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slide" Target="slid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slide" Target="slid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slide" Target="slide14.xml"/><Relationship Id="rId1" Type="http://schemas.openxmlformats.org/officeDocument/2006/relationships/slide" Target="slide2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slide" Target="slide34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2.xml"/><Relationship Id="rId2" Type="http://schemas.openxmlformats.org/officeDocument/2006/relationships/audio" Target="../media/audio1.wav"/><Relationship Id="rId1" Type="http://schemas.openxmlformats.org/officeDocument/2006/relationships/tags" Target="../tags/tag1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slide" Target="slide3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audio" Target="../media/audio1.wav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25602" name="Picture 2" descr="Multi_3"/>
          <p:cNvPicPr>
            <a:picLocks noChangeAspect="1"/>
          </p:cNvPicPr>
          <p:nvPr/>
        </p:nvPicPr>
        <p:blipFill>
          <a:blip r:embed="rId1">
            <a:clrChange>
              <a:clrFrom>
                <a:srgbClr val="4800A1"/>
              </a:clrFrom>
              <a:clrTo>
                <a:srgbClr val="4800A1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4213" y="4868863"/>
            <a:ext cx="1905000" cy="1450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603" name="Rectangle 4"/>
          <p:cNvSpPr/>
          <p:nvPr/>
        </p:nvSpPr>
        <p:spPr>
          <a:xfrm>
            <a:off x="468313" y="1052513"/>
            <a:ext cx="8497887" cy="1143000"/>
          </a:xfrm>
          <a:prstGeom prst="rect">
            <a:avLst/>
          </a:prstGeom>
          <a:noFill/>
          <a:ln w="12700">
            <a:noFill/>
          </a:ln>
          <a:effectLst>
            <a:outerShdw dist="35921" dir="2699999" algn="ctr" rotWithShape="0">
              <a:schemeClr val="bg2">
                <a:alpha val="50000"/>
              </a:schemeClr>
            </a:outerShdw>
          </a:effectLst>
        </p:spPr>
        <p:txBody>
          <a:bodyPr lIns="90488" tIns="44450" rIns="90488" bIns="44450" anchor="ctr" anchorCtr="0"/>
          <a:p>
            <a:pPr eaLnBrk="0" hangingPunct="0">
              <a:buNone/>
            </a:pPr>
            <a:r>
              <a:rPr lang="zh-CN" altLang="en-US" sz="5400" dirty="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数据库系统</a:t>
            </a:r>
            <a:r>
              <a:rPr lang="zh-CN" altLang="en-US" sz="7200" dirty="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 </a:t>
            </a:r>
            <a:endParaRPr lang="zh-CN" altLang="en-US" sz="7200" dirty="0">
              <a:solidFill>
                <a:srgbClr val="FF3300"/>
              </a:solidFill>
              <a:latin typeface="Arial" panose="020B0604020202020204" pitchFamily="34" charset="0"/>
              <a:ea typeface="华文新魏" panose="02010800040101010101" pitchFamily="2" charset="-122"/>
            </a:endParaRPr>
          </a:p>
        </p:txBody>
      </p:sp>
      <p:sp>
        <p:nvSpPr>
          <p:cNvPr id="25604" name="Text Box 5"/>
          <p:cNvSpPr txBox="1"/>
          <p:nvPr/>
        </p:nvSpPr>
        <p:spPr>
          <a:xfrm>
            <a:off x="1588" y="6513513"/>
            <a:ext cx="9144000" cy="42068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3333CC"/>
              </a:gs>
            </a:gsLst>
            <a:lin ang="5400000" scaled="1"/>
            <a:tileRect/>
          </a:gradFill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kumimoji="1"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kumimoji="1"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kumimoji="1"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3175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5605" name="Text Box 6"/>
          <p:cNvSpPr txBox="1"/>
          <p:nvPr/>
        </p:nvSpPr>
        <p:spPr>
          <a:xfrm>
            <a:off x="0" y="-76200"/>
            <a:ext cx="9144000" cy="42068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FFFFFF"/>
              </a:gs>
            </a:gsLst>
            <a:lin ang="5400000" scaled="1"/>
            <a:tileRect/>
          </a:gradFill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kumimoji="1"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kumimoji="1"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kumimoji="1"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3175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5606" name="Rectangle 7"/>
          <p:cNvSpPr/>
          <p:nvPr/>
        </p:nvSpPr>
        <p:spPr>
          <a:xfrm>
            <a:off x="611188" y="2924175"/>
            <a:ext cx="8137525" cy="10096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kumimoji="1"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kumimoji="1"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kumimoji="1"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3175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>
              <a:buClrTx/>
              <a:buSzTx/>
              <a:buFontTx/>
              <a:buNone/>
            </a:pPr>
            <a:r>
              <a:rPr lang="zh-CN" altLang="en-US" sz="5400" dirty="0">
                <a:solidFill>
                  <a:srgbClr val="00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lang="en-US" altLang="zh-CN" sz="5400" dirty="0">
                <a:solidFill>
                  <a:srgbClr val="0000CC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5</a:t>
            </a:r>
            <a:r>
              <a:rPr lang="zh-CN" altLang="en-US" sz="5400" dirty="0">
                <a:solidFill>
                  <a:srgbClr val="00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关系数据库语言</a:t>
            </a:r>
            <a:r>
              <a:rPr lang="en-US" altLang="zh-CN" sz="5400" dirty="0">
                <a:solidFill>
                  <a:srgbClr val="00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SQL</a:t>
            </a:r>
            <a:endParaRPr lang="en-US" altLang="zh-CN" sz="5400" dirty="0">
              <a:solidFill>
                <a:srgbClr val="0000CC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93675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主要内容</a:t>
            </a:r>
            <a:endParaRPr kumimoji="1" lang="zh-CN" altLang="en-US" sz="40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>
          <a:xfrm>
            <a:off x="1231900" y="1143000"/>
            <a:ext cx="7372350" cy="5022850"/>
          </a:xfrm>
        </p:spPr>
        <p:txBody>
          <a:bodyPr vert="horz" wrap="square" lIns="91440" tIns="45720" rIns="91440" bIns="45720" anchor="t" anchorCtr="0"/>
          <a:p>
            <a:pPr>
              <a:spcBef>
                <a:spcPts val="600"/>
              </a:spcBef>
              <a:buNone/>
            </a:pPr>
            <a:r>
              <a:rPr lang="en-US" altLang="zh-CN" dirty="0">
                <a:latin typeface="Arial" panose="020B0604020202020204" pitchFamily="34" charset="0"/>
              </a:rPr>
              <a:t>3.1 SQL</a:t>
            </a:r>
            <a:r>
              <a:rPr lang="zh-CN" altLang="en-US" dirty="0">
                <a:latin typeface="Arial" panose="020B0604020202020204" pitchFamily="34" charset="0"/>
              </a:rPr>
              <a:t>概述</a:t>
            </a:r>
            <a:endParaRPr lang="zh-CN" altLang="en-US" dirty="0">
              <a:latin typeface="Arial" panose="020B0604020202020204" pitchFamily="34" charset="0"/>
            </a:endParaRPr>
          </a:p>
          <a:p>
            <a:pPr algn="just">
              <a:spcBef>
                <a:spcPts val="600"/>
              </a:spcBef>
              <a:buNone/>
            </a:pPr>
            <a:r>
              <a:rPr lang="en-US" altLang="zh-CN" dirty="0">
                <a:latin typeface="Arial" panose="020B0604020202020204" pitchFamily="34" charset="0"/>
              </a:rPr>
              <a:t>3.2 </a:t>
            </a:r>
            <a:r>
              <a:rPr lang="zh-CN" altLang="en-US" dirty="0">
                <a:latin typeface="Arial" panose="020B0604020202020204" pitchFamily="34" charset="0"/>
              </a:rPr>
              <a:t>数据定义</a:t>
            </a:r>
            <a:endParaRPr lang="zh-CN" altLang="en-US" dirty="0">
              <a:latin typeface="Arial" panose="020B0604020202020204" pitchFamily="34" charset="0"/>
            </a:endParaRPr>
          </a:p>
          <a:p>
            <a:pPr algn="just">
              <a:spcBef>
                <a:spcPts val="600"/>
              </a:spcBef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5.3 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数据查询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algn="just">
              <a:spcBef>
                <a:spcPts val="600"/>
              </a:spcBef>
              <a:buNone/>
            </a:pPr>
            <a:r>
              <a:rPr lang="en-US" altLang="zh-CN" dirty="0">
                <a:latin typeface="Arial" panose="020B0604020202020204" pitchFamily="34" charset="0"/>
              </a:rPr>
              <a:t>3.4 </a:t>
            </a:r>
            <a:r>
              <a:rPr lang="zh-CN" altLang="en-US" dirty="0">
                <a:latin typeface="Arial" panose="020B0604020202020204" pitchFamily="34" charset="0"/>
              </a:rPr>
              <a:t>数据更新</a:t>
            </a:r>
            <a:endParaRPr lang="zh-CN" altLang="en-US" dirty="0">
              <a:latin typeface="Arial" panose="020B0604020202020204" pitchFamily="34" charset="0"/>
            </a:endParaRPr>
          </a:p>
          <a:p>
            <a:pPr algn="just">
              <a:spcBef>
                <a:spcPts val="600"/>
              </a:spcBef>
              <a:buNone/>
            </a:pPr>
            <a:r>
              <a:rPr lang="en-US" altLang="zh-CN" dirty="0">
                <a:latin typeface="Arial" panose="020B0604020202020204" pitchFamily="34" charset="0"/>
              </a:rPr>
              <a:t>3.5 </a:t>
            </a:r>
            <a:r>
              <a:rPr lang="zh-CN" altLang="en-US" dirty="0">
                <a:latin typeface="Arial" panose="020B0604020202020204" pitchFamily="34" charset="0"/>
              </a:rPr>
              <a:t>视图</a:t>
            </a:r>
            <a:endParaRPr lang="zh-CN" altLang="en-US" dirty="0">
              <a:latin typeface="Arial" panose="020B0604020202020204" pitchFamily="34" charset="0"/>
            </a:endParaRPr>
          </a:p>
          <a:p>
            <a:pPr algn="just">
              <a:spcBef>
                <a:spcPts val="600"/>
              </a:spcBef>
              <a:buNone/>
            </a:pPr>
            <a:r>
              <a:rPr lang="en-US" altLang="zh-CN" dirty="0">
                <a:latin typeface="Arial" panose="020B0604020202020204" pitchFamily="34" charset="0"/>
              </a:rPr>
              <a:t>3.6 </a:t>
            </a:r>
            <a:r>
              <a:rPr lang="zh-CN" altLang="en-US" dirty="0">
                <a:latin typeface="Arial" panose="020B0604020202020204" pitchFamily="34" charset="0"/>
              </a:rPr>
              <a:t>数据控制</a:t>
            </a:r>
            <a:endParaRPr lang="zh-CN" altLang="en-US" dirty="0">
              <a:latin typeface="Arial" panose="020B0604020202020204" pitchFamily="34" charset="0"/>
            </a:endParaRPr>
          </a:p>
          <a:p>
            <a:pPr algn="just">
              <a:buNone/>
            </a:pP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/>
          </p:cNvSpPr>
          <p:nvPr>
            <p:ph idx="1"/>
          </p:nvPr>
        </p:nvSpPr>
        <p:spPr>
          <a:xfrm>
            <a:off x="438150" y="1143000"/>
            <a:ext cx="8277225" cy="5273675"/>
          </a:xfrm>
        </p:spPr>
        <p:txBody>
          <a:bodyPr vert="horz" wrap="square" lIns="91440" tIns="45720" rIns="91440" bIns="45720" anchor="t" anchorCtr="0"/>
          <a:p>
            <a:pPr lvl="1"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5.3.1 </a:t>
            </a:r>
            <a:r>
              <a:rPr lang="zh-CN" altLang="en-US" sz="3600" dirty="0"/>
              <a:t>查询语句的基本格式</a:t>
            </a:r>
            <a:endParaRPr lang="zh-CN" altLang="en-US" sz="3600" dirty="0"/>
          </a:p>
          <a:p>
            <a:pPr lvl="1"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5.3.2 </a:t>
            </a:r>
            <a:r>
              <a:rPr lang="zh-CN" altLang="en-US" sz="3600" dirty="0">
                <a:latin typeface="Arial" panose="020B0604020202020204" pitchFamily="34" charset="0"/>
              </a:rPr>
              <a:t>单表查询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>
              <a:buNone/>
            </a:pPr>
            <a:r>
              <a:rPr lang="en-US" altLang="zh-CN" sz="3600" dirty="0">
                <a:solidFill>
                  <a:srgbClr val="0000CC"/>
                </a:solidFill>
                <a:latin typeface="Arial" panose="020B0604020202020204" pitchFamily="34" charset="0"/>
              </a:rPr>
              <a:t>5.3.3 </a:t>
            </a:r>
            <a:r>
              <a:rPr lang="zh-CN" altLang="en-US" sz="3600" dirty="0">
                <a:solidFill>
                  <a:srgbClr val="0000CC"/>
                </a:solidFill>
                <a:latin typeface="Arial" panose="020B0604020202020204" pitchFamily="34" charset="0"/>
              </a:rPr>
              <a:t>多表查询</a:t>
            </a:r>
            <a:endParaRPr lang="zh-CN" altLang="en-US" sz="36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lvl="1"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5.3.4 </a:t>
            </a:r>
            <a:r>
              <a:rPr lang="zh-CN" altLang="en-US" sz="3600" dirty="0"/>
              <a:t>集合查询</a:t>
            </a:r>
            <a:endParaRPr lang="zh-CN" altLang="en-US" sz="3600" dirty="0"/>
          </a:p>
          <a:p>
            <a:pPr lvl="1"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5.3.5 </a:t>
            </a:r>
            <a:r>
              <a:rPr lang="zh-CN" altLang="en-US" sz="3600" dirty="0"/>
              <a:t>嵌套查询</a:t>
            </a:r>
            <a:endParaRPr lang="zh-CN" altLang="en-US" sz="3600" dirty="0"/>
          </a:p>
        </p:txBody>
      </p:sp>
      <p:sp>
        <p:nvSpPr>
          <p:cNvPr id="626691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5.3 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数据查询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/>
          </p:cNvSpPr>
          <p:nvPr>
            <p:ph idx="1"/>
          </p:nvPr>
        </p:nvSpPr>
        <p:spPr>
          <a:xfrm>
            <a:off x="71438" y="957263"/>
            <a:ext cx="8991600" cy="5400675"/>
          </a:xfrm>
        </p:spPr>
        <p:txBody>
          <a:bodyPr vert="horz" wrap="square" lIns="91440" tIns="45720" rIns="91440" bIns="45720" anchor="t" anchorCtr="0"/>
          <a:p>
            <a:pPr marL="274955" indent="-274955">
              <a:lnSpc>
                <a:spcPct val="110000"/>
              </a:lnSpc>
            </a:pPr>
            <a:r>
              <a:rPr lang="zh-CN" altLang="en-US" sz="3200" dirty="0">
                <a:latin typeface="Arial" panose="020B0604020202020204" pitchFamily="34" charset="0"/>
              </a:rPr>
              <a:t>同时涉及多个表的查询称为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连接查询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274955" indent="-274955">
              <a:lnSpc>
                <a:spcPct val="110000"/>
              </a:lnSpc>
            </a:pPr>
            <a:r>
              <a:rPr lang="zh-CN" altLang="en-US" sz="3200" dirty="0">
                <a:latin typeface="Arial" panose="020B0604020202020204" pitchFamily="34" charset="0"/>
              </a:rPr>
              <a:t>用来连接两个表的条件称为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连接条件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274955" indent="-274955">
              <a:lnSpc>
                <a:spcPct val="110000"/>
              </a:lnSpc>
              <a:spcBef>
                <a:spcPct val="30000"/>
              </a:spcBef>
            </a:pPr>
            <a:r>
              <a:rPr lang="zh-CN" altLang="en-US" sz="3200" dirty="0">
                <a:latin typeface="Arial" panose="020B0604020202020204" pitchFamily="34" charset="0"/>
              </a:rPr>
              <a:t>连接条件的一般格式：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274955" indent="-274955">
              <a:lnSpc>
                <a:spcPct val="110000"/>
              </a:lnSpc>
              <a:spcBef>
                <a:spcPct val="30000"/>
              </a:spcBef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   </a:t>
            </a:r>
            <a:r>
              <a:rPr lang="en-US" altLang="zh-CN" sz="3200" dirty="0">
                <a:latin typeface="Arial" panose="020B0604020202020204" pitchFamily="34" charset="0"/>
              </a:rPr>
              <a:t>[&lt;</a:t>
            </a:r>
            <a:r>
              <a:rPr lang="zh-CN" altLang="en-US" sz="3200" dirty="0">
                <a:latin typeface="Arial" panose="020B0604020202020204" pitchFamily="34" charset="0"/>
              </a:rPr>
              <a:t>表名</a:t>
            </a:r>
            <a:r>
              <a:rPr lang="en-US" altLang="zh-CN" sz="3200" dirty="0">
                <a:latin typeface="Arial" panose="020B0604020202020204" pitchFamily="34" charset="0"/>
              </a:rPr>
              <a:t>1&gt;.]&lt;</a:t>
            </a:r>
            <a:r>
              <a:rPr lang="zh-CN" altLang="en-US" sz="3200" dirty="0">
                <a:latin typeface="Arial" panose="020B0604020202020204" pitchFamily="34" charset="0"/>
              </a:rPr>
              <a:t>列名</a:t>
            </a:r>
            <a:r>
              <a:rPr lang="en-US" altLang="zh-CN" sz="3200" dirty="0">
                <a:latin typeface="Arial" panose="020B0604020202020204" pitchFamily="34" charset="0"/>
              </a:rPr>
              <a:t>1&gt; 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&lt;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比较运算符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&gt;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274955" indent="-274955">
              <a:lnSpc>
                <a:spcPct val="11000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                [&lt;</a:t>
            </a:r>
            <a:r>
              <a:rPr lang="zh-CN" altLang="en-US" sz="3200" dirty="0">
                <a:latin typeface="Arial" panose="020B0604020202020204" pitchFamily="34" charset="0"/>
              </a:rPr>
              <a:t>表名</a:t>
            </a:r>
            <a:r>
              <a:rPr lang="en-US" altLang="zh-CN" sz="3200" dirty="0">
                <a:latin typeface="Arial" panose="020B0604020202020204" pitchFamily="34" charset="0"/>
              </a:rPr>
              <a:t>2&gt;.]&lt;</a:t>
            </a:r>
            <a:r>
              <a:rPr lang="zh-CN" altLang="en-US" sz="3200" dirty="0">
                <a:latin typeface="Arial" panose="020B0604020202020204" pitchFamily="34" charset="0"/>
              </a:rPr>
              <a:t>列名</a:t>
            </a:r>
            <a:r>
              <a:rPr lang="en-US" altLang="zh-CN" sz="3200" dirty="0">
                <a:latin typeface="Arial" panose="020B0604020202020204" pitchFamily="34" charset="0"/>
              </a:rPr>
              <a:t>2&gt;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274955" indent="-274955">
              <a:spcBef>
                <a:spcPts val="1800"/>
              </a:spcBef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比较运算符：</a:t>
            </a:r>
            <a:r>
              <a:rPr lang="en-US" altLang="zh-CN" sz="3200" dirty="0">
                <a:latin typeface="Arial" panose="020B0604020202020204" pitchFamily="34" charset="0"/>
              </a:rPr>
              <a:t>=</a:t>
            </a:r>
            <a:r>
              <a:rPr lang="zh-CN" altLang="en-US" sz="3200" dirty="0">
                <a:latin typeface="Arial" panose="020B0604020202020204" pitchFamily="34" charset="0"/>
              </a:rPr>
              <a:t>、</a:t>
            </a:r>
            <a:r>
              <a:rPr lang="en-US" altLang="zh-CN" sz="3200" dirty="0">
                <a:latin typeface="Arial" panose="020B0604020202020204" pitchFamily="34" charset="0"/>
              </a:rPr>
              <a:t>&gt;</a:t>
            </a:r>
            <a:r>
              <a:rPr lang="zh-CN" altLang="en-US" sz="3200" dirty="0">
                <a:latin typeface="Arial" panose="020B0604020202020204" pitchFamily="34" charset="0"/>
              </a:rPr>
              <a:t>、</a:t>
            </a:r>
            <a:r>
              <a:rPr lang="en-US" altLang="zh-CN" sz="3200" dirty="0">
                <a:latin typeface="Arial" panose="020B0604020202020204" pitchFamily="34" charset="0"/>
              </a:rPr>
              <a:t>&lt;</a:t>
            </a:r>
            <a:r>
              <a:rPr lang="zh-CN" altLang="en-US" sz="3200" dirty="0">
                <a:latin typeface="Arial" panose="020B0604020202020204" pitchFamily="34" charset="0"/>
              </a:rPr>
              <a:t>、</a:t>
            </a:r>
            <a:r>
              <a:rPr lang="en-US" altLang="zh-CN" sz="3200" dirty="0">
                <a:latin typeface="Arial" panose="020B0604020202020204" pitchFamily="34" charset="0"/>
              </a:rPr>
              <a:t>&gt;=</a:t>
            </a:r>
            <a:r>
              <a:rPr lang="zh-CN" altLang="en-US" sz="3200" dirty="0">
                <a:latin typeface="Arial" panose="020B0604020202020204" pitchFamily="34" charset="0"/>
              </a:rPr>
              <a:t>、</a:t>
            </a:r>
            <a:r>
              <a:rPr lang="en-US" altLang="zh-CN" sz="3200" dirty="0">
                <a:latin typeface="Arial" panose="020B0604020202020204" pitchFamily="34" charset="0"/>
              </a:rPr>
              <a:t>&lt;=</a:t>
            </a:r>
            <a:r>
              <a:rPr lang="zh-CN" altLang="en-US" sz="3200" dirty="0">
                <a:latin typeface="Arial" panose="020B0604020202020204" pitchFamily="34" charset="0"/>
              </a:rPr>
              <a:t>、</a:t>
            </a:r>
            <a:r>
              <a:rPr lang="en-US" altLang="zh-CN" sz="3200" dirty="0">
                <a:latin typeface="Arial" panose="020B0604020202020204" pitchFamily="34" charset="0"/>
              </a:rPr>
              <a:t>!=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274955" indent="-274955">
              <a:spcBef>
                <a:spcPct val="30000"/>
              </a:spcBef>
            </a:pPr>
            <a:r>
              <a:rPr lang="zh-CN" altLang="en-US" sz="3200" dirty="0">
                <a:latin typeface="Arial" panose="020B0604020202020204" pitchFamily="34" charset="0"/>
              </a:rPr>
              <a:t>连接条件中的列名称为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连接属性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274955" indent="-274955">
              <a:spcBef>
                <a:spcPct val="30000"/>
              </a:spcBef>
            </a:pPr>
            <a:r>
              <a:rPr lang="zh-CN" altLang="en-US" sz="3200" dirty="0"/>
              <a:t>连接属性之间必须具有可比性</a:t>
            </a:r>
            <a:endParaRPr lang="zh-CN" altLang="en-US" sz="3200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5.3.3 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多表查询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8676" name="Rectangle 4"/>
          <p:cNvSpPr/>
          <p:nvPr/>
        </p:nvSpPr>
        <p:spPr>
          <a:xfrm>
            <a:off x="642938" y="2846388"/>
            <a:ext cx="6929437" cy="122555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kumimoji="1"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kumimoji="1"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kumimoji="1"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3175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ClrTx/>
              <a:buSzTx/>
              <a:buFontTx/>
              <a:buNone/>
            </a:pPr>
            <a:endParaRPr lang="zh-CN" altLang="zh-CN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/>
          </p:cNvSpPr>
          <p:nvPr>
            <p:ph idx="1"/>
          </p:nvPr>
        </p:nvSpPr>
        <p:spPr>
          <a:xfrm>
            <a:off x="152400" y="927735"/>
            <a:ext cx="8562975" cy="5273675"/>
          </a:xfrm>
        </p:spPr>
        <p:txBody>
          <a:bodyPr vert="horz" wrap="square" lIns="91440" tIns="45720" rIns="91440" bIns="45720" anchor="t" anchorCtr="0"/>
          <a:p>
            <a:pPr marL="365125" indent="-365125" latinLnBrk="0">
              <a:lnSpc>
                <a:spcPct val="150000"/>
              </a:lnSpc>
              <a:buNone/>
            </a:pPr>
            <a:r>
              <a:rPr lang="en-US" altLang="zh-CN" dirty="0">
                <a:latin typeface="Arial" panose="020B0604020202020204" pitchFamily="34" charset="0"/>
              </a:rPr>
              <a:t>    SQL</a:t>
            </a:r>
            <a:r>
              <a:rPr lang="zh-CN" altLang="en-US" dirty="0">
                <a:latin typeface="Arial" panose="020B0604020202020204" pitchFamily="34" charset="0"/>
              </a:rPr>
              <a:t>中连接查询的主要类型：</a:t>
            </a:r>
            <a:endParaRPr lang="zh-CN" altLang="en-US" dirty="0">
              <a:latin typeface="Arial" panose="020B0604020202020204" pitchFamily="34" charset="0"/>
            </a:endParaRPr>
          </a:p>
          <a:p>
            <a:pPr lvl="1" latinLnBrk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1) </a:t>
            </a:r>
            <a:r>
              <a:rPr lang="zh-CN" altLang="en-US" sz="3600" dirty="0">
                <a:latin typeface="Arial" panose="020B0604020202020204" pitchFamily="34" charset="0"/>
              </a:rPr>
              <a:t>笛卡尔积查询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 latinLnBrk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2) </a:t>
            </a:r>
            <a:r>
              <a:rPr lang="zh-CN" altLang="en-US" sz="3600" dirty="0">
                <a:latin typeface="Arial" panose="020B0604020202020204" pitchFamily="34" charset="0"/>
              </a:rPr>
              <a:t>等值连接查询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 latinLnBrk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3) </a:t>
            </a:r>
            <a:r>
              <a:rPr lang="zh-CN" altLang="en-US" sz="3600" dirty="0">
                <a:latin typeface="Arial" panose="020B0604020202020204" pitchFamily="34" charset="0"/>
              </a:rPr>
              <a:t>复合条件连接查询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 latinLnBrk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4) </a:t>
            </a:r>
            <a:r>
              <a:rPr lang="zh-CN" altLang="en-US" sz="3600" dirty="0">
                <a:latin typeface="Arial" panose="020B0604020202020204" pitchFamily="34" charset="0"/>
              </a:rPr>
              <a:t>自身连接查询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>
              <a:lnSpc>
                <a:spcPct val="120000"/>
              </a:lnSpc>
              <a:spcBef>
                <a:spcPct val="0"/>
              </a:spcBef>
              <a:buNone/>
            </a:pPr>
            <a:endParaRPr lang="zh-CN" altLang="en-US" sz="3600" dirty="0">
              <a:latin typeface="Arial" panose="020B0604020202020204" pitchFamily="34" charset="0"/>
            </a:endParaRPr>
          </a:p>
          <a:p>
            <a:pPr lvl="1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sz="3600" dirty="0">
              <a:latin typeface="Arial" panose="020B0604020202020204" pitchFamily="34" charset="0"/>
            </a:endParaRPr>
          </a:p>
        </p:txBody>
      </p:sp>
      <p:sp>
        <p:nvSpPr>
          <p:cNvPr id="415747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5.3.3 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多表查询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2"/>
          <p:cNvSpPr>
            <a:spLocks noGrp="1"/>
          </p:cNvSpPr>
          <p:nvPr>
            <p:ph idx="1"/>
          </p:nvPr>
        </p:nvSpPr>
        <p:spPr>
          <a:xfrm>
            <a:off x="223838" y="981075"/>
            <a:ext cx="8740775" cy="2447925"/>
          </a:xfrm>
        </p:spPr>
        <p:txBody>
          <a:bodyPr vert="horz" wrap="square" lIns="91440" tIns="45720" rIns="91440" bIns="45720" anchor="t" anchorCtr="0"/>
          <a:p>
            <a:pPr marL="365125" indent="-365125" latinLnBrk="0">
              <a:lnSpc>
                <a:spcPts val="4320"/>
              </a:lnSpc>
            </a:pPr>
            <a:r>
              <a:rPr lang="zh-CN" altLang="en-US" dirty="0">
                <a:latin typeface="Arial" panose="020B0604020202020204" pitchFamily="34" charset="0"/>
              </a:rPr>
              <a:t>不带连接条件的连接，很少使用</a:t>
            </a:r>
            <a:endParaRPr lang="zh-CN" altLang="en-US" dirty="0">
              <a:latin typeface="Arial" panose="020B0604020202020204" pitchFamily="34" charset="0"/>
            </a:endParaRPr>
          </a:p>
          <a:p>
            <a:pPr marL="365125" indent="-365125" latinLnBrk="0">
              <a:lnSpc>
                <a:spcPts val="4320"/>
              </a:lnSpc>
            </a:pPr>
            <a:r>
              <a:rPr lang="zh-CN" altLang="en-US" dirty="0">
                <a:latin typeface="Arial" panose="020B0604020202020204" pitchFamily="34" charset="0"/>
              </a:rPr>
              <a:t>举例：</a:t>
            </a:r>
            <a:endParaRPr lang="zh-CN" altLang="en-US" dirty="0">
              <a:latin typeface="Arial" panose="020B0604020202020204" pitchFamily="34" charset="0"/>
            </a:endParaRPr>
          </a:p>
          <a:p>
            <a:pPr marL="365125" indent="-365125" latinLnBrk="0">
              <a:lnSpc>
                <a:spcPts val="4320"/>
              </a:lnSpc>
              <a:spcBef>
                <a:spcPts val="0"/>
              </a:spcBef>
              <a:buNone/>
            </a:pPr>
            <a:r>
              <a:rPr lang="zh-CN" altLang="en-US" dirty="0">
                <a:latin typeface="Arial" panose="020B0604020202020204" pitchFamily="34" charset="0"/>
              </a:rPr>
              <a:t>     </a:t>
            </a:r>
            <a:r>
              <a:rPr lang="en-US" altLang="zh-CN" dirty="0">
                <a:latin typeface="Arial" panose="020B0604020202020204" pitchFamily="34" charset="0"/>
              </a:rPr>
              <a:t>SELECT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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365125" indent="-365125" latinLnBrk="0">
              <a:lnSpc>
                <a:spcPts val="432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   </a:t>
            </a:r>
            <a:r>
              <a:rPr lang="en-US" altLang="zh-CN" dirty="0">
                <a:latin typeface="Arial" panose="020B0604020202020204" pitchFamily="34" charset="0"/>
              </a:rPr>
              <a:t>FROM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S, SC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zh-CN" altLang="en-US" dirty="0">
                <a:latin typeface="Arial" panose="020B0604020202020204" pitchFamily="34" charset="0"/>
              </a:rPr>
              <a:t>；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1) 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笛卡尔积查询</a:t>
            </a:r>
            <a:endParaRPr kumimoji="1" lang="zh-CN" altLang="en-US" sz="40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2" name="组合 33"/>
          <p:cNvGrpSpPr/>
          <p:nvPr/>
        </p:nvGrpSpPr>
        <p:grpSpPr>
          <a:xfrm>
            <a:off x="239713" y="3643313"/>
            <a:ext cx="7459662" cy="1257300"/>
            <a:chOff x="239722" y="3643314"/>
            <a:chExt cx="7458925" cy="1257301"/>
          </a:xfrm>
        </p:grpSpPr>
        <p:grpSp>
          <p:nvGrpSpPr>
            <p:cNvPr id="30737" name="Group 15"/>
            <p:cNvGrpSpPr/>
            <p:nvPr/>
          </p:nvGrpSpPr>
          <p:grpSpPr>
            <a:xfrm>
              <a:off x="1093824" y="3665539"/>
              <a:ext cx="5024412" cy="515938"/>
              <a:chOff x="2055" y="2324"/>
              <a:chExt cx="3445" cy="325"/>
            </a:xfrm>
          </p:grpSpPr>
          <p:sp>
            <p:nvSpPr>
              <p:cNvPr id="30747" name="Text Box 6"/>
              <p:cNvSpPr txBox="1"/>
              <p:nvPr/>
            </p:nvSpPr>
            <p:spPr>
              <a:xfrm>
                <a:off x="2055" y="2324"/>
                <a:ext cx="888" cy="325"/>
              </a:xfrm>
              <a:prstGeom prst="rect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>
                <a:spAutoFit/>
              </a:bodyPr>
              <a:lstStyle>
                <a:lvl1pPr marL="269875" indent="-269875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  <a:buSzPct val="65000"/>
                  <a:buFont typeface="Wingdings" panose="05000000000000000000" pitchFamily="2" charset="2"/>
                  <a:buChar char="n"/>
                  <a:defRPr kumimoji="1" sz="36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811530" indent="-26987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SzPct val="65000"/>
                  <a:buFont typeface="Wingdings" panose="05000000000000000000" pitchFamily="2" charset="2"/>
                  <a:buChar char="n"/>
                  <a:defRPr kumimoji="1" sz="3200" b="1">
                    <a:solidFill>
                      <a:srgbClr val="000000"/>
                    </a:solidFill>
                    <a:latin typeface="+mn-lt"/>
                    <a:ea typeface="+mn-ea"/>
                  </a:defRPr>
                </a:lvl2pPr>
                <a:lvl3pPr marL="1339850" indent="-2590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SzPct val="65000"/>
                  <a:buFont typeface="Wingdings" panose="05000000000000000000" pitchFamily="2" charset="2"/>
                  <a:buChar char="n"/>
                  <a:defRPr kumimoji="1" sz="2800" b="1">
                    <a:solidFill>
                      <a:srgbClr val="000000"/>
                    </a:solidFill>
                    <a:latin typeface="+mn-lt"/>
                    <a:ea typeface="+mn-ea"/>
                  </a:defRPr>
                </a:lvl3pPr>
                <a:lvl4pPr marL="1927225" indent="-3175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Font typeface="Wingdings" panose="05000000000000000000" pitchFamily="2" charset="2"/>
                  <a:buChar char="n"/>
                  <a:defRPr kumimoji="1" sz="2400" b="1">
                    <a:solidFill>
                      <a:srgbClr val="000000"/>
                    </a:solidFill>
                    <a:latin typeface="+mn-lt"/>
                    <a:ea typeface="+mn-ea"/>
                  </a:defRPr>
                </a:lvl4pPr>
                <a:lvl5pPr marL="2335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Font typeface="Wingdings" panose="05000000000000000000" pitchFamily="2" charset="2"/>
                  <a:buChar char="n"/>
                  <a:defRPr kumimoji="1" sz="2400" b="1">
                    <a:solidFill>
                      <a:srgbClr val="000000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buClrTx/>
                  <a:buSzTx/>
                  <a:buFontTx/>
                  <a:buNone/>
                </a:pPr>
                <a:r>
                  <a:rPr lang="en-US" altLang="zh-CN" sz="3200" dirty="0">
                    <a:latin typeface="Arial" panose="020B0604020202020204" pitchFamily="34" charset="0"/>
                  </a:rPr>
                  <a:t>Sno</a:t>
                </a:r>
                <a:endParaRPr lang="en-US" altLang="zh-CN" sz="32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748" name="Text Box 7"/>
              <p:cNvSpPr txBox="1"/>
              <p:nvPr/>
            </p:nvSpPr>
            <p:spPr>
              <a:xfrm>
                <a:off x="2942" y="2324"/>
                <a:ext cx="1016" cy="325"/>
              </a:xfrm>
              <a:prstGeom prst="rect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>
                <a:spAutoFit/>
              </a:bodyPr>
              <a:lstStyle>
                <a:lvl1pPr marL="269875" indent="-269875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  <a:buSzPct val="65000"/>
                  <a:buFont typeface="Wingdings" panose="05000000000000000000" pitchFamily="2" charset="2"/>
                  <a:buChar char="n"/>
                  <a:defRPr kumimoji="1" sz="36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811530" indent="-26987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SzPct val="65000"/>
                  <a:buFont typeface="Wingdings" panose="05000000000000000000" pitchFamily="2" charset="2"/>
                  <a:buChar char="n"/>
                  <a:defRPr kumimoji="1" sz="3200" b="1">
                    <a:solidFill>
                      <a:srgbClr val="000000"/>
                    </a:solidFill>
                    <a:latin typeface="+mn-lt"/>
                    <a:ea typeface="+mn-ea"/>
                  </a:defRPr>
                </a:lvl2pPr>
                <a:lvl3pPr marL="1339850" indent="-2590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SzPct val="65000"/>
                  <a:buFont typeface="Wingdings" panose="05000000000000000000" pitchFamily="2" charset="2"/>
                  <a:buChar char="n"/>
                  <a:defRPr kumimoji="1" sz="2800" b="1">
                    <a:solidFill>
                      <a:srgbClr val="000000"/>
                    </a:solidFill>
                    <a:latin typeface="+mn-lt"/>
                    <a:ea typeface="+mn-ea"/>
                  </a:defRPr>
                </a:lvl3pPr>
                <a:lvl4pPr marL="1927225" indent="-3175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Font typeface="Wingdings" panose="05000000000000000000" pitchFamily="2" charset="2"/>
                  <a:buChar char="n"/>
                  <a:defRPr kumimoji="1" sz="2400" b="1">
                    <a:solidFill>
                      <a:srgbClr val="000000"/>
                    </a:solidFill>
                    <a:latin typeface="+mn-lt"/>
                    <a:ea typeface="+mn-ea"/>
                  </a:defRPr>
                </a:lvl4pPr>
                <a:lvl5pPr marL="2335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Font typeface="Wingdings" panose="05000000000000000000" pitchFamily="2" charset="2"/>
                  <a:buChar char="n"/>
                  <a:defRPr kumimoji="1" sz="2400" b="1">
                    <a:solidFill>
                      <a:srgbClr val="000000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buClrTx/>
                  <a:buSzTx/>
                  <a:buFontTx/>
                  <a:buNone/>
                </a:pPr>
                <a:r>
                  <a:rPr lang="en-US" altLang="zh-CN" sz="3200" dirty="0">
                    <a:latin typeface="Arial" panose="020B0604020202020204" pitchFamily="34" charset="0"/>
                  </a:rPr>
                  <a:t>Sname</a:t>
                </a:r>
                <a:endParaRPr lang="en-US" altLang="zh-CN" sz="32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749" name="Text Box 8"/>
              <p:cNvSpPr txBox="1"/>
              <p:nvPr/>
            </p:nvSpPr>
            <p:spPr>
              <a:xfrm>
                <a:off x="3959" y="2324"/>
                <a:ext cx="770" cy="325"/>
              </a:xfrm>
              <a:prstGeom prst="rect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>
                <a:spAutoFit/>
              </a:bodyPr>
              <a:lstStyle>
                <a:lvl1pPr marL="269875" indent="-269875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  <a:buSzPct val="65000"/>
                  <a:buFont typeface="Wingdings" panose="05000000000000000000" pitchFamily="2" charset="2"/>
                  <a:buChar char="n"/>
                  <a:defRPr kumimoji="1" sz="36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811530" indent="-26987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SzPct val="65000"/>
                  <a:buFont typeface="Wingdings" panose="05000000000000000000" pitchFamily="2" charset="2"/>
                  <a:buChar char="n"/>
                  <a:defRPr kumimoji="1" sz="3200" b="1">
                    <a:solidFill>
                      <a:srgbClr val="000000"/>
                    </a:solidFill>
                    <a:latin typeface="+mn-lt"/>
                    <a:ea typeface="+mn-ea"/>
                  </a:defRPr>
                </a:lvl2pPr>
                <a:lvl3pPr marL="1339850" indent="-2590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SzPct val="65000"/>
                  <a:buFont typeface="Wingdings" panose="05000000000000000000" pitchFamily="2" charset="2"/>
                  <a:buChar char="n"/>
                  <a:defRPr kumimoji="1" sz="2800" b="1">
                    <a:solidFill>
                      <a:srgbClr val="000000"/>
                    </a:solidFill>
                    <a:latin typeface="+mn-lt"/>
                    <a:ea typeface="+mn-ea"/>
                  </a:defRPr>
                </a:lvl3pPr>
                <a:lvl4pPr marL="1927225" indent="-3175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Font typeface="Wingdings" panose="05000000000000000000" pitchFamily="2" charset="2"/>
                  <a:buChar char="n"/>
                  <a:defRPr kumimoji="1" sz="2400" b="1">
                    <a:solidFill>
                      <a:srgbClr val="000000"/>
                    </a:solidFill>
                    <a:latin typeface="+mn-lt"/>
                    <a:ea typeface="+mn-ea"/>
                  </a:defRPr>
                </a:lvl4pPr>
                <a:lvl5pPr marL="2335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Font typeface="Wingdings" panose="05000000000000000000" pitchFamily="2" charset="2"/>
                  <a:buChar char="n"/>
                  <a:defRPr kumimoji="1" sz="2400" b="1">
                    <a:solidFill>
                      <a:srgbClr val="000000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buClrTx/>
                  <a:buSzTx/>
                  <a:buFontTx/>
                  <a:buNone/>
                </a:pPr>
                <a:r>
                  <a:rPr lang="en-US" altLang="zh-CN" sz="3200" dirty="0">
                    <a:latin typeface="Arial" panose="020B0604020202020204" pitchFamily="34" charset="0"/>
                  </a:rPr>
                  <a:t>Ssex</a:t>
                </a:r>
                <a:endParaRPr lang="en-US" altLang="zh-CN" sz="32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750" name="Text Box 9"/>
              <p:cNvSpPr txBox="1"/>
              <p:nvPr/>
            </p:nvSpPr>
            <p:spPr>
              <a:xfrm>
                <a:off x="4729" y="2324"/>
                <a:ext cx="771" cy="325"/>
              </a:xfrm>
              <a:prstGeom prst="rect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>
                <a:spAutoFit/>
              </a:bodyPr>
              <a:lstStyle>
                <a:lvl1pPr marL="269875" indent="-269875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  <a:buSzPct val="65000"/>
                  <a:buFont typeface="Wingdings" panose="05000000000000000000" pitchFamily="2" charset="2"/>
                  <a:buChar char="n"/>
                  <a:defRPr kumimoji="1" sz="36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811530" indent="-26987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SzPct val="65000"/>
                  <a:buFont typeface="Wingdings" panose="05000000000000000000" pitchFamily="2" charset="2"/>
                  <a:buChar char="n"/>
                  <a:defRPr kumimoji="1" sz="3200" b="1">
                    <a:solidFill>
                      <a:srgbClr val="000000"/>
                    </a:solidFill>
                    <a:latin typeface="+mn-lt"/>
                    <a:ea typeface="+mn-ea"/>
                  </a:defRPr>
                </a:lvl2pPr>
                <a:lvl3pPr marL="1339850" indent="-2590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SzPct val="65000"/>
                  <a:buFont typeface="Wingdings" panose="05000000000000000000" pitchFamily="2" charset="2"/>
                  <a:buChar char="n"/>
                  <a:defRPr kumimoji="1" sz="2800" b="1">
                    <a:solidFill>
                      <a:srgbClr val="000000"/>
                    </a:solidFill>
                    <a:latin typeface="+mn-lt"/>
                    <a:ea typeface="+mn-ea"/>
                  </a:defRPr>
                </a:lvl3pPr>
                <a:lvl4pPr marL="1927225" indent="-3175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Font typeface="Wingdings" panose="05000000000000000000" pitchFamily="2" charset="2"/>
                  <a:buChar char="n"/>
                  <a:defRPr kumimoji="1" sz="2400" b="1">
                    <a:solidFill>
                      <a:srgbClr val="000000"/>
                    </a:solidFill>
                    <a:latin typeface="+mn-lt"/>
                    <a:ea typeface="+mn-ea"/>
                  </a:defRPr>
                </a:lvl4pPr>
                <a:lvl5pPr marL="2335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Font typeface="Wingdings" panose="05000000000000000000" pitchFamily="2" charset="2"/>
                  <a:buChar char="n"/>
                  <a:defRPr kumimoji="1" sz="2400" b="1">
                    <a:solidFill>
                      <a:srgbClr val="000000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buClrTx/>
                  <a:buSzTx/>
                  <a:buFontTx/>
                  <a:buNone/>
                </a:pPr>
                <a:r>
                  <a:rPr lang="en-US" altLang="zh-CN" sz="3200" dirty="0">
                    <a:latin typeface="Arial" panose="020B0604020202020204" pitchFamily="34" charset="0"/>
                  </a:rPr>
                  <a:t>Sage</a:t>
                </a:r>
                <a:endParaRPr lang="en-US" altLang="zh-CN" sz="3200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0738" name="Text Box 10"/>
            <p:cNvSpPr txBox="1"/>
            <p:nvPr/>
          </p:nvSpPr>
          <p:spPr>
            <a:xfrm>
              <a:off x="430222" y="3643314"/>
              <a:ext cx="437540" cy="487363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0" tIns="0" rIns="0" bIns="0">
              <a:spAutoFit/>
            </a:bodyPr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kumimoji="1"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kumimoji="1"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kumimoji="1"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3175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 eaLnBrk="1" hangingPunct="1">
                <a:buClrTx/>
                <a:buSzTx/>
                <a:buFontTx/>
                <a:buNone/>
              </a:pPr>
              <a:r>
                <a:rPr lang="en-US" altLang="zh-CN" sz="3200" dirty="0">
                  <a:solidFill>
                    <a:srgbClr val="0000FF"/>
                  </a:solidFill>
                  <a:latin typeface="Arial" panose="020B0604020202020204" pitchFamily="34" charset="0"/>
                </a:rPr>
                <a:t>S</a:t>
              </a:r>
              <a:endParaRPr lang="en-US" altLang="zh-CN" sz="3200" dirty="0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0739" name="Group 17"/>
            <p:cNvGrpSpPr/>
            <p:nvPr/>
          </p:nvGrpSpPr>
          <p:grpSpPr>
            <a:xfrm>
              <a:off x="239722" y="4362452"/>
              <a:ext cx="5057776" cy="538163"/>
              <a:chOff x="890" y="2910"/>
              <a:chExt cx="3459" cy="339"/>
            </a:xfrm>
          </p:grpSpPr>
          <p:sp>
            <p:nvSpPr>
              <p:cNvPr id="30742" name="Text Box 12"/>
              <p:cNvSpPr txBox="1"/>
              <p:nvPr/>
            </p:nvSpPr>
            <p:spPr>
              <a:xfrm>
                <a:off x="890" y="2910"/>
                <a:ext cx="436" cy="30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0" tIns="0" rIns="0" bIns="0">
                <a:spAutoFit/>
              </a:bodyPr>
              <a:lstStyle>
                <a:lvl1pPr marL="269875" indent="-269875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  <a:buSzPct val="65000"/>
                  <a:buFont typeface="Wingdings" panose="05000000000000000000" pitchFamily="2" charset="2"/>
                  <a:buChar char="n"/>
                  <a:defRPr kumimoji="1" sz="36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811530" indent="-26987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SzPct val="65000"/>
                  <a:buFont typeface="Wingdings" panose="05000000000000000000" pitchFamily="2" charset="2"/>
                  <a:buChar char="n"/>
                  <a:defRPr kumimoji="1" sz="3200" b="1">
                    <a:solidFill>
                      <a:srgbClr val="000000"/>
                    </a:solidFill>
                    <a:latin typeface="+mn-lt"/>
                    <a:ea typeface="+mn-ea"/>
                  </a:defRPr>
                </a:lvl2pPr>
                <a:lvl3pPr marL="1339850" indent="-2590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SzPct val="65000"/>
                  <a:buFont typeface="Wingdings" panose="05000000000000000000" pitchFamily="2" charset="2"/>
                  <a:buChar char="n"/>
                  <a:defRPr kumimoji="1" sz="2800" b="1">
                    <a:solidFill>
                      <a:srgbClr val="000000"/>
                    </a:solidFill>
                    <a:latin typeface="+mn-lt"/>
                    <a:ea typeface="+mn-ea"/>
                  </a:defRPr>
                </a:lvl3pPr>
                <a:lvl4pPr marL="1927225" indent="-3175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Font typeface="Wingdings" panose="05000000000000000000" pitchFamily="2" charset="2"/>
                  <a:buChar char="n"/>
                  <a:defRPr kumimoji="1" sz="2400" b="1">
                    <a:solidFill>
                      <a:srgbClr val="000000"/>
                    </a:solidFill>
                    <a:latin typeface="+mn-lt"/>
                    <a:ea typeface="+mn-ea"/>
                  </a:defRPr>
                </a:lvl4pPr>
                <a:lvl5pPr marL="2335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5000"/>
                  <a:buFont typeface="Wingdings" panose="05000000000000000000" pitchFamily="2" charset="2"/>
                  <a:buChar char="n"/>
                  <a:defRPr kumimoji="1" sz="2400" b="1">
                    <a:solidFill>
                      <a:srgbClr val="000000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 eaLnBrk="1" hangingPunct="1">
                  <a:buClrTx/>
                  <a:buSzTx/>
                  <a:buFontTx/>
                  <a:buNone/>
                </a:pPr>
                <a:r>
                  <a:rPr lang="en-US" altLang="zh-CN" sz="3200" dirty="0">
                    <a:solidFill>
                      <a:srgbClr val="0000FF"/>
                    </a:solidFill>
                    <a:latin typeface="Arial" panose="020B0604020202020204" pitchFamily="34" charset="0"/>
                  </a:rPr>
                  <a:t>SC</a:t>
                </a:r>
                <a:endParaRPr lang="en-US" altLang="zh-CN" sz="3200" dirty="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30743" name="Group 16"/>
              <p:cNvGrpSpPr/>
              <p:nvPr/>
            </p:nvGrpSpPr>
            <p:grpSpPr>
              <a:xfrm>
                <a:off x="1481" y="2922"/>
                <a:ext cx="2868" cy="327"/>
                <a:chOff x="1481" y="2922"/>
                <a:chExt cx="2868" cy="327"/>
              </a:xfrm>
            </p:grpSpPr>
            <p:sp>
              <p:nvSpPr>
                <p:cNvPr id="30744" name="Text Box 11"/>
                <p:cNvSpPr txBox="1"/>
                <p:nvPr/>
              </p:nvSpPr>
              <p:spPr>
                <a:xfrm>
                  <a:off x="1481" y="2924"/>
                  <a:ext cx="889" cy="325"/>
                </a:xfrm>
                <a:prstGeom prst="rect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tIns="0" rIns="0" bIns="0">
                  <a:spAutoFit/>
                </a:bodyPr>
                <a:lstStyle>
                  <a:lvl1pPr marL="269875" indent="-269875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5000"/>
                    <a:buFont typeface="Wingdings" panose="05000000000000000000" pitchFamily="2" charset="2"/>
                    <a:buChar char="n"/>
                    <a:defRPr kumimoji="1" sz="36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11530" indent="-26987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SzPct val="65000"/>
                    <a:buFont typeface="Wingdings" panose="05000000000000000000" pitchFamily="2" charset="2"/>
                    <a:buChar char="n"/>
                    <a:defRPr kumimoji="1" sz="32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2pPr>
                  <a:lvl3pPr marL="1339850" indent="-25908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6633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3pPr>
                  <a:lvl4pPr marL="1927225" indent="-3175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4pPr>
                  <a:lvl5pPr marL="233553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buClrTx/>
                    <a:buSzTx/>
                    <a:buFontTx/>
                    <a:buNone/>
                  </a:pPr>
                  <a:r>
                    <a:rPr lang="en-US" altLang="zh-CN" sz="3200" dirty="0">
                      <a:latin typeface="Arial" panose="020B0604020202020204" pitchFamily="34" charset="0"/>
                    </a:rPr>
                    <a:t>Sno</a:t>
                  </a:r>
                  <a:endParaRPr lang="en-US" altLang="zh-CN" sz="32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745" name="Text Box 13"/>
                <p:cNvSpPr txBox="1"/>
                <p:nvPr/>
              </p:nvSpPr>
              <p:spPr>
                <a:xfrm>
                  <a:off x="2370" y="2922"/>
                  <a:ext cx="889" cy="325"/>
                </a:xfrm>
                <a:prstGeom prst="rect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tIns="0" rIns="0" bIns="0">
                  <a:spAutoFit/>
                </a:bodyPr>
                <a:lstStyle>
                  <a:lvl1pPr marL="269875" indent="-269875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5000"/>
                    <a:buFont typeface="Wingdings" panose="05000000000000000000" pitchFamily="2" charset="2"/>
                    <a:buChar char="n"/>
                    <a:defRPr kumimoji="1" sz="36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11530" indent="-26987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SzPct val="65000"/>
                    <a:buFont typeface="Wingdings" panose="05000000000000000000" pitchFamily="2" charset="2"/>
                    <a:buChar char="n"/>
                    <a:defRPr kumimoji="1" sz="32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2pPr>
                  <a:lvl3pPr marL="1339850" indent="-25908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6633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3pPr>
                  <a:lvl4pPr marL="1927225" indent="-3175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4pPr>
                  <a:lvl5pPr marL="233553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buClrTx/>
                    <a:buSzTx/>
                    <a:buFontTx/>
                    <a:buNone/>
                  </a:pPr>
                  <a:r>
                    <a:rPr lang="en-US" altLang="zh-CN" sz="3200" dirty="0">
                      <a:latin typeface="Arial" panose="020B0604020202020204" pitchFamily="34" charset="0"/>
                    </a:rPr>
                    <a:t>Cno</a:t>
                  </a:r>
                  <a:endParaRPr lang="en-US" altLang="zh-CN" sz="32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746" name="Text Box 14"/>
                <p:cNvSpPr txBox="1"/>
                <p:nvPr/>
              </p:nvSpPr>
              <p:spPr>
                <a:xfrm>
                  <a:off x="3259" y="2922"/>
                  <a:ext cx="1090" cy="325"/>
                </a:xfrm>
                <a:prstGeom prst="rect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tIns="0" rIns="0" bIns="0">
                  <a:spAutoFit/>
                </a:bodyPr>
                <a:lstStyle>
                  <a:lvl1pPr marL="269875" indent="-269875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5000"/>
                    <a:buFont typeface="Wingdings" panose="05000000000000000000" pitchFamily="2" charset="2"/>
                    <a:buChar char="n"/>
                    <a:defRPr kumimoji="1" sz="36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11530" indent="-26987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SzPct val="65000"/>
                    <a:buFont typeface="Wingdings" panose="05000000000000000000" pitchFamily="2" charset="2"/>
                    <a:buChar char="n"/>
                    <a:defRPr kumimoji="1" sz="32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2pPr>
                  <a:lvl3pPr marL="1339850" indent="-25908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6633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3pPr>
                  <a:lvl4pPr marL="1927225" indent="-3175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4pPr>
                  <a:lvl5pPr marL="233553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buClrTx/>
                    <a:buSzTx/>
                    <a:buFontTx/>
                    <a:buNone/>
                  </a:pPr>
                  <a:r>
                    <a:rPr lang="en-US" altLang="zh-CN" sz="3200" dirty="0">
                      <a:latin typeface="Arial" panose="020B0604020202020204" pitchFamily="34" charset="0"/>
                    </a:rPr>
                    <a:t>Score</a:t>
                  </a:r>
                  <a:endParaRPr lang="en-US" altLang="zh-CN" sz="3200" dirty="0">
                    <a:latin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30740" name="Text Box 10"/>
            <p:cNvSpPr txBox="1"/>
            <p:nvPr/>
          </p:nvSpPr>
          <p:spPr>
            <a:xfrm>
              <a:off x="6269887" y="3693189"/>
              <a:ext cx="1428760" cy="43088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0" tIns="0" rIns="0" bIns="0">
              <a:spAutoFit/>
            </a:bodyPr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kumimoji="1"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kumimoji="1"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kumimoji="1"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3175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 eaLnBrk="1" hangingPunct="1">
                <a:buClrTx/>
                <a:buSzTx/>
                <a:buFontTx/>
                <a:buNone/>
              </a:pPr>
              <a:r>
                <a:rPr lang="en-US" altLang="zh-CN" sz="2800" dirty="0">
                  <a:latin typeface="Arial" panose="020B0604020202020204" pitchFamily="34" charset="0"/>
                </a:rPr>
                <a:t>m</a:t>
              </a:r>
              <a:r>
                <a:rPr lang="zh-CN" altLang="en-US" sz="2800" dirty="0">
                  <a:latin typeface="Arial" panose="020B0604020202020204" pitchFamily="34" charset="0"/>
                </a:rPr>
                <a:t>个元组</a:t>
              </a:r>
              <a:endParaRPr lang="en-US" altLang="zh-CN" sz="2800" dirty="0">
                <a:latin typeface="Arial" panose="020B0604020202020204" pitchFamily="34" charset="0"/>
              </a:endParaRPr>
            </a:p>
          </p:txBody>
        </p:sp>
        <p:sp>
          <p:nvSpPr>
            <p:cNvPr id="30741" name="Text Box 10"/>
            <p:cNvSpPr txBox="1"/>
            <p:nvPr/>
          </p:nvSpPr>
          <p:spPr>
            <a:xfrm>
              <a:off x="5500694" y="4429132"/>
              <a:ext cx="1428760" cy="43088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0" tIns="0" rIns="0" bIns="0">
              <a:spAutoFit/>
            </a:bodyPr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kumimoji="1"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kumimoji="1"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kumimoji="1"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3175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 eaLnBrk="1" hangingPunct="1">
                <a:buClrTx/>
                <a:buSzTx/>
                <a:buFontTx/>
                <a:buNone/>
              </a:pPr>
              <a:r>
                <a:rPr lang="en-US" altLang="zh-CN" sz="2800" dirty="0">
                  <a:latin typeface="Arial" panose="020B0604020202020204" pitchFamily="34" charset="0"/>
                </a:rPr>
                <a:t>n</a:t>
              </a:r>
              <a:r>
                <a:rPr lang="zh-CN" altLang="en-US" sz="2800" dirty="0">
                  <a:latin typeface="Arial" panose="020B0604020202020204" pitchFamily="34" charset="0"/>
                </a:rPr>
                <a:t>个元组</a:t>
              </a:r>
              <a:endParaRPr lang="en-US" altLang="zh-CN" sz="28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6" name="组合 34"/>
          <p:cNvGrpSpPr/>
          <p:nvPr/>
        </p:nvGrpSpPr>
        <p:grpSpPr>
          <a:xfrm>
            <a:off x="107950" y="5300663"/>
            <a:ext cx="8821738" cy="1057275"/>
            <a:chOff x="107950" y="5300663"/>
            <a:chExt cx="8821436" cy="1057295"/>
          </a:xfrm>
        </p:grpSpPr>
        <p:grpSp>
          <p:nvGrpSpPr>
            <p:cNvPr id="30726" name="Group 33"/>
            <p:cNvGrpSpPr/>
            <p:nvPr/>
          </p:nvGrpSpPr>
          <p:grpSpPr>
            <a:xfrm>
              <a:off x="107950" y="5300663"/>
              <a:ext cx="8821436" cy="431800"/>
              <a:chOff x="68" y="3339"/>
              <a:chExt cx="5549" cy="272"/>
            </a:xfrm>
          </p:grpSpPr>
          <p:grpSp>
            <p:nvGrpSpPr>
              <p:cNvPr id="30728" name="Group 20"/>
              <p:cNvGrpSpPr/>
              <p:nvPr/>
            </p:nvGrpSpPr>
            <p:grpSpPr>
              <a:xfrm>
                <a:off x="68" y="3339"/>
                <a:ext cx="3017" cy="271"/>
                <a:chOff x="1974" y="2324"/>
                <a:chExt cx="3446" cy="271"/>
              </a:xfrm>
            </p:grpSpPr>
            <p:sp>
              <p:nvSpPr>
                <p:cNvPr id="30733" name="Text Box 21"/>
                <p:cNvSpPr txBox="1"/>
                <p:nvPr/>
              </p:nvSpPr>
              <p:spPr>
                <a:xfrm>
                  <a:off x="1974" y="2324"/>
                  <a:ext cx="888" cy="271"/>
                </a:xfrm>
                <a:prstGeom prst="rect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tIns="0" rIns="0" bIns="0">
                  <a:spAutoFit/>
                </a:bodyPr>
                <a:lstStyle>
                  <a:lvl1pPr marL="269875" indent="-269875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5000"/>
                    <a:buFont typeface="Wingdings" panose="05000000000000000000" pitchFamily="2" charset="2"/>
                    <a:buChar char="n"/>
                    <a:defRPr kumimoji="1" sz="36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11530" indent="-26987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SzPct val="65000"/>
                    <a:buFont typeface="Wingdings" panose="05000000000000000000" pitchFamily="2" charset="2"/>
                    <a:buChar char="n"/>
                    <a:defRPr kumimoji="1" sz="32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2pPr>
                  <a:lvl3pPr marL="1339850" indent="-25908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6633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3pPr>
                  <a:lvl4pPr marL="1927225" indent="-3175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4pPr>
                  <a:lvl5pPr marL="233553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buClrTx/>
                    <a:buSzTx/>
                    <a:buFontTx/>
                    <a:buNone/>
                  </a:pPr>
                  <a:r>
                    <a:rPr lang="en-US" altLang="zh-CN" sz="28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S</a:t>
                  </a:r>
                  <a:r>
                    <a:rPr lang="en-US" altLang="zh-CN" sz="2800" dirty="0">
                      <a:latin typeface="Arial" panose="020B0604020202020204" pitchFamily="34" charset="0"/>
                    </a:rPr>
                    <a:t>.Sno</a:t>
                  </a:r>
                  <a:endParaRPr lang="en-US" altLang="zh-CN" sz="2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734" name="Text Box 22"/>
                <p:cNvSpPr txBox="1"/>
                <p:nvPr/>
              </p:nvSpPr>
              <p:spPr>
                <a:xfrm>
                  <a:off x="2862" y="2324"/>
                  <a:ext cx="1016" cy="271"/>
                </a:xfrm>
                <a:prstGeom prst="rect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tIns="0" rIns="0" bIns="0">
                  <a:spAutoFit/>
                </a:bodyPr>
                <a:lstStyle>
                  <a:lvl1pPr marL="269875" indent="-269875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5000"/>
                    <a:buFont typeface="Wingdings" panose="05000000000000000000" pitchFamily="2" charset="2"/>
                    <a:buChar char="n"/>
                    <a:defRPr kumimoji="1" sz="36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11530" indent="-26987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SzPct val="65000"/>
                    <a:buFont typeface="Wingdings" panose="05000000000000000000" pitchFamily="2" charset="2"/>
                    <a:buChar char="n"/>
                    <a:defRPr kumimoji="1" sz="32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2pPr>
                  <a:lvl3pPr marL="1339850" indent="-25908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6633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3pPr>
                  <a:lvl4pPr marL="1927225" indent="-3175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4pPr>
                  <a:lvl5pPr marL="233553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buClrTx/>
                    <a:buSzTx/>
                    <a:buFontTx/>
                    <a:buNone/>
                  </a:pPr>
                  <a:r>
                    <a:rPr lang="en-US" altLang="zh-CN" sz="2800" dirty="0">
                      <a:latin typeface="Arial" panose="020B0604020202020204" pitchFamily="34" charset="0"/>
                    </a:rPr>
                    <a:t>Sname</a:t>
                  </a:r>
                  <a:endParaRPr lang="en-US" altLang="zh-CN" sz="2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735" name="Text Box 23"/>
                <p:cNvSpPr txBox="1"/>
                <p:nvPr/>
              </p:nvSpPr>
              <p:spPr>
                <a:xfrm>
                  <a:off x="3879" y="2324"/>
                  <a:ext cx="770" cy="271"/>
                </a:xfrm>
                <a:prstGeom prst="rect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tIns="0" rIns="0" bIns="0">
                  <a:spAutoFit/>
                </a:bodyPr>
                <a:lstStyle>
                  <a:lvl1pPr marL="269875" indent="-269875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5000"/>
                    <a:buFont typeface="Wingdings" panose="05000000000000000000" pitchFamily="2" charset="2"/>
                    <a:buChar char="n"/>
                    <a:defRPr kumimoji="1" sz="36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11530" indent="-26987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SzPct val="65000"/>
                    <a:buFont typeface="Wingdings" panose="05000000000000000000" pitchFamily="2" charset="2"/>
                    <a:buChar char="n"/>
                    <a:defRPr kumimoji="1" sz="32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2pPr>
                  <a:lvl3pPr marL="1339850" indent="-25908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6633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3pPr>
                  <a:lvl4pPr marL="1927225" indent="-3175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4pPr>
                  <a:lvl5pPr marL="233553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buClrTx/>
                    <a:buSzTx/>
                    <a:buFontTx/>
                    <a:buNone/>
                  </a:pPr>
                  <a:r>
                    <a:rPr lang="en-US" altLang="zh-CN" sz="2800" dirty="0">
                      <a:latin typeface="Arial" panose="020B0604020202020204" pitchFamily="34" charset="0"/>
                    </a:rPr>
                    <a:t>Ssex</a:t>
                  </a:r>
                  <a:endParaRPr lang="en-US" altLang="zh-CN" sz="2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736" name="Text Box 24"/>
                <p:cNvSpPr txBox="1"/>
                <p:nvPr/>
              </p:nvSpPr>
              <p:spPr>
                <a:xfrm>
                  <a:off x="4649" y="2324"/>
                  <a:ext cx="771" cy="271"/>
                </a:xfrm>
                <a:prstGeom prst="rect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tIns="0" rIns="0" bIns="0">
                  <a:spAutoFit/>
                </a:bodyPr>
                <a:lstStyle>
                  <a:lvl1pPr marL="269875" indent="-269875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5000"/>
                    <a:buFont typeface="Wingdings" panose="05000000000000000000" pitchFamily="2" charset="2"/>
                    <a:buChar char="n"/>
                    <a:defRPr kumimoji="1" sz="36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11530" indent="-26987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SzPct val="65000"/>
                    <a:buFont typeface="Wingdings" panose="05000000000000000000" pitchFamily="2" charset="2"/>
                    <a:buChar char="n"/>
                    <a:defRPr kumimoji="1" sz="32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2pPr>
                  <a:lvl3pPr marL="1339850" indent="-25908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6633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3pPr>
                  <a:lvl4pPr marL="1927225" indent="-3175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4pPr>
                  <a:lvl5pPr marL="233553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buClrTx/>
                    <a:buSzTx/>
                    <a:buFontTx/>
                    <a:buNone/>
                  </a:pPr>
                  <a:r>
                    <a:rPr lang="en-US" altLang="zh-CN" sz="2800" dirty="0">
                      <a:latin typeface="Arial" panose="020B0604020202020204" pitchFamily="34" charset="0"/>
                    </a:rPr>
                    <a:t>Sage</a:t>
                  </a:r>
                  <a:endParaRPr lang="en-US" altLang="zh-CN" sz="2800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30729" name="Group 32"/>
              <p:cNvGrpSpPr/>
              <p:nvPr/>
            </p:nvGrpSpPr>
            <p:grpSpPr>
              <a:xfrm>
                <a:off x="3089" y="3339"/>
                <a:ext cx="2528" cy="272"/>
                <a:chOff x="3089" y="3339"/>
                <a:chExt cx="2528" cy="272"/>
              </a:xfrm>
            </p:grpSpPr>
            <p:sp>
              <p:nvSpPr>
                <p:cNvPr id="30730" name="Text Box 29"/>
                <p:cNvSpPr txBox="1"/>
                <p:nvPr/>
              </p:nvSpPr>
              <p:spPr>
                <a:xfrm>
                  <a:off x="3089" y="3340"/>
                  <a:ext cx="952" cy="271"/>
                </a:xfrm>
                <a:prstGeom prst="rect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tIns="0" rIns="0" bIns="0">
                  <a:spAutoFit/>
                </a:bodyPr>
                <a:lstStyle>
                  <a:lvl1pPr marL="269875" indent="-269875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5000"/>
                    <a:buFont typeface="Wingdings" panose="05000000000000000000" pitchFamily="2" charset="2"/>
                    <a:buChar char="n"/>
                    <a:defRPr kumimoji="1" sz="36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11530" indent="-26987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SzPct val="65000"/>
                    <a:buFont typeface="Wingdings" panose="05000000000000000000" pitchFamily="2" charset="2"/>
                    <a:buChar char="n"/>
                    <a:defRPr kumimoji="1" sz="32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2pPr>
                  <a:lvl3pPr marL="1339850" indent="-25908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6633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3pPr>
                  <a:lvl4pPr marL="1927225" indent="-3175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4pPr>
                  <a:lvl5pPr marL="233553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buClrTx/>
                    <a:buSzTx/>
                    <a:buFontTx/>
                    <a:buNone/>
                  </a:pPr>
                  <a:r>
                    <a:rPr lang="en-US" altLang="zh-CN" sz="28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SC</a:t>
                  </a:r>
                  <a:r>
                    <a:rPr lang="en-US" altLang="zh-CN" sz="2800" dirty="0">
                      <a:latin typeface="Arial" panose="020B0604020202020204" pitchFamily="34" charset="0"/>
                    </a:rPr>
                    <a:t>.Sno</a:t>
                  </a:r>
                  <a:endParaRPr lang="en-US" altLang="zh-CN" sz="2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731" name="Text Box 30"/>
                <p:cNvSpPr txBox="1"/>
                <p:nvPr/>
              </p:nvSpPr>
              <p:spPr>
                <a:xfrm>
                  <a:off x="4041" y="3339"/>
                  <a:ext cx="700" cy="271"/>
                </a:xfrm>
                <a:prstGeom prst="rect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tIns="0" rIns="0" bIns="0">
                  <a:spAutoFit/>
                </a:bodyPr>
                <a:lstStyle>
                  <a:lvl1pPr marL="269875" indent="-269875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5000"/>
                    <a:buFont typeface="Wingdings" panose="05000000000000000000" pitchFamily="2" charset="2"/>
                    <a:buChar char="n"/>
                    <a:defRPr kumimoji="1" sz="36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11530" indent="-26987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SzPct val="65000"/>
                    <a:buFont typeface="Wingdings" panose="05000000000000000000" pitchFamily="2" charset="2"/>
                    <a:buChar char="n"/>
                    <a:defRPr kumimoji="1" sz="32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2pPr>
                  <a:lvl3pPr marL="1339850" indent="-25908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6633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3pPr>
                  <a:lvl4pPr marL="1927225" indent="-3175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4pPr>
                  <a:lvl5pPr marL="233553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buClrTx/>
                    <a:buSzTx/>
                    <a:buFontTx/>
                    <a:buNone/>
                  </a:pPr>
                  <a:r>
                    <a:rPr lang="en-US" altLang="zh-CN" sz="2800" dirty="0">
                      <a:latin typeface="Arial" panose="020B0604020202020204" pitchFamily="34" charset="0"/>
                    </a:rPr>
                    <a:t>Cno</a:t>
                  </a:r>
                  <a:endParaRPr lang="en-US" altLang="zh-CN" sz="32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732" name="Text Box 31"/>
                <p:cNvSpPr txBox="1"/>
                <p:nvPr/>
              </p:nvSpPr>
              <p:spPr>
                <a:xfrm>
                  <a:off x="4739" y="3339"/>
                  <a:ext cx="878" cy="271"/>
                </a:xfrm>
                <a:prstGeom prst="rect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tIns="0" rIns="0" bIns="0">
                  <a:spAutoFit/>
                </a:bodyPr>
                <a:lstStyle>
                  <a:lvl1pPr marL="269875" indent="-269875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5000"/>
                    <a:buFont typeface="Wingdings" panose="05000000000000000000" pitchFamily="2" charset="2"/>
                    <a:buChar char="n"/>
                    <a:defRPr kumimoji="1" sz="36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11530" indent="-26987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SzPct val="65000"/>
                    <a:buFont typeface="Wingdings" panose="05000000000000000000" pitchFamily="2" charset="2"/>
                    <a:buChar char="n"/>
                    <a:defRPr kumimoji="1" sz="32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2pPr>
                  <a:lvl3pPr marL="1339850" indent="-25908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6633"/>
                    </a:buClr>
                    <a:buSzPct val="65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3pPr>
                  <a:lvl4pPr marL="1927225" indent="-3175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4pPr>
                  <a:lvl5pPr marL="233553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5000"/>
                    <a:buFont typeface="Wingdings" panose="05000000000000000000" pitchFamily="2" charset="2"/>
                    <a:buChar char="n"/>
                    <a:defRPr kumimoji="1" sz="24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buClrTx/>
                    <a:buSzTx/>
                    <a:buFontTx/>
                    <a:buNone/>
                  </a:pPr>
                  <a:r>
                    <a:rPr lang="en-US" altLang="zh-CN" sz="2800" dirty="0">
                      <a:latin typeface="Arial" panose="020B0604020202020204" pitchFamily="34" charset="0"/>
                    </a:rPr>
                    <a:t>Score</a:t>
                  </a:r>
                  <a:endParaRPr lang="en-US" altLang="zh-CN" sz="2800" dirty="0">
                    <a:latin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30727" name="Text Box 10"/>
            <p:cNvSpPr txBox="1"/>
            <p:nvPr/>
          </p:nvSpPr>
          <p:spPr>
            <a:xfrm>
              <a:off x="2643174" y="5927071"/>
              <a:ext cx="2071702" cy="43088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0" tIns="0" rIns="0" bIns="0">
              <a:spAutoFit/>
            </a:bodyPr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kumimoji="1"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kumimoji="1"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kumimoji="1"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3175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 eaLnBrk="1" hangingPunct="1">
                <a:buClrTx/>
                <a:buSzTx/>
                <a:buFontTx/>
                <a:buNone/>
              </a:pPr>
              <a:r>
                <a:rPr lang="en-US" altLang="zh-CN" sz="2800" dirty="0">
                  <a:latin typeface="Arial" panose="020B0604020202020204" pitchFamily="34" charset="0"/>
                </a:rPr>
                <a:t>m×n</a:t>
              </a:r>
              <a:r>
                <a:rPr lang="zh-CN" altLang="en-US" sz="2800" dirty="0">
                  <a:latin typeface="Arial" panose="020B0604020202020204" pitchFamily="34" charset="0"/>
                </a:rPr>
                <a:t>个元组</a:t>
              </a:r>
              <a:endParaRPr lang="en-US" altLang="zh-CN" sz="2800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31" name="Rectangle 7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2) 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等值连接查询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2771" name="Rectangle 8"/>
          <p:cNvSpPr>
            <a:spLocks noGrp="1" noChangeArrowheads="1"/>
          </p:cNvSpPr>
          <p:nvPr>
            <p:ph idx="1"/>
          </p:nvPr>
        </p:nvSpPr>
        <p:spPr>
          <a:xfrm>
            <a:off x="152400" y="1016000"/>
            <a:ext cx="8848725" cy="56530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4955" marR="0" lvl="0" indent="-27495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连接运算符为“ </a:t>
            </a: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= </a:t>
            </a: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</a:t>
            </a: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的连接操作</a:t>
            </a:r>
            <a:endParaRPr kumimoji="1" lang="zh-CN" altLang="en-US" sz="36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809625" marR="0" lvl="1" indent="-274955" algn="just" defTabSz="914400" rtl="0" eaLnBrk="0" fontAlgn="base" latinLnBrk="0" hangingPunct="0">
              <a:lnSpc>
                <a:spcPct val="150000"/>
              </a:lnSpc>
              <a:spcBef>
                <a:spcPts val="1800"/>
              </a:spcBef>
              <a:spcAft>
                <a:spcPct val="3000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 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[&lt;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表名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1&gt;.]&lt;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列名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1&gt;  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= 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 [&lt;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表名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2&gt;.]&lt;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列名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2&gt;</a:t>
            </a:r>
            <a:endParaRPr kumimoji="1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267970" marR="0" lvl="0" indent="-274955" algn="just" defTabSz="914400" rtl="0" eaLnBrk="0" fontAlgn="base" latinLnBrk="0" hangingPunct="0">
              <a:lnSpc>
                <a:spcPct val="110000"/>
              </a:lnSpc>
              <a:spcBef>
                <a:spcPts val="24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注意：</a:t>
            </a:r>
            <a:endParaRPr kumimoji="1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67970" marR="0" lvl="0" indent="-274955" algn="just" defTabSz="914400" rtl="0" eaLnBrk="0" fontAlgn="base" latinLnBrk="0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任何子句中引用表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和表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2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中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同名属性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时，必须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加表名前缀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。</a:t>
            </a:r>
            <a:endParaRPr kumimoji="1" lang="zh-CN" altLang="en-US" sz="3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67970" marR="0" lvl="0" indent="-274955" algn="just" defTabSz="914400" rtl="0" eaLnBrk="0" fontAlgn="base" latinLnBrk="0" hangingPunct="0">
              <a:lnSpc>
                <a:spcPct val="110000"/>
              </a:lnSpc>
              <a:spcBef>
                <a:spcPts val="12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引用唯一属性名时可以省略表名前缀。 </a:t>
            </a:r>
            <a:endParaRPr kumimoji="1" lang="zh-CN" altLang="en-US" sz="3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1748" name="Rectangle 4"/>
          <p:cNvSpPr/>
          <p:nvPr/>
        </p:nvSpPr>
        <p:spPr>
          <a:xfrm>
            <a:off x="571500" y="1785938"/>
            <a:ext cx="8143875" cy="85725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kumimoji="1"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kumimoji="1"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kumimoji="1"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3175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ClrTx/>
              <a:buSzTx/>
              <a:buFontTx/>
              <a:buNone/>
            </a:pPr>
            <a:endParaRPr lang="zh-CN" altLang="zh-CN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873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等值连接查询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28739" name="Rectangle 3"/>
          <p:cNvSpPr>
            <a:spLocks noGrp="1"/>
          </p:cNvSpPr>
          <p:nvPr>
            <p:ph idx="1"/>
          </p:nvPr>
        </p:nvSpPr>
        <p:spPr>
          <a:xfrm>
            <a:off x="71438" y="928688"/>
            <a:ext cx="8848725" cy="5653087"/>
          </a:xfrm>
        </p:spPr>
        <p:txBody>
          <a:bodyPr vert="horz" wrap="square" lIns="91440" tIns="45720" rIns="91440" bIns="45720" anchor="t" anchorCtr="0"/>
          <a:p>
            <a:pPr marL="274955" indent="-274955"/>
            <a:r>
              <a:rPr lang="zh-CN" altLang="en-US" sz="3200" dirty="0">
                <a:latin typeface="Arial" panose="020B0604020202020204" pitchFamily="34" charset="0"/>
              </a:rPr>
              <a:t>查询每个学生的基本信息及其选修课程的情况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274955" indent="-274955">
              <a:spcBef>
                <a:spcPts val="600"/>
              </a:spcBef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latin typeface="Arial" panose="020B0604020202020204" pitchFamily="34" charset="0"/>
              </a:rPr>
              <a:t>SELECT 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   </a:t>
            </a:r>
            <a:r>
              <a:rPr lang="en-US" altLang="zh-CN" sz="3200" dirty="0">
                <a:latin typeface="Arial" panose="020B0604020202020204" pitchFamily="34" charset="0"/>
              </a:rPr>
              <a:t>FROM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S, SC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274955" indent="-274955"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latin typeface="Arial" panose="020B0604020202020204" pitchFamily="34" charset="0"/>
              </a:rPr>
              <a:t>WHERE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S.Sno = SC.Sno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；</a:t>
            </a:r>
            <a:endParaRPr lang="zh-CN" altLang="en-US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274955" indent="-274955">
              <a:buNone/>
            </a:pPr>
            <a:endParaRPr lang="zh-CN" altLang="en-US" sz="24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274955" indent="-274955"/>
            <a:endParaRPr lang="zh-CN" altLang="en-US" sz="3200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4" name="Group 100"/>
          <p:cNvGraphicFramePr>
            <a:graphicFrameLocks noGrp="1"/>
          </p:cNvGraphicFramePr>
          <p:nvPr/>
        </p:nvGraphicFramePr>
        <p:xfrm>
          <a:off x="428625" y="2643188"/>
          <a:ext cx="6715126" cy="2357438"/>
        </p:xfrm>
        <a:graphic>
          <a:graphicData uri="http://schemas.openxmlformats.org/drawingml/2006/table">
            <a:tbl>
              <a:tblPr/>
              <a:tblGrid>
                <a:gridCol w="971782"/>
                <a:gridCol w="1157402"/>
                <a:gridCol w="982701"/>
                <a:gridCol w="779120"/>
                <a:gridCol w="1022499"/>
                <a:gridCol w="900811"/>
                <a:gridCol w="900811"/>
              </a:tblGrid>
              <a:tr h="3175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S.</a:t>
                      </a:r>
                      <a:r>
                        <a:rPr kumimoji="0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Sno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Sname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Ssex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Sage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SC.</a:t>
                      </a:r>
                      <a:r>
                        <a:rPr kumimoji="0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Sno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Cno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Score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09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S1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赵伟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男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19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S1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C1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88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S1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赵伟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男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19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S1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C2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93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S1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赵伟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男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19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S2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C1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78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S2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钱明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男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18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S1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C1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88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S2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钱明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男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18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S1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C2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93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S2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钱明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男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18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S2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C1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78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Group 100"/>
          <p:cNvGraphicFramePr>
            <a:graphicFrameLocks noGrp="1"/>
          </p:cNvGraphicFramePr>
          <p:nvPr/>
        </p:nvGraphicFramePr>
        <p:xfrm>
          <a:off x="2214563" y="5233988"/>
          <a:ext cx="6429375" cy="1338263"/>
        </p:xfrm>
        <a:graphic>
          <a:graphicData uri="http://schemas.openxmlformats.org/drawingml/2006/table">
            <a:tbl>
              <a:tblPr/>
              <a:tblGrid>
                <a:gridCol w="930429"/>
                <a:gridCol w="1108150"/>
                <a:gridCol w="940885"/>
                <a:gridCol w="745967"/>
                <a:gridCol w="978988"/>
                <a:gridCol w="862478"/>
                <a:gridCol w="862478"/>
              </a:tblGrid>
              <a:tr h="3176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S.</a:t>
                      </a:r>
                      <a:r>
                        <a:rPr kumimoji="0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Sno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Sname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Ssex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Sage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SC.</a:t>
                      </a:r>
                      <a:r>
                        <a:rPr kumimoji="0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Sno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Cno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Score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S1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赵伟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男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19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S1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C1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88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8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S1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赵伟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男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19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S1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C2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93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8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S2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钱明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男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18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S2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C1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78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" name="组合 9"/>
          <p:cNvGrpSpPr/>
          <p:nvPr/>
        </p:nvGrpSpPr>
        <p:grpSpPr>
          <a:xfrm>
            <a:off x="7199313" y="3013075"/>
            <a:ext cx="596900" cy="1987550"/>
            <a:chOff x="7198581" y="3013375"/>
            <a:chExt cx="597650" cy="1987261"/>
          </a:xfrm>
        </p:grpSpPr>
        <p:sp>
          <p:nvSpPr>
            <p:cNvPr id="7" name="AutoShape 4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7198581" y="3013375"/>
              <a:ext cx="576986" cy="333327"/>
            </a:xfrm>
            <a:prstGeom prst="leftArrow">
              <a:avLst>
                <a:gd name="adj1" fmla="val 50000"/>
                <a:gd name="adj2" fmla="val 2500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l="50000" t="50000" r="50000" b="50000"/>
              </a:path>
            </a:gradFill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8" name="AutoShape 4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7214476" y="3381621"/>
              <a:ext cx="576986" cy="333327"/>
            </a:xfrm>
            <a:prstGeom prst="leftArrow">
              <a:avLst>
                <a:gd name="adj1" fmla="val 50000"/>
                <a:gd name="adj2" fmla="val 2500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l="50000" t="50000" r="50000" b="50000"/>
              </a:path>
            </a:gradFill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9" name="AutoShape 4">
              <a:hlinkClick r:id="rId1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7219244" y="4667309"/>
              <a:ext cx="576987" cy="333327"/>
            </a:xfrm>
            <a:prstGeom prst="leftArrow">
              <a:avLst>
                <a:gd name="adj1" fmla="val 50000"/>
                <a:gd name="adj2" fmla="val 2500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l="50000" t="50000" r="50000" b="50000"/>
              </a:path>
            </a:gradFill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charRg st="21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charRg st="49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873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873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等值连接查询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28739" name="Rectangle 3"/>
          <p:cNvSpPr>
            <a:spLocks noGrp="1"/>
          </p:cNvSpPr>
          <p:nvPr>
            <p:ph idx="1"/>
          </p:nvPr>
        </p:nvSpPr>
        <p:spPr>
          <a:xfrm>
            <a:off x="152400" y="1016000"/>
            <a:ext cx="8848725" cy="5653088"/>
          </a:xfrm>
        </p:spPr>
        <p:txBody>
          <a:bodyPr vert="horz" wrap="square" lIns="91440" tIns="45720" rIns="91440" bIns="45720" anchor="t" anchorCtr="0"/>
          <a:p>
            <a:pPr marL="274955" indent="-274955"/>
            <a:r>
              <a:rPr lang="zh-CN" altLang="en-US" sz="3200" dirty="0">
                <a:latin typeface="Arial" panose="020B0604020202020204" pitchFamily="34" charset="0"/>
              </a:rPr>
              <a:t>查询每个学生的基本信息及其选修课程的情况</a:t>
            </a:r>
            <a:r>
              <a:rPr lang="en-US" altLang="zh-CN" sz="3200" dirty="0">
                <a:latin typeface="Arial" panose="020B0604020202020204" pitchFamily="34" charset="0"/>
              </a:rPr>
              <a:t>,</a:t>
            </a:r>
            <a:r>
              <a:rPr lang="zh-CN" altLang="en-US" sz="3200" dirty="0">
                <a:latin typeface="Arial" panose="020B0604020202020204" pitchFamily="34" charset="0"/>
              </a:rPr>
              <a:t>在结果中，去掉重复的列</a:t>
            </a:r>
            <a:r>
              <a:rPr lang="en-US" altLang="zh-CN" sz="3200" dirty="0">
                <a:latin typeface="Arial" panose="020B0604020202020204" pitchFamily="34" charset="0"/>
              </a:rPr>
              <a:t>(</a:t>
            </a:r>
            <a:r>
              <a:rPr lang="zh-CN" altLang="en-US" sz="3200" dirty="0">
                <a:solidFill>
                  <a:srgbClr val="FF0000"/>
                </a:solidFill>
                <a:latin typeface="Arial" panose="020B0604020202020204" pitchFamily="34" charset="0"/>
              </a:rPr>
              <a:t>自然连接</a:t>
            </a:r>
            <a:r>
              <a:rPr lang="en-US" altLang="zh-CN" sz="3200" dirty="0">
                <a:latin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</a:rPr>
              <a:t>。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274955" indent="-274955">
              <a:spcBef>
                <a:spcPts val="1200"/>
              </a:spcBef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SELECT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S.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Sno, Sname, Ssex, Sage, 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274955" indent="-274955"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                    Sdept, Cno, Score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274955" indent="-274955"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  </a:t>
            </a:r>
            <a:r>
              <a:rPr lang="en-US" altLang="zh-CN" sz="3200" dirty="0">
                <a:latin typeface="Arial" panose="020B0604020202020204" pitchFamily="34" charset="0"/>
              </a:rPr>
              <a:t>FROM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S, SC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274955" indent="-274955"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  </a:t>
            </a:r>
            <a:r>
              <a:rPr lang="en-US" altLang="zh-CN" sz="3200" dirty="0">
                <a:latin typeface="Arial" panose="020B0604020202020204" pitchFamily="34" charset="0"/>
              </a:rPr>
              <a:t>WHERE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S.Sno = SC.Sno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；</a:t>
            </a:r>
            <a:endParaRPr lang="zh-CN" altLang="en-US" sz="3200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4" name="Group 100"/>
          <p:cNvGraphicFramePr>
            <a:graphicFrameLocks noGrp="1"/>
          </p:cNvGraphicFramePr>
          <p:nvPr/>
        </p:nvGraphicFramePr>
        <p:xfrm>
          <a:off x="1500188" y="4429125"/>
          <a:ext cx="5857876" cy="1785938"/>
        </p:xfrm>
        <a:graphic>
          <a:graphicData uri="http://schemas.openxmlformats.org/drawingml/2006/table">
            <a:tbl>
              <a:tblPr/>
              <a:tblGrid>
                <a:gridCol w="999991"/>
                <a:gridCol w="1190999"/>
                <a:gridCol w="1011228"/>
                <a:gridCol w="801738"/>
                <a:gridCol w="926960"/>
                <a:gridCol w="926960"/>
              </a:tblGrid>
              <a:tr h="4121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S.</a:t>
                      </a:r>
                      <a:r>
                        <a:rPr kumimoji="0" lang="en-US" altLang="zh-CN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Sno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Sname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Ssex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Sage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Cno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Score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4579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S1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赵伟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男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19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C1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88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9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S1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赵伟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男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19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C2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93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9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S2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钱明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男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18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C1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78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charRg st="40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charRg st="80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charRg st="121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charRg st="138" end="1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873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2"/>
          <p:cNvSpPr>
            <a:spLocks noGrp="1"/>
          </p:cNvSpPr>
          <p:nvPr>
            <p:ph idx="1"/>
          </p:nvPr>
        </p:nvSpPr>
        <p:spPr>
          <a:xfrm>
            <a:off x="152400" y="1016000"/>
            <a:ext cx="8848725" cy="5413375"/>
          </a:xfrm>
        </p:spPr>
        <p:txBody>
          <a:bodyPr vert="horz" wrap="square" lIns="91440" tIns="45720" rIns="91440" bIns="45720" anchor="t" anchorCtr="0"/>
          <a:p>
            <a:r>
              <a:rPr lang="en-US" altLang="zh-CN" dirty="0">
                <a:latin typeface="Arial" panose="020B0604020202020204" pitchFamily="34" charset="0"/>
              </a:rPr>
              <a:t>WHERE</a:t>
            </a:r>
            <a:r>
              <a:rPr lang="zh-CN" altLang="en-US" dirty="0">
                <a:latin typeface="Arial" panose="020B0604020202020204" pitchFamily="34" charset="0"/>
              </a:rPr>
              <a:t>子句中含多个连接条件时，称为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复合条件连接</a:t>
            </a:r>
            <a:r>
              <a:rPr lang="zh-CN" altLang="en-US" dirty="0">
                <a:latin typeface="Arial" panose="020B0604020202020204" pitchFamily="34" charset="0"/>
              </a:rPr>
              <a:t>。</a:t>
            </a:r>
            <a:endParaRPr lang="zh-CN" altLang="en-US" dirty="0">
              <a:latin typeface="Arial" panose="020B0604020202020204" pitchFamily="34" charset="0"/>
            </a:endParaRPr>
          </a:p>
          <a:p>
            <a:pPr>
              <a:spcBef>
                <a:spcPct val="25000"/>
              </a:spcBef>
            </a:pPr>
            <a:r>
              <a:rPr lang="zh-CN" altLang="en-US" dirty="0">
                <a:latin typeface="Arial" panose="020B0604020202020204" pitchFamily="34" charset="0"/>
              </a:rPr>
              <a:t>例：查询学生王林所学课程的课程号和成绩，并按成绩降序排列。</a:t>
            </a:r>
            <a:endParaRPr lang="zh-CN" altLang="en-US" dirty="0">
              <a:latin typeface="Arial" panose="020B0604020202020204" pitchFamily="34" charset="0"/>
            </a:endParaRPr>
          </a:p>
          <a:p>
            <a:pPr>
              <a:spcBef>
                <a:spcPts val="1200"/>
              </a:spcBef>
              <a:buNone/>
            </a:pPr>
            <a:r>
              <a:rPr lang="zh-CN" altLang="en-US" dirty="0">
                <a:latin typeface="Arial" panose="020B0604020202020204" pitchFamily="34" charset="0"/>
              </a:rPr>
              <a:t>    </a:t>
            </a:r>
            <a:r>
              <a:rPr lang="en-US" altLang="zh-CN" dirty="0">
                <a:solidFill>
                  <a:srgbClr val="CC6600"/>
                </a:solidFill>
                <a:latin typeface="Arial" panose="020B0604020202020204" pitchFamily="34" charset="0"/>
              </a:rPr>
              <a:t>SELECT</a:t>
            </a:r>
            <a:r>
              <a:rPr lang="en-US" altLang="zh-CN" dirty="0">
                <a:latin typeface="Arial" panose="020B0604020202020204" pitchFamily="34" charset="0"/>
              </a:rPr>
              <a:t>  Cno, Score</a:t>
            </a:r>
            <a:endParaRPr lang="en-US" altLang="zh-CN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dirty="0">
                <a:latin typeface="Arial" panose="020B0604020202020204" pitchFamily="34" charset="0"/>
              </a:rPr>
              <a:t>    </a:t>
            </a:r>
            <a:r>
              <a:rPr lang="en-US" altLang="zh-CN" dirty="0">
                <a:solidFill>
                  <a:srgbClr val="CC6600"/>
                </a:solidFill>
                <a:latin typeface="Arial" panose="020B0604020202020204" pitchFamily="34" charset="0"/>
              </a:rPr>
              <a:t>FROM</a:t>
            </a:r>
            <a:r>
              <a:rPr lang="en-US" altLang="zh-CN" dirty="0">
                <a:latin typeface="Arial" panose="020B0604020202020204" pitchFamily="34" charset="0"/>
              </a:rPr>
              <a:t>   S, SC</a:t>
            </a:r>
            <a:endParaRPr lang="en-US" altLang="zh-CN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dirty="0">
                <a:latin typeface="Arial" panose="020B0604020202020204" pitchFamily="34" charset="0"/>
              </a:rPr>
              <a:t>    </a:t>
            </a:r>
            <a:r>
              <a:rPr lang="en-US" altLang="zh-CN" dirty="0">
                <a:solidFill>
                  <a:srgbClr val="CC6600"/>
                </a:solidFill>
                <a:latin typeface="Arial" panose="020B0604020202020204" pitchFamily="34" charset="0"/>
              </a:rPr>
              <a:t>WHERE</a:t>
            </a:r>
            <a:r>
              <a:rPr lang="en-US" altLang="zh-CN" dirty="0">
                <a:latin typeface="Arial" panose="020B0604020202020204" pitchFamily="34" charset="0"/>
              </a:rPr>
              <a:t>  </a:t>
            </a:r>
            <a:r>
              <a:rPr lang="en-US" altLang="zh-CN" dirty="0">
                <a:solidFill>
                  <a:srgbClr val="0033CC"/>
                </a:solidFill>
                <a:latin typeface="Arial" panose="020B0604020202020204" pitchFamily="34" charset="0"/>
              </a:rPr>
              <a:t>S.Sno</a:t>
            </a:r>
            <a:r>
              <a:rPr lang="en-US" altLang="zh-CN" dirty="0">
                <a:latin typeface="Arial" panose="020B0604020202020204" pitchFamily="34" charset="0"/>
              </a:rPr>
              <a:t> = </a:t>
            </a:r>
            <a:r>
              <a:rPr lang="en-US" altLang="zh-CN" dirty="0">
                <a:solidFill>
                  <a:srgbClr val="0033CC"/>
                </a:solidFill>
                <a:latin typeface="Arial" panose="020B0604020202020204" pitchFamily="34" charset="0"/>
              </a:rPr>
              <a:t>SC.Sno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endParaRPr lang="en-US" altLang="zh-CN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                            AND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</a:t>
            </a:r>
            <a:r>
              <a:rPr lang="en-US" altLang="zh-CN" dirty="0">
                <a:latin typeface="Arial" panose="020B0604020202020204" pitchFamily="34" charset="0"/>
              </a:rPr>
              <a:t>Sname= '</a:t>
            </a:r>
            <a:r>
              <a:rPr lang="zh-CN" altLang="en-US" dirty="0">
                <a:latin typeface="Arial" panose="020B0604020202020204" pitchFamily="34" charset="0"/>
              </a:rPr>
              <a:t>王林</a:t>
            </a:r>
            <a:r>
              <a:rPr lang="en-US" altLang="zh-CN" dirty="0">
                <a:latin typeface="Arial" panose="020B0604020202020204" pitchFamily="34" charset="0"/>
              </a:rPr>
              <a:t>'</a:t>
            </a:r>
            <a:endParaRPr lang="en-US" altLang="zh-CN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  </a:t>
            </a:r>
            <a:r>
              <a:rPr lang="en-US" altLang="zh-CN" dirty="0">
                <a:solidFill>
                  <a:srgbClr val="CC6600"/>
                </a:solidFill>
                <a:latin typeface="Arial" panose="020B0604020202020204" pitchFamily="34" charset="0"/>
              </a:rPr>
              <a:t>ORDER BY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</a:t>
            </a:r>
            <a:r>
              <a:rPr lang="en-US" altLang="zh-CN" dirty="0">
                <a:latin typeface="Arial" panose="020B0604020202020204" pitchFamily="34" charset="0"/>
              </a:rPr>
              <a:t>Score  DESC ;</a:t>
            </a:r>
            <a:endParaRPr lang="en-US" altLang="zh-CN" sz="1400" dirty="0">
              <a:latin typeface="Arial" panose="020B0604020202020204" pitchFamily="34" charset="0"/>
            </a:endParaRPr>
          </a:p>
        </p:txBody>
      </p:sp>
      <p:sp>
        <p:nvSpPr>
          <p:cNvPr id="841731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3) 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复合条件查询</a:t>
            </a:r>
            <a:endParaRPr kumimoji="1" lang="zh-CN" altLang="en-US" sz="40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42875"/>
            <a:ext cx="8659813" cy="503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复合条件查询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1" lang="zh-CN" altLang="en-US" sz="40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5843" name="Rectangle 3"/>
          <p:cNvSpPr>
            <a:spLocks noGrp="1"/>
          </p:cNvSpPr>
          <p:nvPr>
            <p:ph idx="1"/>
          </p:nvPr>
        </p:nvSpPr>
        <p:spPr>
          <a:xfrm>
            <a:off x="152400" y="1000125"/>
            <a:ext cx="8848725" cy="5429250"/>
          </a:xfrm>
        </p:spPr>
        <p:txBody>
          <a:bodyPr vert="horz" wrap="square" lIns="91440" tIns="45720" rIns="91440" bIns="45720" anchor="t" anchorCtr="0"/>
          <a:p>
            <a:pPr marL="352425" indent="-352425"/>
            <a:r>
              <a:rPr lang="zh-CN" altLang="en-US" dirty="0">
                <a:latin typeface="Arial" panose="020B0604020202020204" pitchFamily="34" charset="0"/>
              </a:rPr>
              <a:t>查询选修</a:t>
            </a:r>
            <a:r>
              <a:rPr lang="en-US" altLang="zh-CN" dirty="0">
                <a:latin typeface="Arial" panose="020B0604020202020204" pitchFamily="34" charset="0"/>
              </a:rPr>
              <a:t>C2</a:t>
            </a:r>
            <a:r>
              <a:rPr lang="zh-CN" altLang="en-US" dirty="0">
                <a:latin typeface="Arial" panose="020B0604020202020204" pitchFamily="34" charset="0"/>
              </a:rPr>
              <a:t>号课程且成绩在</a:t>
            </a:r>
            <a:r>
              <a:rPr lang="en-US" altLang="zh-CN" dirty="0">
                <a:latin typeface="Arial" panose="020B0604020202020204" pitchFamily="34" charset="0"/>
              </a:rPr>
              <a:t>90</a:t>
            </a:r>
            <a:r>
              <a:rPr lang="zh-CN" altLang="en-US" dirty="0">
                <a:latin typeface="Arial" panose="020B0604020202020204" pitchFamily="34" charset="0"/>
              </a:rPr>
              <a:t>分以上的所有学生的学号、姓名。</a:t>
            </a:r>
            <a:endParaRPr lang="zh-CN" altLang="en-US" dirty="0">
              <a:latin typeface="Arial" panose="020B0604020202020204" pitchFamily="34" charset="0"/>
            </a:endParaRPr>
          </a:p>
          <a:p>
            <a:pPr marL="352425" indent="-352425">
              <a:spcBef>
                <a:spcPts val="1800"/>
              </a:spcBef>
              <a:buNone/>
            </a:pPr>
            <a:r>
              <a:rPr lang="zh-CN" altLang="en-US" dirty="0">
                <a:latin typeface="Arial" panose="020B0604020202020204" pitchFamily="34" charset="0"/>
              </a:rPr>
              <a:t>		</a:t>
            </a:r>
            <a:r>
              <a:rPr lang="en-US" altLang="zh-CN" dirty="0">
                <a:solidFill>
                  <a:srgbClr val="CC6600"/>
                </a:solidFill>
                <a:latin typeface="Arial" panose="020B0604020202020204" pitchFamily="34" charset="0"/>
              </a:rPr>
              <a:t>SELECT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 </a:t>
            </a:r>
            <a:r>
              <a:rPr lang="en-US" altLang="zh-CN" dirty="0">
                <a:latin typeface="Arial" panose="020B0604020202020204" pitchFamily="34" charset="0"/>
              </a:rPr>
              <a:t>S.Sno,  </a:t>
            </a:r>
            <a:r>
              <a:rPr lang="en-US" altLang="zh-CN" dirty="0">
                <a:solidFill>
                  <a:srgbClr val="0033CC"/>
                </a:solidFill>
                <a:latin typeface="Arial" panose="020B0604020202020204" pitchFamily="34" charset="0"/>
              </a:rPr>
              <a:t>S.</a:t>
            </a:r>
            <a:r>
              <a:rPr lang="en-US" altLang="zh-CN" dirty="0">
                <a:latin typeface="Arial" panose="020B0604020202020204" pitchFamily="34" charset="0"/>
              </a:rPr>
              <a:t>Sname</a:t>
            </a:r>
            <a:endParaRPr lang="en-US" altLang="zh-CN" dirty="0">
              <a:latin typeface="Arial" panose="020B0604020202020204" pitchFamily="34" charset="0"/>
            </a:endParaRPr>
          </a:p>
          <a:p>
            <a:pPr marL="352425" indent="-352425">
              <a:spcBef>
                <a:spcPts val="600"/>
              </a:spcBef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		</a:t>
            </a:r>
            <a:r>
              <a:rPr lang="en-US" altLang="zh-CN" dirty="0">
                <a:solidFill>
                  <a:srgbClr val="CC6600"/>
                </a:solidFill>
                <a:latin typeface="Arial" panose="020B0604020202020204" pitchFamily="34" charset="0"/>
              </a:rPr>
              <a:t>FROM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  </a:t>
            </a:r>
            <a:r>
              <a:rPr lang="en-US" altLang="zh-CN" dirty="0">
                <a:latin typeface="Arial" panose="020B0604020202020204" pitchFamily="34" charset="0"/>
              </a:rPr>
              <a:t>S, SC</a:t>
            </a:r>
            <a:endParaRPr lang="en-US" altLang="zh-CN" dirty="0">
              <a:latin typeface="Arial" panose="020B0604020202020204" pitchFamily="34" charset="0"/>
            </a:endParaRPr>
          </a:p>
          <a:p>
            <a:pPr marL="352425" indent="-352425">
              <a:spcBef>
                <a:spcPts val="600"/>
              </a:spcBef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		</a:t>
            </a:r>
            <a:r>
              <a:rPr lang="en-US" altLang="zh-CN" dirty="0">
                <a:solidFill>
                  <a:srgbClr val="CC6600"/>
                </a:solidFill>
                <a:latin typeface="Arial" panose="020B0604020202020204" pitchFamily="34" charset="0"/>
              </a:rPr>
              <a:t>WHERE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</a:t>
            </a:r>
            <a:r>
              <a:rPr lang="en-US" altLang="zh-CN" dirty="0">
                <a:latin typeface="Arial" panose="020B0604020202020204" pitchFamily="34" charset="0"/>
              </a:rPr>
              <a:t>S.Sno = SC.Sno</a:t>
            </a:r>
            <a:endParaRPr lang="en-US" altLang="zh-CN" dirty="0">
              <a:latin typeface="Arial" panose="020B0604020202020204" pitchFamily="34" charset="0"/>
            </a:endParaRPr>
          </a:p>
          <a:p>
            <a:pPr marL="352425" indent="-352425">
              <a:spcBef>
                <a:spcPts val="600"/>
              </a:spcBef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          		 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AND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</a:t>
            </a:r>
            <a:r>
              <a:rPr lang="en-US" altLang="zh-CN" dirty="0">
                <a:solidFill>
                  <a:srgbClr val="0033CC"/>
                </a:solidFill>
                <a:latin typeface="Arial" panose="020B0604020202020204" pitchFamily="34" charset="0"/>
              </a:rPr>
              <a:t>SC.</a:t>
            </a:r>
            <a:r>
              <a:rPr lang="en-US" altLang="zh-CN" dirty="0">
                <a:latin typeface="Arial" panose="020B0604020202020204" pitchFamily="34" charset="0"/>
              </a:rPr>
              <a:t>Cno = 'C2'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352425" indent="-352425">
              <a:spcBef>
                <a:spcPts val="600"/>
              </a:spcBef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           		 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AND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</a:t>
            </a:r>
            <a:r>
              <a:rPr lang="en-US" altLang="zh-CN" dirty="0">
                <a:solidFill>
                  <a:srgbClr val="0033CC"/>
                </a:solidFill>
                <a:latin typeface="Arial" panose="020B0604020202020204" pitchFamily="34" charset="0"/>
              </a:rPr>
              <a:t>SC.</a:t>
            </a:r>
            <a:r>
              <a:rPr lang="en-US" altLang="zh-CN" dirty="0">
                <a:latin typeface="Arial" panose="020B0604020202020204" pitchFamily="34" charset="0"/>
              </a:rPr>
              <a:t>Score &gt; 90 ;</a:t>
            </a:r>
            <a:r>
              <a:rPr lang="en-US" altLang="zh-CN" sz="4000" dirty="0">
                <a:latin typeface="Arial" panose="020B0604020202020204" pitchFamily="34" charset="0"/>
              </a:rPr>
              <a:t> </a:t>
            </a:r>
            <a:endParaRPr lang="en-US" altLang="zh-CN" sz="4000" dirty="0">
              <a:latin typeface="Arial" panose="020B0604020202020204" pitchFamily="34" charset="0"/>
            </a:endParaRPr>
          </a:p>
          <a:p>
            <a:pPr marL="352425" indent="-352425">
              <a:lnSpc>
                <a:spcPct val="90000"/>
              </a:lnSpc>
              <a:buNone/>
            </a:pPr>
            <a:endParaRPr lang="en-US" altLang="zh-CN" sz="1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sndAc>
      <p:stSnd>
        <p:snd r:embed="rId1" name="CAMERA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7634" name="Rectangle 2"/>
          <p:cNvSpPr>
            <a:spLocks noGrp="1"/>
          </p:cNvSpPr>
          <p:nvPr>
            <p:ph idx="1"/>
          </p:nvPr>
        </p:nvSpPr>
        <p:spPr>
          <a:xfrm>
            <a:off x="152400" y="1016000"/>
            <a:ext cx="8848725" cy="4984750"/>
          </a:xfrm>
        </p:spPr>
        <p:txBody>
          <a:bodyPr vert="horz" wrap="square" lIns="91440" tIns="45720" rIns="91440" bIns="45720" anchor="t" anchorCtr="0"/>
          <a:p>
            <a:r>
              <a:rPr lang="zh-CN" altLang="en-US" dirty="0">
                <a:latin typeface="Arial" panose="020B0604020202020204" pitchFamily="34" charset="0"/>
              </a:rPr>
              <a:t>查询每个学生的学号、姓名、选修的课程名及成绩。</a:t>
            </a:r>
            <a:endParaRPr lang="zh-CN" altLang="en-US" dirty="0">
              <a:latin typeface="Arial" panose="020B0604020202020204" pitchFamily="34" charset="0"/>
            </a:endParaRPr>
          </a:p>
          <a:p>
            <a:pPr>
              <a:buNone/>
            </a:pP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>
              <a:buNone/>
            </a:pP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  </a:t>
            </a:r>
            <a:r>
              <a:rPr lang="en-US" altLang="zh-CN" dirty="0">
                <a:solidFill>
                  <a:srgbClr val="CC6600"/>
                </a:solidFill>
                <a:latin typeface="Arial" panose="020B0604020202020204" pitchFamily="34" charset="0"/>
              </a:rPr>
              <a:t>SELECT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S.Sno, Sname, Cname, Score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</a:t>
            </a:r>
            <a:r>
              <a:rPr lang="en-US" altLang="zh-CN" dirty="0">
                <a:solidFill>
                  <a:srgbClr val="CC6600"/>
                </a:solidFill>
                <a:latin typeface="Arial" panose="020B0604020202020204" pitchFamily="34" charset="0"/>
              </a:rPr>
              <a:t>FROM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  S, SC, C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</a:t>
            </a:r>
            <a:r>
              <a:rPr lang="en-US" altLang="zh-CN" dirty="0">
                <a:solidFill>
                  <a:srgbClr val="CC6600"/>
                </a:solidFill>
                <a:latin typeface="Arial" panose="020B0604020202020204" pitchFamily="34" charset="0"/>
              </a:rPr>
              <a:t>WHERE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S.Sno = SC.Sno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lvl="1">
              <a:buNone/>
            </a:pPr>
            <a:r>
              <a:rPr lang="en-US" altLang="zh-CN" sz="3600" dirty="0">
                <a:solidFill>
                  <a:srgbClr val="0000CC"/>
                </a:solidFill>
                <a:latin typeface="Arial" panose="020B0604020202020204" pitchFamily="34" charset="0"/>
              </a:rPr>
              <a:t>                   </a:t>
            </a:r>
            <a:r>
              <a:rPr lang="en-US" altLang="zh-CN" sz="3600" dirty="0">
                <a:solidFill>
                  <a:srgbClr val="FF0000"/>
                </a:solidFill>
                <a:latin typeface="Arial" panose="020B0604020202020204" pitchFamily="34" charset="0"/>
              </a:rPr>
              <a:t>AND</a:t>
            </a:r>
            <a:r>
              <a:rPr lang="en-US" altLang="zh-CN" sz="3600" dirty="0">
                <a:solidFill>
                  <a:srgbClr val="0000CC"/>
                </a:solidFill>
                <a:latin typeface="Arial" panose="020B0604020202020204" pitchFamily="34" charset="0"/>
              </a:rPr>
              <a:t>  SC.Cno = C.Cno ;</a:t>
            </a:r>
            <a:endParaRPr lang="en-US" altLang="zh-CN" sz="3600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sp>
        <p:nvSpPr>
          <p:cNvPr id="837635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复合条件查询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37636" name="AutoShape 4">
            <a:hlinkClick r:id="rId1" action="ppaction://hlinksldjump"/>
          </p:cNvPr>
          <p:cNvSpPr>
            <a:spLocks noChangeArrowheads="1"/>
          </p:cNvSpPr>
          <p:nvPr/>
        </p:nvSpPr>
        <p:spPr bwMode="auto">
          <a:xfrm>
            <a:off x="8101013" y="6165850"/>
            <a:ext cx="576263" cy="619125"/>
          </a:xfrm>
          <a:prstGeom prst="lef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34">
                                            <p:txEl>
                                              <p:charRg st="25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34">
                                            <p:txEl>
                                              <p:charRg st="62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34">
                                            <p:txEl>
                                              <p:charRg st="81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34">
                                            <p:txEl>
                                              <p:charRg st="105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763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4) 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自身连接查询</a:t>
            </a:r>
            <a:endParaRPr kumimoji="1" lang="en-US" altLang="zh-CN" sz="40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016000"/>
            <a:ext cx="8848725" cy="56530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58775" marR="0" lvl="0" indent="-358775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例：</a:t>
            </a:r>
            <a:endParaRPr kumimoji="1" lang="en-US" altLang="zh-CN" sz="36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58775" marR="0" lvl="0" indent="-35877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</a:t>
            </a: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查询与“刘晨”在同一个系学习的学生。</a:t>
            </a:r>
            <a:endParaRPr kumimoji="1" lang="en-US" altLang="zh-CN" sz="36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58775" marR="0" lvl="0" indent="-358775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一个表与其自己进行连接，称为表的</a:t>
            </a: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自身连接</a:t>
            </a: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1" lang="zh-CN" altLang="en-US" sz="4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58775" marR="0" lvl="0" indent="-358775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使用表的</a:t>
            </a: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别名</a:t>
            </a: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以示区别，格式为：</a:t>
            </a:r>
            <a:endParaRPr kumimoji="1" lang="en-US" altLang="zh-CN" sz="36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58775" marR="0" lvl="0" indent="-358775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</a:t>
            </a: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</a:t>
            </a: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名    </a:t>
            </a: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[AS]</a:t>
            </a: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别名</a:t>
            </a:r>
            <a:endParaRPr kumimoji="1" lang="zh-CN" altLang="en-US" sz="36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58775" marR="0" lvl="0" indent="-358775" algn="l" defTabSz="914400" rtl="0" eaLnBrk="0" fontAlgn="base" latinLnBrk="0" hangingPunct="0">
              <a:lnSpc>
                <a:spcPct val="100000"/>
              </a:lnSpc>
              <a:spcBef>
                <a:spcPts val="3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同名属性前要使用别名前缀。</a:t>
            </a:r>
            <a:endParaRPr kumimoji="1" lang="zh-CN" altLang="en-US" sz="36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892" name="矩形 3"/>
          <p:cNvSpPr/>
          <p:nvPr/>
        </p:nvSpPr>
        <p:spPr>
          <a:xfrm>
            <a:off x="1214438" y="4230688"/>
            <a:ext cx="4429125" cy="785812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0" tIns="0" rIns="0" bIns="0" anchor="ctr" anchorCtr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kumimoji="1"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kumimoji="1"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kumimoji="1"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3175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ClrTx/>
              <a:buSzTx/>
              <a:buFontTx/>
              <a:buNone/>
            </a:pPr>
            <a:endParaRPr lang="zh-CN" altLang="en-US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07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自身连接查询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8915" name="Rectangle 3"/>
          <p:cNvSpPr>
            <a:spLocks noGrp="1"/>
          </p:cNvSpPr>
          <p:nvPr>
            <p:ph idx="1"/>
          </p:nvPr>
        </p:nvSpPr>
        <p:spPr>
          <a:xfrm>
            <a:off x="152400" y="1016000"/>
            <a:ext cx="8848725" cy="5653088"/>
          </a:xfrm>
        </p:spPr>
        <p:txBody>
          <a:bodyPr vert="horz" wrap="square" lIns="91440" tIns="45720" rIns="91440" bIns="45720" anchor="t" anchorCtr="0"/>
          <a:p>
            <a:pPr marL="358775" indent="-358775"/>
            <a:r>
              <a:rPr lang="zh-CN" altLang="en-US" dirty="0">
                <a:latin typeface="Arial" panose="020B0604020202020204" pitchFamily="34" charset="0"/>
              </a:rPr>
              <a:t>查询与“刘晨”在同一个系学习的学生。</a:t>
            </a:r>
            <a:endParaRPr lang="zh-CN" altLang="en-US" dirty="0">
              <a:latin typeface="Arial" panose="020B0604020202020204" pitchFamily="34" charset="0"/>
            </a:endParaRPr>
          </a:p>
          <a:p>
            <a:pPr marL="358775" indent="-358775">
              <a:buNone/>
            </a:pPr>
            <a:r>
              <a:rPr lang="zh-CN" altLang="en-US" dirty="0">
                <a:latin typeface="Arial" panose="020B0604020202020204" pitchFamily="34" charset="0"/>
              </a:rPr>
              <a:t>    </a:t>
            </a:r>
            <a:endParaRPr lang="zh-CN" altLang="en-US" dirty="0">
              <a:latin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  <a:buNone/>
            </a:pPr>
            <a:r>
              <a:rPr lang="zh-CN" altLang="en-US" dirty="0">
                <a:latin typeface="Arial" panose="020B0604020202020204" pitchFamily="34" charset="0"/>
              </a:rPr>
              <a:t>  </a:t>
            </a:r>
            <a:r>
              <a:rPr lang="en-US" altLang="zh-CN" dirty="0">
                <a:latin typeface="Arial" panose="020B0604020202020204" pitchFamily="34" charset="0"/>
              </a:rPr>
              <a:t>SELECT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A.</a:t>
            </a:r>
            <a:r>
              <a:rPr lang="en-US" altLang="zh-CN" dirty="0">
                <a:latin typeface="Arial" panose="020B0604020202020204" pitchFamily="34" charset="0"/>
              </a:rPr>
              <a:t>Sno,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A.</a:t>
            </a:r>
            <a:r>
              <a:rPr lang="en-US" altLang="zh-CN" dirty="0">
                <a:latin typeface="Arial" panose="020B0604020202020204" pitchFamily="34" charset="0"/>
              </a:rPr>
              <a:t>Sname,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A.</a:t>
            </a:r>
            <a:r>
              <a:rPr lang="en-US" altLang="zh-CN" dirty="0">
                <a:latin typeface="Arial" panose="020B0604020202020204" pitchFamily="34" charset="0"/>
              </a:rPr>
              <a:t>Sdept</a:t>
            </a:r>
            <a:endParaRPr lang="en-US" altLang="zh-CN" dirty="0">
              <a:latin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  <a:buNone/>
            </a:pPr>
            <a:r>
              <a:rPr lang="en-US" altLang="zh-CN" dirty="0">
                <a:latin typeface="Arial" panose="020B0604020202020204" pitchFamily="34" charset="0"/>
              </a:rPr>
              <a:t>  FROM  </a:t>
            </a:r>
            <a:r>
              <a:rPr lang="en-US" altLang="zh-CN" dirty="0">
                <a:solidFill>
                  <a:srgbClr val="0033CC"/>
                </a:solidFill>
                <a:latin typeface="Arial" panose="020B0604020202020204" pitchFamily="34" charset="0"/>
              </a:rPr>
              <a:t>S</a:t>
            </a:r>
            <a:r>
              <a:rPr lang="en-US" altLang="zh-CN" dirty="0">
                <a:latin typeface="Arial" panose="020B0604020202020204" pitchFamily="34" charset="0"/>
              </a:rPr>
              <a:t>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en-US" altLang="zh-CN" dirty="0">
                <a:latin typeface="Arial" panose="020B0604020202020204" pitchFamily="34" charset="0"/>
              </a:rPr>
              <a:t>,  </a:t>
            </a:r>
            <a:r>
              <a:rPr lang="en-US" altLang="zh-CN" dirty="0">
                <a:solidFill>
                  <a:srgbClr val="0033CC"/>
                </a:solidFill>
                <a:latin typeface="Arial" panose="020B0604020202020204" pitchFamily="34" charset="0"/>
              </a:rPr>
              <a:t>S</a:t>
            </a:r>
            <a:r>
              <a:rPr lang="en-US" altLang="zh-CN" dirty="0">
                <a:latin typeface="Arial" panose="020B0604020202020204" pitchFamily="34" charset="0"/>
              </a:rPr>
              <a:t>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B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  <a:buNone/>
            </a:pPr>
            <a:r>
              <a:rPr lang="en-US" altLang="zh-CN" dirty="0">
                <a:latin typeface="Arial" panose="020B0604020202020204" pitchFamily="34" charset="0"/>
              </a:rPr>
              <a:t>  WHERE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A.</a:t>
            </a:r>
            <a:r>
              <a:rPr lang="en-US" altLang="zh-CN" dirty="0">
                <a:latin typeface="Arial" panose="020B0604020202020204" pitchFamily="34" charset="0"/>
              </a:rPr>
              <a:t>Sdept =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B.</a:t>
            </a:r>
            <a:r>
              <a:rPr lang="en-US" altLang="zh-CN" dirty="0">
                <a:latin typeface="Arial" panose="020B0604020202020204" pitchFamily="34" charset="0"/>
              </a:rPr>
              <a:t>Sdept </a:t>
            </a:r>
            <a:endParaRPr lang="en-US" altLang="zh-CN" dirty="0">
              <a:latin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  <a:buNone/>
            </a:pPr>
            <a:r>
              <a:rPr lang="en-US" altLang="zh-CN" dirty="0">
                <a:latin typeface="Arial" panose="020B0604020202020204" pitchFamily="34" charset="0"/>
              </a:rPr>
              <a:t>                     </a:t>
            </a:r>
            <a:r>
              <a:rPr lang="en-US" altLang="zh-CN" dirty="0">
                <a:solidFill>
                  <a:srgbClr val="0033CC"/>
                </a:solidFill>
                <a:latin typeface="Arial" panose="020B0604020202020204" pitchFamily="34" charset="0"/>
              </a:rPr>
              <a:t>AND</a:t>
            </a:r>
            <a:r>
              <a:rPr lang="en-US" altLang="zh-CN" dirty="0">
                <a:latin typeface="Arial" panose="020B0604020202020204" pitchFamily="34" charset="0"/>
              </a:rPr>
              <a:t>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B.</a:t>
            </a:r>
            <a:r>
              <a:rPr lang="en-US" altLang="zh-CN" dirty="0">
                <a:latin typeface="Arial" panose="020B0604020202020204" pitchFamily="34" charset="0"/>
              </a:rPr>
              <a:t>Sname = '</a:t>
            </a:r>
            <a:r>
              <a:rPr lang="zh-CN" altLang="en-US" dirty="0">
                <a:latin typeface="Arial" panose="020B0604020202020204" pitchFamily="34" charset="0"/>
              </a:rPr>
              <a:t>刘晨</a:t>
            </a:r>
            <a:r>
              <a:rPr lang="en-US" altLang="zh-CN" dirty="0">
                <a:latin typeface="Arial" panose="020B0604020202020204" pitchFamily="34" charset="0"/>
              </a:rPr>
              <a:t>' ;</a:t>
            </a:r>
            <a:endParaRPr lang="en-US" altLang="zh-CN" dirty="0">
              <a:latin typeface="Arial" panose="020B0604020202020204" pitchFamily="34" charset="0"/>
            </a:endParaRPr>
          </a:p>
          <a:p>
            <a:pPr marL="358775" indent="-358775">
              <a:buNone/>
            </a:pP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30788" name="AutoShape 4">
            <a:hlinkClick r:id="rId1" action="ppaction://hlinksldjump"/>
          </p:cNvPr>
          <p:cNvSpPr>
            <a:spLocks noChangeArrowheads="1"/>
          </p:cNvSpPr>
          <p:nvPr/>
        </p:nvSpPr>
        <p:spPr bwMode="auto">
          <a:xfrm>
            <a:off x="8316913" y="6092825"/>
            <a:ext cx="576263" cy="619125"/>
          </a:xfrm>
          <a:prstGeom prst="lef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/>
          </p:cNvSpPr>
          <p:nvPr>
            <p:ph idx="1"/>
          </p:nvPr>
        </p:nvSpPr>
        <p:spPr>
          <a:xfrm>
            <a:off x="152400" y="1143000"/>
            <a:ext cx="8991600" cy="5273675"/>
          </a:xfrm>
        </p:spPr>
        <p:txBody>
          <a:bodyPr vert="horz" wrap="square" lIns="91440" tIns="45720" rIns="91440" bIns="45720" anchor="t" anchorCtr="0"/>
          <a:p>
            <a:pPr lvl="1"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5.3.1 </a:t>
            </a:r>
            <a:r>
              <a:rPr lang="zh-CN" altLang="en-US" sz="3600" dirty="0"/>
              <a:t>查询语句的基本格式</a:t>
            </a:r>
            <a:endParaRPr lang="zh-CN" altLang="en-US" sz="3600" dirty="0"/>
          </a:p>
          <a:p>
            <a:pPr lvl="1"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5.3.2 </a:t>
            </a:r>
            <a:r>
              <a:rPr lang="zh-CN" altLang="en-US" sz="3600" dirty="0">
                <a:latin typeface="Arial" panose="020B0604020202020204" pitchFamily="34" charset="0"/>
              </a:rPr>
              <a:t>单表查询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5.3.3 </a:t>
            </a:r>
            <a:r>
              <a:rPr lang="zh-CN" altLang="en-US" sz="3600" dirty="0">
                <a:latin typeface="Arial" panose="020B0604020202020204" pitchFamily="34" charset="0"/>
              </a:rPr>
              <a:t>多表查询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>
              <a:buNone/>
            </a:pPr>
            <a:r>
              <a:rPr lang="en-US" altLang="zh-CN" sz="3600" dirty="0">
                <a:solidFill>
                  <a:srgbClr val="0000CC"/>
                </a:solidFill>
                <a:latin typeface="Arial" panose="020B0604020202020204" pitchFamily="34" charset="0"/>
              </a:rPr>
              <a:t>5.3.4 </a:t>
            </a:r>
            <a:r>
              <a:rPr lang="zh-CN" altLang="en-US" sz="3600" dirty="0">
                <a:solidFill>
                  <a:srgbClr val="0000CC"/>
                </a:solidFill>
                <a:latin typeface="Arial" panose="020B0604020202020204" pitchFamily="34" charset="0"/>
              </a:rPr>
              <a:t>集合查询</a:t>
            </a:r>
            <a:endParaRPr lang="zh-CN" altLang="en-US" sz="36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lvl="1"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5.3.5 </a:t>
            </a:r>
            <a:r>
              <a:rPr lang="zh-CN" altLang="en-US" sz="3600" dirty="0">
                <a:latin typeface="Arial" panose="020B0604020202020204" pitchFamily="34" charset="0"/>
              </a:rPr>
              <a:t>嵌套查询</a:t>
            </a:r>
            <a:endParaRPr lang="zh-CN" altLang="en-US" sz="3600" dirty="0">
              <a:latin typeface="Arial" panose="020B0604020202020204" pitchFamily="34" charset="0"/>
            </a:endParaRPr>
          </a:p>
        </p:txBody>
      </p:sp>
      <p:sp>
        <p:nvSpPr>
          <p:cNvPr id="632835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5.3 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数据查询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2"/>
          <p:cNvSpPr>
            <a:spLocks noGrp="1"/>
          </p:cNvSpPr>
          <p:nvPr>
            <p:ph idx="1"/>
          </p:nvPr>
        </p:nvSpPr>
        <p:spPr>
          <a:xfrm>
            <a:off x="152400" y="928688"/>
            <a:ext cx="8812213" cy="5454650"/>
          </a:xfrm>
        </p:spPr>
        <p:txBody>
          <a:bodyPr vert="horz" wrap="square" lIns="91440" tIns="45720" rIns="91440" bIns="45720" anchor="t" anchorCtr="0"/>
          <a:p>
            <a:pPr defTabSz="901700">
              <a:lnSpc>
                <a:spcPts val="4100"/>
              </a:lnSpc>
              <a:buFont typeface="Wingdings" panose="05000000000000000000" charset="0"/>
              <a:buChar char="n"/>
            </a:pPr>
            <a:r>
              <a:rPr lang="zh-CN" altLang="en-US" sz="3200" dirty="0">
                <a:latin typeface="Arial" panose="020B0604020202020204" pitchFamily="34" charset="0"/>
              </a:rPr>
              <a:t>参加集合操作的各表的</a:t>
            </a:r>
            <a:r>
              <a:rPr lang="zh-CN" altLang="en-US" sz="3200" dirty="0">
                <a:solidFill>
                  <a:srgbClr val="FF0000"/>
                </a:solidFill>
                <a:latin typeface="Arial" panose="020B0604020202020204" pitchFamily="34" charset="0"/>
              </a:rPr>
              <a:t>列数必须相同</a:t>
            </a:r>
            <a:r>
              <a:rPr lang="zh-CN" altLang="en-US" sz="3200" dirty="0">
                <a:latin typeface="Arial" panose="020B0604020202020204" pitchFamily="34" charset="0"/>
              </a:rPr>
              <a:t>，相应列的</a:t>
            </a:r>
            <a:r>
              <a:rPr lang="zh-CN" altLang="en-US" sz="3200" dirty="0">
                <a:solidFill>
                  <a:srgbClr val="FF0000"/>
                </a:solidFill>
                <a:latin typeface="Arial" panose="020B0604020202020204" pitchFamily="34" charset="0"/>
              </a:rPr>
              <a:t>数据类型也必须相同。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sz="4000" dirty="0">
              <a:latin typeface="Arial" panose="020B0604020202020204" pitchFamily="34" charset="0"/>
            </a:endParaRPr>
          </a:p>
          <a:p>
            <a:pPr marL="274955" indent="-274955" defTabSz="901700">
              <a:spcBef>
                <a:spcPts val="1200"/>
              </a:spcBef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1) </a:t>
            </a:r>
            <a:r>
              <a:rPr lang="zh-CN" altLang="en-US" sz="3200" dirty="0">
                <a:solidFill>
                  <a:srgbClr val="0033CC"/>
                </a:solidFill>
                <a:latin typeface="Arial" panose="020B0604020202020204" pitchFamily="34" charset="0"/>
              </a:rPr>
              <a:t>并</a:t>
            </a:r>
            <a:r>
              <a:rPr lang="zh-CN" altLang="en-US" sz="3200" dirty="0">
                <a:latin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</a:rPr>
              <a:t>(UNION)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719455" lvl="1" indent="-265430" defTabSz="901700">
              <a:spcBef>
                <a:spcPts val="600"/>
              </a:spcBef>
            </a:pPr>
            <a:r>
              <a:rPr lang="zh-CN" altLang="en-US" dirty="0">
                <a:latin typeface="Arial" panose="020B0604020202020204" pitchFamily="34" charset="0"/>
              </a:rPr>
              <a:t>返回两个查询的结果并去除其中的重复部分</a:t>
            </a:r>
            <a:endParaRPr lang="zh-CN" altLang="en-US" dirty="0">
              <a:latin typeface="Arial" panose="020B0604020202020204" pitchFamily="34" charset="0"/>
            </a:endParaRPr>
          </a:p>
          <a:p>
            <a:pPr marL="274955" indent="-274955" defTabSz="901700">
              <a:spcBef>
                <a:spcPct val="25000"/>
              </a:spcBef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2) </a:t>
            </a:r>
            <a:r>
              <a:rPr lang="zh-CN" altLang="en-US" sz="3200" dirty="0">
                <a:solidFill>
                  <a:srgbClr val="0033CC"/>
                </a:solidFill>
                <a:latin typeface="Arial" panose="020B0604020202020204" pitchFamily="34" charset="0"/>
              </a:rPr>
              <a:t>交</a:t>
            </a:r>
            <a:r>
              <a:rPr lang="zh-CN" altLang="en-US" sz="3200" dirty="0">
                <a:latin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</a:rPr>
              <a:t>(INTERSECT)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719455" lvl="1" indent="-265430" defTabSz="901700">
              <a:spcBef>
                <a:spcPts val="600"/>
              </a:spcBef>
            </a:pPr>
            <a:r>
              <a:rPr lang="zh-CN" altLang="en-US" dirty="0">
                <a:latin typeface="Arial" panose="020B0604020202020204" pitchFamily="34" charset="0"/>
              </a:rPr>
              <a:t>返回两个查询的结果的共有的元组</a:t>
            </a:r>
            <a:endParaRPr lang="zh-CN" altLang="en-US" dirty="0">
              <a:latin typeface="Arial" panose="020B0604020202020204" pitchFamily="34" charset="0"/>
            </a:endParaRPr>
          </a:p>
          <a:p>
            <a:pPr marL="274955" indent="-274955" defTabSz="901700">
              <a:spcBef>
                <a:spcPct val="25000"/>
              </a:spcBef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3) </a:t>
            </a:r>
            <a:r>
              <a:rPr lang="zh-CN" altLang="en-US" sz="3200" dirty="0">
                <a:solidFill>
                  <a:srgbClr val="0033CC"/>
                </a:solidFill>
                <a:latin typeface="Arial" panose="020B0604020202020204" pitchFamily="34" charset="0"/>
              </a:rPr>
              <a:t>差</a:t>
            </a:r>
            <a:r>
              <a:rPr lang="zh-CN" altLang="en-US" sz="3200" dirty="0">
                <a:latin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</a:rPr>
              <a:t>(EXCEPT)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719455" lvl="1" indent="-265430" defTabSz="901700">
              <a:spcBef>
                <a:spcPts val="600"/>
              </a:spcBef>
            </a:pPr>
            <a:r>
              <a:rPr lang="zh-CN" altLang="en-US" dirty="0">
                <a:latin typeface="Arial" panose="020B0604020202020204" pitchFamily="34" charset="0"/>
              </a:rPr>
              <a:t>返回的是存在于第一个查询结果但不存在于第二个查询结果的元组</a:t>
            </a:r>
            <a:endParaRPr lang="zh-CN" altLang="en-US" sz="1600" dirty="0">
              <a:latin typeface="Arial" panose="020B0604020202020204" pitchFamily="34" charset="0"/>
            </a:endParaRPr>
          </a:p>
        </p:txBody>
      </p:sp>
      <p:sp>
        <p:nvSpPr>
          <p:cNvPr id="858115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5.3.4 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集合查询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62" name="Rectangle 2"/>
          <p:cNvSpPr>
            <a:spLocks noGrp="1"/>
          </p:cNvSpPr>
          <p:nvPr>
            <p:ph idx="1"/>
          </p:nvPr>
        </p:nvSpPr>
        <p:spPr>
          <a:xfrm>
            <a:off x="71438" y="1000125"/>
            <a:ext cx="8991600" cy="5273675"/>
          </a:xfrm>
        </p:spPr>
        <p:txBody>
          <a:bodyPr vert="horz" wrap="square" lIns="91440" tIns="45720" rIns="91440" bIns="45720" anchor="t" anchorCtr="0"/>
          <a:p>
            <a:pPr marL="365125" indent="-365125"/>
            <a:r>
              <a:rPr lang="zh-CN" altLang="en-US" sz="3200" dirty="0">
                <a:latin typeface="Arial" panose="020B0604020202020204" pitchFamily="34" charset="0"/>
              </a:rPr>
              <a:t>查询选修了课程</a:t>
            </a:r>
            <a:r>
              <a:rPr lang="en-US" altLang="zh-CN" sz="3200" dirty="0">
                <a:latin typeface="Arial" panose="020B0604020202020204" pitchFamily="34" charset="0"/>
              </a:rPr>
              <a:t>C1</a:t>
            </a:r>
            <a:r>
              <a:rPr lang="zh-CN" altLang="en-US" sz="3200" dirty="0">
                <a:solidFill>
                  <a:srgbClr val="FF0000"/>
                </a:solidFill>
                <a:latin typeface="Arial" panose="020B0604020202020204" pitchFamily="34" charset="0"/>
              </a:rPr>
              <a:t>或者</a:t>
            </a:r>
            <a:r>
              <a:rPr lang="zh-CN" altLang="en-US" sz="3200" dirty="0">
                <a:latin typeface="Arial" panose="020B0604020202020204" pitchFamily="34" charset="0"/>
              </a:rPr>
              <a:t>选修了课程</a:t>
            </a:r>
            <a:r>
              <a:rPr lang="en-US" altLang="zh-CN" sz="3200" dirty="0">
                <a:latin typeface="Arial" panose="020B0604020202020204" pitchFamily="34" charset="0"/>
              </a:rPr>
              <a:t>C2</a:t>
            </a:r>
            <a:r>
              <a:rPr lang="zh-CN" altLang="en-US" sz="3200" dirty="0">
                <a:latin typeface="Arial" panose="020B0604020202020204" pitchFamily="34" charset="0"/>
              </a:rPr>
              <a:t>的学号。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65125" indent="-365125" latinLnBrk="0">
              <a:lnSpc>
                <a:spcPts val="4220"/>
              </a:lnSpc>
              <a:spcBef>
                <a:spcPts val="1200"/>
              </a:spcBef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    </a:t>
            </a:r>
            <a:r>
              <a:rPr lang="en-US" altLang="zh-CN" sz="3200" dirty="0">
                <a:latin typeface="Arial" panose="020B0604020202020204" pitchFamily="34" charset="0"/>
              </a:rPr>
              <a:t>SELECT  Sno   FROM  SC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 latinLnBrk="0">
              <a:lnSpc>
                <a:spcPts val="422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 WHERE  Cno = 'C1'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 latinLnBrk="0">
              <a:lnSpc>
                <a:spcPts val="422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UNION</a:t>
            </a:r>
            <a:endParaRPr lang="en-US" altLang="zh-CN" sz="3200" dirty="0">
              <a:solidFill>
                <a:srgbClr val="FF3300"/>
              </a:solidFill>
              <a:latin typeface="Arial" panose="020B0604020202020204" pitchFamily="34" charset="0"/>
            </a:endParaRPr>
          </a:p>
          <a:p>
            <a:pPr marL="365125" indent="-365125" latinLnBrk="0">
              <a:lnSpc>
                <a:spcPts val="422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 SELECT  Sno   FROM  SC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 latinLnBrk="0">
              <a:lnSpc>
                <a:spcPts val="422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 WHERE  Cno =  'C2'</a:t>
            </a:r>
            <a:r>
              <a:rPr lang="zh-CN" altLang="en-US" sz="3200" dirty="0">
                <a:latin typeface="Arial" panose="020B0604020202020204" pitchFamily="34" charset="0"/>
              </a:rPr>
              <a:t>；</a:t>
            </a:r>
            <a:endParaRPr lang="zh-CN" altLang="en-US" sz="16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365125" indent="-365125" latinLnBrk="0">
              <a:lnSpc>
                <a:spcPts val="4220"/>
              </a:lnSpc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或：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65125" indent="-365125" latinLnBrk="0">
              <a:lnSpc>
                <a:spcPts val="4220"/>
              </a:lnSpc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   </a:t>
            </a:r>
            <a:r>
              <a:rPr lang="en-US" altLang="zh-CN" sz="3200" dirty="0">
                <a:latin typeface="Arial" panose="020B0604020202020204" pitchFamily="34" charset="0"/>
              </a:rPr>
              <a:t>SELECT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3200" dirty="0">
                <a:solidFill>
                  <a:srgbClr val="0033CC"/>
                </a:solidFill>
                <a:latin typeface="Arial" panose="020B0604020202020204" pitchFamily="34" charset="0"/>
              </a:rPr>
              <a:t>DISTINCT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3200" dirty="0">
                <a:latin typeface="Arial" panose="020B0604020202020204" pitchFamily="34" charset="0"/>
              </a:rPr>
              <a:t>Sno  FROM  SC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 latinLnBrk="0">
              <a:lnSpc>
                <a:spcPts val="422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WHERE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3200" dirty="0">
                <a:latin typeface="Arial" panose="020B0604020202020204" pitchFamily="34" charset="0"/>
              </a:rPr>
              <a:t>Cno='C1'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OR</a:t>
            </a:r>
            <a:r>
              <a:rPr lang="en-US" altLang="zh-CN" sz="3200" dirty="0">
                <a:latin typeface="Arial" panose="020B0604020202020204" pitchFamily="34" charset="0"/>
              </a:rPr>
              <a:t>  Cno= 'C2'</a:t>
            </a:r>
            <a:r>
              <a:rPr lang="zh-CN" altLang="en-US" sz="3200" dirty="0">
                <a:latin typeface="Arial" panose="020B0604020202020204" pitchFamily="34" charset="0"/>
              </a:rPr>
              <a:t>；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860163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1) 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并操作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endParaRPr kumimoji="1" lang="en-US" altLang="zh-CN" sz="4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62">
                                            <p:txEl>
                                              <p:charRg st="23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62">
                                            <p:txEl>
                                              <p:charRg st="54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62">
                                            <p:txEl>
                                              <p:charRg st="80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62">
                                            <p:txEl>
                                              <p:charRg st="94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62">
                                            <p:txEl>
                                              <p:charRg st="125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62">
                                            <p:txEl>
                                              <p:charRg st="154" end="1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62">
                                            <p:txEl>
                                              <p:charRg st="157" end="1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62">
                                            <p:txEl>
                                              <p:charRg st="196" end="2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6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2"/>
          <p:cNvSpPr>
            <a:spLocks noGrp="1"/>
          </p:cNvSpPr>
          <p:nvPr>
            <p:ph idx="1"/>
          </p:nvPr>
        </p:nvSpPr>
        <p:spPr>
          <a:xfrm>
            <a:off x="152400" y="928688"/>
            <a:ext cx="8777288" cy="5273675"/>
          </a:xfrm>
        </p:spPr>
        <p:txBody>
          <a:bodyPr vert="horz" wrap="square" lIns="91440" tIns="45720" rIns="91440" bIns="45720" anchor="t" anchorCtr="0"/>
          <a:p>
            <a:pPr marL="365125" indent="-365125"/>
            <a:r>
              <a:rPr lang="zh-CN" altLang="en-US" sz="3200" dirty="0">
                <a:latin typeface="Arial" panose="020B0604020202020204" pitchFamily="34" charset="0"/>
              </a:rPr>
              <a:t>查询计算机科学系的学生或者年龄不大于</a:t>
            </a:r>
            <a:r>
              <a:rPr lang="en-US" altLang="zh-CN" sz="3200" dirty="0">
                <a:latin typeface="Arial" panose="020B0604020202020204" pitchFamily="34" charset="0"/>
              </a:rPr>
              <a:t>19</a:t>
            </a:r>
            <a:r>
              <a:rPr lang="zh-CN" altLang="en-US" sz="3200" dirty="0">
                <a:latin typeface="Arial" panose="020B0604020202020204" pitchFamily="34" charset="0"/>
              </a:rPr>
              <a:t>岁的学生的基本情况。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65125" indent="-365125">
              <a:spcBef>
                <a:spcPts val="1200"/>
              </a:spcBef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    </a:t>
            </a:r>
            <a:r>
              <a:rPr lang="en-US" altLang="zh-CN" sz="3200" dirty="0">
                <a:latin typeface="Arial" panose="020B0604020202020204" pitchFamily="34" charset="0"/>
              </a:rPr>
              <a:t>SELECT  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  </a:t>
            </a:r>
            <a:r>
              <a:rPr lang="en-US" altLang="zh-CN" sz="3200" dirty="0">
                <a:latin typeface="Arial" panose="020B0604020202020204" pitchFamily="34" charset="0"/>
              </a:rPr>
              <a:t>FROM  S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 WHERE  Sdept = 'CS'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UNION</a:t>
            </a:r>
            <a:endParaRPr lang="en-US" altLang="zh-CN" sz="3200" dirty="0">
              <a:solidFill>
                <a:srgbClr val="FF3300"/>
              </a:solidFill>
              <a:latin typeface="Arial" panose="020B0604020202020204" pitchFamily="34" charset="0"/>
            </a:endParaRPr>
          </a:p>
          <a:p>
            <a:pPr marL="365125" indent="-365125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 SELECT  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  </a:t>
            </a:r>
            <a:r>
              <a:rPr lang="en-US" altLang="zh-CN" sz="3200" dirty="0">
                <a:latin typeface="Arial" panose="020B0604020202020204" pitchFamily="34" charset="0"/>
              </a:rPr>
              <a:t>FROM  S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 WHERE  Sage &lt;= 19 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或：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65125" indent="-365125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    </a:t>
            </a:r>
            <a:r>
              <a:rPr lang="en-US" altLang="zh-CN" sz="3200" dirty="0">
                <a:latin typeface="Arial" panose="020B0604020202020204" pitchFamily="34" charset="0"/>
              </a:rPr>
              <a:t>SELECT  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  </a:t>
            </a:r>
            <a:r>
              <a:rPr lang="en-US" altLang="zh-CN" sz="3200" dirty="0">
                <a:latin typeface="Arial" panose="020B0604020202020204" pitchFamily="34" charset="0"/>
              </a:rPr>
              <a:t>FROM  S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 WHERE Sdept = 'CS'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OR</a:t>
            </a:r>
            <a:r>
              <a:rPr lang="en-US" altLang="zh-CN" sz="3200" dirty="0">
                <a:latin typeface="Arial" panose="020B0604020202020204" pitchFamily="34" charset="0"/>
              </a:rPr>
              <a:t>  Sage&lt;=19 ;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843779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并操作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</a:t>
            </a:r>
            <a:endParaRPr kumimoji="1" lang="en-US" altLang="zh-CN" sz="4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4802" name="Rectangle 2"/>
          <p:cNvSpPr>
            <a:spLocks noGrp="1"/>
          </p:cNvSpPr>
          <p:nvPr>
            <p:ph idx="1"/>
          </p:nvPr>
        </p:nvSpPr>
        <p:spPr>
          <a:xfrm>
            <a:off x="152400" y="1143000"/>
            <a:ext cx="8634413" cy="5273675"/>
          </a:xfrm>
        </p:spPr>
        <p:txBody>
          <a:bodyPr vert="horz" wrap="square" lIns="91440" tIns="45720" rIns="91440" bIns="45720" anchor="t" anchorCtr="0"/>
          <a:p>
            <a:pPr marL="365125" indent="-365125"/>
            <a:r>
              <a:rPr lang="zh-CN" altLang="en-US" dirty="0">
                <a:latin typeface="Arial" panose="020B0604020202020204" pitchFamily="34" charset="0"/>
              </a:rPr>
              <a:t>查询学校中所有师生的姓名。</a:t>
            </a:r>
            <a:endParaRPr lang="zh-CN" altLang="en-US" dirty="0">
              <a:latin typeface="Arial" panose="020B0604020202020204" pitchFamily="34" charset="0"/>
            </a:endParaRPr>
          </a:p>
          <a:p>
            <a:pPr marL="365125" indent="-365125">
              <a:buNone/>
            </a:pPr>
            <a:r>
              <a:rPr lang="zh-CN" altLang="en-US" dirty="0">
                <a:latin typeface="Arial" panose="020B0604020202020204" pitchFamily="34" charset="0"/>
              </a:rPr>
              <a:t>        </a:t>
            </a:r>
            <a:r>
              <a:rPr lang="en-US" altLang="zh-CN" dirty="0">
                <a:latin typeface="Arial" panose="020B0604020202020204" pitchFamily="34" charset="0"/>
              </a:rPr>
              <a:t>SELECT  Sname</a:t>
            </a:r>
            <a:endParaRPr lang="en-US" altLang="zh-CN" dirty="0">
              <a:latin typeface="Arial" panose="020B0604020202020204" pitchFamily="34" charset="0"/>
            </a:endParaRPr>
          </a:p>
          <a:p>
            <a:pPr marL="365125" indent="-365125" latinLnBrk="0">
              <a:lnSpc>
                <a:spcPct val="150000"/>
              </a:lnSpc>
              <a:buNone/>
            </a:pPr>
            <a:r>
              <a:rPr lang="en-US" altLang="zh-CN" dirty="0">
                <a:latin typeface="Arial" panose="020B0604020202020204" pitchFamily="34" charset="0"/>
              </a:rPr>
              <a:t>        FROM   S</a:t>
            </a:r>
            <a:endParaRPr lang="en-US" altLang="zh-CN" dirty="0">
              <a:latin typeface="Arial" panose="020B0604020202020204" pitchFamily="34" charset="0"/>
            </a:endParaRPr>
          </a:p>
          <a:p>
            <a:pPr marL="365125" indent="-365125" latinLnBrk="0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      </a:t>
            </a:r>
            <a:r>
              <a:rPr lang="en-US" altLang="zh-CN" dirty="0">
                <a:solidFill>
                  <a:srgbClr val="FF3300"/>
                </a:solidFill>
                <a:latin typeface="Arial" panose="020B0604020202020204" pitchFamily="34" charset="0"/>
              </a:rPr>
              <a:t>UNION</a:t>
            </a:r>
            <a:endParaRPr lang="en-US" altLang="zh-CN" dirty="0">
              <a:solidFill>
                <a:srgbClr val="FF3300"/>
              </a:solidFill>
              <a:latin typeface="Arial" panose="020B0604020202020204" pitchFamily="34" charset="0"/>
            </a:endParaRPr>
          </a:p>
          <a:p>
            <a:pPr marL="365125" indent="-365125" latinLnBrk="0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      </a:t>
            </a:r>
            <a:r>
              <a:rPr lang="en-US" altLang="zh-CN" dirty="0">
                <a:latin typeface="Arial" panose="020B0604020202020204" pitchFamily="34" charset="0"/>
              </a:rPr>
              <a:t>SELECT  Tname</a:t>
            </a:r>
            <a:endParaRPr lang="en-US" altLang="zh-CN" dirty="0">
              <a:latin typeface="Arial" panose="020B0604020202020204" pitchFamily="34" charset="0"/>
            </a:endParaRPr>
          </a:p>
          <a:p>
            <a:pPr marL="365125" indent="-365125" latinLnBrk="0">
              <a:lnSpc>
                <a:spcPct val="150000"/>
              </a:lnSpc>
              <a:buNone/>
            </a:pPr>
            <a:r>
              <a:rPr lang="en-US" altLang="zh-CN" dirty="0">
                <a:latin typeface="Arial" panose="020B0604020202020204" pitchFamily="34" charset="0"/>
              </a:rPr>
              <a:t>        FROM   T ;</a:t>
            </a:r>
            <a:endParaRPr lang="en-US" altLang="zh-CN" dirty="0">
              <a:latin typeface="Arial" panose="020B0604020202020204" pitchFamily="34" charset="0"/>
            </a:endParaRPr>
          </a:p>
          <a:p>
            <a:pPr marL="365125" indent="-365125">
              <a:buNone/>
            </a:pP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sp>
        <p:nvSpPr>
          <p:cNvPr id="844803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并操作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</a:t>
            </a:r>
            <a:endParaRPr kumimoji="1" lang="en-US" altLang="zh-CN" sz="4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802">
                                            <p:txEl>
                                              <p:charRg st="44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802">
                                            <p:txEl>
                                              <p:charRg st="61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802">
                                            <p:txEl>
                                              <p:charRg st="75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802">
                                            <p:txEl>
                                              <p:charRg st="97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480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2"/>
          <p:cNvSpPr>
            <a:spLocks noGrp="1"/>
          </p:cNvSpPr>
          <p:nvPr>
            <p:ph idx="1"/>
          </p:nvPr>
        </p:nvSpPr>
        <p:spPr>
          <a:xfrm>
            <a:off x="142875" y="941388"/>
            <a:ext cx="8777288" cy="5273675"/>
          </a:xfrm>
        </p:spPr>
        <p:txBody>
          <a:bodyPr vert="horz" wrap="square" lIns="91440" tIns="45720" rIns="91440" bIns="45720" anchor="t" anchorCtr="0"/>
          <a:p>
            <a:pPr marL="365125" indent="-365125"/>
            <a:r>
              <a:rPr lang="zh-CN" altLang="en-US" sz="3200" dirty="0">
                <a:latin typeface="Arial" panose="020B0604020202020204" pitchFamily="34" charset="0"/>
              </a:rPr>
              <a:t>查询计算机科学系中年龄不大于</a:t>
            </a:r>
            <a:r>
              <a:rPr lang="en-US" altLang="zh-CN" sz="3200" dirty="0">
                <a:latin typeface="Arial" panose="020B0604020202020204" pitchFamily="34" charset="0"/>
              </a:rPr>
              <a:t>19</a:t>
            </a:r>
            <a:r>
              <a:rPr lang="zh-CN" altLang="en-US" sz="3200" dirty="0">
                <a:latin typeface="Arial" panose="020B0604020202020204" pitchFamily="34" charset="0"/>
              </a:rPr>
              <a:t>岁的学生。 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65125" indent="-365125" latinLnBrk="0">
              <a:lnSpc>
                <a:spcPts val="4380"/>
              </a:lnSpc>
              <a:spcBef>
                <a:spcPts val="1200"/>
              </a:spcBef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		</a:t>
            </a:r>
            <a:r>
              <a:rPr lang="en-US" altLang="zh-CN" sz="3200" dirty="0">
                <a:latin typeface="Arial" panose="020B0604020202020204" pitchFamily="34" charset="0"/>
              </a:rPr>
              <a:t>SELECT  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  </a:t>
            </a:r>
            <a:r>
              <a:rPr lang="en-US" altLang="zh-CN" sz="3200" dirty="0">
                <a:latin typeface="Arial" panose="020B0604020202020204" pitchFamily="34" charset="0"/>
              </a:rPr>
              <a:t>FROM S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 latinLnBrk="0">
              <a:lnSpc>
                <a:spcPts val="438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		WHERE  Sdept = 'CS' 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 latinLnBrk="0">
              <a:lnSpc>
                <a:spcPts val="438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INTERSECT</a:t>
            </a:r>
            <a:endParaRPr lang="en-US" altLang="zh-CN" sz="3200" dirty="0">
              <a:solidFill>
                <a:srgbClr val="FF3300"/>
              </a:solidFill>
              <a:latin typeface="Arial" panose="020B0604020202020204" pitchFamily="34" charset="0"/>
            </a:endParaRPr>
          </a:p>
          <a:p>
            <a:pPr marL="365125" indent="-365125" latinLnBrk="0">
              <a:lnSpc>
                <a:spcPts val="438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		SELECT  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  </a:t>
            </a:r>
            <a:r>
              <a:rPr lang="en-US" altLang="zh-CN" sz="3200" dirty="0">
                <a:latin typeface="Arial" panose="020B0604020202020204" pitchFamily="34" charset="0"/>
              </a:rPr>
              <a:t>FROM S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 latinLnBrk="0">
              <a:lnSpc>
                <a:spcPts val="438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 WHERE  Sage &lt;= 19 ;</a:t>
            </a:r>
            <a:endParaRPr lang="en-US" altLang="zh-CN" sz="24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365125" indent="-365125" latinLnBrk="0">
              <a:lnSpc>
                <a:spcPts val="4380"/>
              </a:lnSpc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或：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65125" indent="-365125" latinLnBrk="0">
              <a:lnSpc>
                <a:spcPts val="4380"/>
              </a:lnSpc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 </a:t>
            </a:r>
            <a:r>
              <a:rPr lang="en-US" altLang="zh-CN" sz="3200" dirty="0">
                <a:latin typeface="Arial" panose="020B0604020202020204" pitchFamily="34" charset="0"/>
              </a:rPr>
              <a:t>SELECT  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  </a:t>
            </a:r>
            <a:r>
              <a:rPr lang="en-US" altLang="zh-CN" sz="3200" dirty="0">
                <a:latin typeface="Arial" panose="020B0604020202020204" pitchFamily="34" charset="0"/>
              </a:rPr>
              <a:t>FROM S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 latinLnBrk="0">
              <a:lnSpc>
                <a:spcPts val="438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WHERE  Sdept = 'CS'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AND </a:t>
            </a:r>
            <a:r>
              <a:rPr lang="en-US" altLang="zh-CN" sz="3200" dirty="0">
                <a:latin typeface="Arial" panose="020B0604020202020204" pitchFamily="34" charset="0"/>
              </a:rPr>
              <a:t>Sage &lt;= 19 ;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  <p:sp>
        <p:nvSpPr>
          <p:cNvPr id="847875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2) 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交操作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endParaRPr kumimoji="1" lang="en-US" altLang="zh-CN" sz="40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51970" name="Rectangle 2"/>
          <p:cNvSpPr>
            <a:spLocks noGrp="1"/>
          </p:cNvSpPr>
          <p:nvPr>
            <p:ph idx="1"/>
          </p:nvPr>
        </p:nvSpPr>
        <p:spPr>
          <a:xfrm>
            <a:off x="152400" y="1052513"/>
            <a:ext cx="8777288" cy="5400675"/>
          </a:xfrm>
        </p:spPr>
        <p:txBody>
          <a:bodyPr vert="horz" wrap="square" lIns="91440" tIns="45720" rIns="91440" bIns="45720" anchor="t" anchorCtr="0"/>
          <a:p>
            <a:pPr marL="365125" indent="-365125">
              <a:lnSpc>
                <a:spcPct val="90000"/>
              </a:lnSpc>
            </a:pPr>
            <a:r>
              <a:rPr lang="zh-CN" altLang="en-US" sz="3200" dirty="0">
                <a:latin typeface="Arial" panose="020B0604020202020204" pitchFamily="34" charset="0"/>
              </a:rPr>
              <a:t>查询</a:t>
            </a:r>
            <a:r>
              <a:rPr lang="en-US" altLang="zh-CN" sz="3200" dirty="0">
                <a:latin typeface="Arial" panose="020B0604020202020204" pitchFamily="34" charset="0"/>
              </a:rPr>
              <a:t>CS</a:t>
            </a:r>
            <a:r>
              <a:rPr lang="zh-CN" altLang="en-US" sz="3200" dirty="0">
                <a:latin typeface="Arial" panose="020B0604020202020204" pitchFamily="34" charset="0"/>
              </a:rPr>
              <a:t>系中年龄大于</a:t>
            </a:r>
            <a:r>
              <a:rPr lang="en-US" altLang="zh-CN" sz="3200" dirty="0">
                <a:latin typeface="Arial" panose="020B0604020202020204" pitchFamily="34" charset="0"/>
              </a:rPr>
              <a:t>19</a:t>
            </a:r>
            <a:r>
              <a:rPr lang="zh-CN" altLang="en-US" sz="3200" dirty="0">
                <a:latin typeface="Arial" panose="020B0604020202020204" pitchFamily="34" charset="0"/>
              </a:rPr>
              <a:t>岁的学生。 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65125" indent="-365125" latinLnBrk="0">
              <a:lnSpc>
                <a:spcPts val="4340"/>
              </a:lnSpc>
              <a:spcBef>
                <a:spcPts val="1200"/>
              </a:spcBef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   </a:t>
            </a:r>
            <a:r>
              <a:rPr lang="en-US" altLang="zh-CN" sz="3200" dirty="0">
                <a:latin typeface="Arial" panose="020B0604020202020204" pitchFamily="34" charset="0"/>
              </a:rPr>
              <a:t>SELECT  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</a:t>
            </a:r>
            <a:r>
              <a:rPr lang="en-US" altLang="zh-CN" sz="3200" dirty="0">
                <a:latin typeface="Arial" panose="020B0604020202020204" pitchFamily="34" charset="0"/>
              </a:rPr>
              <a:t>  FROM  S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 latinLnBrk="0">
              <a:lnSpc>
                <a:spcPts val="434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WHERE  Sdept = 'CS' 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 latinLnBrk="0">
              <a:lnSpc>
                <a:spcPts val="434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EXCEPT </a:t>
            </a:r>
            <a:endParaRPr lang="en-US" altLang="zh-CN" sz="32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365125" indent="-365125" latinLnBrk="0">
              <a:lnSpc>
                <a:spcPts val="434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SELECT  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</a:t>
            </a:r>
            <a:r>
              <a:rPr lang="en-US" altLang="zh-CN" sz="3200" dirty="0">
                <a:latin typeface="Arial" panose="020B0604020202020204" pitchFamily="34" charset="0"/>
              </a:rPr>
              <a:t>  FROM  S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 latinLnBrk="0">
              <a:lnSpc>
                <a:spcPts val="434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WHERE  Sage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&lt;= </a:t>
            </a:r>
            <a:r>
              <a:rPr lang="en-US" altLang="zh-CN" sz="3200" dirty="0">
                <a:latin typeface="Arial" panose="020B0604020202020204" pitchFamily="34" charset="0"/>
              </a:rPr>
              <a:t>19 ;  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 latinLnBrk="0">
              <a:lnSpc>
                <a:spcPts val="4340"/>
              </a:lnSpc>
              <a:spcBef>
                <a:spcPts val="2400"/>
              </a:spcBef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或：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65125" indent="-365125" latinLnBrk="0">
              <a:lnSpc>
                <a:spcPts val="4340"/>
              </a:lnSpc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   </a:t>
            </a:r>
            <a:r>
              <a:rPr lang="en-US" altLang="zh-CN" sz="3200" dirty="0">
                <a:latin typeface="Arial" panose="020B0604020202020204" pitchFamily="34" charset="0"/>
              </a:rPr>
              <a:t>SELECT  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   </a:t>
            </a:r>
            <a:r>
              <a:rPr lang="en-US" altLang="zh-CN" sz="3200" dirty="0">
                <a:latin typeface="Arial" panose="020B0604020202020204" pitchFamily="34" charset="0"/>
              </a:rPr>
              <a:t>FROM  S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marL="365125" indent="-365125" latinLnBrk="0">
              <a:lnSpc>
                <a:spcPts val="434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WHERE  Sdept= 'CS'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AND</a:t>
            </a:r>
            <a:r>
              <a:rPr lang="en-US" altLang="zh-CN" sz="3200" dirty="0">
                <a:latin typeface="Arial" panose="020B0604020202020204" pitchFamily="34" charset="0"/>
              </a:rPr>
              <a:t> Sage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&gt; </a:t>
            </a:r>
            <a:r>
              <a:rPr lang="en-US" altLang="zh-CN" sz="3200" dirty="0">
                <a:latin typeface="Arial" panose="020B0604020202020204" pitchFamily="34" charset="0"/>
              </a:rPr>
              <a:t>19 ;             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  <p:sp>
        <p:nvSpPr>
          <p:cNvPr id="851971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3) 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差操作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endParaRPr kumimoji="1" lang="en-US" altLang="zh-CN" sz="4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0">
                                            <p:txEl>
                                              <p:charRg st="19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0">
                                            <p:txEl>
                                              <p:charRg st="45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0">
                                            <p:txEl>
                                              <p:charRg st="73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0">
                                            <p:txEl>
                                              <p:charRg st="88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0">
                                            <p:txEl>
                                              <p:charRg st="114" end="1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0">
                                            <p:txEl>
                                              <p:charRg st="143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0">
                                            <p:txEl>
                                              <p:charRg st="146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0">
                                            <p:txEl>
                                              <p:charRg st="173" end="2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1970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2"/>
          <p:cNvSpPr>
            <a:spLocks noGrp="1"/>
          </p:cNvSpPr>
          <p:nvPr>
            <p:ph idx="1"/>
          </p:nvPr>
        </p:nvSpPr>
        <p:spPr>
          <a:xfrm>
            <a:off x="152400" y="1143000"/>
            <a:ext cx="8991600" cy="5273675"/>
          </a:xfrm>
        </p:spPr>
        <p:txBody>
          <a:bodyPr vert="horz" wrap="square" lIns="91440" tIns="45720" rIns="91440" bIns="45720" anchor="t" anchorCtr="0"/>
          <a:p>
            <a:pPr lvl="1"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5.3.1 </a:t>
            </a:r>
            <a:r>
              <a:rPr lang="zh-CN" altLang="en-US" sz="3600" dirty="0"/>
              <a:t>查询语句的基本格式</a:t>
            </a:r>
            <a:endParaRPr lang="zh-CN" altLang="en-US" sz="3600" dirty="0"/>
          </a:p>
          <a:p>
            <a:pPr lvl="1"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5.3.2 </a:t>
            </a:r>
            <a:r>
              <a:rPr lang="zh-CN" altLang="en-US" sz="3600" dirty="0">
                <a:latin typeface="Arial" panose="020B0604020202020204" pitchFamily="34" charset="0"/>
              </a:rPr>
              <a:t>单表查询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5.3.3 </a:t>
            </a:r>
            <a:r>
              <a:rPr lang="zh-CN" altLang="en-US" sz="3600" dirty="0">
                <a:latin typeface="Arial" panose="020B0604020202020204" pitchFamily="34" charset="0"/>
              </a:rPr>
              <a:t>多表查询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5.3.4 </a:t>
            </a:r>
            <a:r>
              <a:rPr lang="zh-CN" altLang="en-US" sz="3600" dirty="0">
                <a:latin typeface="Arial" panose="020B0604020202020204" pitchFamily="34" charset="0"/>
              </a:rPr>
              <a:t>集合查询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>
              <a:buNone/>
            </a:pPr>
            <a:r>
              <a:rPr lang="en-US" altLang="zh-CN" sz="3600" dirty="0">
                <a:solidFill>
                  <a:srgbClr val="0000CC"/>
                </a:solidFill>
                <a:latin typeface="Arial" panose="020B0604020202020204" pitchFamily="34" charset="0"/>
              </a:rPr>
              <a:t>5.3.5 </a:t>
            </a:r>
            <a:r>
              <a:rPr lang="zh-CN" altLang="en-US" sz="3600" dirty="0">
                <a:solidFill>
                  <a:srgbClr val="0000CC"/>
                </a:solidFill>
                <a:latin typeface="Arial" panose="020B0604020202020204" pitchFamily="34" charset="0"/>
              </a:rPr>
              <a:t>嵌套查询</a:t>
            </a:r>
            <a:endParaRPr lang="zh-CN" altLang="en-US" sz="3600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sp>
        <p:nvSpPr>
          <p:cNvPr id="856067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5.3 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数据查询</a:t>
            </a:r>
            <a:endParaRPr kumimoji="1" lang="zh-CN" altLang="en-US" sz="40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AutoShape 5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8027988" y="6165850"/>
            <a:ext cx="576263" cy="619125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4322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1000125"/>
            <a:ext cx="8812213" cy="52736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65125" marR="0" lvl="0" indent="-365125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一个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SELECT-FROM-WHERE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查询语句称为一个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查询块</a:t>
            </a:r>
            <a:endParaRPr kumimoji="1" lang="zh-CN" altLang="en-US" sz="3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65125" marR="0" lvl="0" indent="-365125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将一个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查询块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嵌套在另一个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查询块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的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WHERE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子句中，称为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嵌套查询</a:t>
            </a:r>
            <a:endParaRPr kumimoji="1" lang="zh-CN" altLang="en-US" sz="3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65125" marR="0" lvl="0" indent="-365125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嵌入在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WHERE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子句中查询语句称为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子查询</a:t>
            </a:r>
            <a:endParaRPr kumimoji="1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65125" marR="0" lvl="0" indent="-365125" algn="l" defTabSz="914400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嵌套查询分为</a:t>
            </a:r>
            <a:endParaRPr kumimoji="1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906780" marR="0" lvl="1" indent="-365125" algn="l" defTabSz="914400" rtl="0" eaLnBrk="0" fontAlgn="base" latinLnBrk="0" hangingPunct="0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相关嵌套查询</a:t>
            </a:r>
            <a:endParaRPr kumimoji="1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906780" marR="0" lvl="1" indent="-365125" algn="l" defTabSz="914400" rtl="0" eaLnBrk="0" fontAlgn="base" latinLnBrk="0" hangingPunct="0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不相关嵌套查询</a:t>
            </a:r>
            <a:endParaRPr kumimoji="1" lang="zh-CN" altLang="en-US" sz="3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24323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5.3.5</a:t>
            </a:r>
            <a:r>
              <a:rPr kumimoji="1" lang="en-US" altLang="zh-C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嵌套查询</a:t>
            </a:r>
            <a:endParaRPr kumimoji="1" lang="zh-CN" altLang="en-US" sz="40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2">
                                            <p:txEl>
                                              <p:charRg st="84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2">
                                            <p:txEl>
                                              <p:charRg st="91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2">
                                            <p:txEl>
                                              <p:charRg st="98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432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2"/>
          <p:cNvSpPr>
            <a:spLocks noGrp="1"/>
          </p:cNvSpPr>
          <p:nvPr>
            <p:ph idx="1"/>
          </p:nvPr>
        </p:nvSpPr>
        <p:spPr>
          <a:xfrm>
            <a:off x="295275" y="1143000"/>
            <a:ext cx="8634413" cy="5273675"/>
          </a:xfrm>
        </p:spPr>
        <p:txBody>
          <a:bodyPr vert="horz" wrap="square" lIns="91440" tIns="45720" rIns="91440" bIns="45720" anchor="t" anchorCtr="0"/>
          <a:p>
            <a:pPr marL="365125" indent="-365125">
              <a:buNone/>
            </a:pPr>
            <a:r>
              <a:rPr lang="en-US" altLang="zh-CN" dirty="0">
                <a:latin typeface="Arial" panose="020B0604020202020204" pitchFamily="34" charset="0"/>
              </a:rPr>
              <a:t>1) </a:t>
            </a:r>
            <a:r>
              <a:rPr lang="zh-CN" altLang="en-US" dirty="0">
                <a:latin typeface="Arial" panose="020B0604020202020204" pitchFamily="34" charset="0"/>
              </a:rPr>
              <a:t>带有</a:t>
            </a:r>
            <a:r>
              <a:rPr lang="en-US" altLang="zh-CN" dirty="0">
                <a:latin typeface="Arial" panose="020B0604020202020204" pitchFamily="34" charset="0"/>
              </a:rPr>
              <a:t>IN</a:t>
            </a:r>
            <a:r>
              <a:rPr lang="zh-CN" altLang="en-US" dirty="0">
                <a:latin typeface="Arial" panose="020B0604020202020204" pitchFamily="34" charset="0"/>
              </a:rPr>
              <a:t>的子查询</a:t>
            </a:r>
            <a:endParaRPr lang="zh-CN" altLang="en-US" dirty="0">
              <a:latin typeface="Arial" panose="020B0604020202020204" pitchFamily="34" charset="0"/>
            </a:endParaRPr>
          </a:p>
          <a:p>
            <a:pPr marL="365125" indent="-365125">
              <a:lnSpc>
                <a:spcPct val="170000"/>
              </a:lnSpc>
              <a:buNone/>
            </a:pPr>
            <a:r>
              <a:rPr lang="en-US" altLang="zh-CN" dirty="0">
                <a:latin typeface="Arial" panose="020B0604020202020204" pitchFamily="34" charset="0"/>
              </a:rPr>
              <a:t>2) </a:t>
            </a:r>
            <a:r>
              <a:rPr lang="zh-CN" altLang="en-US" dirty="0">
                <a:latin typeface="Arial" panose="020B0604020202020204" pitchFamily="34" charset="0"/>
              </a:rPr>
              <a:t>带有比较运算符的子查询</a:t>
            </a:r>
            <a:endParaRPr lang="zh-CN" altLang="en-US" dirty="0">
              <a:latin typeface="Arial" panose="020B0604020202020204" pitchFamily="34" charset="0"/>
            </a:endParaRPr>
          </a:p>
          <a:p>
            <a:pPr marL="365125" indent="-365125">
              <a:lnSpc>
                <a:spcPct val="170000"/>
              </a:lnSpc>
              <a:buNone/>
            </a:pPr>
            <a:r>
              <a:rPr lang="en-US" altLang="zh-CN" dirty="0">
                <a:latin typeface="Arial" panose="020B0604020202020204" pitchFamily="34" charset="0"/>
              </a:rPr>
              <a:t>3) </a:t>
            </a:r>
            <a:r>
              <a:rPr lang="zh-CN" altLang="en-US" dirty="0">
                <a:latin typeface="Arial" panose="020B0604020202020204" pitchFamily="34" charset="0"/>
              </a:rPr>
              <a:t>带有</a:t>
            </a:r>
            <a:r>
              <a:rPr lang="en-US" altLang="zh-CN" dirty="0">
                <a:latin typeface="Arial" panose="020B0604020202020204" pitchFamily="34" charset="0"/>
              </a:rPr>
              <a:t>SOME</a:t>
            </a:r>
            <a:r>
              <a:rPr lang="zh-CN" altLang="en-US" dirty="0">
                <a:latin typeface="Arial" panose="020B0604020202020204" pitchFamily="34" charset="0"/>
              </a:rPr>
              <a:t>或</a:t>
            </a:r>
            <a:r>
              <a:rPr lang="en-US" altLang="zh-CN" dirty="0">
                <a:latin typeface="Arial" panose="020B0604020202020204" pitchFamily="34" charset="0"/>
              </a:rPr>
              <a:t>ALL</a:t>
            </a:r>
            <a:r>
              <a:rPr lang="zh-CN" altLang="en-US" dirty="0">
                <a:latin typeface="Arial" panose="020B0604020202020204" pitchFamily="34" charset="0"/>
              </a:rPr>
              <a:t>的子查询</a:t>
            </a:r>
            <a:endParaRPr lang="zh-CN" altLang="en-US" dirty="0">
              <a:latin typeface="Arial" panose="020B0604020202020204" pitchFamily="34" charset="0"/>
            </a:endParaRPr>
          </a:p>
          <a:p>
            <a:pPr marL="365125" indent="-365125">
              <a:lnSpc>
                <a:spcPct val="170000"/>
              </a:lnSpc>
              <a:buNone/>
            </a:pPr>
            <a:r>
              <a:rPr lang="en-US" altLang="zh-CN" dirty="0">
                <a:latin typeface="Arial" panose="020B0604020202020204" pitchFamily="34" charset="0"/>
              </a:rPr>
              <a:t>4) </a:t>
            </a:r>
            <a:r>
              <a:rPr lang="zh-CN" altLang="en-US" dirty="0">
                <a:latin typeface="Arial" panose="020B0604020202020204" pitchFamily="34" charset="0"/>
              </a:rPr>
              <a:t>带有</a:t>
            </a:r>
            <a:r>
              <a:rPr lang="en-US" altLang="zh-CN" dirty="0">
                <a:latin typeface="Arial" panose="020B0604020202020204" pitchFamily="34" charset="0"/>
              </a:rPr>
              <a:t>EXISTS</a:t>
            </a:r>
            <a:r>
              <a:rPr lang="zh-CN" altLang="en-US" dirty="0">
                <a:latin typeface="Arial" panose="020B0604020202020204" pitchFamily="34" charset="0"/>
              </a:rPr>
              <a:t>的子查询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65283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5.3.5</a:t>
            </a:r>
            <a:r>
              <a:rPr kumimoji="1" lang="en-US" altLang="zh-C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嵌套查询</a:t>
            </a:r>
            <a:endParaRPr kumimoji="1" lang="zh-CN" altLang="en-US" sz="40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5" y="142875"/>
            <a:ext cx="8643938" cy="6238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1) 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带有</a:t>
            </a: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IN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的子查询</a:t>
            </a:r>
            <a:endParaRPr kumimoji="1" lang="en-US" altLang="zh-CN" sz="40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0179" name="Rectangle 3"/>
          <p:cNvSpPr>
            <a:spLocks noGrp="1"/>
          </p:cNvSpPr>
          <p:nvPr>
            <p:ph idx="1"/>
          </p:nvPr>
        </p:nvSpPr>
        <p:spPr>
          <a:xfrm>
            <a:off x="152400" y="1016000"/>
            <a:ext cx="8848725" cy="5581650"/>
          </a:xfrm>
        </p:spPr>
        <p:txBody>
          <a:bodyPr vert="horz" wrap="square" lIns="91440" tIns="45720" rIns="91440" bIns="45720" anchor="t" anchorCtr="0"/>
          <a:p>
            <a:r>
              <a:rPr lang="zh-CN" altLang="en-US" sz="3200" dirty="0">
                <a:latin typeface="Arial" panose="020B0604020202020204" pitchFamily="34" charset="0"/>
              </a:rPr>
              <a:t>查询与“刘晨”在同一个系学习的学生。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  <a:buNone/>
            </a:pPr>
            <a:r>
              <a:rPr lang="zh-CN" altLang="en-US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latin typeface="Arial" panose="020B0604020202020204" pitchFamily="34" charset="0"/>
              </a:rPr>
              <a:t>SELECT  Sno, Sname, Sdept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FROM  S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WHERE  Sdept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IN</a:t>
            </a:r>
            <a:endParaRPr lang="en-US" altLang="zh-CN" sz="3200" dirty="0">
              <a:solidFill>
                <a:srgbClr val="FF3300"/>
              </a:solidFill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       ( SELECT  Sdept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         FROM  S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         WHERE  Sname = '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刘晨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'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)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；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>
              <a:spcBef>
                <a:spcPts val="1800"/>
              </a:spcBef>
            </a:pPr>
            <a:r>
              <a:rPr lang="zh-CN" altLang="en-US" sz="3200" dirty="0">
                <a:latin typeface="Arial" panose="020B0604020202020204" pitchFamily="34" charset="0"/>
              </a:rPr>
              <a:t>子查询不依赖父查询单独执行，则称为不相关嵌套查询，其执行顺序从内到外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  <p:sp>
        <p:nvSpPr>
          <p:cNvPr id="50180" name="AutoShape 4">
            <a:hlinkClick r:id="rId1" action="ppaction://hlinksldjump"/>
          </p:cNvPr>
          <p:cNvSpPr/>
          <p:nvPr/>
        </p:nvSpPr>
        <p:spPr>
          <a:xfrm>
            <a:off x="8423275" y="71438"/>
            <a:ext cx="684213" cy="333375"/>
          </a:xfrm>
          <a:prstGeom prst="chevron">
            <a:avLst>
              <a:gd name="adj" fmla="val 51309"/>
            </a:avLst>
          </a:prstGeom>
          <a:gradFill rotWithShape="1">
            <a:gsLst>
              <a:gs pos="0">
                <a:srgbClr val="FF3399"/>
              </a:gs>
              <a:gs pos="100000">
                <a:srgbClr val="B2246B"/>
              </a:gs>
            </a:gsLst>
            <a:path path="rect">
              <a:fillToRect l="50000" t="50000" r="50000" b="50000"/>
            </a:path>
            <a:tileRect/>
          </a:gradFill>
          <a:ln w="28575">
            <a:noFill/>
          </a:ln>
        </p:spPr>
        <p:txBody>
          <a:bodyPr wrap="none" lIns="0" tIns="0" rIns="0" bIns="0" anchor="ctr" anchorCtr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kumimoji="1"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kumimoji="1"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kumimoji="1"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3175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ClrTx/>
              <a:buSzTx/>
              <a:buFontTx/>
              <a:buNone/>
            </a:pPr>
            <a:endParaRPr lang="zh-CN" altLang="zh-CN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50181" name="AutoShape 5">
            <a:hlinkClick r:id="rId2" action="ppaction://hlinksldjump"/>
          </p:cNvPr>
          <p:cNvSpPr/>
          <p:nvPr/>
        </p:nvSpPr>
        <p:spPr>
          <a:xfrm flipH="1">
            <a:off x="7596188" y="71438"/>
            <a:ext cx="684212" cy="333375"/>
          </a:xfrm>
          <a:prstGeom prst="chevron">
            <a:avLst>
              <a:gd name="adj" fmla="val 51309"/>
            </a:avLst>
          </a:prstGeom>
          <a:gradFill rotWithShape="1">
            <a:gsLst>
              <a:gs pos="0">
                <a:srgbClr val="FF3399"/>
              </a:gs>
              <a:gs pos="100000">
                <a:srgbClr val="B2246B"/>
              </a:gs>
            </a:gsLst>
            <a:path path="rect">
              <a:fillToRect l="50000" t="50000" r="50000" b="50000"/>
            </a:path>
            <a:tileRect/>
          </a:gradFill>
          <a:ln w="28575">
            <a:noFill/>
          </a:ln>
        </p:spPr>
        <p:txBody>
          <a:bodyPr wrap="none" lIns="0" tIns="0" rIns="0" bIns="0" anchor="ctr" anchorCtr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kumimoji="1"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kumimoji="1"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kumimoji="1"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3175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ClrTx/>
              <a:buSzTx/>
              <a:buFontTx/>
              <a:buNone/>
            </a:pPr>
            <a:endParaRPr lang="zh-CN" altLang="zh-CN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grpSp>
        <p:nvGrpSpPr>
          <p:cNvPr id="50182" name="组合 12"/>
          <p:cNvGrpSpPr/>
          <p:nvPr/>
        </p:nvGrpSpPr>
        <p:grpSpPr>
          <a:xfrm>
            <a:off x="6929438" y="3429000"/>
            <a:ext cx="1785937" cy="1071563"/>
            <a:chOff x="6929454" y="3429000"/>
            <a:chExt cx="1785950" cy="1071570"/>
          </a:xfrm>
        </p:grpSpPr>
        <p:sp>
          <p:nvSpPr>
            <p:cNvPr id="11" name="右大括号 10"/>
            <p:cNvSpPr/>
            <p:nvPr/>
          </p:nvSpPr>
          <p:spPr bwMode="auto">
            <a:xfrm>
              <a:off x="6929454" y="3429000"/>
              <a:ext cx="500066" cy="1071570"/>
            </a:xfrm>
            <a:prstGeom prst="rightBrac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lIns="0" tIns="0" rIns="0" bIns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187" name="矩形 11"/>
            <p:cNvSpPr/>
            <p:nvPr/>
          </p:nvSpPr>
          <p:spPr>
            <a:xfrm>
              <a:off x="7572396" y="3714752"/>
              <a:ext cx="1143008" cy="57150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0" tIns="0" rIns="0" bIns="0" anchor="ctr" anchorCtr="0"/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kumimoji="1"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kumimoji="1"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kumimoji="1"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3175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FontTx/>
                <a:buNone/>
              </a:pPr>
              <a:r>
                <a:rPr lang="zh-CN" altLang="en-US" sz="2800" dirty="0">
                  <a:latin typeface="Arial" panose="020B0604020202020204" pitchFamily="34" charset="0"/>
                </a:rPr>
                <a:t>子查询</a:t>
              </a:r>
              <a:endParaRPr lang="zh-CN" altLang="en-US" sz="28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50183" name="组合 13"/>
          <p:cNvGrpSpPr/>
          <p:nvPr/>
        </p:nvGrpSpPr>
        <p:grpSpPr>
          <a:xfrm>
            <a:off x="6572250" y="1928813"/>
            <a:ext cx="1785938" cy="1071562"/>
            <a:chOff x="6929454" y="3429000"/>
            <a:chExt cx="1785950" cy="1071570"/>
          </a:xfrm>
        </p:grpSpPr>
        <p:sp>
          <p:nvSpPr>
            <p:cNvPr id="15" name="右大括号 14"/>
            <p:cNvSpPr/>
            <p:nvPr/>
          </p:nvSpPr>
          <p:spPr bwMode="auto">
            <a:xfrm>
              <a:off x="6929454" y="3429000"/>
              <a:ext cx="500066" cy="1071570"/>
            </a:xfrm>
            <a:prstGeom prst="rightBrac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lIns="0" tIns="0" rIns="0" bIns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185" name="矩形 15"/>
            <p:cNvSpPr/>
            <p:nvPr/>
          </p:nvSpPr>
          <p:spPr>
            <a:xfrm>
              <a:off x="7572396" y="3714752"/>
              <a:ext cx="1143008" cy="57150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0" tIns="0" rIns="0" bIns="0" anchor="ctr" anchorCtr="0"/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kumimoji="1"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kumimoji="1"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kumimoji="1"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3175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FontTx/>
                <a:buNone/>
              </a:pPr>
              <a:r>
                <a:rPr lang="zh-CN" altLang="en-US" sz="2800" dirty="0">
                  <a:latin typeface="Arial" panose="020B0604020202020204" pitchFamily="34" charset="0"/>
                </a:rPr>
                <a:t>父查询</a:t>
              </a:r>
              <a:endParaRPr lang="zh-CN" altLang="en-US" sz="2800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>
    <p:random/>
    <p:sndAc>
      <p:stSnd>
        <p:snd r:embed="rId3" name="CAMERA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9378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5" y="142875"/>
            <a:ext cx="8786813" cy="6238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1) 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带有</a:t>
            </a: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IN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的子查询</a:t>
            </a:r>
            <a:endParaRPr kumimoji="1" lang="zh-CN" altLang="en-US" sz="40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120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>
                <a:latin typeface="Arial" panose="020B0604020202020204" pitchFamily="34" charset="0"/>
              </a:rPr>
              <a:t>父查询和子查询中的表均可定义别名。</a:t>
            </a:r>
            <a:endParaRPr lang="zh-CN" altLang="en-US" dirty="0"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dirty="0">
                <a:latin typeface="Arial" panose="020B0604020202020204" pitchFamily="34" charset="0"/>
              </a:rPr>
              <a:t>    </a:t>
            </a:r>
            <a:r>
              <a:rPr lang="en-US" altLang="zh-CN" dirty="0">
                <a:latin typeface="Arial" panose="020B0604020202020204" pitchFamily="34" charset="0"/>
              </a:rPr>
              <a:t>SELECT   Sno, Sname, Sdept</a:t>
            </a:r>
            <a:endParaRPr lang="en-US" altLang="zh-CN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dirty="0">
                <a:latin typeface="Arial" panose="020B0604020202020204" pitchFamily="34" charset="0"/>
              </a:rPr>
              <a:t>    FROM   S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</a:t>
            </a:r>
            <a:r>
              <a:rPr lang="en-US" altLang="zh-CN" dirty="0">
                <a:solidFill>
                  <a:srgbClr val="CC3300"/>
                </a:solidFill>
                <a:latin typeface="Arial" panose="020B0604020202020204" pitchFamily="34" charset="0"/>
              </a:rPr>
              <a:t>S1</a:t>
            </a:r>
            <a:endParaRPr lang="en-US" altLang="zh-CN" dirty="0">
              <a:solidFill>
                <a:srgbClr val="CC3300"/>
              </a:solidFill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  </a:t>
            </a:r>
            <a:r>
              <a:rPr lang="en-US" altLang="zh-CN" dirty="0">
                <a:latin typeface="Arial" panose="020B0604020202020204" pitchFamily="34" charset="0"/>
              </a:rPr>
              <a:t>WHERE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 </a:t>
            </a:r>
            <a:r>
              <a:rPr lang="en-US" altLang="zh-CN" dirty="0">
                <a:solidFill>
                  <a:srgbClr val="CC3300"/>
                </a:solidFill>
                <a:latin typeface="Arial" panose="020B0604020202020204" pitchFamily="34" charset="0"/>
              </a:rPr>
              <a:t>S1</a:t>
            </a:r>
            <a:r>
              <a:rPr lang="en-US" altLang="zh-CN" dirty="0">
                <a:latin typeface="Arial" panose="020B0604020202020204" pitchFamily="34" charset="0"/>
              </a:rPr>
              <a:t>.Sdept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IN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        (SELECT  Sdept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         FROM   S  </a:t>
            </a:r>
            <a:r>
              <a:rPr lang="en-US" altLang="zh-CN" dirty="0">
                <a:solidFill>
                  <a:srgbClr val="CC6600"/>
                </a:solidFill>
                <a:latin typeface="Arial" panose="020B0604020202020204" pitchFamily="34" charset="0"/>
              </a:rPr>
              <a:t>S2</a:t>
            </a:r>
            <a:endParaRPr lang="en-US" altLang="zh-CN" dirty="0">
              <a:solidFill>
                <a:srgbClr val="CC6600"/>
              </a:solidFill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         WHERE  </a:t>
            </a:r>
            <a:r>
              <a:rPr lang="en-US" altLang="zh-CN" dirty="0">
                <a:solidFill>
                  <a:srgbClr val="CC6600"/>
                </a:solidFill>
                <a:latin typeface="Arial" panose="020B0604020202020204" pitchFamily="34" charset="0"/>
              </a:rPr>
              <a:t>S2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.Sname = '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刘晨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'  )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；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>
              <a:buNone/>
            </a:pP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sz="3200" dirty="0">
                <a:latin typeface="Arial" panose="020B0604020202020204" pitchFamily="34" charset="0"/>
              </a:rPr>
              <a:t>查询选修了课程名为“数据库原理”的学生学号和姓名。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latinLnBrk="0">
              <a:lnSpc>
                <a:spcPts val="4300"/>
              </a:lnSpc>
              <a:spcBef>
                <a:spcPts val="600"/>
              </a:spcBef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</a:t>
            </a:r>
            <a:r>
              <a:rPr lang="en-US" altLang="zh-CN" sz="3200" dirty="0">
                <a:latin typeface="Arial" panose="020B0604020202020204" pitchFamily="34" charset="0"/>
              </a:rPr>
              <a:t>SELECT  Sno,  Sname  FROM  S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latinLnBrk="0">
              <a:lnSpc>
                <a:spcPts val="4300"/>
              </a:lnSpc>
              <a:spcBef>
                <a:spcPts val="600"/>
              </a:spcBef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WHERE  Sno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IN</a:t>
            </a:r>
            <a:endParaRPr lang="en-US" altLang="zh-CN" sz="3200" dirty="0">
              <a:solidFill>
                <a:srgbClr val="FF3300"/>
              </a:solidFill>
              <a:latin typeface="Arial" panose="020B0604020202020204" pitchFamily="34" charset="0"/>
            </a:endParaRPr>
          </a:p>
          <a:p>
            <a:pPr latinLnBrk="0">
              <a:lnSpc>
                <a:spcPts val="4300"/>
              </a:lnSpc>
              <a:spcBef>
                <a:spcPts val="600"/>
              </a:spcBef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       (SELECT  Sno  FROM  SC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latinLnBrk="0">
              <a:lnSpc>
                <a:spcPts val="4300"/>
              </a:lnSpc>
              <a:spcBef>
                <a:spcPts val="600"/>
              </a:spcBef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         WHERE  Cno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  IN</a:t>
            </a:r>
            <a:endParaRPr lang="en-US" altLang="zh-CN" sz="3200" dirty="0">
              <a:solidFill>
                <a:srgbClr val="FF3300"/>
              </a:solidFill>
              <a:latin typeface="Arial" panose="020B0604020202020204" pitchFamily="34" charset="0"/>
            </a:endParaRPr>
          </a:p>
          <a:p>
            <a:pPr latinLnBrk="0">
              <a:lnSpc>
                <a:spcPts val="4300"/>
              </a:lnSpc>
              <a:spcBef>
                <a:spcPts val="600"/>
              </a:spcBef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            </a:t>
            </a:r>
            <a:r>
              <a:rPr lang="en-US" altLang="zh-CN" sz="3200" dirty="0">
                <a:solidFill>
                  <a:srgbClr val="C00000"/>
                </a:solidFill>
                <a:latin typeface="Arial" panose="020B0604020202020204" pitchFamily="34" charset="0"/>
              </a:rPr>
              <a:t>(SELECT  Cno  FROM  C</a:t>
            </a:r>
            <a:endParaRPr lang="en-US" altLang="zh-CN" sz="3200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 latinLnBrk="0">
              <a:lnSpc>
                <a:spcPts val="4300"/>
              </a:lnSpc>
              <a:spcBef>
                <a:spcPts val="600"/>
              </a:spcBef>
              <a:buNone/>
            </a:pPr>
            <a:r>
              <a:rPr lang="en-US" altLang="zh-CN" sz="3200" dirty="0">
                <a:solidFill>
                  <a:srgbClr val="C00000"/>
                </a:solidFill>
                <a:latin typeface="Arial" panose="020B0604020202020204" pitchFamily="34" charset="0"/>
              </a:rPr>
              <a:t>                WHERE Cname = '</a:t>
            </a:r>
            <a:r>
              <a:rPr lang="zh-CN" altLang="en-US" sz="3200" dirty="0">
                <a:solidFill>
                  <a:srgbClr val="C00000"/>
                </a:solidFill>
                <a:latin typeface="Arial" panose="020B0604020202020204" pitchFamily="34" charset="0"/>
              </a:rPr>
              <a:t>数据库原理</a:t>
            </a:r>
            <a:r>
              <a:rPr lang="en-US" altLang="zh-CN" sz="3200" dirty="0">
                <a:solidFill>
                  <a:srgbClr val="C00000"/>
                </a:solidFill>
                <a:latin typeface="Arial" panose="020B0604020202020204" pitchFamily="34" charset="0"/>
              </a:rPr>
              <a:t>'</a:t>
            </a:r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rgbClr val="C00000"/>
                </a:solidFill>
                <a:latin typeface="Arial" panose="020B0604020202020204" pitchFamily="34" charset="0"/>
              </a:rPr>
              <a:t>)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);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>
              <a:spcBef>
                <a:spcPts val="1800"/>
              </a:spcBef>
            </a:pPr>
            <a:r>
              <a:rPr lang="zh-CN" altLang="en-US" sz="3200" dirty="0">
                <a:latin typeface="Arial" panose="020B0604020202020204" pitchFamily="34" charset="0"/>
              </a:rPr>
              <a:t>层层嵌套方式反映了</a:t>
            </a:r>
            <a:r>
              <a:rPr lang="en-US" altLang="zh-CN" sz="3200" dirty="0">
                <a:latin typeface="Arial" panose="020B0604020202020204" pitchFamily="34" charset="0"/>
              </a:rPr>
              <a:t>SQL</a:t>
            </a:r>
            <a:r>
              <a:rPr lang="zh-CN" altLang="en-US" sz="3200" dirty="0">
                <a:latin typeface="Arial" panose="020B0604020202020204" pitchFamily="34" charset="0"/>
              </a:rPr>
              <a:t>语言的结构化特点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  <a:buNone/>
            </a:pP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5" y="142875"/>
            <a:ext cx="8786813" cy="6238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1) 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带有</a:t>
            </a: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IN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的子查询</a:t>
            </a:r>
            <a:endParaRPr kumimoji="1" lang="zh-CN" altLang="en-US" sz="40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>
                <a:latin typeface="Arial" panose="020B0604020202020204" pitchFamily="34" charset="0"/>
              </a:rPr>
              <a:t>用连接实现前述查询</a:t>
            </a:r>
            <a:endParaRPr lang="zh-CN" altLang="en-US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zh-CN" altLang="en-US" dirty="0">
                <a:latin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</a:rPr>
              <a:t>SELECT  Sno, Sname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latinLnBrk="0">
              <a:lnSpc>
                <a:spcPts val="4300"/>
              </a:lnSpc>
              <a:spcBef>
                <a:spcPts val="600"/>
              </a:spcBef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FROM  S, SC, C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latinLnBrk="0">
              <a:lnSpc>
                <a:spcPts val="4300"/>
              </a:lnSpc>
              <a:spcBef>
                <a:spcPts val="600"/>
              </a:spcBef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WHERE  S.Sno = SC.Sno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latinLnBrk="0">
              <a:lnSpc>
                <a:spcPts val="4300"/>
              </a:lnSpc>
              <a:spcBef>
                <a:spcPts val="600"/>
              </a:spcBef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             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AND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</a:rPr>
              <a:t>SC.Cno = C.Cno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latinLnBrk="0">
              <a:lnSpc>
                <a:spcPts val="4300"/>
              </a:lnSpc>
              <a:spcBef>
                <a:spcPts val="600"/>
              </a:spcBef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             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AND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</a:rPr>
              <a:t>C.Cname = '</a:t>
            </a:r>
            <a:r>
              <a:rPr lang="zh-CN" altLang="en-US" sz="3200" dirty="0">
                <a:latin typeface="Arial" panose="020B0604020202020204" pitchFamily="34" charset="0"/>
              </a:rPr>
              <a:t>数据库原理 </a:t>
            </a:r>
            <a:r>
              <a:rPr lang="en-US" altLang="zh-CN" sz="3200" dirty="0">
                <a:latin typeface="Arial" panose="020B0604020202020204" pitchFamily="34" charset="0"/>
              </a:rPr>
              <a:t>'  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buNone/>
            </a:pP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5" y="142875"/>
            <a:ext cx="8786813" cy="6238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1) 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带有</a:t>
            </a: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IN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的子查询</a:t>
            </a:r>
            <a:endParaRPr kumimoji="1" lang="zh-CN" altLang="en-US" sz="4000" b="1" i="0" u="none" strike="noStrike" kern="0" cap="none" spc="0" normalizeH="0" baseline="0" noProof="0" dirty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75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2) 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带有比较运算符的子查询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7757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>
                <a:latin typeface="Arial" panose="020B0604020202020204" pitchFamily="34" charset="0"/>
              </a:rPr>
              <a:t>当能确定子查询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返回单值</a:t>
            </a:r>
            <a:r>
              <a:rPr lang="zh-CN" altLang="en-US" dirty="0">
                <a:latin typeface="Arial" panose="020B0604020202020204" pitchFamily="34" charset="0"/>
              </a:rPr>
              <a:t>时，可用比较运算符</a:t>
            </a:r>
            <a:r>
              <a:rPr lang="en-US" altLang="zh-CN" dirty="0">
                <a:latin typeface="Arial" panose="020B0604020202020204" pitchFamily="34" charset="0"/>
              </a:rPr>
              <a:t>( &gt;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&lt;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=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&gt;=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&lt;=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!=</a:t>
            </a:r>
            <a:r>
              <a:rPr lang="zh-CN" altLang="en-US" dirty="0">
                <a:latin typeface="Arial" panose="020B0604020202020204" pitchFamily="34" charset="0"/>
              </a:rPr>
              <a:t>或</a:t>
            </a:r>
            <a:r>
              <a:rPr lang="en-US" altLang="zh-CN" dirty="0">
                <a:latin typeface="Arial" panose="020B0604020202020204" pitchFamily="34" charset="0"/>
              </a:rPr>
              <a:t>&lt; &gt; ) </a:t>
            </a:r>
            <a:r>
              <a:rPr lang="zh-CN" altLang="en-US" dirty="0">
                <a:latin typeface="Arial" panose="020B0604020202020204" pitchFamily="34" charset="0"/>
              </a:rPr>
              <a:t>。</a:t>
            </a:r>
            <a:endParaRPr lang="zh-CN" altLang="en-US" dirty="0">
              <a:latin typeface="Arial" panose="020B0604020202020204" pitchFamily="34" charset="0"/>
            </a:endParaRPr>
          </a:p>
          <a:p>
            <a:endParaRPr lang="zh-CN" altLang="en-US" sz="2400" dirty="0">
              <a:latin typeface="Arial" panose="020B0604020202020204" pitchFamily="34" charset="0"/>
            </a:endParaRPr>
          </a:p>
          <a:p>
            <a:r>
              <a:rPr lang="zh-CN" altLang="en-US" sz="3200" dirty="0">
                <a:latin typeface="Arial" panose="020B0604020202020204" pitchFamily="34" charset="0"/>
              </a:rPr>
              <a:t>举例：查询与“刘晨”在同一个系学习的学生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  <a:p>
            <a:pPr>
              <a:buFont typeface="宋体" panose="02010600030101010101" pitchFamily="2" charset="-122"/>
              <a:buNone/>
            </a:pPr>
            <a:r>
              <a:rPr lang="zh-CN" altLang="en-US" dirty="0">
                <a:latin typeface="Arial" panose="020B0604020202020204" pitchFamily="34" charset="0"/>
              </a:rPr>
              <a:t>     </a:t>
            </a:r>
            <a:r>
              <a:rPr lang="en-US" altLang="zh-CN" sz="3200" dirty="0">
                <a:latin typeface="Arial" panose="020B0604020202020204" pitchFamily="34" charset="0"/>
              </a:rPr>
              <a:t>SELECT  Sno, Sname, Sdept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buFont typeface="宋体" panose="02010600030101010101" pitchFamily="2" charset="-122"/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FROM S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buFont typeface="宋体" panose="02010600030101010101" pitchFamily="2" charset="-122"/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WHERE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Sdept =</a:t>
            </a:r>
            <a:endParaRPr lang="en-US" altLang="zh-CN" sz="3200" dirty="0">
              <a:solidFill>
                <a:srgbClr val="FF3300"/>
              </a:solidFill>
              <a:latin typeface="Arial" panose="020B0604020202020204" pitchFamily="34" charset="0"/>
            </a:endParaRPr>
          </a:p>
          <a:p>
            <a:pPr>
              <a:buFont typeface="宋体" panose="02010600030101010101" pitchFamily="2" charset="-122"/>
              <a:buNone/>
            </a:pP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</a:rPr>
              <a:t>          ( SELECT  Sdept</a:t>
            </a:r>
            <a:endParaRPr lang="en-US" altLang="zh-CN" sz="320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>
              <a:buFont typeface="宋体" panose="02010600030101010101" pitchFamily="2" charset="-122"/>
              <a:buNone/>
            </a:pP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</a:rPr>
              <a:t>            FROM    S</a:t>
            </a:r>
            <a:endParaRPr lang="en-US" altLang="zh-CN" sz="320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>
              <a:buFont typeface="宋体" panose="02010600030101010101" pitchFamily="2" charset="-122"/>
              <a:buNone/>
            </a:pP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</a:rPr>
              <a:t>            WHERE  Sname= '</a:t>
            </a: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</a:rPr>
              <a:t>刘晨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</a:rPr>
              <a:t>' )</a:t>
            </a: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</a:rPr>
              <a:t>；</a:t>
            </a:r>
            <a:endParaRPr lang="zh-CN" altLang="en-US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877572" name="AutoShape 4"/>
          <p:cNvSpPr/>
          <p:nvPr/>
        </p:nvSpPr>
        <p:spPr>
          <a:xfrm>
            <a:off x="5832475" y="3716338"/>
            <a:ext cx="3203575" cy="1077912"/>
          </a:xfrm>
          <a:prstGeom prst="wedgeRectCallout">
            <a:avLst>
              <a:gd name="adj1" fmla="val -99366"/>
              <a:gd name="adj2" fmla="val 3736"/>
            </a:avLst>
          </a:prstGeom>
          <a:solidFill>
            <a:srgbClr val="FFFF99"/>
          </a:solidFill>
          <a:ln w="12700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kumimoji="1"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kumimoji="1"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kumimoji="1"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3175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ClrTx/>
              <a:buSzTx/>
              <a:buFontTx/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子查询一定要在比较运算符之后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71">
                                            <p:txEl>
                                              <p:charRg st="46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71">
                                            <p:txEl>
                                              <p:charRg st="68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71">
                                            <p:txEl>
                                              <p:charRg st="99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71">
                                            <p:txEl>
                                              <p:charRg st="111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71">
                                            <p:txEl>
                                              <p:charRg st="131" end="1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71">
                                            <p:txEl>
                                              <p:charRg st="157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71">
                                            <p:txEl>
                                              <p:charRg st="179" end="2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7571" grpId="0" build="p"/>
      <p:bldP spid="87757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961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3) 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带有</a:t>
            </a: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SOME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或</a:t>
            </a: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ALL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的子查询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5299" name="Rectangle 3"/>
          <p:cNvSpPr>
            <a:spLocks noGrp="1"/>
          </p:cNvSpPr>
          <p:nvPr>
            <p:ph idx="1"/>
          </p:nvPr>
        </p:nvSpPr>
        <p:spPr>
          <a:xfrm>
            <a:off x="152400" y="1214438"/>
            <a:ext cx="8848725" cy="5232400"/>
          </a:xfrm>
        </p:spPr>
        <p:txBody>
          <a:bodyPr vert="horz" wrap="square" lIns="91440" tIns="45720" rIns="91440" bIns="45720" anchor="t" anchorCtr="0"/>
          <a:p>
            <a:pPr>
              <a:lnSpc>
                <a:spcPts val="4700"/>
              </a:lnSpc>
            </a:pPr>
            <a:r>
              <a:rPr lang="zh-CN" altLang="en-US" sz="3200" dirty="0">
                <a:latin typeface="Arial" panose="020B0604020202020204" pitchFamily="34" charset="0"/>
              </a:rPr>
              <a:t>如子查询返回一个</a:t>
            </a:r>
            <a:r>
              <a:rPr lang="zh-CN" altLang="en-US" sz="3200" dirty="0">
                <a:solidFill>
                  <a:srgbClr val="0033CC"/>
                </a:solidFill>
                <a:latin typeface="Arial" panose="020B0604020202020204" pitchFamily="34" charset="0"/>
              </a:rPr>
              <a:t>单列多行</a:t>
            </a:r>
            <a:r>
              <a:rPr lang="zh-CN" altLang="en-US" sz="3200" dirty="0">
                <a:latin typeface="Arial" panose="020B0604020202020204" pitchFamily="34" charset="0"/>
              </a:rPr>
              <a:t>的表，则需使用</a:t>
            </a:r>
            <a:r>
              <a:rPr lang="en-US" altLang="zh-CN" sz="3200" dirty="0">
                <a:latin typeface="Arial" panose="020B0604020202020204" pitchFamily="34" charset="0"/>
              </a:rPr>
              <a:t>SOME</a:t>
            </a:r>
            <a:r>
              <a:rPr lang="zh-CN" altLang="en-US" sz="3200" dirty="0">
                <a:latin typeface="Arial" panose="020B0604020202020204" pitchFamily="34" charset="0"/>
              </a:rPr>
              <a:t>和</a:t>
            </a:r>
            <a:r>
              <a:rPr lang="en-US" altLang="zh-CN" sz="3200" dirty="0">
                <a:latin typeface="Arial" panose="020B0604020202020204" pitchFamily="34" charset="0"/>
              </a:rPr>
              <a:t>ALL</a:t>
            </a:r>
            <a:r>
              <a:rPr lang="zh-CN" altLang="en-US" sz="3200" dirty="0">
                <a:latin typeface="Arial" panose="020B0604020202020204" pitchFamily="34" charset="0"/>
              </a:rPr>
              <a:t>修饰符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spcBef>
                <a:spcPts val="1800"/>
              </a:spcBef>
            </a:pPr>
            <a:r>
              <a:rPr lang="zh-CN" altLang="en-US" sz="3200" dirty="0">
                <a:latin typeface="Arial" panose="020B0604020202020204" pitchFamily="34" charset="0"/>
              </a:rPr>
              <a:t>语义：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</a:rPr>
              <a:t>SOME</a:t>
            </a:r>
            <a:r>
              <a:rPr lang="zh-CN" altLang="en-US" dirty="0">
                <a:latin typeface="Arial" panose="020B0604020202020204" pitchFamily="34" charset="0"/>
              </a:rPr>
              <a:t>：集合中的某一个元素</a:t>
            </a:r>
            <a:endParaRPr lang="zh-CN" altLang="en-US" dirty="0">
              <a:latin typeface="Arial" panose="020B0604020202020204" pitchFamily="34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</a:rPr>
              <a:t>ALL</a:t>
            </a:r>
            <a:r>
              <a:rPr lang="zh-CN" altLang="en-US" dirty="0">
                <a:latin typeface="Arial" panose="020B0604020202020204" pitchFamily="34" charset="0"/>
              </a:rPr>
              <a:t>：集合中的所有元素</a:t>
            </a:r>
            <a:endParaRPr lang="zh-CN" altLang="en-US" dirty="0"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  <a:buFont typeface="宋体" panose="02010600030101010101" pitchFamily="2" charset="-122"/>
              <a:buChar char="●"/>
            </a:pPr>
            <a:endParaRPr lang="zh-CN" altLang="en-US" dirty="0"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  <a:buFont typeface="宋体" panose="02010600030101010101" pitchFamily="2" charset="-122"/>
              <a:buNone/>
            </a:pP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4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3) 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带有</a:t>
            </a: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SOME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或</a:t>
            </a: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ALL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的子查询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6323" name="Rectangle 3"/>
          <p:cNvSpPr>
            <a:spLocks noGrp="1"/>
          </p:cNvSpPr>
          <p:nvPr>
            <p:ph idx="1"/>
          </p:nvPr>
        </p:nvSpPr>
        <p:spPr>
          <a:xfrm>
            <a:off x="395288" y="908050"/>
            <a:ext cx="8532812" cy="5653088"/>
          </a:xfrm>
        </p:spPr>
        <p:txBody>
          <a:bodyPr vert="horz" wrap="square" lIns="91440" tIns="45720" rIns="91440" bIns="45720" anchor="t" anchorCtr="0"/>
          <a:p>
            <a:pPr>
              <a:buFont typeface="Wingdings" panose="05000000000000000000" charset="0"/>
              <a:buChar char="n"/>
            </a:pPr>
            <a:r>
              <a:rPr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需要与比较运算符配合使用：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>
              <a:lnSpc>
                <a:spcPts val="4340"/>
              </a:lnSpc>
              <a:buNone/>
            </a:pP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SOME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大于子查询结果中的</a:t>
            </a:r>
            <a:r>
              <a:rPr lang="zh-CN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某个值</a:t>
            </a:r>
            <a:endParaRPr lang="zh-CN" alt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>
              <a:lnSpc>
                <a:spcPts val="4340"/>
              </a:lnSpc>
              <a:buNone/>
            </a:pP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ALL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大于子查询结果中的</a:t>
            </a:r>
            <a:r>
              <a:rPr lang="zh-CN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所有值</a:t>
            </a:r>
            <a:endParaRPr lang="zh-CN" alt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>
              <a:lnSpc>
                <a:spcPts val="4340"/>
              </a:lnSpc>
              <a:buNone/>
            </a:pP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SOME 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小于子查询结果中的某个值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>
              <a:lnSpc>
                <a:spcPts val="4340"/>
              </a:lnSpc>
              <a:buNone/>
            </a:pP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ALL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小于子查询结果中的所有值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>
              <a:lnSpc>
                <a:spcPts val="4340"/>
              </a:lnSpc>
              <a:buNone/>
            </a:pP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SOME 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等于子查询结果中的某个值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>
              <a:lnSpc>
                <a:spcPts val="4340"/>
              </a:lnSpc>
              <a:buNone/>
            </a:pP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ALL	</a:t>
            </a:r>
            <a:r>
              <a:rPr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等于子查询结果中的所有值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>
              <a:lnSpc>
                <a:spcPts val="4340"/>
              </a:lnSpc>
              <a:buNone/>
            </a:pPr>
            <a:r>
              <a:rPr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         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通常没有实际意义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>
              <a:lnSpc>
                <a:spcPts val="434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      (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&gt;=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  /  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&lt;=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   /  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!= 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)  +  (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166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带有</a:t>
            </a: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SOME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的子查询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endParaRPr kumimoji="1" lang="en-US" altLang="zh-CN" sz="4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81667" name="Rectangle 3"/>
          <p:cNvSpPr>
            <a:spLocks noGrp="1"/>
          </p:cNvSpPr>
          <p:nvPr>
            <p:ph idx="1"/>
          </p:nvPr>
        </p:nvSpPr>
        <p:spPr>
          <a:xfrm>
            <a:off x="152400" y="928688"/>
            <a:ext cx="8848725" cy="5581650"/>
          </a:xfrm>
        </p:spPr>
        <p:txBody>
          <a:bodyPr vert="horz" wrap="square" lIns="91440" tIns="45720" rIns="91440" bIns="45720" anchor="t" anchorCtr="0"/>
          <a:p>
            <a:r>
              <a:rPr lang="zh-CN" altLang="en-US" sz="3200" dirty="0">
                <a:latin typeface="Arial" panose="020B0604020202020204" pitchFamily="34" charset="0"/>
              </a:rPr>
              <a:t>查询其他系中比信息系</a:t>
            </a:r>
            <a:r>
              <a:rPr lang="zh-CN" altLang="en-US" sz="3200" dirty="0">
                <a:solidFill>
                  <a:srgbClr val="FF3300"/>
                </a:solidFill>
                <a:latin typeface="Arial" panose="020B0604020202020204" pitchFamily="34" charset="0"/>
              </a:rPr>
              <a:t>某</a:t>
            </a:r>
            <a:r>
              <a:rPr lang="zh-CN" altLang="en-US" sz="3200" dirty="0">
                <a:solidFill>
                  <a:srgbClr val="FF0000"/>
                </a:solidFill>
                <a:latin typeface="Arial" panose="020B0604020202020204" pitchFamily="34" charset="0"/>
              </a:rPr>
              <a:t>一个</a:t>
            </a:r>
            <a:r>
              <a:rPr lang="zh-CN" altLang="en-US" sz="3200" dirty="0">
                <a:latin typeface="Arial" panose="020B0604020202020204" pitchFamily="34" charset="0"/>
              </a:rPr>
              <a:t>学生年龄小的学生的姓名和年龄。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latinLnBrk="0">
              <a:lnSpc>
                <a:spcPts val="4340"/>
              </a:lnSpc>
              <a:spcBef>
                <a:spcPts val="1800"/>
              </a:spcBef>
              <a:buFont typeface="宋体" panose="02010600030101010101" pitchFamily="2" charset="-122"/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latin typeface="Arial" panose="020B0604020202020204" pitchFamily="34" charset="0"/>
              </a:rPr>
              <a:t>SELECT  Sname, Sage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latinLnBrk="0">
              <a:lnSpc>
                <a:spcPts val="4340"/>
              </a:lnSpc>
              <a:buFont typeface="宋体" panose="02010600030101010101" pitchFamily="2" charset="-122"/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FROM  S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latinLnBrk="0">
              <a:lnSpc>
                <a:spcPts val="4340"/>
              </a:lnSpc>
              <a:buFont typeface="宋体" panose="02010600030101010101" pitchFamily="2" charset="-122"/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WHERE  Sdept &lt;&gt; 'IS'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AND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latinLnBrk="0">
              <a:lnSpc>
                <a:spcPts val="4340"/>
              </a:lnSpc>
              <a:buFont typeface="宋体" panose="02010600030101010101" pitchFamily="2" charset="-122"/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            Sage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&lt;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SOME</a:t>
            </a:r>
            <a:endParaRPr lang="en-US" altLang="zh-CN" sz="3200" dirty="0">
              <a:solidFill>
                <a:srgbClr val="FF3300"/>
              </a:solidFill>
              <a:latin typeface="Arial" panose="020B0604020202020204" pitchFamily="34" charset="0"/>
            </a:endParaRPr>
          </a:p>
          <a:p>
            <a:pPr latinLnBrk="0">
              <a:lnSpc>
                <a:spcPts val="4340"/>
              </a:lnSpc>
              <a:buFont typeface="宋体" panose="02010600030101010101" pitchFamily="2" charset="-122"/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                 ( SELECT  Sage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latinLnBrk="0">
              <a:lnSpc>
                <a:spcPts val="4340"/>
              </a:lnSpc>
              <a:buFont typeface="宋体" panose="02010600030101010101" pitchFamily="2" charset="-122"/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                    FROM  S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latinLnBrk="0">
              <a:lnSpc>
                <a:spcPts val="4340"/>
              </a:lnSpc>
              <a:buFont typeface="宋体" panose="02010600030101010101" pitchFamily="2" charset="-122"/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                    WHERE Sdept = 'IS') ;  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sp>
        <p:nvSpPr>
          <p:cNvPr id="57348" name="AutoShape 4">
            <a:hlinkClick r:id="rId1" action="ppaction://hlinksldjump"/>
          </p:cNvPr>
          <p:cNvSpPr/>
          <p:nvPr/>
        </p:nvSpPr>
        <p:spPr>
          <a:xfrm>
            <a:off x="8423275" y="71438"/>
            <a:ext cx="684213" cy="333375"/>
          </a:xfrm>
          <a:prstGeom prst="chevron">
            <a:avLst>
              <a:gd name="adj" fmla="val 51309"/>
            </a:avLst>
          </a:prstGeom>
          <a:gradFill rotWithShape="1">
            <a:gsLst>
              <a:gs pos="0">
                <a:srgbClr val="FF3399"/>
              </a:gs>
              <a:gs pos="100000">
                <a:srgbClr val="B2246B"/>
              </a:gs>
            </a:gsLst>
            <a:path path="rect">
              <a:fillToRect l="50000" t="50000" r="50000" b="50000"/>
            </a:path>
            <a:tileRect/>
          </a:gradFill>
          <a:ln w="28575">
            <a:noFill/>
          </a:ln>
        </p:spPr>
        <p:txBody>
          <a:bodyPr wrap="none" lIns="0" tIns="0" rIns="0" bIns="0" anchor="ctr" anchorCtr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kumimoji="1"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kumimoji="1"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kumimoji="1"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3175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ClrTx/>
              <a:buSzTx/>
              <a:buFontTx/>
              <a:buNone/>
            </a:pPr>
            <a:endParaRPr lang="zh-CN" altLang="zh-CN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67">
                                            <p:txEl>
                                              <p:charRg st="127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67">
                                            <p:txEl>
                                              <p:charRg st="162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67">
                                            <p:txEl>
                                              <p:charRg st="193" end="2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67">
                                            <p:txEl>
                                              <p:charRg st="29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67">
                                            <p:txEl>
                                              <p:charRg st="53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67">
                                            <p:txEl>
                                              <p:charRg st="65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67">
                                            <p:txEl>
                                              <p:charRg st="96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1667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371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3) 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带有</a:t>
            </a: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SOME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或</a:t>
            </a: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ALL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的子查询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8371" name="Rectangle 3"/>
          <p:cNvSpPr>
            <a:spLocks noGrp="1"/>
          </p:cNvSpPr>
          <p:nvPr>
            <p:ph type="body" sz="half" idx="1"/>
          </p:nvPr>
        </p:nvSpPr>
        <p:spPr>
          <a:xfrm>
            <a:off x="152400" y="1016000"/>
            <a:ext cx="8740775" cy="5581650"/>
          </a:xfrm>
        </p:spPr>
        <p:txBody>
          <a:bodyPr vert="horz" wrap="square" lIns="91440" tIns="45720" rIns="91440" bIns="45720" anchor="t" anchorCtr="0"/>
          <a:p>
            <a:pPr latinLnBrk="0">
              <a:lnSpc>
                <a:spcPts val="4340"/>
              </a:lnSpc>
              <a:buClr>
                <a:srgbClr val="3333CC"/>
              </a:buClr>
              <a:buSzPct val="65000"/>
              <a:buFont typeface="Wingdings" panose="05000000000000000000" pitchFamily="2" charset="2"/>
            </a:pPr>
            <a:r>
              <a:rPr lang="en-US" altLang="zh-CN" sz="3200" dirty="0">
                <a:latin typeface="Arial" panose="020B0604020202020204" pitchFamily="34" charset="0"/>
              </a:rPr>
              <a:t>SOME</a:t>
            </a:r>
            <a:r>
              <a:rPr lang="zh-CN" altLang="en-US" sz="3200" dirty="0">
                <a:latin typeface="Arial" panose="020B0604020202020204" pitchFamily="34" charset="0"/>
              </a:rPr>
              <a:t>和</a:t>
            </a:r>
            <a:r>
              <a:rPr lang="en-US" altLang="zh-CN" sz="3200" dirty="0">
                <a:latin typeface="Arial" panose="020B0604020202020204" pitchFamily="34" charset="0"/>
              </a:rPr>
              <a:t>ALL</a:t>
            </a:r>
            <a:r>
              <a:rPr lang="zh-CN" altLang="en-US" sz="3200" dirty="0">
                <a:latin typeface="Arial" panose="020B0604020202020204" pitchFamily="34" charset="0"/>
              </a:rPr>
              <a:t>谓词可以</a:t>
            </a: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</a:rPr>
              <a:t>用聚集函数实现</a:t>
            </a:r>
            <a:endParaRPr lang="zh-CN" altLang="en-US" sz="3200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latinLnBrk="0">
              <a:lnSpc>
                <a:spcPts val="4340"/>
              </a:lnSpc>
              <a:buClr>
                <a:srgbClr val="3333CC"/>
              </a:buClr>
              <a:buSzPct val="65000"/>
              <a:buFont typeface="Wingdings" panose="05000000000000000000" pitchFamily="2" charset="2"/>
            </a:pPr>
            <a:r>
              <a:rPr lang="en-US" altLang="zh-CN" sz="3200" dirty="0">
                <a:latin typeface="Arial" panose="020B0604020202020204" pitchFamily="34" charset="0"/>
              </a:rPr>
              <a:t>SOME</a:t>
            </a:r>
            <a:r>
              <a:rPr lang="zh-CN" altLang="en-US" sz="3200" dirty="0">
                <a:latin typeface="Arial" panose="020B0604020202020204" pitchFamily="34" charset="0"/>
              </a:rPr>
              <a:t>与</a:t>
            </a:r>
            <a:r>
              <a:rPr lang="en-US" altLang="zh-CN" sz="3200" dirty="0">
                <a:latin typeface="Arial" panose="020B0604020202020204" pitchFamily="34" charset="0"/>
              </a:rPr>
              <a:t>ALL</a:t>
            </a:r>
            <a:r>
              <a:rPr lang="zh-CN" altLang="en-US" sz="3200" dirty="0">
                <a:latin typeface="Arial" panose="020B0604020202020204" pitchFamily="34" charset="0"/>
              </a:rPr>
              <a:t>与聚集函数及</a:t>
            </a:r>
            <a:r>
              <a:rPr lang="en-US" altLang="zh-CN" sz="3200" dirty="0">
                <a:latin typeface="Arial" panose="020B0604020202020204" pitchFamily="34" charset="0"/>
              </a:rPr>
              <a:t>IN</a:t>
            </a:r>
            <a:r>
              <a:rPr lang="zh-CN" altLang="en-US" sz="3200" dirty="0">
                <a:latin typeface="Arial" panose="020B0604020202020204" pitchFamily="34" charset="0"/>
              </a:rPr>
              <a:t>的对应关系</a:t>
            </a:r>
            <a:endParaRPr lang="zh-CN" altLang="en-US" dirty="0">
              <a:latin typeface="Arial" panose="020B0604020202020204" pitchFamily="34" charset="0"/>
            </a:endParaRPr>
          </a:p>
          <a:p>
            <a:pPr>
              <a:buClr>
                <a:srgbClr val="3333CC"/>
              </a:buClr>
              <a:buSzPct val="65000"/>
              <a:buFont typeface="Wingdings" panose="05000000000000000000" pitchFamily="2" charset="2"/>
            </a:pPr>
            <a:endParaRPr lang="zh-CN" altLang="en-US" dirty="0">
              <a:latin typeface="Arial" panose="020B0604020202020204" pitchFamily="34" charset="0"/>
            </a:endParaRPr>
          </a:p>
          <a:p>
            <a:pPr>
              <a:buClr>
                <a:srgbClr val="3333CC"/>
              </a:buClr>
              <a:buSzPct val="65000"/>
              <a:buFont typeface="Wingdings" panose="05000000000000000000" pitchFamily="2" charset="2"/>
            </a:pPr>
            <a:endParaRPr lang="zh-CN" altLang="en-US" dirty="0">
              <a:latin typeface="Arial" panose="020B0604020202020204" pitchFamily="34" charset="0"/>
            </a:endParaRPr>
          </a:p>
          <a:p>
            <a:pPr>
              <a:buClr>
                <a:srgbClr val="3333CC"/>
              </a:buClr>
              <a:buSzPct val="65000"/>
              <a:buFont typeface="Wingdings" panose="05000000000000000000" pitchFamily="2" charset="2"/>
            </a:pPr>
            <a:endParaRPr lang="zh-CN" altLang="en-US" dirty="0">
              <a:latin typeface="Arial" panose="020B0604020202020204" pitchFamily="34" charset="0"/>
            </a:endParaRPr>
          </a:p>
          <a:p>
            <a:pPr>
              <a:buClr>
                <a:srgbClr val="3333CC"/>
              </a:buClr>
              <a:buSzPct val="65000"/>
              <a:buFont typeface="Wingdings" panose="05000000000000000000" pitchFamily="2" charset="2"/>
            </a:pPr>
            <a:endParaRPr lang="zh-CN" altLang="en-US" dirty="0">
              <a:latin typeface="Arial" panose="020B0604020202020204" pitchFamily="34" charset="0"/>
            </a:endParaRPr>
          </a:p>
          <a:p>
            <a:pPr>
              <a:buClr>
                <a:srgbClr val="3333CC"/>
              </a:buClr>
              <a:buSzPct val="65000"/>
              <a:buFont typeface="Wingdings" panose="05000000000000000000" pitchFamily="2" charset="2"/>
            </a:pPr>
            <a:endParaRPr lang="zh-CN" altLang="en-US" sz="3200" dirty="0">
              <a:latin typeface="Arial" panose="020B0604020202020204" pitchFamily="34" charset="0"/>
            </a:endParaRPr>
          </a:p>
          <a:p>
            <a:pPr>
              <a:buClr>
                <a:srgbClr val="3333CC"/>
              </a:buClr>
              <a:buSzPct val="65000"/>
              <a:buFont typeface="Wingdings" panose="05000000000000000000" pitchFamily="2" charset="2"/>
            </a:pPr>
            <a:r>
              <a:rPr lang="zh-CN" altLang="en-US" sz="3200" dirty="0">
                <a:latin typeface="Arial" panose="020B0604020202020204" pitchFamily="34" charset="0"/>
              </a:rPr>
              <a:t>用聚集函数实现子查询通常比直接用</a:t>
            </a:r>
            <a:r>
              <a:rPr lang="en-US" altLang="zh-CN" sz="3200" dirty="0">
                <a:latin typeface="Arial" panose="020B0604020202020204" pitchFamily="34" charset="0"/>
              </a:rPr>
              <a:t>SOME</a:t>
            </a:r>
            <a:r>
              <a:rPr lang="zh-CN" altLang="en-US" sz="3200" dirty="0">
                <a:latin typeface="Arial" panose="020B0604020202020204" pitchFamily="34" charset="0"/>
              </a:rPr>
              <a:t>或</a:t>
            </a:r>
            <a:r>
              <a:rPr lang="en-US" altLang="zh-CN" sz="3200" dirty="0">
                <a:latin typeface="Arial" panose="020B0604020202020204" pitchFamily="34" charset="0"/>
              </a:rPr>
              <a:t>ALL</a:t>
            </a:r>
            <a:r>
              <a:rPr lang="zh-CN" altLang="en-US" sz="3200" dirty="0">
                <a:latin typeface="Arial" panose="020B0604020202020204" pitchFamily="34" charset="0"/>
              </a:rPr>
              <a:t>查询效率要高，因为前者通常能够减少比较次数。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graphicFrame>
        <p:nvGraphicFramePr>
          <p:cNvPr id="883751" name="Group 39"/>
          <p:cNvGraphicFramePr>
            <a:graphicFrameLocks noGrp="1"/>
          </p:cNvGraphicFramePr>
          <p:nvPr>
            <p:ph sz="half" idx="1"/>
            <p:custDataLst>
              <p:tags r:id="rId1"/>
            </p:custDataLst>
          </p:nvPr>
        </p:nvGraphicFramePr>
        <p:xfrm>
          <a:off x="179388" y="2214245"/>
          <a:ext cx="8818562" cy="2602230"/>
        </p:xfrm>
        <a:graphic>
          <a:graphicData uri="http://schemas.openxmlformats.org/drawingml/2006/table">
            <a:tbl>
              <a:tblPr/>
              <a:tblGrid>
                <a:gridCol w="1223962"/>
                <a:gridCol w="1085850"/>
                <a:gridCol w="1301750"/>
                <a:gridCol w="1301750"/>
                <a:gridCol w="1301750"/>
                <a:gridCol w="1301750"/>
                <a:gridCol w="1301750"/>
              </a:tblGrid>
              <a:tr h="709613">
                <a:tc>
                  <a:txBody>
                    <a:bodyPr/>
                    <a:lstStyle>
                      <a:lvl1pPr algn="l" eaLnBrk="0" hangingPunct="0"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defRPr kumimoji="1" sz="32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defRPr kumimoji="1" sz="2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6633"/>
                        </a:buClr>
                        <a:buSzPct val="65000"/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endParaRPr kumimoji="1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defRPr kumimoji="1" sz="32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defRPr kumimoji="1" sz="2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6633"/>
                        </a:buClr>
                        <a:buSzPct val="65000"/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=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defRPr kumimoji="1" sz="32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defRPr kumimoji="1" sz="2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6633"/>
                        </a:buClr>
                        <a:buSzPct val="65000"/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&lt;&gt;</a:t>
                      </a: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或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!=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defRPr kumimoji="1" sz="32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defRPr kumimoji="1" sz="2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6633"/>
                        </a:buClr>
                        <a:buSzPct val="65000"/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&lt;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defRPr kumimoji="1" sz="32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defRPr kumimoji="1" sz="2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6633"/>
                        </a:buClr>
                        <a:buSzPct val="65000"/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&lt;=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defRPr kumimoji="1" sz="32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defRPr kumimoji="1" sz="2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6633"/>
                        </a:buClr>
                        <a:buSzPct val="65000"/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&gt;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defRPr kumimoji="1" sz="32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defRPr kumimoji="1" sz="2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6633"/>
                        </a:buClr>
                        <a:buSzPct val="65000"/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&gt;=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881380">
                <a:tc>
                  <a:txBody>
                    <a:bodyPr/>
                    <a:lstStyle>
                      <a:lvl1pPr algn="l" eaLnBrk="0" hangingPunct="0"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defRPr kumimoji="1" sz="32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defRPr kumimoji="1" sz="2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6633"/>
                        </a:buClr>
                        <a:buSzPct val="65000"/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SOME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defRPr kumimoji="1" sz="32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defRPr kumimoji="1" sz="2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6633"/>
                        </a:buClr>
                        <a:buSzPct val="65000"/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IN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defRPr kumimoji="1" sz="32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defRPr kumimoji="1" sz="2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6633"/>
                        </a:buClr>
                        <a:buSzPct val="65000"/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—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defRPr kumimoji="1" sz="32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defRPr kumimoji="1" sz="2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6633"/>
                        </a:buClr>
                        <a:buSzPct val="65000"/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&lt;MAX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defRPr kumimoji="1" sz="32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defRPr kumimoji="1" sz="2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6633"/>
                        </a:buClr>
                        <a:buSzPct val="65000"/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&lt;=MAX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defRPr kumimoji="1" sz="32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defRPr kumimoji="1" sz="2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6633"/>
                        </a:buClr>
                        <a:buSzPct val="65000"/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&gt;MIN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defRPr kumimoji="1" sz="32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defRPr kumimoji="1" sz="2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6633"/>
                        </a:buClr>
                        <a:buSzPct val="65000"/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&gt;=MIN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010920">
                <a:tc>
                  <a:txBody>
                    <a:bodyPr/>
                    <a:lstStyle>
                      <a:lvl1pPr algn="l" eaLnBrk="0" hangingPunct="0"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defRPr kumimoji="1" sz="32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defRPr kumimoji="1" sz="2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6633"/>
                        </a:buClr>
                        <a:buSzPct val="65000"/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ALL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defRPr kumimoji="1" sz="32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defRPr kumimoji="1" sz="2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6633"/>
                        </a:buClr>
                        <a:buSzPct val="65000"/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—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defRPr kumimoji="1" sz="32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defRPr kumimoji="1" sz="2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6633"/>
                        </a:buClr>
                        <a:buSzPct val="65000"/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NOT IN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defRPr kumimoji="1" sz="32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defRPr kumimoji="1" sz="2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6633"/>
                        </a:buClr>
                        <a:buSzPct val="65000"/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&lt;MIN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defRPr kumimoji="1" sz="32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defRPr kumimoji="1" sz="2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6633"/>
                        </a:buClr>
                        <a:buSzPct val="65000"/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&lt;=MIN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defRPr kumimoji="1" sz="32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defRPr kumimoji="1" sz="2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6633"/>
                        </a:buClr>
                        <a:buSzPct val="65000"/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&gt;MAX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defRPr kumimoji="1" sz="32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defRPr kumimoji="1" sz="2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996633"/>
                        </a:buClr>
                        <a:buSzPct val="65000"/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5000"/>
                        <a:buFont typeface="Wingdings" panose="05000000000000000000" pitchFamily="2" charset="2"/>
                        <a:defRPr kumimoji="1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&gt;=MAX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random/>
    <p:sndAc>
      <p:stSnd>
        <p:snd r:embed="rId2" name="CAMERA.WAV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576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带有</a:t>
            </a: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SOME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的子查询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</a:t>
            </a:r>
            <a:endParaRPr kumimoji="1" lang="en-US" altLang="zh-CN" sz="4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85763" name="Rectangle 3"/>
          <p:cNvSpPr>
            <a:spLocks noGrp="1"/>
          </p:cNvSpPr>
          <p:nvPr>
            <p:ph idx="1"/>
          </p:nvPr>
        </p:nvSpPr>
        <p:spPr>
          <a:xfrm>
            <a:off x="152400" y="981075"/>
            <a:ext cx="8848725" cy="5581650"/>
          </a:xfrm>
        </p:spPr>
        <p:txBody>
          <a:bodyPr vert="horz" wrap="square" lIns="91440" tIns="45720" rIns="91440" bIns="45720" anchor="t" anchorCtr="0"/>
          <a:p>
            <a:r>
              <a:rPr lang="zh-CN" altLang="en-US" sz="3200" dirty="0">
                <a:latin typeface="Arial" panose="020B0604020202020204" pitchFamily="34" charset="0"/>
              </a:rPr>
              <a:t>查询其他系中比信息系</a:t>
            </a:r>
            <a:r>
              <a:rPr lang="zh-CN" altLang="en-US" sz="3200" dirty="0">
                <a:solidFill>
                  <a:srgbClr val="FF3300"/>
                </a:solidFill>
                <a:latin typeface="Arial" panose="020B0604020202020204" pitchFamily="34" charset="0"/>
              </a:rPr>
              <a:t>某</a:t>
            </a:r>
            <a:r>
              <a:rPr lang="zh-CN" altLang="en-US" sz="3200" dirty="0">
                <a:solidFill>
                  <a:srgbClr val="FF0000"/>
                </a:solidFill>
                <a:latin typeface="Arial" panose="020B0604020202020204" pitchFamily="34" charset="0"/>
              </a:rPr>
              <a:t>一个</a:t>
            </a:r>
            <a:r>
              <a:rPr lang="zh-CN" altLang="en-US" sz="3200" dirty="0">
                <a:latin typeface="Arial" panose="020B0604020202020204" pitchFamily="34" charset="0"/>
              </a:rPr>
              <a:t>学生年龄小的学生的姓名和年龄。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latinLnBrk="0">
              <a:lnSpc>
                <a:spcPts val="4340"/>
              </a:lnSpc>
              <a:spcBef>
                <a:spcPts val="1200"/>
              </a:spcBef>
              <a:buFont typeface="宋体" panose="02010600030101010101" pitchFamily="2" charset="-122"/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  </a:t>
            </a:r>
            <a:r>
              <a:rPr lang="en-US" altLang="zh-CN" sz="3200" dirty="0">
                <a:latin typeface="Arial" panose="020B0604020202020204" pitchFamily="34" charset="0"/>
              </a:rPr>
              <a:t>SELECT  Sname, Sage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latinLnBrk="0">
              <a:lnSpc>
                <a:spcPts val="4340"/>
              </a:lnSpc>
              <a:buFont typeface="宋体" panose="02010600030101010101" pitchFamily="2" charset="-122"/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FROM  S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latinLnBrk="0">
              <a:lnSpc>
                <a:spcPts val="4340"/>
              </a:lnSpc>
              <a:buFont typeface="宋体" panose="02010600030101010101" pitchFamily="2" charset="-122"/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WHERE  Sdept &lt;&gt; 'IS'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AND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latinLnBrk="0">
              <a:lnSpc>
                <a:spcPts val="4340"/>
              </a:lnSpc>
              <a:buFont typeface="宋体" panose="02010600030101010101" pitchFamily="2" charset="-122"/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              Sage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 &lt;</a:t>
            </a:r>
            <a:endParaRPr lang="en-US" altLang="zh-CN" sz="32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latinLnBrk="0">
              <a:lnSpc>
                <a:spcPts val="4340"/>
              </a:lnSpc>
              <a:buFont typeface="宋体" panose="02010600030101010101" pitchFamily="2" charset="-122"/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               (   SELECT  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MAX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(Sage)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latinLnBrk="0">
              <a:lnSpc>
                <a:spcPts val="4340"/>
              </a:lnSpc>
              <a:buFont typeface="宋体" panose="02010600030101010101" pitchFamily="2" charset="-122"/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                    FROM  S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latinLnBrk="0">
              <a:lnSpc>
                <a:spcPts val="4340"/>
              </a:lnSpc>
              <a:buFont typeface="宋体" panose="02010600030101010101" pitchFamily="2" charset="-122"/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                    WHERE  Sdept = 'IS') ;</a:t>
            </a:r>
            <a:r>
              <a:rPr lang="en-US" altLang="zh-CN" sz="3200" dirty="0">
                <a:latin typeface="Arial" panose="020B0604020202020204" pitchFamily="34" charset="0"/>
              </a:rPr>
              <a:t>  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  <p:sp>
        <p:nvSpPr>
          <p:cNvPr id="59396" name="AutoShape 4">
            <a:hlinkClick r:id="rId1" action="ppaction://hlinksldjump"/>
          </p:cNvPr>
          <p:cNvSpPr/>
          <p:nvPr/>
        </p:nvSpPr>
        <p:spPr>
          <a:xfrm flipH="1">
            <a:off x="8351838" y="71438"/>
            <a:ext cx="684212" cy="333375"/>
          </a:xfrm>
          <a:prstGeom prst="chevron">
            <a:avLst>
              <a:gd name="adj" fmla="val 51309"/>
            </a:avLst>
          </a:prstGeom>
          <a:gradFill rotWithShape="1">
            <a:gsLst>
              <a:gs pos="0">
                <a:srgbClr val="FF3399"/>
              </a:gs>
              <a:gs pos="100000">
                <a:srgbClr val="B2246B"/>
              </a:gs>
            </a:gsLst>
            <a:path path="rect">
              <a:fillToRect l="50000" t="50000" r="50000" b="50000"/>
            </a:path>
            <a:tileRect/>
          </a:gradFill>
          <a:ln w="28575">
            <a:noFill/>
          </a:ln>
        </p:spPr>
        <p:txBody>
          <a:bodyPr wrap="none" lIns="0" tIns="0" rIns="0" bIns="0" anchor="ctr" anchorCtr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kumimoji="1"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kumimoji="1"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kumimoji="1"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3175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ClrTx/>
              <a:buSzTx/>
              <a:buFontTx/>
              <a:buNone/>
            </a:pPr>
            <a:endParaRPr lang="zh-CN" altLang="zh-CN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763">
                                            <p:txEl>
                                              <p:charRg st="29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763">
                                            <p:txEl>
                                              <p:charRg st="53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763">
                                            <p:txEl>
                                              <p:charRg st="65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763">
                                            <p:txEl>
                                              <p:charRg st="96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763">
                                            <p:txEl>
                                              <p:charRg st="120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763">
                                            <p:txEl>
                                              <p:charRg st="160" end="1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763">
                                            <p:txEl>
                                              <p:charRg st="191" end="2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576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781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带有</a:t>
            </a: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ALL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的子查询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endParaRPr kumimoji="1" lang="en-US" altLang="zh-CN" sz="4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8781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sz="3200" dirty="0">
                <a:latin typeface="Arial" panose="020B0604020202020204" pitchFamily="34" charset="0"/>
              </a:rPr>
              <a:t>查询其他系中比信息系</a:t>
            </a:r>
            <a:r>
              <a:rPr lang="zh-CN" altLang="en-US" sz="3200" dirty="0">
                <a:solidFill>
                  <a:srgbClr val="FF0000"/>
                </a:solidFill>
                <a:latin typeface="Arial" panose="020B0604020202020204" pitchFamily="34" charset="0"/>
              </a:rPr>
              <a:t>所有</a:t>
            </a:r>
            <a:r>
              <a:rPr lang="zh-CN" altLang="en-US" sz="3200" dirty="0">
                <a:latin typeface="Arial" panose="020B0604020202020204" pitchFamily="34" charset="0"/>
              </a:rPr>
              <a:t>学生年龄</a:t>
            </a:r>
            <a:r>
              <a:rPr lang="zh-CN" altLang="en-US" sz="3200" dirty="0">
                <a:solidFill>
                  <a:srgbClr val="FF0000"/>
                </a:solidFill>
                <a:latin typeface="Arial" panose="020B0604020202020204" pitchFamily="34" charset="0"/>
              </a:rPr>
              <a:t>都</a:t>
            </a:r>
            <a:r>
              <a:rPr lang="zh-CN" altLang="en-US" sz="3200" dirty="0">
                <a:latin typeface="Arial" panose="020B0604020202020204" pitchFamily="34" charset="0"/>
              </a:rPr>
              <a:t>小的学生姓名及年龄。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方法一：用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ALL</a:t>
            </a:r>
            <a:r>
              <a:rPr lang="zh-CN" altLang="en-US" sz="3200" dirty="0">
                <a:latin typeface="Arial" panose="020B0604020202020204" pitchFamily="34" charset="0"/>
              </a:rPr>
              <a:t>修饰词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lvl="1" latinLnBrk="0">
              <a:lnSpc>
                <a:spcPts val="4140"/>
              </a:lnSpc>
              <a:spcBef>
                <a:spcPts val="1200"/>
              </a:spcBef>
              <a:buFont typeface="宋体" panose="02010600030101010101" pitchFamily="2" charset="-122"/>
              <a:buNone/>
            </a:pPr>
            <a:r>
              <a:rPr lang="en-US" altLang="zh-CN" dirty="0">
                <a:latin typeface="Arial" panose="020B0604020202020204" pitchFamily="34" charset="0"/>
              </a:rPr>
              <a:t>SELECT  Sname, Sage</a:t>
            </a:r>
            <a:endParaRPr lang="en-US" altLang="zh-CN" dirty="0">
              <a:latin typeface="Arial" panose="020B0604020202020204" pitchFamily="34" charset="0"/>
            </a:endParaRPr>
          </a:p>
          <a:p>
            <a:pPr lvl="1" latinLnBrk="0">
              <a:lnSpc>
                <a:spcPts val="4140"/>
              </a:lnSpc>
              <a:spcBef>
                <a:spcPct val="0"/>
              </a:spcBef>
              <a:buFont typeface="宋体" panose="02010600030101010101" pitchFamily="2" charset="-122"/>
              <a:buNone/>
            </a:pPr>
            <a:r>
              <a:rPr lang="en-US" altLang="zh-CN" dirty="0">
                <a:latin typeface="Arial" panose="020B0604020202020204" pitchFamily="34" charset="0"/>
              </a:rPr>
              <a:t>FROM  S</a:t>
            </a:r>
            <a:endParaRPr lang="en-US" altLang="zh-CN" dirty="0">
              <a:latin typeface="Arial" panose="020B0604020202020204" pitchFamily="34" charset="0"/>
            </a:endParaRPr>
          </a:p>
          <a:p>
            <a:pPr lvl="1" latinLnBrk="0">
              <a:lnSpc>
                <a:spcPts val="4140"/>
              </a:lnSpc>
              <a:spcBef>
                <a:spcPct val="0"/>
              </a:spcBef>
              <a:buFont typeface="宋体" panose="02010600030101010101" pitchFamily="2" charset="-122"/>
              <a:buNone/>
            </a:pPr>
            <a:r>
              <a:rPr lang="en-US" altLang="zh-CN" dirty="0">
                <a:latin typeface="Arial" panose="020B0604020202020204" pitchFamily="34" charset="0"/>
              </a:rPr>
              <a:t>WHERE  Sdept &lt;&gt; 'IS'</a:t>
            </a:r>
            <a:r>
              <a:rPr lang="en-US" altLang="zh-CN" dirty="0">
                <a:solidFill>
                  <a:srgbClr val="CC3300"/>
                </a:solidFill>
                <a:latin typeface="Arial" panose="020B0604020202020204" pitchFamily="34" charset="0"/>
              </a:rPr>
              <a:t>   AND</a:t>
            </a:r>
            <a:endParaRPr lang="en-US" altLang="zh-CN" dirty="0">
              <a:latin typeface="Arial" panose="020B0604020202020204" pitchFamily="34" charset="0"/>
            </a:endParaRPr>
          </a:p>
          <a:p>
            <a:pPr lvl="1" latinLnBrk="0">
              <a:lnSpc>
                <a:spcPts val="4140"/>
              </a:lnSpc>
              <a:spcBef>
                <a:spcPct val="0"/>
              </a:spcBef>
              <a:buFont typeface="宋体" panose="02010600030101010101" pitchFamily="2" charset="-122"/>
              <a:buNone/>
            </a:pPr>
            <a:r>
              <a:rPr lang="en-US" altLang="zh-CN" dirty="0">
                <a:latin typeface="Arial" panose="020B0604020202020204" pitchFamily="34" charset="0"/>
              </a:rPr>
              <a:t>             Sage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&lt; ALL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lvl="1" latinLnBrk="0">
              <a:lnSpc>
                <a:spcPts val="4140"/>
              </a:lnSpc>
              <a:spcBef>
                <a:spcPct val="0"/>
              </a:spcBef>
              <a:buFont typeface="宋体" panose="02010600030101010101" pitchFamily="2" charset="-122"/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               ( SELECT  Sage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lvl="1" latinLnBrk="0">
              <a:lnSpc>
                <a:spcPts val="4140"/>
              </a:lnSpc>
              <a:spcBef>
                <a:spcPct val="0"/>
              </a:spcBef>
              <a:buFont typeface="宋体" panose="02010600030101010101" pitchFamily="2" charset="-122"/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                  FROM  S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lvl="1" latinLnBrk="0">
              <a:lnSpc>
                <a:spcPts val="4140"/>
              </a:lnSpc>
              <a:spcBef>
                <a:spcPct val="0"/>
              </a:spcBef>
              <a:buFont typeface="宋体" panose="02010600030101010101" pitchFamily="2" charset="-122"/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                  WHERE  Sdept = 'IS') ;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charRg st="42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charRg st="62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charRg st="70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charRg st="97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charRg st="121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charRg st="153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charRg st="181" end="2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7811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190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4) 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带有</a:t>
            </a: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EXISTS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的子查询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000125"/>
            <a:ext cx="8848725" cy="55245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92075" marR="0" lvl="0" indent="-920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ourier New" panose="02070309020205020404" pitchFamily="49" charset="0"/>
              </a:rPr>
              <a:t>(1)  </a:t>
            </a: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ourier New" panose="02070309020205020404" pitchFamily="49" charset="0"/>
              </a:rPr>
              <a:t>EXISTS</a:t>
            </a:r>
            <a:endParaRPr kumimoji="1" lang="en-US" altLang="zh-CN" sz="36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Courier New" panose="02070309020205020404" pitchFamily="49" charset="0"/>
            </a:endParaRPr>
          </a:p>
          <a:p>
            <a:pPr marL="627380" marR="0" lvl="1" indent="-274955" algn="l" defTabSz="914400" rtl="0" latinLnBrk="0">
              <a:lnSpc>
                <a:spcPts val="4340"/>
              </a:lnSpc>
              <a:spcBef>
                <a:spcPts val="120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ourier New" panose="02070309020205020404" pitchFamily="49" charset="0"/>
              </a:rPr>
              <a:t>用于判断其后的子查询的结果集合是否为空</a:t>
            </a:r>
            <a:endParaRPr kumimoji="1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Courier New" panose="02070309020205020404" pitchFamily="49" charset="0"/>
            </a:endParaRPr>
          </a:p>
          <a:p>
            <a:pPr marL="811530" marR="0" lvl="1" indent="-269875" algn="l" defTabSz="914400" rtl="0" latinLnBrk="0">
              <a:lnSpc>
                <a:spcPts val="4340"/>
              </a:lnSpc>
              <a:spcBef>
                <a:spcPct val="1500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ourier New" panose="02070309020205020404" pitchFamily="49" charset="0"/>
              </a:rPr>
              <a:t>若查询结果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ourier New" panose="02070309020205020404" pitchFamily="49" charset="0"/>
              </a:rPr>
              <a:t>非空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ourier New" panose="02070309020205020404" pitchFamily="49" charset="0"/>
              </a:rPr>
              <a:t>，则返回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ourier New" panose="02070309020205020404" pitchFamily="49" charset="0"/>
              </a:rPr>
              <a:t>真值</a:t>
            </a:r>
            <a:endParaRPr kumimoji="1" lang="zh-CN" altLang="en-US" sz="3200" b="1" i="0" u="none" strike="noStrike" kern="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Courier New" panose="02070309020205020404" pitchFamily="49" charset="0"/>
            </a:endParaRPr>
          </a:p>
          <a:p>
            <a:pPr marL="811530" marR="0" lvl="1" indent="-269875" algn="l" defTabSz="914400" rtl="0" latinLnBrk="0">
              <a:lnSpc>
                <a:spcPts val="4340"/>
              </a:lnSpc>
              <a:spcBef>
                <a:spcPct val="1500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ourier New" panose="02070309020205020404" pitchFamily="49" charset="0"/>
              </a:rPr>
              <a:t>若查询结果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ourier New" panose="02070309020205020404" pitchFamily="49" charset="0"/>
              </a:rPr>
              <a:t>为空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ourier New" panose="02070309020205020404" pitchFamily="49" charset="0"/>
              </a:rPr>
              <a:t>，则返回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ourier New" panose="02070309020205020404" pitchFamily="49" charset="0"/>
              </a:rPr>
              <a:t>假值</a:t>
            </a:r>
            <a:endParaRPr kumimoji="1" lang="zh-CN" altLang="en-US" sz="3600" b="1" i="0" u="none" strike="noStrike" kern="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Courier New" panose="02070309020205020404" pitchFamily="49" charset="0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00000"/>
              </a:lnSpc>
              <a:spcBef>
                <a:spcPts val="36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宋体" panose="02010600030101010101" pitchFamily="2" charset="-122"/>
              <a:buNone/>
              <a:defRPr/>
            </a:pP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ourier New" panose="02070309020205020404" pitchFamily="49" charset="0"/>
              </a:rPr>
              <a:t>(2) </a:t>
            </a: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Courier New" panose="02070309020205020404" pitchFamily="49" charset="0"/>
              </a:rPr>
              <a:t>NOT EXISTS</a:t>
            </a:r>
            <a:endParaRPr kumimoji="1" lang="en-US" altLang="zh-CN" sz="36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29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带有</a:t>
            </a: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EXISTS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的子查询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endParaRPr kumimoji="1" lang="en-US" altLang="zh-CN" sz="4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246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</a:pPr>
            <a:r>
              <a:rPr lang="zh-CN" altLang="en-US" sz="3200" dirty="0">
                <a:latin typeface="Arial" panose="020B0604020202020204" pitchFamily="34" charset="0"/>
              </a:rPr>
              <a:t>查询选修了</a:t>
            </a:r>
            <a:r>
              <a:rPr lang="en-US" altLang="zh-CN" sz="3200" dirty="0">
                <a:latin typeface="Arial" panose="020B0604020202020204" pitchFamily="34" charset="0"/>
              </a:rPr>
              <a:t>C1</a:t>
            </a:r>
            <a:r>
              <a:rPr lang="zh-CN" altLang="en-US" sz="3200" dirty="0">
                <a:latin typeface="Arial" panose="020B0604020202020204" pitchFamily="34" charset="0"/>
              </a:rPr>
              <a:t>课程的所有学生的姓名。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  <a:buNone/>
            </a:pP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 </a:t>
            </a:r>
            <a:r>
              <a:rPr lang="zh-CN" altLang="en-US" sz="3200" dirty="0">
                <a:solidFill>
                  <a:srgbClr val="C00000"/>
                </a:solidFill>
                <a:latin typeface="Arial" panose="020B0604020202020204" pitchFamily="34" charset="0"/>
              </a:rPr>
              <a:t>方法一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：带有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IN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的子查询</a:t>
            </a:r>
            <a:r>
              <a:rPr lang="en-US" altLang="zh-CN" sz="3200" dirty="0">
                <a:latin typeface="Arial" panose="020B0604020202020204" pitchFamily="34" charset="0"/>
              </a:rPr>
              <a:t>(</a:t>
            </a:r>
            <a:r>
              <a:rPr lang="zh-CN" altLang="en-US" sz="3200" dirty="0">
                <a:solidFill>
                  <a:srgbClr val="C00000"/>
                </a:solidFill>
              </a:rPr>
              <a:t>不相关嵌套查询</a:t>
            </a:r>
            <a:r>
              <a:rPr lang="en-US" altLang="zh-CN" sz="3200" dirty="0"/>
              <a:t>)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latinLnBrk="0">
              <a:lnSpc>
                <a:spcPts val="4340"/>
              </a:lnSpc>
              <a:spcBef>
                <a:spcPts val="1800"/>
              </a:spcBef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SELECT  Sname 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latinLnBrk="0">
              <a:lnSpc>
                <a:spcPts val="4340"/>
              </a:lnSpc>
              <a:spcBef>
                <a:spcPts val="300"/>
              </a:spcBef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FROM  S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latinLnBrk="0">
              <a:lnSpc>
                <a:spcPts val="4340"/>
              </a:lnSpc>
              <a:spcBef>
                <a:spcPts val="300"/>
              </a:spcBef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 WHERE  Sno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3200" dirty="0">
                <a:solidFill>
                  <a:srgbClr val="FF3300"/>
                </a:solidFill>
                <a:latin typeface="Arial" panose="020B0604020202020204" pitchFamily="34" charset="0"/>
              </a:rPr>
              <a:t>IN</a:t>
            </a:r>
            <a:endParaRPr lang="en-US" altLang="zh-CN" sz="3200" dirty="0">
              <a:solidFill>
                <a:srgbClr val="FF3300"/>
              </a:solidFill>
              <a:latin typeface="Arial" panose="020B0604020202020204" pitchFamily="34" charset="0"/>
            </a:endParaRPr>
          </a:p>
          <a:p>
            <a:pPr latinLnBrk="0">
              <a:lnSpc>
                <a:spcPts val="4340"/>
              </a:lnSpc>
              <a:spcBef>
                <a:spcPts val="300"/>
              </a:spcBef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        ( SELECT  Sno 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latinLnBrk="0">
              <a:lnSpc>
                <a:spcPts val="4340"/>
              </a:lnSpc>
              <a:spcBef>
                <a:spcPts val="300"/>
              </a:spcBef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           FROM  SC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latinLnBrk="0">
              <a:lnSpc>
                <a:spcPts val="4340"/>
              </a:lnSpc>
              <a:spcBef>
                <a:spcPts val="300"/>
              </a:spcBef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           WHERE  Cno='C1' ) ;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zh-CN" altLang="en-US" dirty="0">
                <a:latin typeface="Arial" panose="020B0604020202020204" pitchFamily="34" charset="0"/>
              </a:rPr>
              <a:t>   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29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带有</a:t>
            </a: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EXISTS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的子查询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endParaRPr kumimoji="1" lang="en-US" altLang="zh-CN" sz="40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9293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</a:pPr>
            <a:r>
              <a:rPr lang="zh-CN" altLang="en-US" sz="3200" dirty="0">
                <a:latin typeface="Arial" panose="020B0604020202020204" pitchFamily="34" charset="0"/>
              </a:rPr>
              <a:t>查询选修了</a:t>
            </a:r>
            <a:r>
              <a:rPr lang="en-US" altLang="zh-CN" sz="3200" dirty="0">
                <a:latin typeface="Arial" panose="020B0604020202020204" pitchFamily="34" charset="0"/>
              </a:rPr>
              <a:t>C1</a:t>
            </a:r>
            <a:r>
              <a:rPr lang="zh-CN" altLang="en-US" sz="3200" dirty="0">
                <a:latin typeface="Arial" panose="020B0604020202020204" pitchFamily="34" charset="0"/>
              </a:rPr>
              <a:t>课程的所有学生的姓名。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latinLnBrk="0">
              <a:lnSpc>
                <a:spcPts val="4140"/>
              </a:lnSpc>
              <a:buNone/>
            </a:pPr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zh-CN" altLang="en-US" sz="3200" dirty="0">
                <a:solidFill>
                  <a:srgbClr val="C00000"/>
                </a:solidFill>
                <a:latin typeface="Arial" panose="020B0604020202020204" pitchFamily="34" charset="0"/>
              </a:rPr>
              <a:t>方法二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：</a:t>
            </a:r>
            <a:r>
              <a:rPr lang="zh-CN" altLang="en-US" sz="3200" dirty="0"/>
              <a:t>带有</a:t>
            </a:r>
            <a:r>
              <a:rPr lang="en-US" altLang="zh-CN" sz="3200" dirty="0">
                <a:latin typeface="Arial" panose="020B0604020202020204" pitchFamily="34" charset="0"/>
              </a:rPr>
              <a:t>EXISTS</a:t>
            </a:r>
            <a:r>
              <a:rPr lang="zh-CN" altLang="en-US" sz="3200" dirty="0"/>
              <a:t>的子查询</a:t>
            </a:r>
            <a:r>
              <a:rPr lang="en-US" altLang="zh-CN" sz="3200" dirty="0"/>
              <a:t>(</a:t>
            </a:r>
            <a:r>
              <a:rPr lang="zh-CN" altLang="en-US" sz="3200" dirty="0">
                <a:solidFill>
                  <a:srgbClr val="C00000"/>
                </a:solidFill>
              </a:rPr>
              <a:t>相关嵌套查询</a:t>
            </a:r>
            <a:r>
              <a:rPr lang="en-US" altLang="zh-CN" sz="3200" dirty="0"/>
              <a:t>)</a:t>
            </a:r>
            <a:endParaRPr lang="en-US" altLang="zh-CN" sz="3200" dirty="0"/>
          </a:p>
          <a:p>
            <a:pPr latinLnBrk="0">
              <a:lnSpc>
                <a:spcPts val="4140"/>
              </a:lnSpc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思想：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latinLnBrk="0">
              <a:lnSpc>
                <a:spcPts val="4140"/>
              </a:lnSpc>
              <a:spcBef>
                <a:spcPts val="1200"/>
              </a:spcBef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zh-CN" altLang="en-US" sz="3200" dirty="0">
                <a:latin typeface="Arial" panose="020B0604020202020204" pitchFamily="34" charset="0"/>
              </a:rPr>
              <a:t>对</a:t>
            </a:r>
            <a:r>
              <a:rPr lang="en-US" altLang="zh-CN" sz="3200" dirty="0">
                <a:latin typeface="Arial" panose="020B0604020202020204" pitchFamily="34" charset="0"/>
              </a:rPr>
              <a:t>S</a:t>
            </a:r>
            <a:r>
              <a:rPr lang="zh-CN" altLang="en-US" sz="3200" dirty="0">
                <a:latin typeface="Arial" panose="020B0604020202020204" pitchFamily="34" charset="0"/>
              </a:rPr>
              <a:t>表一个元组 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x</a:t>
            </a:r>
            <a:r>
              <a:rPr lang="en-US" altLang="zh-CN" sz="3200" dirty="0">
                <a:latin typeface="Arial" panose="020B0604020202020204" pitchFamily="34" charset="0"/>
              </a:rPr>
              <a:t>  </a:t>
            </a:r>
            <a:r>
              <a:rPr lang="zh-CN" altLang="en-US" sz="3200" dirty="0">
                <a:latin typeface="Arial" panose="020B0604020202020204" pitchFamily="34" charset="0"/>
              </a:rPr>
              <a:t>，如果选修</a:t>
            </a:r>
            <a:r>
              <a:rPr lang="en-US" altLang="zh-CN" sz="3200" dirty="0">
                <a:latin typeface="Arial" panose="020B0604020202020204" pitchFamily="34" charset="0"/>
              </a:rPr>
              <a:t>C1</a:t>
            </a:r>
            <a:r>
              <a:rPr lang="zh-CN" altLang="en-US" sz="3200" dirty="0">
                <a:latin typeface="Arial" panose="020B0604020202020204" pitchFamily="34" charset="0"/>
              </a:rPr>
              <a:t>课程，则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latinLnBrk="0">
              <a:lnSpc>
                <a:spcPts val="4140"/>
              </a:lnSpc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 (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SELECT 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 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FROM  SC 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latinLnBrk="0">
              <a:lnSpc>
                <a:spcPts val="4140"/>
              </a:lnSpc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 WHERE</a:t>
            </a:r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Sno=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x.Sno</a:t>
            </a:r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AND Cno=‘C1’</a:t>
            </a:r>
            <a:r>
              <a:rPr lang="en-US" altLang="zh-CN" sz="3200" dirty="0">
                <a:latin typeface="Arial" panose="020B0604020202020204" pitchFamily="34" charset="0"/>
              </a:rPr>
              <a:t>) </a:t>
            </a:r>
            <a:r>
              <a:rPr lang="zh-CN" altLang="en-US" sz="3200" dirty="0">
                <a:latin typeface="Arial" panose="020B0604020202020204" pitchFamily="34" charset="0"/>
              </a:rPr>
              <a:t>为非空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latinLnBrk="0">
              <a:lnSpc>
                <a:spcPts val="4140"/>
              </a:lnSpc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则有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latinLnBrk="0">
              <a:lnSpc>
                <a:spcPts val="4140"/>
              </a:lnSpc>
              <a:buNone/>
            </a:pPr>
            <a:r>
              <a:rPr lang="en-US" altLang="zh-CN" sz="3200" dirty="0">
                <a:solidFill>
                  <a:srgbClr val="CC3300"/>
                </a:solidFill>
                <a:latin typeface="Arial" panose="020B0604020202020204" pitchFamily="34" charset="0"/>
              </a:rPr>
              <a:t> EXISTS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(SELECT 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  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FROM  SC 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latinLnBrk="0">
              <a:lnSpc>
                <a:spcPts val="4140"/>
              </a:lnSpc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WHERE</a:t>
            </a:r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Sno=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x.Sno</a:t>
            </a:r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AND Cno=‘C1’) </a:t>
            </a:r>
            <a:r>
              <a:rPr lang="zh-CN" altLang="en-US" sz="3200" dirty="0">
                <a:latin typeface="Arial" panose="020B0604020202020204" pitchFamily="34" charset="0"/>
              </a:rPr>
              <a:t>返回真值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latinLnBrk="0">
              <a:lnSpc>
                <a:spcPts val="4140"/>
              </a:lnSpc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则可输出  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x.Sname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>
              <a:buNone/>
            </a:pPr>
            <a:endParaRPr lang="en-US" altLang="zh-CN" sz="3200" dirty="0">
              <a:latin typeface="Arial" panose="020B0604020202020204" pitchFamily="34" charset="0"/>
            </a:endParaRPr>
          </a:p>
          <a:p>
            <a:pPr>
              <a:buNone/>
            </a:pPr>
            <a:endParaRPr lang="en-US" altLang="zh-CN" sz="3200" dirty="0">
              <a:latin typeface="Arial" panose="020B0604020202020204" pitchFamily="34" charset="0"/>
            </a:endParaRPr>
          </a:p>
          <a:p>
            <a:pPr>
              <a:buNone/>
            </a:pPr>
            <a:endParaRPr lang="en-US" altLang="zh-CN" sz="3200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AutoShape 4"/>
          <p:cNvSpPr/>
          <p:nvPr/>
        </p:nvSpPr>
        <p:spPr>
          <a:xfrm>
            <a:off x="4356418" y="2071688"/>
            <a:ext cx="1928812" cy="492125"/>
          </a:xfrm>
          <a:prstGeom prst="wedgeRectCallout">
            <a:avLst>
              <a:gd name="adj1" fmla="val -93657"/>
              <a:gd name="adj2" fmla="val 94713"/>
            </a:avLst>
          </a:prstGeom>
          <a:solidFill>
            <a:srgbClr val="FFFF99"/>
          </a:solidFill>
          <a:ln w="12700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>
            <a:spAutoFit/>
          </a:bodyPr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kumimoji="1"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kumimoji="1"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kumimoji="1"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3175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ClrTx/>
              <a:buSzTx/>
              <a:buFontTx/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元组变量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31">
                                            <p:txEl>
                                              <p:charRg st="50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31">
                                            <p:txEl>
                                              <p:charRg st="77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31">
                                            <p:txEl>
                                              <p:charRg st="101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31">
                                            <p:txEl>
                                              <p:charRg st="139" end="1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31">
                                            <p:txEl>
                                              <p:charRg st="143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31">
                                            <p:txEl>
                                              <p:charRg st="176" end="2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31">
                                            <p:txEl>
                                              <p:charRg st="212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2931" grpId="0" build="p"/>
      <p:bldP spid="6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29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带有</a:t>
            </a: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EXISTS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的子查询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endParaRPr kumimoji="1" lang="en-US" altLang="zh-CN" sz="4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92931" name="Rectangle 3"/>
          <p:cNvSpPr>
            <a:spLocks noGrp="1"/>
          </p:cNvSpPr>
          <p:nvPr>
            <p:ph idx="1"/>
          </p:nvPr>
        </p:nvSpPr>
        <p:spPr>
          <a:xfrm>
            <a:off x="152400" y="939800"/>
            <a:ext cx="8848725" cy="5489575"/>
          </a:xfrm>
        </p:spPr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</a:pPr>
            <a:r>
              <a:rPr lang="zh-CN" altLang="en-US" sz="3200" dirty="0">
                <a:latin typeface="Arial" panose="020B0604020202020204" pitchFamily="34" charset="0"/>
              </a:rPr>
              <a:t>查询选修了</a:t>
            </a:r>
            <a:r>
              <a:rPr lang="en-US" altLang="zh-CN" sz="3200" dirty="0">
                <a:latin typeface="Arial" panose="020B0604020202020204" pitchFamily="34" charset="0"/>
              </a:rPr>
              <a:t>C1</a:t>
            </a:r>
            <a:r>
              <a:rPr lang="zh-CN" altLang="en-US" sz="3200" dirty="0">
                <a:latin typeface="Arial" panose="020B0604020202020204" pitchFamily="34" charset="0"/>
              </a:rPr>
              <a:t>课程的所有学生的姓名。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>
              <a:spcBef>
                <a:spcPts val="1200"/>
              </a:spcBef>
              <a:buNone/>
            </a:pPr>
            <a:r>
              <a:rPr lang="zh-CN" altLang="en-US" dirty="0">
                <a:latin typeface="Arial" panose="020B0604020202020204" pitchFamily="34" charset="0"/>
              </a:rPr>
              <a:t>     </a:t>
            </a:r>
            <a:r>
              <a:rPr lang="en-US" altLang="zh-CN" dirty="0">
                <a:latin typeface="Arial" panose="020B0604020202020204" pitchFamily="34" charset="0"/>
              </a:rPr>
              <a:t>SELECT  Sname</a:t>
            </a:r>
            <a:endParaRPr lang="en-US" altLang="zh-CN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dirty="0">
                <a:latin typeface="Arial" panose="020B0604020202020204" pitchFamily="34" charset="0"/>
              </a:rPr>
              <a:t>     FROM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S  x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dirty="0">
                <a:latin typeface="Arial" panose="020B0604020202020204" pitchFamily="34" charset="0"/>
              </a:rPr>
              <a:t>     WHERE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</a:t>
            </a:r>
            <a:r>
              <a:rPr lang="en-US" altLang="zh-CN" dirty="0">
                <a:solidFill>
                  <a:srgbClr val="CC3300"/>
                </a:solidFill>
                <a:latin typeface="Arial" panose="020B0604020202020204" pitchFamily="34" charset="0"/>
              </a:rPr>
              <a:t>EXISTS</a:t>
            </a:r>
            <a:endParaRPr lang="en-US" altLang="zh-CN" dirty="0">
              <a:solidFill>
                <a:srgbClr val="CC3300"/>
              </a:solidFill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     (SELECT  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   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FROM  SC 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       WHERE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Sno=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x.Sno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AND Cno='C1');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zh-CN" altLang="en-US" sz="3200" dirty="0"/>
              <a:t>子查询不能独立执行，与父查询有关，则称为相关嵌套查询</a:t>
            </a:r>
            <a:endParaRPr lang="en-US" altLang="zh-CN" sz="3200" dirty="0"/>
          </a:p>
          <a:p>
            <a:r>
              <a:rPr lang="zh-CN" altLang="en-US" sz="3200" dirty="0"/>
              <a:t>执行顺序：先执行父查询，对父查询的每个元组再执行一次子查询</a:t>
            </a:r>
            <a:r>
              <a:rPr lang="zh-CN" altLang="en-US" sz="3200" dirty="0">
                <a:latin typeface="Arial" panose="020B0604020202020204" pitchFamily="34" charset="0"/>
              </a:rPr>
              <a:t> </a:t>
            </a:r>
            <a:endParaRPr lang="en-US" altLang="zh-CN" sz="3200" dirty="0"/>
          </a:p>
          <a:p>
            <a:pPr>
              <a:spcBef>
                <a:spcPts val="1200"/>
              </a:spcBef>
            </a:pPr>
            <a:endParaRPr lang="en-US" altLang="zh-CN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31">
                                            <p:txEl>
                                              <p:charRg st="19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31">
                                            <p:txEl>
                                              <p:charRg st="38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31">
                                            <p:txEl>
                                              <p:charRg st="54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31">
                                            <p:txEl>
                                              <p:charRg st="73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31">
                                            <p:txEl>
                                              <p:charRg st="103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31">
                                            <p:txEl>
                                              <p:charRg st="141" end="1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31">
                                            <p:txEl>
                                              <p:charRg st="168" end="1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2931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497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带有</a:t>
            </a: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EXISTS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的子查询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endParaRPr kumimoji="1" lang="en-US" altLang="zh-CN" sz="4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5539" name="Rectangle 3"/>
          <p:cNvSpPr>
            <a:spLocks noGrp="1"/>
          </p:cNvSpPr>
          <p:nvPr>
            <p:ph type="body" sz="half" idx="1"/>
          </p:nvPr>
        </p:nvSpPr>
        <p:spPr>
          <a:xfrm>
            <a:off x="152400" y="908050"/>
            <a:ext cx="8596313" cy="1081088"/>
          </a:xfrm>
        </p:spPr>
        <p:txBody>
          <a:bodyPr vert="horz" wrap="square" lIns="91440" tIns="45720" rIns="91440" bIns="45720" anchor="t" anchorCtr="0"/>
          <a:p>
            <a:pPr>
              <a:buClr>
                <a:srgbClr val="3333CC"/>
              </a:buClr>
              <a:buSzPct val="65000"/>
              <a:buFont typeface="Wingdings" panose="05000000000000000000" pitchFamily="2" charset="2"/>
            </a:pPr>
            <a:r>
              <a:rPr lang="zh-CN" altLang="en-US" sz="3200" dirty="0"/>
              <a:t>相关嵌套查询先执行父查询，对父查询的每个元组再执行一次子查询</a:t>
            </a:r>
            <a:r>
              <a:rPr lang="zh-CN" altLang="en-US" sz="3200" dirty="0">
                <a:latin typeface="Arial" panose="020B0604020202020204" pitchFamily="34" charset="0"/>
              </a:rPr>
              <a:t>  </a:t>
            </a:r>
            <a:endParaRPr lang="zh-CN" altLang="en-US" sz="3200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895124" name="Group 148"/>
          <p:cNvGraphicFramePr>
            <a:graphicFrameLocks noGrp="1"/>
          </p:cNvGraphicFramePr>
          <p:nvPr>
            <p:ph sz="quarter" idx="1"/>
          </p:nvPr>
        </p:nvGraphicFramePr>
        <p:xfrm>
          <a:off x="1184275" y="4338638"/>
          <a:ext cx="3816350" cy="1446213"/>
        </p:xfrm>
        <a:graphic>
          <a:graphicData uri="http://schemas.openxmlformats.org/drawingml/2006/table">
            <a:tbl>
              <a:tblPr/>
              <a:tblGrid>
                <a:gridCol w="898525"/>
                <a:gridCol w="1047750"/>
                <a:gridCol w="971550"/>
                <a:gridCol w="898525"/>
              </a:tblGrid>
              <a:tr h="4826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2" charset="-122"/>
                        </a:rPr>
                        <a:t>Sno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2" charset="-122"/>
                        </a:rPr>
                        <a:t>Sname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2" charset="-122"/>
                        </a:rPr>
                        <a:t>Ssex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2" charset="-122"/>
                        </a:rPr>
                        <a:t>Sage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4810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S01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张华</a:t>
                      </a:r>
                      <a:endParaRPr kumimoji="1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男</a:t>
                      </a:r>
                      <a:endParaRPr kumimoji="1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20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S02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李明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女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21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94982" name="Rectangle 6"/>
          <p:cNvSpPr>
            <a:spLocks noChangeArrowheads="1"/>
          </p:cNvSpPr>
          <p:nvPr/>
        </p:nvSpPr>
        <p:spPr bwMode="auto">
          <a:xfrm>
            <a:off x="396875" y="2020888"/>
            <a:ext cx="8351838" cy="1822450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</a:ln>
        </p:spPr>
        <p:txBody>
          <a:bodyPr lIns="0" tIns="0" rIns="0" bIns="0">
            <a:spAutoFit/>
          </a:bodyPr>
          <a:lstStyle/>
          <a:p>
            <a:pPr marL="84455" marR="0" lvl="0" indent="101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SELECT  </a:t>
            </a:r>
            <a:r>
              <a:rPr kumimoji="1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Sname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   FROM  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S  x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黑体" panose="02010609060101010101" pitchFamily="2" charset="-122"/>
              <a:cs typeface="+mn-cs"/>
            </a:endParaRPr>
          </a:p>
          <a:p>
            <a:pPr marL="84455" marR="0" lvl="0" indent="101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   WHERE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  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EXISTS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2" charset="-122"/>
              <a:cs typeface="+mn-cs"/>
            </a:endParaRPr>
          </a:p>
          <a:p>
            <a:pPr marL="84455" marR="0" lvl="0" indent="101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    (SELECT  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n-cs"/>
                <a:sym typeface="Symbol" panose="05050102010706020507" pitchFamily="18" charset="2"/>
              </a:rPr>
              <a:t>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    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FROM  SC 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2" charset="-122"/>
              <a:cs typeface="+mn-cs"/>
            </a:endParaRPr>
          </a:p>
          <a:p>
            <a:pPr marL="84455" marR="0" lvl="0" indent="101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      WHERE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 </a:t>
            </a:r>
            <a:r>
              <a:rPr kumimoji="1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Sno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=</a:t>
            </a:r>
            <a:r>
              <a:rPr kumimoji="0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x</a:t>
            </a:r>
            <a:r>
              <a:rPr kumimoji="1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.Sno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 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AND </a:t>
            </a:r>
            <a:r>
              <a:rPr kumimoji="1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Cno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='C1');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894983" name="Text Box 7"/>
          <p:cNvSpPr txBox="1"/>
          <p:nvPr/>
        </p:nvSpPr>
        <p:spPr>
          <a:xfrm>
            <a:off x="679450" y="407193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kumimoji="1"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kumimoji="1"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kumimoji="1"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3175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Tx/>
              <a:buSzTx/>
              <a:buFontTx/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95136" name="Group 160"/>
          <p:cNvGraphicFramePr>
            <a:graphicFrameLocks noGrp="1"/>
          </p:cNvGraphicFramePr>
          <p:nvPr>
            <p:ph sz="quarter" idx="1"/>
          </p:nvPr>
        </p:nvGraphicFramePr>
        <p:xfrm>
          <a:off x="6011863" y="4344988"/>
          <a:ext cx="2808288" cy="1944688"/>
        </p:xfrm>
        <a:graphic>
          <a:graphicData uri="http://schemas.openxmlformats.org/drawingml/2006/table">
            <a:tbl>
              <a:tblPr/>
              <a:tblGrid>
                <a:gridCol w="935037"/>
                <a:gridCol w="957263"/>
                <a:gridCol w="915987"/>
              </a:tblGrid>
              <a:tr h="496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2" charset="-122"/>
                        </a:rPr>
                        <a:t>Sno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2" charset="-122"/>
                        </a:rPr>
                        <a:t>Cno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2" charset="-122"/>
                        </a:rPr>
                        <a:t>Score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S01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80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S01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78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S02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92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5135" name="Text Box 159"/>
          <p:cNvSpPr txBox="1"/>
          <p:nvPr/>
        </p:nvSpPr>
        <p:spPr>
          <a:xfrm>
            <a:off x="5292725" y="4129088"/>
            <a:ext cx="71913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kumimoji="1"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kumimoji="1"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kumimoji="1"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3175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Tx/>
              <a:buSzTx/>
              <a:buFontTx/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SC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组合 15"/>
          <p:cNvGrpSpPr/>
          <p:nvPr/>
        </p:nvGrpSpPr>
        <p:grpSpPr>
          <a:xfrm>
            <a:off x="500063" y="4921250"/>
            <a:ext cx="574675" cy="719138"/>
            <a:chOff x="500034" y="5229225"/>
            <a:chExt cx="574676" cy="719151"/>
          </a:xfrm>
        </p:grpSpPr>
        <p:sp>
          <p:nvSpPr>
            <p:cNvPr id="65595" name="AutoShape 162"/>
            <p:cNvSpPr/>
            <p:nvPr/>
          </p:nvSpPr>
          <p:spPr>
            <a:xfrm>
              <a:off x="571472" y="5229225"/>
              <a:ext cx="503238" cy="287338"/>
            </a:xfrm>
            <a:prstGeom prst="rightArrow">
              <a:avLst>
                <a:gd name="adj1" fmla="val 50000"/>
                <a:gd name="adj2" fmla="val 43784"/>
              </a:avLst>
            </a:prstGeom>
            <a:solidFill>
              <a:srgbClr val="0033CC"/>
            </a:solidFill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kumimoji="1"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kumimoji="1"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kumimoji="1"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3175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FontTx/>
                <a:buNone/>
              </a:pPr>
              <a:endParaRPr lang="zh-CN" altLang="zh-CN" dirty="0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5596" name="Text Box 159"/>
            <p:cNvSpPr txBox="1"/>
            <p:nvPr/>
          </p:nvSpPr>
          <p:spPr>
            <a:xfrm>
              <a:off x="500034" y="5429254"/>
              <a:ext cx="500063" cy="5191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kumimoji="1"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kumimoji="1"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kumimoji="1"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3175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ClrTx/>
                <a:buSzTx/>
                <a:buFontTx/>
                <a:buNone/>
              </a:pP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endPara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" name="AutoShape 162"/>
          <p:cNvSpPr/>
          <p:nvPr/>
        </p:nvSpPr>
        <p:spPr>
          <a:xfrm>
            <a:off x="5429250" y="4906963"/>
            <a:ext cx="503238" cy="287337"/>
          </a:xfrm>
          <a:prstGeom prst="rightArrow">
            <a:avLst>
              <a:gd name="adj1" fmla="val 50000"/>
              <a:gd name="adj2" fmla="val 43784"/>
            </a:avLst>
          </a:prstGeom>
          <a:solidFill>
            <a:srgbClr val="CC3300"/>
          </a:solidFill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kumimoji="1"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kumimoji="1"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kumimoji="1"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3175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ClrTx/>
              <a:buSzTx/>
              <a:buFontTx/>
              <a:buNone/>
            </a:pPr>
            <a:endParaRPr lang="zh-CN" altLang="zh-CN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2143125" y="4764088"/>
            <a:ext cx="928688" cy="5715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kumimoji="1"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kumimoji="1"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kumimoji="1"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3175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ClrTx/>
              <a:buSzTx/>
              <a:buFontTx/>
              <a:buNone/>
            </a:pPr>
            <a:endParaRPr lang="zh-CN" altLang="en-US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组合 16"/>
          <p:cNvGrpSpPr/>
          <p:nvPr/>
        </p:nvGrpSpPr>
        <p:grpSpPr>
          <a:xfrm>
            <a:off x="500063" y="5335588"/>
            <a:ext cx="574675" cy="719137"/>
            <a:chOff x="500034" y="5229225"/>
            <a:chExt cx="574676" cy="719151"/>
          </a:xfrm>
        </p:grpSpPr>
        <p:sp>
          <p:nvSpPr>
            <p:cNvPr id="65593" name="AutoShape 162"/>
            <p:cNvSpPr/>
            <p:nvPr/>
          </p:nvSpPr>
          <p:spPr>
            <a:xfrm>
              <a:off x="571472" y="5229225"/>
              <a:ext cx="503238" cy="287338"/>
            </a:xfrm>
            <a:prstGeom prst="rightArrow">
              <a:avLst>
                <a:gd name="adj1" fmla="val 50000"/>
                <a:gd name="adj2" fmla="val 43784"/>
              </a:avLst>
            </a:prstGeom>
            <a:solidFill>
              <a:srgbClr val="0033CC"/>
            </a:solidFill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kumimoji="1"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kumimoji="1"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kumimoji="1"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3175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FontTx/>
                <a:buNone/>
              </a:pPr>
              <a:endParaRPr lang="zh-CN" altLang="zh-CN" dirty="0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5594" name="Text Box 159"/>
            <p:cNvSpPr txBox="1"/>
            <p:nvPr/>
          </p:nvSpPr>
          <p:spPr>
            <a:xfrm>
              <a:off x="500034" y="5429254"/>
              <a:ext cx="500063" cy="5191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kumimoji="1"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kumimoji="1"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kumimoji="1"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3175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ClrTx/>
                <a:buSzTx/>
                <a:buFontTx/>
                <a:buNone/>
              </a:pP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endPara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" name="AutoShape 162"/>
          <p:cNvSpPr/>
          <p:nvPr/>
        </p:nvSpPr>
        <p:spPr>
          <a:xfrm>
            <a:off x="5429250" y="5907088"/>
            <a:ext cx="503238" cy="287337"/>
          </a:xfrm>
          <a:prstGeom prst="rightArrow">
            <a:avLst>
              <a:gd name="adj1" fmla="val 50000"/>
              <a:gd name="adj2" fmla="val 43784"/>
            </a:avLst>
          </a:prstGeom>
          <a:solidFill>
            <a:srgbClr val="CC3300"/>
          </a:solidFill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kumimoji="1"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kumimoji="1"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kumimoji="1"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3175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ClrTx/>
              <a:buSzTx/>
              <a:buFontTx/>
              <a:buNone/>
            </a:pPr>
            <a:endParaRPr lang="zh-CN" altLang="zh-CN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2143125" y="5286375"/>
            <a:ext cx="928688" cy="5715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kumimoji="1"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kumimoji="1"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kumimoji="1"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3175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ClrTx/>
              <a:buSzTx/>
              <a:buFontTx/>
              <a:buNone/>
            </a:pPr>
            <a:endParaRPr lang="zh-CN" altLang="en-US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0"/>
                                            </p:cond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7"/>
                                            </p:cond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4983" grpId="0"/>
      <p:bldP spid="895135" grpId="0"/>
      <p:bldP spid="14" grpId="0" animBg="1"/>
      <p:bldP spid="14" grpId="1" animBg="1"/>
      <p:bldP spid="15" grpId="0" animBg="1"/>
      <p:bldP spid="20" grpId="0" animBg="1"/>
      <p:bldP spid="2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395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带有</a:t>
            </a: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EXISTS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的子查询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</a:t>
            </a:r>
            <a:endParaRPr kumimoji="1" lang="en-US" altLang="zh-CN" sz="40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9395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269875" marR="0" lvl="0" indent="-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查询</a:t>
            </a: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没有</a:t>
            </a: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选修</a:t>
            </a: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C1</a:t>
            </a: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号课程的学生姓名。</a:t>
            </a:r>
            <a:endParaRPr kumimoji="1" lang="zh-CN" altLang="en-US" sz="36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69875" marR="0" lvl="0" indent="-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</a:t>
            </a:r>
            <a:endParaRPr kumimoji="1" lang="zh-CN" altLang="en-US" sz="36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69875" marR="0" lvl="0" indent="-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</a:t>
            </a: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SELECT  </a:t>
            </a:r>
            <a:r>
              <a:rPr kumimoji="1" lang="en-US" altLang="zh-CN" sz="3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Sname</a:t>
            </a:r>
            <a:endParaRPr kumimoji="1" lang="en-US" altLang="zh-CN" sz="36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69875" marR="0" lvl="0" indent="-269875" algn="just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FROM  S   </a:t>
            </a: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x</a:t>
            </a:r>
            <a:endParaRPr kumimoji="1" lang="en-US" altLang="zh-CN" sz="36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69875" marR="0" lvl="0" indent="-269875" algn="just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WHERE  </a:t>
            </a: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NOT</a:t>
            </a: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</a:t>
            </a: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EXISTS</a:t>
            </a:r>
            <a:endParaRPr kumimoji="1" lang="en-US" altLang="zh-CN" sz="36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69875" marR="0" lvl="0" indent="-269875" algn="just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</a:t>
            </a: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(SELECT  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</a:t>
            </a:r>
            <a:endParaRPr kumimoji="1" lang="en-US" altLang="zh-CN" sz="3600" b="1" i="0" u="none" strike="noStrike" kern="0" cap="none" spc="0" normalizeH="0" baseline="0" noProof="0" dirty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69875" marR="0" lvl="0" indent="-269875" algn="just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FROM  SC</a:t>
            </a:r>
            <a:endParaRPr kumimoji="1" lang="en-US" altLang="zh-CN" sz="3600" b="1" i="0" u="none" strike="noStrike" kern="0" cap="none" spc="0" normalizeH="0" baseline="0" noProof="0" dirty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69875" marR="0" lvl="0" indent="-269875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WHERE </a:t>
            </a:r>
            <a:r>
              <a:rPr kumimoji="1" lang="en-US" altLang="zh-CN" sz="3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Sno</a:t>
            </a: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=</a:t>
            </a:r>
            <a:r>
              <a:rPr kumimoji="1" lang="en-US" altLang="zh-CN" sz="3600" b="1" i="1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1" lang="en-US" altLang="zh-CN" sz="3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x</a:t>
            </a:r>
            <a:r>
              <a:rPr kumimoji="1" lang="en-US" altLang="zh-CN" sz="3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.Sno</a:t>
            </a: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AND </a:t>
            </a:r>
            <a:r>
              <a:rPr kumimoji="1" lang="en-US" altLang="zh-CN" sz="3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Cno</a:t>
            </a: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=</a:t>
            </a: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'</a:t>
            </a: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C1</a:t>
            </a: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'</a:t>
            </a: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);</a:t>
            </a:r>
            <a:endParaRPr kumimoji="1" lang="en-US" altLang="zh-CN" sz="3600" b="1" i="0" u="none" strike="noStrike" kern="0" cap="none" spc="0" normalizeH="0" baseline="0" noProof="0" dirty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69875" marR="0" lvl="0" indent="-269875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      </a:t>
            </a:r>
            <a:endParaRPr kumimoji="1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2" name="组合 7"/>
          <p:cNvGrpSpPr/>
          <p:nvPr/>
        </p:nvGrpSpPr>
        <p:grpSpPr>
          <a:xfrm>
            <a:off x="2864802" y="3903345"/>
            <a:ext cx="3421698" cy="571500"/>
            <a:chOff x="2864790" y="3903348"/>
            <a:chExt cx="3421722" cy="571504"/>
          </a:xfrm>
        </p:grpSpPr>
        <p:sp>
          <p:nvSpPr>
            <p:cNvPr id="66566" name="AutoShape 4"/>
            <p:cNvSpPr/>
            <p:nvPr/>
          </p:nvSpPr>
          <p:spPr>
            <a:xfrm>
              <a:off x="5214942" y="3929066"/>
              <a:ext cx="1071570" cy="492443"/>
            </a:xfrm>
            <a:prstGeom prst="wedgeRectCallout">
              <a:avLst>
                <a:gd name="adj1" fmla="val -204162"/>
                <a:gd name="adj2" fmla="val -6569"/>
              </a:avLst>
            </a:prstGeom>
            <a:solidFill>
              <a:srgbClr val="FFFF99"/>
            </a:solidFill>
            <a:ln w="12700" cap="flat" cmpd="sng">
              <a:solidFill>
                <a:srgbClr val="0000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>
              <a:spAutoFit/>
            </a:bodyPr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kumimoji="1"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kumimoji="1"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kumimoji="1"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3175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FontTx/>
                <a:buNone/>
              </a:pPr>
              <a:r>
                <a:rPr lang="zh-CN" altLang="en-US" sz="3200" dirty="0">
                  <a:latin typeface="Arial" panose="020B0604020202020204" pitchFamily="34" charset="0"/>
                </a:rPr>
                <a:t>常用</a:t>
              </a:r>
              <a:endParaRPr lang="zh-CN" altLang="en-US" sz="3200" dirty="0">
                <a:latin typeface="Arial" panose="020B0604020202020204" pitchFamily="34" charset="0"/>
              </a:endParaRPr>
            </a:p>
          </p:txBody>
        </p:sp>
        <p:sp>
          <p:nvSpPr>
            <p:cNvPr id="66567" name="椭圆 6"/>
            <p:cNvSpPr/>
            <p:nvPr/>
          </p:nvSpPr>
          <p:spPr>
            <a:xfrm>
              <a:off x="2864790" y="3903348"/>
              <a:ext cx="642942" cy="571504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kumimoji="1"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kumimoji="1"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kumimoji="1"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3175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5000"/>
                <a:buFont typeface="Wingdings" panose="05000000000000000000" pitchFamily="2" charset="2"/>
                <a:buChar char="n"/>
                <a:defRPr kumimoji="1"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FontTx/>
                <a:buNone/>
              </a:pPr>
              <a:endParaRPr lang="zh-CN" altLang="en-US" dirty="0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955">
                                            <p:txEl>
                                              <p:charRg st="22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955">
                                            <p:txEl>
                                              <p:charRg st="39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955">
                                            <p:txEl>
                                              <p:charRg st="54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955">
                                            <p:txEl>
                                              <p:charRg st="76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955">
                                            <p:txEl>
                                              <p:charRg st="92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955">
                                            <p:txEl>
                                              <p:charRg st="107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3955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727008" y="2829560"/>
            <a:ext cx="368998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Thanks!</a:t>
            </a:r>
            <a:endParaRPr lang="zh-CN" altLang="en-US" sz="72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tags/tag1.xml><?xml version="1.0" encoding="utf-8"?>
<p:tagLst xmlns:p="http://schemas.openxmlformats.org/presentationml/2006/main">
  <p:tag name="KSO_WM_UNIT_TABLE_BEAUTIFY" val="smartTable{2e73256c-8aff-4911-b293-cda2c94a09da}"/>
</p:tagLst>
</file>

<file path=ppt/tags/tag2.xml><?xml version="1.0" encoding="utf-8"?>
<p:tagLst xmlns:p="http://schemas.openxmlformats.org/presentationml/2006/main">
  <p:tag name="COMMONDATA" val="eyJoZGlkIjoiNjAxYWNjNWM4YjUwYzdkM2Y4ZDNlNzBkZmE0NjZkZTkifQ=="/>
  <p:tag name="KSO_WPP_MARK_KEY" val="45b57f28-613e-45be-876e-b95e49daab0d"/>
</p:tagLst>
</file>

<file path=ppt/theme/theme1.xml><?xml version="1.0" encoding="utf-8"?>
<a:theme xmlns:a="http://schemas.openxmlformats.org/drawingml/2006/main" name="HXH">
  <a:themeElements>
    <a:clrScheme name="">
      <a:dk1>
        <a:srgbClr val="00354E"/>
      </a:dk1>
      <a:lt1>
        <a:srgbClr val="EAEAEA"/>
      </a:lt1>
      <a:dk2>
        <a:srgbClr val="0099CC"/>
      </a:dk2>
      <a:lt2>
        <a:srgbClr val="CCECFF"/>
      </a:lt2>
      <a:accent1>
        <a:srgbClr val="0099CC"/>
      </a:accent1>
      <a:accent2>
        <a:srgbClr val="6699FF"/>
      </a:accent2>
      <a:accent3>
        <a:srgbClr val="AACAE2"/>
      </a:accent3>
      <a:accent4>
        <a:srgbClr val="C8C8C8"/>
      </a:accent4>
      <a:accent5>
        <a:srgbClr val="AACAE2"/>
      </a:accent5>
      <a:accent6>
        <a:srgbClr val="5C8AE7"/>
      </a:accent6>
      <a:hlink>
        <a:srgbClr val="CCCCFF"/>
      </a:hlink>
      <a:folHlink>
        <a:srgbClr val="5E6FD4"/>
      </a:folHlink>
    </a:clrScheme>
    <a:fontScheme name="HXH">
      <a:majorFont>
        <a:latin typeface="Arial"/>
        <a:ea typeface="幼圆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FF3399"/>
            </a:gs>
            <a:gs pos="100000">
              <a:srgbClr val="FF3399">
                <a:gamma/>
                <a:shade val="69804"/>
                <a:invGamma/>
              </a:srgbClr>
            </a:gs>
          </a:gsLst>
          <a:path path="rect">
            <a:fillToRect l="50000" t="50000" r="50000" b="50000"/>
          </a:path>
        </a:gradFill>
        <a:ln w="2857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0" tIns="0" rIns="0" bIns="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3600" b="1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FF3399"/>
            </a:gs>
            <a:gs pos="100000">
              <a:srgbClr val="FF3399">
                <a:gamma/>
                <a:shade val="69804"/>
                <a:invGamma/>
              </a:srgbClr>
            </a:gs>
          </a:gsLst>
          <a:path path="rect">
            <a:fillToRect l="50000" t="50000" r="50000" b="50000"/>
          </a:path>
        </a:gradFill>
        <a:ln w="2857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0" tIns="0" rIns="0" bIns="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3600" b="1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HXH 1">
        <a:dk1>
          <a:srgbClr val="00354E"/>
        </a:dk1>
        <a:lt1>
          <a:srgbClr val="EAEAEA"/>
        </a:lt1>
        <a:dk2>
          <a:srgbClr val="006699"/>
        </a:dk2>
        <a:lt2>
          <a:srgbClr val="CCECFF"/>
        </a:lt2>
        <a:accent1>
          <a:srgbClr val="006699"/>
        </a:accent1>
        <a:accent2>
          <a:srgbClr val="6699FF"/>
        </a:accent2>
        <a:accent3>
          <a:srgbClr val="AAB8CA"/>
        </a:accent3>
        <a:accent4>
          <a:srgbClr val="C8C8C8"/>
        </a:accent4>
        <a:accent5>
          <a:srgbClr val="AAB8CA"/>
        </a:accent5>
        <a:accent6>
          <a:srgbClr val="5C8AE7"/>
        </a:accent6>
        <a:hlink>
          <a:srgbClr val="CCCCFF"/>
        </a:hlink>
        <a:folHlink>
          <a:srgbClr val="5E6FD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XH 2">
        <a:dk1>
          <a:srgbClr val="000080"/>
        </a:dk1>
        <a:lt1>
          <a:srgbClr val="FFFFFF"/>
        </a:lt1>
        <a:dk2>
          <a:srgbClr val="3366CC"/>
        </a:dk2>
        <a:lt2>
          <a:srgbClr val="7A7C93"/>
        </a:lt2>
        <a:accent1>
          <a:srgbClr val="006699"/>
        </a:accent1>
        <a:accent2>
          <a:srgbClr val="6699FF"/>
        </a:accent2>
        <a:accent3>
          <a:srgbClr val="FFFFFF"/>
        </a:accent3>
        <a:accent4>
          <a:srgbClr val="00006C"/>
        </a:accent4>
        <a:accent5>
          <a:srgbClr val="AAB8CA"/>
        </a:accent5>
        <a:accent6>
          <a:srgbClr val="5C8AE7"/>
        </a:accent6>
        <a:hlink>
          <a:srgbClr val="CCCCFF"/>
        </a:hlink>
        <a:folHlink>
          <a:srgbClr val="5E6FD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XH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969696"/>
        </a:accent1>
        <a:accent2>
          <a:srgbClr val="CBCBCB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B8B8B8"/>
        </a:accent6>
        <a:hlink>
          <a:srgbClr val="EAEAEA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XH 4">
        <a:dk1>
          <a:srgbClr val="660066"/>
        </a:dk1>
        <a:lt1>
          <a:srgbClr val="EAEAEA"/>
        </a:lt1>
        <a:dk2>
          <a:srgbClr val="3366CC"/>
        </a:dk2>
        <a:lt2>
          <a:srgbClr val="7A7C93"/>
        </a:lt2>
        <a:accent1>
          <a:srgbClr val="00CCCC"/>
        </a:accent1>
        <a:accent2>
          <a:srgbClr val="CC66FF"/>
        </a:accent2>
        <a:accent3>
          <a:srgbClr val="F3F3F3"/>
        </a:accent3>
        <a:accent4>
          <a:srgbClr val="560056"/>
        </a:accent4>
        <a:accent5>
          <a:srgbClr val="AAE2E2"/>
        </a:accent5>
        <a:accent6>
          <a:srgbClr val="B95CE7"/>
        </a:accent6>
        <a:hlink>
          <a:srgbClr val="CCFF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XH 5">
        <a:dk1>
          <a:srgbClr val="003366"/>
        </a:dk1>
        <a:lt1>
          <a:srgbClr val="EAEAEA"/>
        </a:lt1>
        <a:dk2>
          <a:srgbClr val="009999"/>
        </a:dk2>
        <a:lt2>
          <a:srgbClr val="FFFFFF"/>
        </a:lt2>
        <a:accent1>
          <a:srgbClr val="008080"/>
        </a:accent1>
        <a:accent2>
          <a:srgbClr val="00CCCC"/>
        </a:accent2>
        <a:accent3>
          <a:srgbClr val="AACACA"/>
        </a:accent3>
        <a:accent4>
          <a:srgbClr val="C8C8C8"/>
        </a:accent4>
        <a:accent5>
          <a:srgbClr val="AAC0C0"/>
        </a:accent5>
        <a:accent6>
          <a:srgbClr val="00B9B9"/>
        </a:accent6>
        <a:hlink>
          <a:srgbClr val="A7DDE1"/>
        </a:hlink>
        <a:folHlink>
          <a:srgbClr val="319C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XH 6">
        <a:dk1>
          <a:srgbClr val="00354E"/>
        </a:dk1>
        <a:lt1>
          <a:srgbClr val="EAEAEA"/>
        </a:lt1>
        <a:dk2>
          <a:srgbClr val="6D67AA"/>
        </a:dk2>
        <a:lt2>
          <a:srgbClr val="CCCCFF"/>
        </a:lt2>
        <a:accent1>
          <a:srgbClr val="6600CC"/>
        </a:accent1>
        <a:accent2>
          <a:srgbClr val="9999FF"/>
        </a:accent2>
        <a:accent3>
          <a:srgbClr val="BAB8D2"/>
        </a:accent3>
        <a:accent4>
          <a:srgbClr val="C8C8C8"/>
        </a:accent4>
        <a:accent5>
          <a:srgbClr val="B8AAE2"/>
        </a:accent5>
        <a:accent6>
          <a:srgbClr val="8A8AE7"/>
        </a:accent6>
        <a:hlink>
          <a:srgbClr val="CCCCFF"/>
        </a:hlink>
        <a:folHlink>
          <a:srgbClr val="9D70B8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6628</Words>
  <Application>WPS 演示</Application>
  <PresentationFormat>全屏显示(4:3)</PresentationFormat>
  <Paragraphs>763</Paragraphs>
  <Slides>42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8" baseType="lpstr">
      <vt:lpstr>Arial</vt:lpstr>
      <vt:lpstr>宋体</vt:lpstr>
      <vt:lpstr>Wingdings</vt:lpstr>
      <vt:lpstr>黑体</vt:lpstr>
      <vt:lpstr>楷体_GB2312</vt:lpstr>
      <vt:lpstr>幼圆</vt:lpstr>
      <vt:lpstr>华文新魏</vt:lpstr>
      <vt:lpstr>华文中宋</vt:lpstr>
      <vt:lpstr>Symbol</vt:lpstr>
      <vt:lpstr>微软雅黑</vt:lpstr>
      <vt:lpstr>Arial Unicode MS</vt:lpstr>
      <vt:lpstr>Wingdings</vt:lpstr>
      <vt:lpstr>Times New Roman</vt:lpstr>
      <vt:lpstr>Courier New</vt:lpstr>
      <vt:lpstr>新宋体</vt:lpstr>
      <vt:lpstr>HXH</vt:lpstr>
      <vt:lpstr>PowerPoint 演示文稿</vt:lpstr>
      <vt:lpstr>主要内容</vt:lpstr>
      <vt:lpstr>5.3 数据查询</vt:lpstr>
      <vt:lpstr>5.3.3 多表查询</vt:lpstr>
      <vt:lpstr>5.3.3 多表查询</vt:lpstr>
      <vt:lpstr>1) 笛卡尔积查询</vt:lpstr>
      <vt:lpstr>2) 等值连接查询</vt:lpstr>
      <vt:lpstr>等值连接查询举例</vt:lpstr>
      <vt:lpstr>等值连接查询举例</vt:lpstr>
      <vt:lpstr>3) 复合条件查询</vt:lpstr>
      <vt:lpstr>复合条件查询举例</vt:lpstr>
      <vt:lpstr>复合条件查询举例</vt:lpstr>
      <vt:lpstr>4) 自身连接查询</vt:lpstr>
      <vt:lpstr>自身连接查询举例</vt:lpstr>
      <vt:lpstr>5.3 数据查询</vt:lpstr>
      <vt:lpstr>5.3.4 集合查询</vt:lpstr>
      <vt:lpstr>1) 并操作举例1</vt:lpstr>
      <vt:lpstr>并操作举例2</vt:lpstr>
      <vt:lpstr>并操作举例3</vt:lpstr>
      <vt:lpstr>2) 交操作举例1</vt:lpstr>
      <vt:lpstr>3) 差操作举例1</vt:lpstr>
      <vt:lpstr>5.3 数据查询</vt:lpstr>
      <vt:lpstr>5.3.5 嵌套查询</vt:lpstr>
      <vt:lpstr>5.3.5 嵌套查询</vt:lpstr>
      <vt:lpstr>1) 带有IN的子查询</vt:lpstr>
      <vt:lpstr>1) 带有IN的子查询</vt:lpstr>
      <vt:lpstr>1) 带有IN的子查询</vt:lpstr>
      <vt:lpstr>1) 带有IN的子查询</vt:lpstr>
      <vt:lpstr>2) 带有比较运算符的子查询</vt:lpstr>
      <vt:lpstr>3) 带有SOME或ALL的子查询</vt:lpstr>
      <vt:lpstr>3) 带有SOME或ALL的子查询</vt:lpstr>
      <vt:lpstr>带有SOME的子查询举例1</vt:lpstr>
      <vt:lpstr>3) 带有SOME或ALL的子查询</vt:lpstr>
      <vt:lpstr>带有SOME的子查询举例2</vt:lpstr>
      <vt:lpstr>带有ALL的子查询举例1</vt:lpstr>
      <vt:lpstr>4) 带有EXISTS的子查询</vt:lpstr>
      <vt:lpstr>带有EXISTS的子查询举例1</vt:lpstr>
      <vt:lpstr>带有EXISTS的子查询举例1</vt:lpstr>
      <vt:lpstr>带有EXISTS的子查询举例1</vt:lpstr>
      <vt:lpstr>带有EXISTS的子查询举例1</vt:lpstr>
      <vt:lpstr>带有EXISTS的子查询举例2</vt:lpstr>
      <vt:lpstr>PowerPoint 演示文稿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/>
  <cp:lastModifiedBy>火星叔叔</cp:lastModifiedBy>
  <cp:revision>1910</cp:revision>
  <dcterms:created xsi:type="dcterms:W3CDTF">2007-03-26T07:48:00Z</dcterms:created>
  <dcterms:modified xsi:type="dcterms:W3CDTF">2023-05-18T06:18:47Z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7732AC6D61D140BFA9A19E2895E6EBE9</vt:lpwstr>
  </property>
  <property fmtid="{D5CDD505-2E9C-101B-9397-08002B2CF9AE}" pid="3" name="KSOProductBuildVer">
    <vt:lpwstr>2052-11.1.0.14309</vt:lpwstr>
  </property>
</Properties>
</file>