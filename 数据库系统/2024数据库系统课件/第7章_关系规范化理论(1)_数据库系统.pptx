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53"/>
  </p:handoutMasterIdLst>
  <p:sldIdLst>
    <p:sldId id="395" r:id="rId3"/>
    <p:sldId id="318" r:id="rId4"/>
    <p:sldId id="320" r:id="rId6"/>
    <p:sldId id="321" r:id="rId7"/>
    <p:sldId id="415" r:id="rId8"/>
    <p:sldId id="419" r:id="rId9"/>
    <p:sldId id="416" r:id="rId10"/>
    <p:sldId id="417" r:id="rId11"/>
    <p:sldId id="418" r:id="rId12"/>
    <p:sldId id="423" r:id="rId13"/>
    <p:sldId id="420" r:id="rId14"/>
    <p:sldId id="323" r:id="rId15"/>
    <p:sldId id="327" r:id="rId16"/>
    <p:sldId id="421" r:id="rId17"/>
    <p:sldId id="329" r:id="rId18"/>
    <p:sldId id="330" r:id="rId19"/>
    <p:sldId id="331" r:id="rId20"/>
    <p:sldId id="332" r:id="rId21"/>
    <p:sldId id="333" r:id="rId22"/>
    <p:sldId id="393" r:id="rId23"/>
    <p:sldId id="335" r:id="rId24"/>
    <p:sldId id="410" r:id="rId25"/>
    <p:sldId id="411" r:id="rId26"/>
    <p:sldId id="388" r:id="rId27"/>
    <p:sldId id="337" r:id="rId28"/>
    <p:sldId id="273" r:id="rId29"/>
    <p:sldId id="407" r:id="rId30"/>
    <p:sldId id="339" r:id="rId31"/>
    <p:sldId id="274" r:id="rId32"/>
    <p:sldId id="408" r:id="rId33"/>
    <p:sldId id="278" r:id="rId34"/>
    <p:sldId id="340" r:id="rId35"/>
    <p:sldId id="391" r:id="rId36"/>
    <p:sldId id="343" r:id="rId37"/>
    <p:sldId id="345" r:id="rId38"/>
    <p:sldId id="401" r:id="rId39"/>
    <p:sldId id="346" r:id="rId40"/>
    <p:sldId id="424" r:id="rId41"/>
    <p:sldId id="422" r:id="rId42"/>
    <p:sldId id="403" r:id="rId43"/>
    <p:sldId id="402" r:id="rId44"/>
    <p:sldId id="279" r:id="rId45"/>
    <p:sldId id="364" r:id="rId46"/>
    <p:sldId id="300" r:id="rId47"/>
    <p:sldId id="404" r:id="rId48"/>
    <p:sldId id="281" r:id="rId49"/>
    <p:sldId id="412" r:id="rId50"/>
    <p:sldId id="413" r:id="rId51"/>
    <p:sldId id="414" r:id="rId52"/>
  </p:sldIdLst>
  <p:sldSz cx="9144000" cy="6858000" type="screen4x3"/>
  <p:notesSz cx="6858000" cy="9144000"/>
  <p:custDataLst>
    <p:tags r:id="rId57"/>
  </p:custDataLst>
  <p:defaultTextStyle>
    <a:defPPr>
      <a:defRPr lang="zh-CN"/>
    </a:defPPr>
    <a:lvl1pPr marL="0" lvl="0"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vl6pPr marL="2286000" lvl="5"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6pPr>
    <a:lvl7pPr marL="2743200" lvl="6"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7pPr>
    <a:lvl8pPr marL="3200400" lvl="7"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8pPr>
    <a:lvl9pPr marL="3657600" lvl="8"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000000"/>
    <a:srgbClr val="FFCCCC"/>
    <a:srgbClr val="0000CC"/>
    <a:srgbClr val="0033CC"/>
    <a:srgbClr val="996633"/>
    <a:srgbClr val="FF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5202"/>
    <p:restoredTop sz="82046"/>
  </p:normalViewPr>
  <p:slideViewPr>
    <p:cSldViewPr showGuides="1">
      <p:cViewPr varScale="1">
        <p:scale>
          <a:sx n="40" d="100"/>
          <a:sy n="40" d="100"/>
        </p:scale>
        <p:origin x="-706" y="-82"/>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510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gs" Target="tags/tag1.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handoutMaster" Target="handoutMasters/handoutMaster1.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87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87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87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87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4275" name="Rectangle 2"/>
          <p:cNvSpPr>
            <a:spLocks noRot="1" noTextEdit="1"/>
          </p:cNvSpPr>
          <p:nvPr>
            <p:ph type="sldImg"/>
          </p:nvPr>
        </p:nvSpPr>
        <p:spPr/>
      </p:sp>
      <p:sp>
        <p:nvSpPr>
          <p:cNvPr id="54276" name="Rectangle 3"/>
          <p:cNvSpPr>
            <a:spLocks noGrp="1"/>
          </p:cNvSpPr>
          <p:nvPr>
            <p:ph type="body" idx="1"/>
          </p:nvPr>
        </p:nvSpPr>
        <p:spPr/>
        <p:txBody>
          <a:bodyPr wrap="square" lIns="91440" tIns="45720" rIns="91440" bIns="45720" anchor="t" anchorCtr="0"/>
          <a:p>
            <a:pPr lvl="0" eaLnBrk="1" hangingPunct="1"/>
            <a:r>
              <a:rPr lang="zh-CN" altLang="en-US" dirty="0"/>
              <a:t>关系数据库逻辑设计</a:t>
            </a:r>
            <a:endParaRPr lang="zh-CN" altLang="en-US" dirty="0"/>
          </a:p>
          <a:p>
            <a:pPr lvl="1" algn="just" eaLnBrk="1" hangingPunct="1">
              <a:lnSpc>
                <a:spcPct val="125000"/>
              </a:lnSpc>
            </a:pPr>
            <a:r>
              <a:rPr lang="zh-CN" altLang="en-US" sz="1400" dirty="0"/>
              <a:t>针对具体问题，如何构造一个适合的数据模式</a:t>
            </a:r>
            <a:endParaRPr lang="zh-CN" altLang="en-US" sz="1400" dirty="0"/>
          </a:p>
          <a:p>
            <a:pPr lvl="1" algn="just" eaLnBrk="1" hangingPunct="1">
              <a:lnSpc>
                <a:spcPct val="125000"/>
              </a:lnSpc>
            </a:pPr>
            <a:r>
              <a:rPr lang="zh-CN" altLang="en-US" sz="1400" dirty="0"/>
              <a:t>数据库逻辑设计的工具──关系数据库的规范化理论</a:t>
            </a:r>
            <a:endParaRPr lang="zh-CN" altLang="en-US" sz="1400" dirty="0"/>
          </a:p>
          <a:p>
            <a:pPr lvl="1" algn="just" eaLnBrk="1" hangingPunct="1">
              <a:lnSpc>
                <a:spcPct val="140000"/>
              </a:lnSpc>
            </a:pPr>
            <a:endParaRPr lang="zh-CN" altLang="en-US" sz="1400" dirty="0"/>
          </a:p>
          <a:p>
            <a:pPr lvl="0" eaLnBrk="1" hangingPunct="1"/>
            <a:r>
              <a:rPr lang="zh-CN" altLang="en-US" dirty="0"/>
              <a:t>支持关系模型的数据库系统是关系数据库系统。</a:t>
            </a:r>
            <a:endParaRPr lang="zh-CN" altLang="en-US" dirty="0"/>
          </a:p>
          <a:p>
            <a:pPr lvl="0" eaLnBrk="1" hangingPunct="1"/>
            <a:r>
              <a:rPr lang="zh-CN" altLang="en-US" dirty="0"/>
              <a:t>数据模型的组成要素：</a:t>
            </a:r>
            <a:endParaRPr lang="zh-CN" altLang="en-US" dirty="0"/>
          </a:p>
          <a:p>
            <a:pPr lvl="0" eaLnBrk="1" hangingPunct="1">
              <a:buChar char="•"/>
            </a:pPr>
            <a:r>
              <a:rPr lang="zh-CN" altLang="en-US" dirty="0"/>
              <a:t>数据结构：是对数据</a:t>
            </a:r>
            <a:r>
              <a:rPr lang="zh-CN" altLang="en-US" dirty="0">
                <a:solidFill>
                  <a:srgbClr val="0000CC"/>
                </a:solidFill>
              </a:rPr>
              <a:t>静态特性</a:t>
            </a:r>
            <a:r>
              <a:rPr lang="zh-CN" altLang="en-US" dirty="0"/>
              <a:t>的描述，刻画了数据的组成部分、相互之间的关系、数据的类型等，它是数据模型中最重要的成分。</a:t>
            </a:r>
            <a:endParaRPr lang="zh-CN" altLang="en-US" dirty="0"/>
          </a:p>
          <a:p>
            <a:pPr lvl="0" eaLnBrk="1" hangingPunct="1">
              <a:buChar char="•"/>
            </a:pPr>
            <a:r>
              <a:rPr lang="zh-CN" altLang="en-US" dirty="0"/>
              <a:t>数据操作：是对数据</a:t>
            </a:r>
            <a:r>
              <a:rPr lang="zh-CN" altLang="en-US" dirty="0">
                <a:solidFill>
                  <a:srgbClr val="0000CC"/>
                </a:solidFill>
              </a:rPr>
              <a:t>动态特性</a:t>
            </a:r>
            <a:r>
              <a:rPr lang="zh-CN" altLang="en-US" dirty="0"/>
              <a:t>的描述，指明了对数据所允许执行的操作集合和操作规则。</a:t>
            </a:r>
            <a:endParaRPr lang="zh-CN" altLang="en-US" dirty="0"/>
          </a:p>
          <a:p>
            <a:pPr lvl="0" eaLnBrk="1" hangingPunct="1">
              <a:buChar char="•"/>
            </a:pPr>
            <a:r>
              <a:rPr lang="zh-CN" altLang="en-US" dirty="0"/>
              <a:t>数据的约束条件：是一组数据完整性规则的集合。数据完整性是指数据能正确描述客观现实世界所应具备的特性和要求。</a:t>
            </a:r>
            <a:endParaRPr lang="zh-CN" altLang="en-US" dirty="0"/>
          </a:p>
          <a:p>
            <a:pPr lvl="0"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5299" name="Rectangle 2"/>
          <p:cNvSpPr>
            <a:spLocks noRot="1" noTextEdit="1"/>
          </p:cNvSpPr>
          <p:nvPr>
            <p:ph type="sldImg"/>
          </p:nvPr>
        </p:nvSpPr>
        <p:spPr/>
      </p:sp>
      <p:sp>
        <p:nvSpPr>
          <p:cNvPr id="55300" name="Rectangle 3"/>
          <p:cNvSpPr>
            <a:spLocks noGrp="1"/>
          </p:cNvSpPr>
          <p:nvPr>
            <p:ph type="body" idx="1"/>
          </p:nvPr>
        </p:nvSpPr>
        <p:spPr/>
        <p:txBody>
          <a:bodyPr wrap="square" lIns="91440" tIns="45720" rIns="91440" bIns="45720" anchor="t" anchorCtr="0"/>
          <a:p>
            <a:pPr lvl="0" eaLnBrk="1" hangingPunct="1"/>
            <a:r>
              <a:rPr lang="zh-CN" altLang="en-US" dirty="0"/>
              <a:t>对于同一应用而言，不同设计者可能会设计出不同的数据库模式。</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6323" name="Rectangle 2"/>
          <p:cNvSpPr>
            <a:spLocks noRot="1" noTextEdit="1"/>
          </p:cNvSpPr>
          <p:nvPr>
            <p:ph type="sldImg"/>
          </p:nvPr>
        </p:nvSpPr>
        <p:spPr/>
      </p:sp>
      <p:sp>
        <p:nvSpPr>
          <p:cNvPr id="5632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7347" name="Rectangle 2"/>
          <p:cNvSpPr>
            <a:spLocks noRot="1" noTextEdit="1"/>
          </p:cNvSpPr>
          <p:nvPr>
            <p:ph type="sldImg"/>
          </p:nvPr>
        </p:nvSpPr>
        <p:spPr/>
      </p:sp>
      <p:sp>
        <p:nvSpPr>
          <p:cNvPr id="573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8371" name="Rectangle 2"/>
          <p:cNvSpPr>
            <a:spLocks noRot="1" noTextEdit="1"/>
          </p:cNvSpPr>
          <p:nvPr>
            <p:ph type="sldImg"/>
          </p:nvPr>
        </p:nvSpPr>
        <p:spPr/>
      </p:sp>
      <p:sp>
        <p:nvSpPr>
          <p:cNvPr id="5837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9395" name="Rectangle 2"/>
          <p:cNvSpPr>
            <a:spLocks noRot="1" noTextEdit="1"/>
          </p:cNvSpPr>
          <p:nvPr>
            <p:ph type="sldImg"/>
          </p:nvPr>
        </p:nvSpPr>
        <p:spPr/>
      </p:sp>
      <p:sp>
        <p:nvSpPr>
          <p:cNvPr id="5939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0419" name="Rectangle 2"/>
          <p:cNvSpPr>
            <a:spLocks noRot="1" noTextEdit="1"/>
          </p:cNvSpPr>
          <p:nvPr>
            <p:ph type="sldImg"/>
          </p:nvPr>
        </p:nvSpPr>
        <p:spPr/>
      </p:sp>
      <p:sp>
        <p:nvSpPr>
          <p:cNvPr id="60420" name="Rectangle 3"/>
          <p:cNvSpPr>
            <a:spLocks noGrp="1"/>
          </p:cNvSpPr>
          <p:nvPr>
            <p:ph type="body" idx="1"/>
          </p:nvPr>
        </p:nvSpPr>
        <p:spPr/>
        <p:txBody>
          <a:bodyPr wrap="square" lIns="91440" tIns="45720" rIns="91440" bIns="45720" anchor="t" anchorCtr="0"/>
          <a:p>
            <a:pPr lvl="0" eaLnBrk="1" hangingPunct="1">
              <a:lnSpc>
                <a:spcPct val="120000"/>
              </a:lnSpc>
              <a:spcAft>
                <a:spcPct val="50000"/>
              </a:spcAft>
            </a:pPr>
            <a:r>
              <a:rPr lang="zh-CN" altLang="en-US" dirty="0"/>
              <a:t>定义属性</a:t>
            </a:r>
            <a:r>
              <a:rPr lang="zh-CN" altLang="en-US" dirty="0">
                <a:solidFill>
                  <a:srgbClr val="0000CC"/>
                </a:solidFill>
              </a:rPr>
              <a:t>值</a:t>
            </a:r>
            <a:r>
              <a:rPr lang="zh-CN" altLang="en-US" dirty="0"/>
              <a:t>间的相互关连</a:t>
            </a:r>
            <a:r>
              <a:rPr lang="en-US" altLang="zh-CN" dirty="0"/>
              <a:t>(</a:t>
            </a:r>
            <a:r>
              <a:rPr lang="zh-CN" altLang="en-US" dirty="0"/>
              <a:t>主要体现于值的</a:t>
            </a:r>
            <a:r>
              <a:rPr lang="zh-CN" altLang="en-US" dirty="0">
                <a:solidFill>
                  <a:srgbClr val="0000CC"/>
                </a:solidFill>
              </a:rPr>
              <a:t>相等与否</a:t>
            </a:r>
            <a:r>
              <a:rPr lang="en-US" altLang="zh-CN" dirty="0"/>
              <a:t>)</a:t>
            </a:r>
            <a:r>
              <a:rPr lang="zh-CN" altLang="en-US" dirty="0"/>
              <a:t>，这就是数据依赖，它是数据库模式设计的关键。</a:t>
            </a:r>
            <a:endParaRPr lang="zh-CN" altLang="en-US" dirty="0"/>
          </a:p>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1443" name="Rectangle 2"/>
          <p:cNvSpPr>
            <a:spLocks noRot="1" noTextEdit="1"/>
          </p:cNvSpPr>
          <p:nvPr>
            <p:ph type="sldImg"/>
          </p:nvPr>
        </p:nvSpPr>
        <p:spPr/>
      </p:sp>
      <p:sp>
        <p:nvSpPr>
          <p:cNvPr id="61444"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t>关系模式由五部分组成，它是一个五元组</a:t>
            </a:r>
            <a:endParaRPr lang="zh-CN" altLang="en-US" dirty="0"/>
          </a:p>
          <a:p>
            <a:pPr lvl="0" eaLnBrk="1" hangingPunct="1">
              <a:lnSpc>
                <a:spcPct val="110000"/>
              </a:lnSpc>
            </a:pPr>
            <a:r>
              <a:rPr lang="zh-CN" altLang="en-US" dirty="0"/>
              <a:t>                    </a:t>
            </a:r>
            <a:r>
              <a:rPr lang="en-US" altLang="zh-CN" dirty="0">
                <a:solidFill>
                  <a:srgbClr val="0000CC"/>
                </a:solidFill>
              </a:rPr>
              <a:t>R ( U, D, DOM, F )</a:t>
            </a:r>
            <a:endParaRPr lang="en-US" altLang="zh-CN" dirty="0">
              <a:solidFill>
                <a:srgbClr val="0000CC"/>
              </a:solidFill>
            </a:endParaRPr>
          </a:p>
          <a:p>
            <a:pPr lvl="1" eaLnBrk="1" hangingPunct="1">
              <a:lnSpc>
                <a:spcPct val="110000"/>
              </a:lnSpc>
              <a:spcBef>
                <a:spcPct val="25000"/>
              </a:spcBef>
            </a:pPr>
            <a:r>
              <a:rPr lang="en-US" altLang="zh-CN" sz="1400" dirty="0"/>
              <a:t>R</a:t>
            </a:r>
            <a:r>
              <a:rPr lang="zh-CN" altLang="en-US" sz="1400" dirty="0"/>
              <a:t>：	  关系名</a:t>
            </a:r>
            <a:endParaRPr lang="zh-CN" altLang="en-US" sz="1400" dirty="0"/>
          </a:p>
          <a:p>
            <a:pPr lvl="1" eaLnBrk="1" hangingPunct="1">
              <a:lnSpc>
                <a:spcPct val="110000"/>
              </a:lnSpc>
              <a:spcBef>
                <a:spcPct val="0"/>
              </a:spcBef>
            </a:pPr>
            <a:r>
              <a:rPr lang="en-US" altLang="zh-CN" sz="1400" dirty="0"/>
              <a:t>U</a:t>
            </a:r>
            <a:r>
              <a:rPr lang="zh-CN" altLang="en-US" sz="1400" dirty="0"/>
              <a:t>：	  组成该关系的属性名集合</a:t>
            </a:r>
            <a:endParaRPr lang="zh-CN" altLang="en-US" sz="1400" dirty="0"/>
          </a:p>
          <a:p>
            <a:pPr lvl="1" eaLnBrk="1" hangingPunct="1">
              <a:lnSpc>
                <a:spcPct val="110000"/>
              </a:lnSpc>
              <a:spcBef>
                <a:spcPct val="0"/>
              </a:spcBef>
            </a:pPr>
            <a:r>
              <a:rPr lang="en-US" altLang="zh-CN" sz="1400" dirty="0"/>
              <a:t>D</a:t>
            </a:r>
            <a:r>
              <a:rPr lang="zh-CN" altLang="en-US" sz="1400" dirty="0"/>
              <a:t>：	  属性组</a:t>
            </a:r>
            <a:r>
              <a:rPr lang="en-US" altLang="zh-CN" sz="1400" dirty="0"/>
              <a:t>U</a:t>
            </a:r>
            <a:r>
              <a:rPr lang="zh-CN" altLang="en-US" sz="1400" dirty="0"/>
              <a:t>中属性所来自的域</a:t>
            </a:r>
            <a:endParaRPr lang="zh-CN" altLang="en-US" sz="1400" dirty="0"/>
          </a:p>
          <a:p>
            <a:pPr lvl="1" eaLnBrk="1" hangingPunct="1">
              <a:lnSpc>
                <a:spcPct val="110000"/>
              </a:lnSpc>
              <a:spcBef>
                <a:spcPct val="0"/>
              </a:spcBef>
            </a:pPr>
            <a:r>
              <a:rPr lang="en-US" altLang="zh-CN" sz="1400" dirty="0"/>
              <a:t>DOM</a:t>
            </a:r>
            <a:r>
              <a:rPr lang="zh-CN" altLang="en-US" sz="1400" dirty="0"/>
              <a:t>：属性向域的映象集合</a:t>
            </a:r>
            <a:endParaRPr lang="zh-CN" altLang="en-US" sz="1400" dirty="0"/>
          </a:p>
          <a:p>
            <a:pPr lvl="1" eaLnBrk="1" hangingPunct="1">
              <a:lnSpc>
                <a:spcPct val="110000"/>
              </a:lnSpc>
              <a:spcBef>
                <a:spcPct val="0"/>
              </a:spcBef>
            </a:pPr>
            <a:r>
              <a:rPr lang="en-US" altLang="zh-CN" sz="1400" dirty="0">
                <a:solidFill>
                  <a:srgbClr val="0000CC"/>
                </a:solidFill>
              </a:rPr>
              <a:t>F</a:t>
            </a:r>
            <a:r>
              <a:rPr lang="zh-CN" altLang="en-US" sz="1400" dirty="0">
                <a:solidFill>
                  <a:srgbClr val="0000CC"/>
                </a:solidFill>
              </a:rPr>
              <a:t>：	  属性间数据的依赖关系集合</a:t>
            </a:r>
            <a:endParaRPr lang="zh-CN" altLang="en-US" sz="1400" dirty="0">
              <a:solidFill>
                <a:srgbClr val="0000CC"/>
              </a:solidFill>
            </a:endParaRPr>
          </a:p>
          <a:p>
            <a:pPr lvl="0" eaLnBrk="1" hangingPunct="1"/>
            <a:endParaRPr lang="zh-CN" altLang="en-US" sz="1400" dirty="0">
              <a:solidFill>
                <a:srgbClr val="010103"/>
              </a:solidFill>
            </a:endParaRPr>
          </a:p>
          <a:p>
            <a:pPr lvl="0" eaLnBrk="1" hangingPunct="1"/>
            <a:r>
              <a:rPr lang="en-US" altLang="zh-CN" sz="1400" dirty="0">
                <a:solidFill>
                  <a:srgbClr val="010103"/>
                </a:solidFill>
              </a:rPr>
              <a:t>D</a:t>
            </a:r>
            <a:r>
              <a:rPr lang="zh-CN" altLang="en-US" sz="1400" dirty="0">
                <a:solidFill>
                  <a:srgbClr val="010103"/>
                </a:solidFill>
              </a:rPr>
              <a:t>和</a:t>
            </a:r>
            <a:r>
              <a:rPr lang="en-US" altLang="zh-CN" sz="1400" dirty="0">
                <a:solidFill>
                  <a:srgbClr val="010103"/>
                </a:solidFill>
              </a:rPr>
              <a:t>dom</a:t>
            </a:r>
            <a:r>
              <a:rPr lang="zh-CN" altLang="en-US" sz="1400" dirty="0">
                <a:solidFill>
                  <a:srgbClr val="010103"/>
                </a:solidFill>
              </a:rPr>
              <a:t>对模式设计关系不大，因此，可把关系模式看作是一个三元组：</a:t>
            </a:r>
            <a:r>
              <a:rPr lang="en-US" altLang="zh-CN" sz="1400" dirty="0">
                <a:solidFill>
                  <a:srgbClr val="0000CC"/>
                </a:solidFill>
              </a:rPr>
              <a:t>R&lt;U,F&gt;</a:t>
            </a:r>
            <a:r>
              <a:rPr lang="zh-CN" altLang="en-US" sz="1400" dirty="0">
                <a:solidFill>
                  <a:srgbClr val="0000CC"/>
                </a:solidFill>
              </a:rPr>
              <a:t>。</a:t>
            </a:r>
            <a:endParaRPr lang="zh-CN" altLang="en-US" sz="1400" dirty="0">
              <a:solidFill>
                <a:srgbClr val="0000CC"/>
              </a:solidFill>
            </a:endParaRPr>
          </a:p>
          <a:p>
            <a:pPr lvl="0" eaLnBrk="1" hangingPunct="1"/>
            <a:endParaRPr lang="zh-CN" altLang="en-US" dirty="0"/>
          </a:p>
          <a:p>
            <a:pPr lvl="0" eaLnBrk="1" hangingPunct="1"/>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2467" name="Rectangle 2"/>
          <p:cNvSpPr>
            <a:spLocks noRot="1" noTextEdit="1"/>
          </p:cNvSpPr>
          <p:nvPr>
            <p:ph type="sldImg"/>
          </p:nvPr>
        </p:nvSpPr>
        <p:spPr/>
      </p:sp>
      <p:sp>
        <p:nvSpPr>
          <p:cNvPr id="62468" name="Rectangle 3"/>
          <p:cNvSpPr>
            <a:spLocks noGrp="1"/>
          </p:cNvSpPr>
          <p:nvPr>
            <p:ph type="body" idx="1"/>
          </p:nvPr>
        </p:nvSpPr>
        <p:spPr/>
        <p:txBody>
          <a:bodyPr wrap="square" lIns="91440" tIns="45720" rIns="91440" bIns="45720" anchor="t" anchorCtr="0"/>
          <a:p>
            <a:pPr lvl="0" eaLnBrk="1" hangingPunct="1"/>
            <a:r>
              <a:rPr lang="en-US" altLang="zh-CN" dirty="0"/>
              <a:t>(1) </a:t>
            </a:r>
            <a:r>
              <a:rPr lang="zh-CN" altLang="en-US" dirty="0"/>
              <a:t>数据冗余太大：例：每一个系主任的姓名重复出现。</a:t>
            </a:r>
            <a:endParaRPr lang="zh-CN" altLang="en-US" dirty="0"/>
          </a:p>
          <a:p>
            <a:pPr lvl="0" eaLnBrk="1" hangingPunct="1"/>
            <a:r>
              <a:rPr lang="en-US" altLang="zh-CN" dirty="0"/>
              <a:t>(2) </a:t>
            </a:r>
            <a:r>
              <a:rPr lang="zh-CN" altLang="en-US" dirty="0"/>
              <a:t>更新异常</a:t>
            </a:r>
            <a:r>
              <a:rPr lang="en-US" altLang="zh-CN" dirty="0"/>
              <a:t>(Update Anomalies)</a:t>
            </a:r>
            <a:r>
              <a:rPr lang="zh-CN" altLang="en-US" dirty="0"/>
              <a:t>：例：某系更换系主任后，系统必须修改与该系学生有关的每一个元组。</a:t>
            </a:r>
            <a:endParaRPr lang="zh-CN" altLang="en-US" dirty="0"/>
          </a:p>
          <a:p>
            <a:pPr lvl="0" eaLnBrk="1" hangingPunct="1">
              <a:lnSpc>
                <a:spcPct val="95000"/>
              </a:lnSpc>
            </a:pPr>
            <a:r>
              <a:rPr lang="en-US" altLang="zh-CN" dirty="0"/>
              <a:t>(3) </a:t>
            </a:r>
            <a:r>
              <a:rPr lang="zh-CN" altLang="en-US" dirty="0"/>
              <a:t>插入异常</a:t>
            </a:r>
            <a:r>
              <a:rPr lang="en-US" altLang="zh-CN" dirty="0"/>
              <a:t>(Insertion Anomalies)</a:t>
            </a:r>
            <a:r>
              <a:rPr lang="zh-CN" altLang="en-US" dirty="0"/>
              <a:t>： 例，如果一个系刚成立，尚无学生，我们就无法把这个系及其系主任的信息存入数据库。</a:t>
            </a:r>
            <a:endParaRPr lang="zh-CN" altLang="en-US" dirty="0"/>
          </a:p>
          <a:p>
            <a:pPr lvl="0" eaLnBrk="1" hangingPunct="1">
              <a:lnSpc>
                <a:spcPct val="95000"/>
              </a:lnSpc>
            </a:pPr>
            <a:r>
              <a:rPr lang="en-US" altLang="zh-CN" dirty="0"/>
              <a:t>(4) </a:t>
            </a:r>
            <a:r>
              <a:rPr lang="zh-CN" altLang="en-US" dirty="0"/>
              <a:t>删除异常</a:t>
            </a:r>
            <a:r>
              <a:rPr lang="en-US" altLang="zh-CN" dirty="0"/>
              <a:t>(Deletion Anomalies)</a:t>
            </a:r>
            <a:r>
              <a:rPr lang="zh-CN" altLang="en-US" dirty="0"/>
              <a:t>：例，如果某个系的学生全部毕业了， 我们在删除该系学生信息的同时，把这个系及其系主任的信息也丢掉了。</a:t>
            </a:r>
            <a:endParaRPr lang="zh-CN" altLang="en-US" dirty="0"/>
          </a:p>
          <a:p>
            <a:pPr lvl="0" eaLnBrk="1" hangingPunct="1"/>
            <a:endParaRPr lang="en-US"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3491" name="Rectangle 2"/>
          <p:cNvSpPr>
            <a:spLocks noRot="1" noTextEdit="1"/>
          </p:cNvSpPr>
          <p:nvPr>
            <p:ph type="sldImg"/>
          </p:nvPr>
        </p:nvSpPr>
        <p:spPr/>
      </p:sp>
      <p:sp>
        <p:nvSpPr>
          <p:cNvPr id="63492"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solidFill>
                  <a:srgbClr val="010103"/>
                </a:solidFill>
              </a:rPr>
              <a:t>设计理论的核心是数据相关性，它是现实世界事物性质相关性的反映。</a:t>
            </a:r>
            <a:endParaRPr lang="zh-CN" altLang="en-US" dirty="0">
              <a:solidFill>
                <a:srgbClr val="010103"/>
              </a:solidFill>
            </a:endParaRPr>
          </a:p>
          <a:p>
            <a:pPr lvl="0" eaLnBrk="1" hangingPunct="1">
              <a:lnSpc>
                <a:spcPct val="110000"/>
              </a:lnSpc>
              <a:spcBef>
                <a:spcPct val="50000"/>
              </a:spcBef>
            </a:pPr>
            <a:r>
              <a:rPr lang="zh-CN" altLang="en-US" dirty="0">
                <a:solidFill>
                  <a:srgbClr val="010103"/>
                </a:solidFill>
              </a:rPr>
              <a:t>函数相关性 </a:t>
            </a:r>
            <a:r>
              <a:rPr lang="en-US" altLang="zh-CN" dirty="0">
                <a:solidFill>
                  <a:srgbClr val="010103"/>
                </a:solidFill>
              </a:rPr>
              <a:t>( </a:t>
            </a:r>
            <a:r>
              <a:rPr lang="zh-CN" altLang="en-US" dirty="0">
                <a:solidFill>
                  <a:srgbClr val="010103"/>
                </a:solidFill>
              </a:rPr>
              <a:t>依赖性 </a:t>
            </a:r>
            <a:r>
              <a:rPr lang="en-US" altLang="zh-CN" dirty="0">
                <a:solidFill>
                  <a:srgbClr val="010103"/>
                </a:solidFill>
              </a:rPr>
              <a:t>) </a:t>
            </a:r>
            <a:r>
              <a:rPr lang="zh-CN" altLang="en-US" dirty="0">
                <a:solidFill>
                  <a:srgbClr val="010103"/>
                </a:solidFill>
              </a:rPr>
              <a:t>是最重要的一种数据相关性。</a:t>
            </a:r>
            <a:endParaRPr lang="zh-CN" altLang="en-US" dirty="0">
              <a:solidFill>
                <a:srgbClr val="010103"/>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4515" name="Rectangle 2"/>
          <p:cNvSpPr>
            <a:spLocks noRot="1" noTextEdit="1"/>
          </p:cNvSpPr>
          <p:nvPr>
            <p:ph type="sldImg"/>
          </p:nvPr>
        </p:nvSpPr>
        <p:spPr/>
      </p:sp>
      <p:sp>
        <p:nvSpPr>
          <p:cNvPr id="64516" name="Rectangle 3"/>
          <p:cNvSpPr>
            <a:spLocks noGrp="1"/>
          </p:cNvSpPr>
          <p:nvPr>
            <p:ph type="body" idx="1"/>
          </p:nvPr>
        </p:nvSpPr>
        <p:spPr/>
        <p:txBody>
          <a:bodyPr wrap="square" lIns="91440" tIns="45720" rIns="91440" bIns="45720" anchor="t" anchorCtr="0"/>
          <a:p>
            <a:pPr lvl="0" eaLnBrk="1" hangingPunct="1"/>
            <a:r>
              <a:rPr lang="zh-CN" altLang="en-US" dirty="0"/>
              <a:t>函数依赖不是关系模式</a:t>
            </a:r>
            <a:r>
              <a:rPr lang="en-US" altLang="zh-CN" dirty="0"/>
              <a:t>R</a:t>
            </a:r>
            <a:r>
              <a:rPr lang="zh-CN" altLang="en-US" dirty="0"/>
              <a:t>的某些关系实例所满足的约束条件，而是指</a:t>
            </a:r>
            <a:r>
              <a:rPr lang="en-US" altLang="zh-CN" dirty="0"/>
              <a:t>R</a:t>
            </a:r>
            <a:r>
              <a:rPr lang="zh-CN" altLang="en-US" dirty="0"/>
              <a:t>的</a:t>
            </a:r>
            <a:r>
              <a:rPr lang="zh-CN" altLang="en-US" dirty="0">
                <a:solidFill>
                  <a:srgbClr val="0000CC"/>
                </a:solidFill>
              </a:rPr>
              <a:t>所有关系实例</a:t>
            </a:r>
            <a:r>
              <a:rPr lang="zh-CN" altLang="en-US" dirty="0"/>
              <a:t>都要满足的约束条件。</a:t>
            </a:r>
            <a:endParaRPr lang="zh-CN" altLang="en-US" dirty="0"/>
          </a:p>
          <a:p>
            <a:pPr lvl="0" eaLnBrk="1" hangingPunct="1">
              <a:lnSpc>
                <a:spcPct val="160000"/>
              </a:lnSpc>
            </a:pPr>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5539" name="Rectangle 2"/>
          <p:cNvSpPr>
            <a:spLocks noRot="1" noTextEdit="1"/>
          </p:cNvSpPr>
          <p:nvPr>
            <p:ph type="sldImg"/>
          </p:nvPr>
        </p:nvSpPr>
        <p:spPr/>
      </p:sp>
      <p:sp>
        <p:nvSpPr>
          <p:cNvPr id="65540" name="Rectangle 3"/>
          <p:cNvSpPr>
            <a:spLocks noGrp="1"/>
          </p:cNvSpPr>
          <p:nvPr>
            <p:ph type="body" idx="1"/>
          </p:nvPr>
        </p:nvSpPr>
        <p:spPr/>
        <p:txBody>
          <a:bodyPr wrap="square" lIns="91440" tIns="45720" rIns="91440" bIns="45720" anchor="t" anchorCtr="0"/>
          <a:p>
            <a:pPr lvl="0" eaLnBrk="1" hangingPunct="1"/>
            <a:r>
              <a:rPr lang="zh-CN" altLang="en-US" dirty="0"/>
              <a:t>数据库设计者可以对现实世界作强制的规定。</a:t>
            </a:r>
            <a:endParaRPr lang="zh-CN" altLang="en-US" dirty="0"/>
          </a:p>
          <a:p>
            <a:pPr lvl="0" eaLnBrk="1" hangingPunct="1">
              <a:lnSpc>
                <a:spcPct val="160000"/>
              </a:lnSpc>
            </a:pPr>
            <a:r>
              <a:rPr lang="zh-CN" altLang="en-US" dirty="0"/>
              <a:t>数据依赖就是关系模式中属性值之间的既相互依赖又相互制约的对应关系，即反映的是现实世界的约束关系。</a:t>
            </a:r>
            <a:endParaRPr lang="zh-CN" altLang="en-US" dirty="0"/>
          </a:p>
          <a:p>
            <a:pPr lvl="0" eaLnBrk="1" hangingPunct="1">
              <a:lnSpc>
                <a:spcPct val="160000"/>
              </a:lnSpc>
            </a:pPr>
            <a:r>
              <a:rPr lang="zh-CN" altLang="en-US" dirty="0"/>
              <a:t>对于一个确定的关系模式，通常是根据语义来确定函数依赖性的存在与否。</a:t>
            </a:r>
            <a:endParaRPr lang="zh-CN" altLang="en-US" dirty="0"/>
          </a:p>
          <a:p>
            <a:pPr lvl="0" eaLnBrk="1" hangingPunct="1"/>
            <a:endParaRPr lang="zh-CN" altLang="en-US" dirty="0">
              <a:sym typeface="Symbol" panose="05050102010706020507" pitchFamily="18" charset="2"/>
            </a:endParaRPr>
          </a:p>
          <a:p>
            <a:pPr lvl="0" eaLnBrk="1" hangingPunct="1">
              <a:lnSpc>
                <a:spcPct val="160000"/>
              </a:lnSpc>
            </a:pPr>
            <a:endParaRPr lang="en-US" altLang="zh-CN" dirty="0">
              <a:solidFill>
                <a:srgbClr val="010103"/>
              </a:solidFill>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6563" name="Rectangle 2"/>
          <p:cNvSpPr>
            <a:spLocks noRot="1" noTextEdit="1"/>
          </p:cNvSpPr>
          <p:nvPr>
            <p:ph type="sldImg"/>
          </p:nvPr>
        </p:nvSpPr>
        <p:spPr/>
      </p:sp>
      <p:sp>
        <p:nvSpPr>
          <p:cNvPr id="66564" name="Rectangle 3"/>
          <p:cNvSpPr>
            <a:spLocks noGrp="1"/>
          </p:cNvSpPr>
          <p:nvPr>
            <p:ph type="body" idx="1"/>
          </p:nvPr>
        </p:nvSpPr>
        <p:spPr/>
        <p:txBody>
          <a:bodyPr wrap="square" lIns="91440" tIns="45720" rIns="91440" bIns="45720" anchor="t" anchorCtr="0"/>
          <a:p>
            <a:pPr lvl="0" eaLnBrk="1" hangingPunct="1">
              <a:lnSpc>
                <a:spcPct val="110000"/>
              </a:lnSpc>
            </a:pPr>
            <a:r>
              <a:rPr lang="en-US" altLang="zh-CN" dirty="0"/>
              <a:t>2</a:t>
            </a:r>
            <a:r>
              <a:rPr lang="zh-CN" altLang="en-US" dirty="0"/>
              <a:t>、例如“姓名→年龄”这个函数依赖只有在不允许有同名人的条件下成立</a:t>
            </a:r>
            <a:endParaRPr lang="zh-CN" altLang="en-US" dirty="0"/>
          </a:p>
          <a:p>
            <a:pPr lvl="0" eaLnBrk="1" hangingPunct="1">
              <a:lnSpc>
                <a:spcPct val="110000"/>
              </a:lnSpc>
            </a:pPr>
            <a:r>
              <a:rPr lang="en-US" altLang="zh-CN" dirty="0"/>
              <a:t>3</a:t>
            </a:r>
            <a:r>
              <a:rPr lang="zh-CN" altLang="en-US" dirty="0"/>
              <a:t>、例如规定不允许同名人出现，函数依赖“姓名→年龄”成立。所插入的元组必须满足规定的函数依赖，若发现有同名人存在， 则拒绝装入该元组。</a:t>
            </a:r>
            <a:endParaRPr lang="zh-CN" altLang="en-US" sz="1400" dirty="0"/>
          </a:p>
          <a:p>
            <a:pPr lvl="0" eaLnBrk="1" hangingPunct="1">
              <a:lnSpc>
                <a:spcPct val="160000"/>
              </a:lnSpc>
            </a:pPr>
            <a:endParaRPr lang="en-US" altLang="zh-CN" dirty="0">
              <a:solidFill>
                <a:srgbClr val="010103"/>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7587" name="Rectangle 2"/>
          <p:cNvSpPr>
            <a:spLocks noRot="1"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r>
              <a:rPr lang="zh-CN" altLang="en-US" dirty="0"/>
              <a:t>判断是否函数依赖的算法</a:t>
            </a:r>
            <a:r>
              <a:rPr lang="en-US" altLang="zh-CN" dirty="0"/>
              <a:t>:</a:t>
            </a:r>
            <a:r>
              <a:rPr lang="zh-CN" altLang="en-US" sz="1400" dirty="0">
                <a:solidFill>
                  <a:srgbClr val="0000CC"/>
                </a:solidFill>
              </a:rPr>
              <a:t>计算</a:t>
            </a:r>
            <a:r>
              <a:rPr lang="zh-CN" altLang="en-US" sz="1400" dirty="0">
                <a:solidFill>
                  <a:srgbClr val="0000CC"/>
                </a:solidFill>
                <a:sym typeface="Symbol" panose="05050102010706020507" pitchFamily="18" charset="2"/>
              </a:rPr>
              <a:t></a:t>
            </a:r>
            <a:r>
              <a:rPr lang="en-US" altLang="zh-CN" sz="1400" baseline="-25000" dirty="0">
                <a:solidFill>
                  <a:srgbClr val="0000CC"/>
                </a:solidFill>
                <a:sym typeface="Symbol" panose="05050102010706020507" pitchFamily="18" charset="2"/>
              </a:rPr>
              <a:t>X,Y</a:t>
            </a:r>
            <a:r>
              <a:rPr lang="en-US" altLang="zh-CN" sz="1400" dirty="0">
                <a:solidFill>
                  <a:srgbClr val="0000CC"/>
                </a:solidFill>
                <a:sym typeface="Symbol" panose="05050102010706020507" pitchFamily="18" charset="2"/>
              </a:rPr>
              <a:t>(r)</a:t>
            </a:r>
            <a:r>
              <a:rPr lang="zh-CN" altLang="en-US" sz="1400" dirty="0">
                <a:solidFill>
                  <a:srgbClr val="0000CC"/>
                </a:solidFill>
                <a:sym typeface="Symbol" panose="05050102010706020507" pitchFamily="18" charset="2"/>
              </a:rPr>
              <a:t>，若</a:t>
            </a:r>
            <a:r>
              <a:rPr lang="en-US" altLang="zh-CN" sz="1400" dirty="0">
                <a:solidFill>
                  <a:srgbClr val="0000CC"/>
                </a:solidFill>
                <a:sym typeface="Symbol" panose="05050102010706020507" pitchFamily="18" charset="2"/>
              </a:rPr>
              <a:t>X</a:t>
            </a:r>
            <a:r>
              <a:rPr lang="zh-CN" altLang="en-US" sz="1400" dirty="0">
                <a:solidFill>
                  <a:srgbClr val="0000CC"/>
                </a:solidFill>
                <a:sym typeface="Symbol" panose="05050102010706020507" pitchFamily="18" charset="2"/>
              </a:rPr>
              <a:t>列无重复值，则有</a:t>
            </a:r>
            <a:r>
              <a:rPr lang="en-US" altLang="zh-CN" sz="1400" dirty="0">
                <a:solidFill>
                  <a:srgbClr val="0000CC"/>
                </a:solidFill>
                <a:sym typeface="Symbol" panose="05050102010706020507" pitchFamily="18" charset="2"/>
              </a:rPr>
              <a:t>X→Y</a:t>
            </a:r>
            <a:r>
              <a:rPr lang="zh-CN" altLang="en-US" sz="1400" dirty="0">
                <a:solidFill>
                  <a:srgbClr val="0000CC"/>
                </a:solidFill>
                <a:sym typeface="Symbol" panose="05050102010706020507" pitchFamily="18" charset="2"/>
              </a:rPr>
              <a:t>。</a:t>
            </a:r>
            <a:endParaRPr lang="zh-CN" altLang="en-US" sz="1400" dirty="0">
              <a:solidFill>
                <a:srgbClr val="010103"/>
              </a:solidFill>
            </a:endParaRPr>
          </a:p>
          <a:p>
            <a:pPr lvl="0" eaLnBrk="1" hangingPunct="1"/>
            <a:endParaRPr lang="en-US"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8611" name="Rectangle 2"/>
          <p:cNvSpPr>
            <a:spLocks noRot="1" noTextEdit="1"/>
          </p:cNvSpPr>
          <p:nvPr>
            <p:ph type="sldImg"/>
          </p:nvPr>
        </p:nvSpPr>
        <p:spPr/>
      </p:sp>
      <p:sp>
        <p:nvSpPr>
          <p:cNvPr id="68612" name="Rectangle 3"/>
          <p:cNvSpPr>
            <a:spLocks noGrp="1"/>
          </p:cNvSpPr>
          <p:nvPr>
            <p:ph type="body" idx="1"/>
          </p:nvPr>
        </p:nvSpPr>
        <p:spPr/>
        <p:txBody>
          <a:bodyPr wrap="square" lIns="91440" tIns="45720" rIns="91440" bIns="45720" anchor="t" anchorCtr="0"/>
          <a:p>
            <a:pPr lvl="0" eaLnBrk="1" hangingPunct="1"/>
            <a:r>
              <a:rPr lang="zh-CN" altLang="en-US" sz="1400" dirty="0"/>
              <a:t>于任一关系模式，平凡函数依赖都是必然成立的，它不反映新的语义，因此若不特别声明， 我们总是讨论非平凡函数依赖</a:t>
            </a:r>
            <a:r>
              <a:rPr lang="zh-CN" altLang="en-US" dirty="0"/>
              <a:t>。</a:t>
            </a:r>
            <a:endParaRPr lang="zh-CN" altLang="en-US" dirty="0"/>
          </a:p>
          <a:p>
            <a:pPr lvl="0" eaLnBrk="1" hangingPunct="1"/>
            <a:endParaRPr lang="zh-CN" altLang="en-US" sz="1400" dirty="0"/>
          </a:p>
          <a:p>
            <a:pPr lvl="0"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9635" name="Rectangle 2"/>
          <p:cNvSpPr>
            <a:spLocks noRot="1" noTextEdit="1"/>
          </p:cNvSpPr>
          <p:nvPr>
            <p:ph type="sldImg"/>
          </p:nvPr>
        </p:nvSpPr>
        <p:spPr/>
      </p:sp>
      <p:sp>
        <p:nvSpPr>
          <p:cNvPr id="696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0659" name="Rectangle 2"/>
          <p:cNvSpPr>
            <a:spLocks noRot="1"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r>
              <a:rPr lang="zh-CN" altLang="en-US" dirty="0">
                <a:solidFill>
                  <a:srgbClr val="010103"/>
                </a:solidFill>
              </a:rPr>
              <a:t>完全函数依赖</a:t>
            </a:r>
            <a:r>
              <a:rPr lang="en-US" altLang="zh-CN" dirty="0">
                <a:solidFill>
                  <a:srgbClr val="010103"/>
                </a:solidFill>
              </a:rPr>
              <a:t>(</a:t>
            </a:r>
            <a:r>
              <a:rPr lang="en-US" altLang="zh-CN" dirty="0">
                <a:solidFill>
                  <a:srgbClr val="010103"/>
                </a:solidFill>
                <a:ea typeface="Arial Unicode MS" pitchFamily="34" charset="-122"/>
              </a:rPr>
              <a:t>full functional dependency)</a:t>
            </a:r>
            <a:endParaRPr lang="en-US" altLang="zh-CN" dirty="0">
              <a:solidFill>
                <a:srgbClr val="010103"/>
              </a:solidFill>
              <a:ea typeface="Arial Unicode MS" pitchFamily="34" charset="-122"/>
            </a:endParaRPr>
          </a:p>
          <a:p>
            <a:pPr lvl="0" eaLnBrk="1" hangingPunct="1"/>
            <a:r>
              <a:rPr lang="zh-CN" altLang="en-US" dirty="0">
                <a:solidFill>
                  <a:schemeClr val="tx2"/>
                </a:solidFill>
                <a:latin typeface="宋体" panose="02010600030101010101" pitchFamily="2" charset="-122"/>
              </a:rPr>
              <a:t>部分函数依赖（</a:t>
            </a:r>
            <a:r>
              <a:rPr lang="en-US" altLang="zh-CN" dirty="0">
                <a:solidFill>
                  <a:schemeClr val="tx2"/>
                </a:solidFill>
                <a:ea typeface="Arial Unicode MS" pitchFamily="34" charset="-122"/>
              </a:rPr>
              <a:t>partial functional dependency</a:t>
            </a:r>
            <a:r>
              <a:rPr lang="zh-CN" altLang="en-US" dirty="0">
                <a:solidFill>
                  <a:schemeClr val="tx2"/>
                </a:solidFill>
                <a:latin typeface="宋体" panose="02010600030101010101" pitchFamily="2" charset="-122"/>
              </a:rPr>
              <a:t>）</a:t>
            </a:r>
            <a:endParaRPr lang="zh-CN" altLang="en-US" dirty="0">
              <a:solidFill>
                <a:schemeClr val="tx2"/>
              </a:solidFill>
              <a:latin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1683" name="Rectangle 2"/>
          <p:cNvSpPr>
            <a:spLocks noRot="1"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2707" name="Rectangle 2"/>
          <p:cNvSpPr>
            <a:spLocks noRot="1" noTextEdit="1"/>
          </p:cNvSpPr>
          <p:nvPr>
            <p:ph type="sldImg"/>
          </p:nvPr>
        </p:nvSpPr>
        <p:spPr/>
      </p:sp>
      <p:sp>
        <p:nvSpPr>
          <p:cNvPr id="72708" name="Rectangle 3"/>
          <p:cNvSpPr>
            <a:spLocks noGrp="1"/>
          </p:cNvSpPr>
          <p:nvPr>
            <p:ph type="body" idx="1"/>
          </p:nvPr>
        </p:nvSpPr>
        <p:spPr/>
        <p:txBody>
          <a:bodyPr wrap="square" lIns="91440" tIns="45720" rIns="91440" bIns="45720" anchor="t" anchorCtr="0"/>
          <a:p>
            <a:pPr lvl="0" algn="just" eaLnBrk="1" hangingPunct="1"/>
            <a:r>
              <a:rPr lang="zh-CN" altLang="en-US" dirty="0">
                <a:solidFill>
                  <a:schemeClr val="tx2"/>
                </a:solidFill>
                <a:latin typeface="宋体" panose="02010600030101010101" pitchFamily="2" charset="-122"/>
              </a:rPr>
              <a:t>如学生关系</a:t>
            </a:r>
            <a:r>
              <a:rPr lang="en-US" altLang="zh-CN" dirty="0">
                <a:solidFill>
                  <a:schemeClr val="tx2"/>
                </a:solidFill>
                <a:ea typeface="Arial Unicode MS" pitchFamily="34" charset="-122"/>
              </a:rPr>
              <a:t>S(Snum, Sname, Ssex, Dept)</a:t>
            </a:r>
            <a:r>
              <a:rPr lang="zh-CN" altLang="en-US" dirty="0">
                <a:solidFill>
                  <a:schemeClr val="tx2"/>
                </a:solidFill>
                <a:latin typeface="宋体" panose="02010600030101010101" pitchFamily="2" charset="-122"/>
              </a:rPr>
              <a:t>中的学号</a:t>
            </a:r>
            <a:r>
              <a:rPr lang="en-US" altLang="zh-CN" dirty="0">
                <a:solidFill>
                  <a:schemeClr val="tx2"/>
                </a:solidFill>
                <a:ea typeface="Arial Unicode MS" pitchFamily="34" charset="-122"/>
              </a:rPr>
              <a:t>Snum</a:t>
            </a:r>
            <a:r>
              <a:rPr lang="zh-CN" altLang="en-US" dirty="0">
                <a:solidFill>
                  <a:schemeClr val="tx2"/>
                </a:solidFill>
                <a:latin typeface="宋体" panose="02010600030101010101" pitchFamily="2" charset="-122"/>
              </a:rPr>
              <a:t>是码</a:t>
            </a:r>
            <a:r>
              <a:rPr lang="en-US" altLang="zh-CN" dirty="0">
                <a:solidFill>
                  <a:schemeClr val="tx2"/>
                </a:solidFill>
                <a:latin typeface="宋体" panose="02010600030101010101" pitchFamily="2" charset="-122"/>
              </a:rPr>
              <a:t>(</a:t>
            </a:r>
            <a:r>
              <a:rPr lang="zh-CN" altLang="en-US" dirty="0">
                <a:solidFill>
                  <a:schemeClr val="tx2"/>
                </a:solidFill>
                <a:latin typeface="宋体" panose="02010600030101010101" pitchFamily="2" charset="-122"/>
              </a:rPr>
              <a:t>单个属性</a:t>
            </a:r>
            <a:r>
              <a:rPr lang="en-US" altLang="zh-CN" dirty="0">
                <a:solidFill>
                  <a:schemeClr val="tx2"/>
                </a:solidFill>
                <a:latin typeface="宋体" panose="02010600030101010101" pitchFamily="2" charset="-122"/>
              </a:rPr>
              <a:t>)</a:t>
            </a:r>
            <a:r>
              <a:rPr lang="zh-CN" altLang="en-US" dirty="0">
                <a:solidFill>
                  <a:schemeClr val="tx2"/>
                </a:solidFill>
                <a:latin typeface="宋体" panose="02010600030101010101" pitchFamily="2" charset="-122"/>
              </a:rPr>
              <a:t>。</a:t>
            </a:r>
            <a:endParaRPr lang="zh-CN" altLang="en-US" dirty="0">
              <a:solidFill>
                <a:schemeClr val="tx2"/>
              </a:solidFill>
              <a:ea typeface="Arial Unicode MS" pitchFamily="34" charset="-122"/>
            </a:endParaRPr>
          </a:p>
          <a:p>
            <a:pPr lvl="0" eaLnBrk="1" hangingPunct="1"/>
            <a:r>
              <a:rPr lang="zh-CN" altLang="en-US" dirty="0">
                <a:solidFill>
                  <a:schemeClr val="tx2"/>
                </a:solidFill>
                <a:latin typeface="宋体" panose="02010600030101010101" pitchFamily="2" charset="-122"/>
              </a:rPr>
              <a:t>如学生选修关系</a:t>
            </a:r>
            <a:r>
              <a:rPr lang="en-US" altLang="zh-CN" dirty="0">
                <a:solidFill>
                  <a:schemeClr val="tx2"/>
                </a:solidFill>
              </a:rPr>
              <a:t>SC(Snum, Cnum, Score)</a:t>
            </a:r>
            <a:r>
              <a:rPr lang="zh-CN" altLang="en-US" dirty="0">
                <a:solidFill>
                  <a:schemeClr val="tx2"/>
                </a:solidFill>
                <a:latin typeface="宋体" panose="02010600030101010101" pitchFamily="2" charset="-122"/>
              </a:rPr>
              <a:t>中的</a:t>
            </a:r>
            <a:r>
              <a:rPr lang="en-US" altLang="zh-CN" dirty="0">
                <a:solidFill>
                  <a:schemeClr val="tx2"/>
                </a:solidFill>
              </a:rPr>
              <a:t>(Snum, Cnum)</a:t>
            </a:r>
            <a:r>
              <a:rPr lang="zh-CN" altLang="en-US" dirty="0">
                <a:solidFill>
                  <a:schemeClr val="tx2"/>
                </a:solidFill>
                <a:latin typeface="宋体" panose="02010600030101010101" pitchFamily="2" charset="-122"/>
              </a:rPr>
              <a:t>和</a:t>
            </a:r>
            <a:r>
              <a:rPr lang="zh-CN" altLang="en-US" dirty="0">
                <a:solidFill>
                  <a:schemeClr val="tx2"/>
                </a:solidFill>
              </a:rPr>
              <a:t> </a:t>
            </a:r>
            <a:r>
              <a:rPr lang="en-US" altLang="zh-CN" dirty="0">
                <a:solidFill>
                  <a:schemeClr val="tx2"/>
                </a:solidFill>
              </a:rPr>
              <a:t>(Snum, Cnum, Score)</a:t>
            </a:r>
            <a:r>
              <a:rPr lang="zh-CN" altLang="en-US" dirty="0">
                <a:solidFill>
                  <a:schemeClr val="tx2"/>
                </a:solidFill>
                <a:latin typeface="宋体" panose="02010600030101010101" pitchFamily="2" charset="-122"/>
              </a:rPr>
              <a:t>、学生关系</a:t>
            </a:r>
            <a:r>
              <a:rPr lang="en-US" altLang="zh-CN" dirty="0">
                <a:solidFill>
                  <a:schemeClr val="tx2"/>
                </a:solidFill>
              </a:rPr>
              <a:t>S</a:t>
            </a:r>
            <a:r>
              <a:rPr lang="zh-CN" altLang="en-US" dirty="0">
                <a:solidFill>
                  <a:schemeClr val="tx2"/>
                </a:solidFill>
                <a:latin typeface="宋体" panose="02010600030101010101" pitchFamily="2" charset="-122"/>
              </a:rPr>
              <a:t>中的</a:t>
            </a:r>
            <a:r>
              <a:rPr lang="en-US" altLang="zh-CN" dirty="0">
                <a:solidFill>
                  <a:schemeClr val="tx2"/>
                </a:solidFill>
              </a:rPr>
              <a:t>(Snum, Sname)</a:t>
            </a:r>
            <a:r>
              <a:rPr lang="zh-CN" altLang="en-US" dirty="0">
                <a:solidFill>
                  <a:schemeClr val="tx2"/>
                </a:solidFill>
                <a:latin typeface="宋体" panose="02010600030101010101" pitchFamily="2" charset="-122"/>
              </a:rPr>
              <a:t>都是超码</a:t>
            </a:r>
            <a:r>
              <a:rPr lang="zh-CN" altLang="en-US" dirty="0">
                <a:solidFill>
                  <a:schemeClr val="tx2"/>
                </a:solidFill>
              </a:rPr>
              <a:t> </a:t>
            </a:r>
            <a:endParaRPr lang="zh-CN" altLang="en-US" dirty="0">
              <a:solidFill>
                <a:schemeClr val="tx2"/>
              </a:solidFill>
            </a:endParaRPr>
          </a:p>
          <a:p>
            <a:pPr lvl="0" eaLnBrk="1" hangingPunct="1"/>
            <a:endParaRPr lang="zh-CN" altLang="en-US" dirty="0">
              <a:solidFill>
                <a:srgbClr val="010103"/>
              </a:solidFill>
            </a:endParaRPr>
          </a:p>
          <a:p>
            <a:pPr lvl="0" eaLnBrk="1" hangingPunct="1"/>
            <a:r>
              <a:rPr lang="zh-CN" altLang="en-US" dirty="0">
                <a:solidFill>
                  <a:srgbClr val="010103"/>
                </a:solidFill>
              </a:rPr>
              <a:t>候选码</a:t>
            </a:r>
            <a:r>
              <a:rPr lang="en-US" altLang="zh-CN" dirty="0">
                <a:solidFill>
                  <a:srgbClr val="010103"/>
                </a:solidFill>
                <a:ea typeface="Arial Unicode MS" pitchFamily="34" charset="-122"/>
              </a:rPr>
              <a:t>(Candidate Key)</a:t>
            </a:r>
            <a:endParaRPr lang="en-US" altLang="zh-CN" dirty="0">
              <a:solidFill>
                <a:srgbClr val="010103"/>
              </a:solidFill>
              <a:ea typeface="Arial Unicode MS" pitchFamily="34" charset="-122"/>
            </a:endParaRPr>
          </a:p>
          <a:p>
            <a:pPr lvl="0" eaLnBrk="1" hangingPunct="1"/>
            <a:r>
              <a:rPr lang="zh-CN" altLang="en-US" dirty="0">
                <a:solidFill>
                  <a:srgbClr val="010103"/>
                </a:solidFill>
              </a:rPr>
              <a:t>主码</a:t>
            </a:r>
            <a:r>
              <a:rPr lang="en-US" altLang="zh-CN" dirty="0">
                <a:solidFill>
                  <a:srgbClr val="010103"/>
                </a:solidFill>
                <a:ea typeface="Arial Unicode MS" pitchFamily="34" charset="-122"/>
              </a:rPr>
              <a:t>(Primary Key)</a:t>
            </a:r>
            <a:endParaRPr lang="en-US" altLang="zh-CN" dirty="0">
              <a:solidFill>
                <a:srgbClr val="010103"/>
              </a:solidFill>
              <a:ea typeface="Arial Unicode MS" pitchFamily="34" charset="-122"/>
            </a:endParaRPr>
          </a:p>
          <a:p>
            <a:pPr lvl="0" eaLnBrk="1" hangingPunct="1"/>
            <a:r>
              <a:rPr lang="zh-CN" altLang="en-US" dirty="0">
                <a:solidFill>
                  <a:srgbClr val="010103"/>
                </a:solidFill>
                <a:ea typeface="Arial Unicode MS" pitchFamily="34" charset="-122"/>
              </a:rPr>
              <a:t>主属性</a:t>
            </a:r>
            <a:r>
              <a:rPr lang="en-US" altLang="zh-CN" dirty="0">
                <a:solidFill>
                  <a:srgbClr val="010103"/>
                </a:solidFill>
                <a:ea typeface="Arial Unicode MS" pitchFamily="34" charset="-122"/>
              </a:rPr>
              <a:t>(Prime Attribute)</a:t>
            </a:r>
            <a:endParaRPr lang="en-US" altLang="zh-CN" dirty="0">
              <a:solidFill>
                <a:srgbClr val="010103"/>
              </a:solidFill>
              <a:ea typeface="Arial Unicode MS" pitchFamily="34" charset="-122"/>
            </a:endParaRPr>
          </a:p>
          <a:p>
            <a:pPr lvl="0" eaLnBrk="1" hangingPunct="1"/>
            <a:r>
              <a:rPr lang="zh-CN" altLang="en-US" dirty="0">
                <a:solidFill>
                  <a:srgbClr val="010103"/>
                </a:solidFill>
                <a:ea typeface="Arial Unicode MS" pitchFamily="34" charset="-122"/>
              </a:rPr>
              <a:t>非主属性</a:t>
            </a:r>
            <a:r>
              <a:rPr lang="en-US" altLang="zh-CN" dirty="0">
                <a:solidFill>
                  <a:srgbClr val="010103"/>
                </a:solidFill>
                <a:ea typeface="Arial Unicode MS" pitchFamily="34" charset="-122"/>
              </a:rPr>
              <a:t>(Nonprime Attribute)</a:t>
            </a:r>
            <a:endParaRPr lang="en-US" altLang="zh-CN" dirty="0">
              <a:solidFill>
                <a:srgbClr val="010103"/>
              </a:solidFill>
              <a:ea typeface="Arial Unicode MS" pitchFamily="34" charset="-122"/>
            </a:endParaRPr>
          </a:p>
          <a:p>
            <a:pPr lvl="0" eaLnBrk="1" hangingPunct="1"/>
            <a:r>
              <a:rPr lang="zh-CN" altLang="en-US" dirty="0">
                <a:solidFill>
                  <a:srgbClr val="010103"/>
                </a:solidFill>
                <a:ea typeface="Arial Unicode MS" pitchFamily="34" charset="-122"/>
              </a:rPr>
              <a:t>全码</a:t>
            </a:r>
            <a:r>
              <a:rPr lang="en-US" altLang="zh-CN" dirty="0">
                <a:solidFill>
                  <a:srgbClr val="010103"/>
                </a:solidFill>
                <a:ea typeface="Arial Unicode MS" pitchFamily="34" charset="-122"/>
              </a:rPr>
              <a:t>(All-key)</a:t>
            </a:r>
            <a:endParaRPr lang="en-US" altLang="zh-CN" dirty="0">
              <a:solidFill>
                <a:srgbClr val="010103"/>
              </a:solidFill>
              <a:ea typeface="Arial Unicode MS" pitchFamily="34" charset="-122"/>
            </a:endParaRPr>
          </a:p>
          <a:p>
            <a:pPr lvl="0" eaLnBrk="1" hangingPunct="1"/>
            <a:r>
              <a:rPr lang="zh-CN" altLang="en-US" dirty="0">
                <a:solidFill>
                  <a:srgbClr val="010103"/>
                </a:solidFill>
                <a:ea typeface="Arial Unicode MS" pitchFamily="34" charset="-122"/>
              </a:rPr>
              <a:t>超码</a:t>
            </a:r>
            <a:r>
              <a:rPr lang="en-US" altLang="zh-CN" dirty="0">
                <a:solidFill>
                  <a:srgbClr val="010103"/>
                </a:solidFill>
                <a:ea typeface="Arial Unicode MS" pitchFamily="34" charset="-122"/>
              </a:rPr>
              <a:t>(Super key)</a:t>
            </a:r>
            <a:endParaRPr lang="en-US" altLang="zh-CN" dirty="0">
              <a:solidFill>
                <a:srgbClr val="010103"/>
              </a:solidFill>
              <a:ea typeface="Arial Unicode MS" pitchFamily="34" charset="-122"/>
            </a:endParaRPr>
          </a:p>
          <a:p>
            <a:pPr lvl="0" eaLnBrk="1" hangingPunct="1"/>
            <a:endParaRPr lang="en-US" altLang="zh-CN" dirty="0">
              <a:solidFill>
                <a:srgbClr val="010103"/>
              </a:solidFill>
              <a:ea typeface="Arial Unicode MS" pitchFamily="34" charset="-122"/>
            </a:endParaRPr>
          </a:p>
          <a:p>
            <a:pPr lvl="0" eaLnBrk="1" hangingPunct="1"/>
            <a:endParaRPr lang="en-US" altLang="zh-CN" dirty="0">
              <a:solidFill>
                <a:srgbClr val="010103"/>
              </a:solidFill>
              <a:ea typeface="Arial Unicode MS" pitchFamily="34"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3731" name="Rectangle 2"/>
          <p:cNvSpPr>
            <a:spLocks noRot="1"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endParaRPr lang="zh-CN" altLang="zh-CN" dirty="0">
              <a:solidFill>
                <a:srgbClr val="010103"/>
              </a:solidFill>
              <a:ea typeface="Arial Unicode MS" pitchFamily="34"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4755" name="Rectangle 2"/>
          <p:cNvSpPr>
            <a:spLocks noRot="1"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endParaRPr lang="zh-CN" altLang="zh-CN" dirty="0">
              <a:solidFill>
                <a:srgbClr val="010103"/>
              </a:solidFill>
              <a:ea typeface="Arial Unicode MS" pitchFamily="34"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5779" name="Rectangle 2"/>
          <p:cNvSpPr>
            <a:spLocks noRot="1"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6803" name="Rectangle 2"/>
          <p:cNvSpPr>
            <a:spLocks noRot="1" noTextEdit="1"/>
          </p:cNvSpPr>
          <p:nvPr>
            <p:ph type="sldImg"/>
          </p:nvPr>
        </p:nvSpPr>
        <p:spPr/>
      </p:sp>
      <p:sp>
        <p:nvSpPr>
          <p:cNvPr id="76804" name="Rectangle 3"/>
          <p:cNvSpPr>
            <a:spLocks noGrp="1"/>
          </p:cNvSpPr>
          <p:nvPr>
            <p:ph type="body" idx="1"/>
          </p:nvPr>
        </p:nvSpPr>
        <p:spPr/>
        <p:txBody>
          <a:bodyPr wrap="square" lIns="91440" tIns="45720" rIns="91440" bIns="45720" anchor="t" anchorCtr="0"/>
          <a:p>
            <a:pPr lvl="0" eaLnBrk="1" hangingPunct="1">
              <a:lnSpc>
                <a:spcPct val="110000"/>
              </a:lnSpc>
            </a:pPr>
            <a:r>
              <a:rPr lang="zh-CN" altLang="en-US" dirty="0">
                <a:solidFill>
                  <a:srgbClr val="010103"/>
                </a:solidFill>
              </a:rPr>
              <a:t>设计理论的核心是数据相关性，它是现实世界事物性质相关性的反映。</a:t>
            </a:r>
            <a:endParaRPr lang="zh-CN" altLang="en-US" dirty="0">
              <a:solidFill>
                <a:srgbClr val="010103"/>
              </a:solidFill>
            </a:endParaRPr>
          </a:p>
          <a:p>
            <a:pPr lvl="0" eaLnBrk="1" hangingPunct="1">
              <a:lnSpc>
                <a:spcPct val="110000"/>
              </a:lnSpc>
              <a:spcBef>
                <a:spcPct val="50000"/>
              </a:spcBef>
            </a:pPr>
            <a:r>
              <a:rPr lang="zh-CN" altLang="en-US" dirty="0">
                <a:solidFill>
                  <a:srgbClr val="010103"/>
                </a:solidFill>
              </a:rPr>
              <a:t>函数相关性 </a:t>
            </a:r>
            <a:r>
              <a:rPr lang="en-US" altLang="zh-CN" dirty="0">
                <a:solidFill>
                  <a:srgbClr val="010103"/>
                </a:solidFill>
              </a:rPr>
              <a:t>( </a:t>
            </a:r>
            <a:r>
              <a:rPr lang="zh-CN" altLang="en-US" dirty="0">
                <a:solidFill>
                  <a:srgbClr val="010103"/>
                </a:solidFill>
              </a:rPr>
              <a:t>依赖性 </a:t>
            </a:r>
            <a:r>
              <a:rPr lang="en-US" altLang="zh-CN" dirty="0">
                <a:solidFill>
                  <a:srgbClr val="010103"/>
                </a:solidFill>
              </a:rPr>
              <a:t>) </a:t>
            </a:r>
            <a:r>
              <a:rPr lang="zh-CN" altLang="en-US" dirty="0">
                <a:solidFill>
                  <a:srgbClr val="010103"/>
                </a:solidFill>
              </a:rPr>
              <a:t>是最重要的一种数据相关性。</a:t>
            </a:r>
            <a:endParaRPr lang="zh-CN" altLang="en-US" dirty="0">
              <a:solidFill>
                <a:srgbClr val="010103"/>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7827" name="Rectangle 2"/>
          <p:cNvSpPr>
            <a:spLocks noRot="1" noTextEdit="1"/>
          </p:cNvSpPr>
          <p:nvPr>
            <p:ph type="sldImg"/>
          </p:nvPr>
        </p:nvSpPr>
        <p:spPr/>
      </p:sp>
      <p:sp>
        <p:nvSpPr>
          <p:cNvPr id="7782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8851" name="Rectangle 2"/>
          <p:cNvSpPr>
            <a:spLocks noRot="1" noTextEdit="1"/>
          </p:cNvSpPr>
          <p:nvPr>
            <p:ph type="sldImg"/>
          </p:nvPr>
        </p:nvSpPr>
        <p:spPr/>
      </p:sp>
      <p:sp>
        <p:nvSpPr>
          <p:cNvPr id="7885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9875" name="Rectangle 2"/>
          <p:cNvSpPr>
            <a:spLocks noRot="1"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endParaRPr lang="en-US" altLang="zh-CN"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1923" name="Rectangle 2"/>
          <p:cNvSpPr>
            <a:spLocks noRot="1"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r>
              <a:rPr lang="zh-CN" altLang="en-US" dirty="0">
                <a:solidFill>
                  <a:srgbClr val="010103"/>
                </a:solidFill>
              </a:rPr>
              <a:t>根据</a:t>
            </a:r>
            <a:r>
              <a:rPr lang="en-US" altLang="zh-CN" dirty="0">
                <a:solidFill>
                  <a:srgbClr val="010103"/>
                </a:solidFill>
                <a:ea typeface="Arial Unicode MS" pitchFamily="34" charset="-122"/>
              </a:rPr>
              <a:t>Armstrong</a:t>
            </a:r>
            <a:r>
              <a:rPr lang="zh-CN" altLang="en-US" dirty="0">
                <a:solidFill>
                  <a:srgbClr val="010103"/>
                </a:solidFill>
              </a:rPr>
              <a:t>公理的三条推理规则，可得到</a:t>
            </a:r>
            <a:r>
              <a:rPr lang="en-US" altLang="zh-CN" dirty="0">
                <a:solidFill>
                  <a:srgbClr val="010103"/>
                </a:solidFill>
              </a:rPr>
              <a:t>Armstrong</a:t>
            </a:r>
            <a:r>
              <a:rPr lang="zh-CN" altLang="en-US" dirty="0">
                <a:solidFill>
                  <a:srgbClr val="010103"/>
                </a:solidFill>
              </a:rPr>
              <a:t>推论：</a:t>
            </a:r>
            <a:endParaRPr lang="zh-CN" altLang="en-US" dirty="0">
              <a:solidFill>
                <a:srgbClr val="010103"/>
              </a:solidFill>
            </a:endParaRPr>
          </a:p>
          <a:p>
            <a:pPr lvl="1" eaLnBrk="1" hangingPunct="1">
              <a:buChar char="•"/>
            </a:pPr>
            <a:r>
              <a:rPr lang="zh-CN" altLang="en-US" dirty="0">
                <a:solidFill>
                  <a:srgbClr val="010103"/>
                </a:solidFill>
              </a:rPr>
              <a:t>合并规则</a:t>
            </a:r>
            <a:r>
              <a:rPr lang="en-US" altLang="zh-CN" dirty="0">
                <a:solidFill>
                  <a:srgbClr val="010103"/>
                </a:solidFill>
                <a:ea typeface="Arial Unicode MS" pitchFamily="34" charset="-122"/>
              </a:rPr>
              <a:t>(union)</a:t>
            </a:r>
            <a:r>
              <a:rPr lang="zh-CN" altLang="en-US" dirty="0">
                <a:solidFill>
                  <a:srgbClr val="010103"/>
                </a:solidFill>
              </a:rPr>
              <a:t>：由</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rPr>
              <a:t>，</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Z</a:t>
            </a:r>
            <a:r>
              <a:rPr lang="zh-CN" altLang="en-US" dirty="0">
                <a:solidFill>
                  <a:srgbClr val="010103"/>
                </a:solidFill>
              </a:rPr>
              <a:t>，则</a:t>
            </a:r>
            <a:r>
              <a:rPr lang="en-US" altLang="zh-CN" dirty="0">
                <a:solidFill>
                  <a:srgbClr val="010103"/>
                </a:solidFill>
                <a:ea typeface="Arial Unicode MS" pitchFamily="34" charset="-122"/>
              </a:rPr>
              <a:t>X</a:t>
            </a:r>
            <a:r>
              <a:rPr lang="en-US" altLang="zh-CN" dirty="0">
                <a:solidFill>
                  <a:srgbClr val="010103"/>
                </a:solidFill>
              </a:rPr>
              <a:t>→Y</a:t>
            </a:r>
            <a:r>
              <a:rPr lang="en-US" altLang="zh-CN" dirty="0">
                <a:solidFill>
                  <a:srgbClr val="010103"/>
                </a:solidFill>
                <a:ea typeface="Arial Unicode MS" pitchFamily="34" charset="-122"/>
              </a:rPr>
              <a:t>Z</a:t>
            </a:r>
            <a:r>
              <a:rPr lang="zh-CN" altLang="en-US" dirty="0">
                <a:solidFill>
                  <a:srgbClr val="010103"/>
                </a:solidFill>
              </a:rPr>
              <a:t>。（</a:t>
            </a:r>
            <a:r>
              <a:rPr lang="en-US" altLang="zh-CN" dirty="0">
                <a:solidFill>
                  <a:srgbClr val="010103"/>
                </a:solidFill>
              </a:rPr>
              <a:t>A2 A3</a:t>
            </a:r>
            <a:r>
              <a:rPr lang="zh-CN" altLang="en-US" dirty="0">
                <a:solidFill>
                  <a:srgbClr val="010103"/>
                </a:solidFill>
              </a:rPr>
              <a:t>）</a:t>
            </a:r>
            <a:endParaRPr lang="zh-CN" altLang="en-US" dirty="0">
              <a:solidFill>
                <a:srgbClr val="010103"/>
              </a:solidFill>
            </a:endParaRPr>
          </a:p>
          <a:p>
            <a:pPr lvl="1" eaLnBrk="1" hangingPunct="1">
              <a:buChar char="•"/>
            </a:pPr>
            <a:r>
              <a:rPr lang="zh-CN" altLang="en-US" dirty="0">
                <a:solidFill>
                  <a:srgbClr val="010103"/>
                </a:solidFill>
              </a:rPr>
              <a:t>分解规则</a:t>
            </a:r>
            <a:r>
              <a:rPr lang="en-US" altLang="zh-CN" dirty="0">
                <a:solidFill>
                  <a:srgbClr val="010103"/>
                </a:solidFill>
                <a:ea typeface="Arial Unicode MS" pitchFamily="34" charset="-122"/>
              </a:rPr>
              <a:t>(decomposition)</a:t>
            </a:r>
            <a:r>
              <a:rPr lang="zh-CN" altLang="en-US" dirty="0">
                <a:solidFill>
                  <a:srgbClr val="010103"/>
                </a:solidFill>
              </a:rPr>
              <a:t>：由</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YZ</a:t>
            </a:r>
            <a:r>
              <a:rPr lang="zh-CN" altLang="en-US" dirty="0">
                <a:solidFill>
                  <a:srgbClr val="010103"/>
                </a:solidFill>
              </a:rPr>
              <a:t>，则</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rPr>
              <a:t>，</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Z</a:t>
            </a:r>
            <a:r>
              <a:rPr lang="zh-CN" altLang="en-US" dirty="0">
                <a:solidFill>
                  <a:srgbClr val="010103"/>
                </a:solidFill>
              </a:rPr>
              <a:t>。 （</a:t>
            </a:r>
            <a:r>
              <a:rPr lang="en-US" altLang="zh-CN" dirty="0">
                <a:solidFill>
                  <a:srgbClr val="010103"/>
                </a:solidFill>
              </a:rPr>
              <a:t>A1 A3</a:t>
            </a:r>
            <a:r>
              <a:rPr lang="zh-CN" altLang="en-US" dirty="0">
                <a:solidFill>
                  <a:srgbClr val="010103"/>
                </a:solidFill>
              </a:rPr>
              <a:t>）</a:t>
            </a:r>
            <a:endParaRPr lang="zh-CN" altLang="en-US" dirty="0">
              <a:solidFill>
                <a:srgbClr val="010103"/>
              </a:solidFill>
            </a:endParaRPr>
          </a:p>
          <a:p>
            <a:pPr lvl="1" eaLnBrk="1" hangingPunct="1">
              <a:buChar char="•"/>
            </a:pPr>
            <a:r>
              <a:rPr lang="zh-CN" altLang="en-US" dirty="0">
                <a:solidFill>
                  <a:srgbClr val="010103"/>
                </a:solidFill>
              </a:rPr>
              <a:t>伪传递规则</a:t>
            </a:r>
            <a:r>
              <a:rPr lang="en-US" altLang="zh-CN" dirty="0">
                <a:solidFill>
                  <a:srgbClr val="010103"/>
                </a:solidFill>
              </a:rPr>
              <a:t>(pseudo transitivity)</a:t>
            </a:r>
            <a:r>
              <a:rPr lang="zh-CN" altLang="en-US" dirty="0">
                <a:solidFill>
                  <a:srgbClr val="010103"/>
                </a:solidFill>
              </a:rPr>
              <a:t>：由</a:t>
            </a:r>
            <a:r>
              <a:rPr lang="en-US" altLang="zh-CN" dirty="0">
                <a:solidFill>
                  <a:srgbClr val="010103"/>
                </a:solidFill>
              </a:rPr>
              <a:t>X→Y</a:t>
            </a:r>
            <a:r>
              <a:rPr lang="zh-CN" altLang="en-US" dirty="0">
                <a:solidFill>
                  <a:srgbClr val="010103"/>
                </a:solidFill>
              </a:rPr>
              <a:t>，</a:t>
            </a:r>
            <a:r>
              <a:rPr lang="en-US" altLang="zh-CN" dirty="0">
                <a:solidFill>
                  <a:srgbClr val="010103"/>
                </a:solidFill>
              </a:rPr>
              <a:t>YW→Z</a:t>
            </a:r>
            <a:r>
              <a:rPr lang="zh-CN" altLang="en-US" dirty="0">
                <a:solidFill>
                  <a:srgbClr val="010103"/>
                </a:solidFill>
              </a:rPr>
              <a:t>，则</a:t>
            </a:r>
            <a:r>
              <a:rPr lang="en-US" altLang="zh-CN" dirty="0">
                <a:solidFill>
                  <a:srgbClr val="010103"/>
                </a:solidFill>
              </a:rPr>
              <a:t>XW→Z</a:t>
            </a:r>
            <a:r>
              <a:rPr lang="zh-CN" altLang="en-US" dirty="0">
                <a:solidFill>
                  <a:srgbClr val="010103"/>
                </a:solidFill>
              </a:rPr>
              <a:t>。 （</a:t>
            </a:r>
            <a:r>
              <a:rPr lang="en-US" altLang="zh-CN" dirty="0">
                <a:solidFill>
                  <a:srgbClr val="010103"/>
                </a:solidFill>
              </a:rPr>
              <a:t>A2 A3</a:t>
            </a:r>
            <a:r>
              <a:rPr lang="zh-CN" altLang="en-US" dirty="0">
                <a:solidFill>
                  <a:srgbClr val="010103"/>
                </a:solidFill>
              </a:rPr>
              <a:t>） </a:t>
            </a:r>
            <a:endParaRPr lang="zh-CN" altLang="en-US" dirty="0">
              <a:solidFill>
                <a:srgbClr val="010103"/>
              </a:solidFill>
            </a:endParaRPr>
          </a:p>
          <a:p>
            <a:pPr lvl="1" eaLnBrk="1" hangingPunct="1">
              <a:buChar char="•"/>
            </a:pPr>
            <a:r>
              <a:rPr lang="zh-CN" altLang="en-US" dirty="0">
                <a:solidFill>
                  <a:srgbClr val="010103"/>
                </a:solidFill>
              </a:rPr>
              <a:t>伪增性：若</a:t>
            </a:r>
            <a:r>
              <a:rPr lang="en-US" altLang="zh-CN" dirty="0">
                <a:solidFill>
                  <a:srgbClr val="010103"/>
                </a:solidFill>
              </a:rPr>
              <a:t>X→Y</a:t>
            </a:r>
            <a:r>
              <a:rPr lang="zh-CN" altLang="en-US" dirty="0">
                <a:solidFill>
                  <a:srgbClr val="010103"/>
                </a:solidFill>
              </a:rPr>
              <a:t>，</a:t>
            </a:r>
            <a:r>
              <a:rPr lang="en-US" altLang="zh-CN" dirty="0">
                <a:solidFill>
                  <a:srgbClr val="010103"/>
                </a:solidFill>
              </a:rPr>
              <a:t>W</a:t>
            </a:r>
            <a:r>
              <a:rPr lang="en-US" altLang="zh-CN" dirty="0">
                <a:solidFill>
                  <a:srgbClr val="010103"/>
                </a:solidFill>
                <a:sym typeface="Symbol" panose="05050102010706020507" pitchFamily="18" charset="2"/>
              </a:rPr>
              <a:t></a:t>
            </a:r>
            <a:r>
              <a:rPr lang="en-US" altLang="zh-CN" dirty="0">
                <a:solidFill>
                  <a:srgbClr val="010103"/>
                </a:solidFill>
              </a:rPr>
              <a:t>Z</a:t>
            </a:r>
            <a:r>
              <a:rPr lang="zh-CN" altLang="en-US" dirty="0">
                <a:solidFill>
                  <a:srgbClr val="010103"/>
                </a:solidFill>
              </a:rPr>
              <a:t>，则</a:t>
            </a:r>
            <a:r>
              <a:rPr lang="en-US" altLang="zh-CN" dirty="0">
                <a:solidFill>
                  <a:srgbClr val="010103"/>
                </a:solidFill>
              </a:rPr>
              <a:t>XW→YZ</a:t>
            </a:r>
            <a:r>
              <a:rPr lang="zh-CN" altLang="en-US" dirty="0">
                <a:solidFill>
                  <a:srgbClr val="010103"/>
                </a:solidFill>
              </a:rPr>
              <a:t>。 </a:t>
            </a:r>
            <a:endParaRPr lang="zh-CN" altLang="en-US" dirty="0">
              <a:solidFill>
                <a:srgbClr val="010103"/>
              </a:solidFill>
            </a:endParaRPr>
          </a:p>
          <a:p>
            <a:pPr lvl="0" eaLnBrk="1" hangingPunct="1"/>
            <a:endParaRPr lang="zh-CN" altLang="en-US" sz="1000" dirty="0">
              <a:solidFill>
                <a:srgbClr val="010103"/>
              </a:solidFill>
            </a:endParaRPr>
          </a:p>
          <a:p>
            <a:pPr lvl="0" eaLnBrk="1" hangingPunct="1"/>
            <a:endParaRPr lang="zh-CN" altLang="en-US" sz="1000" dirty="0">
              <a:solidFill>
                <a:srgbClr val="010103"/>
              </a:solidFill>
            </a:endParaRPr>
          </a:p>
          <a:p>
            <a:pPr lvl="0" eaLnBrk="1" hangingPunct="1"/>
            <a:r>
              <a:rPr lang="zh-CN" altLang="en-US" b="1" dirty="0">
                <a:solidFill>
                  <a:srgbClr val="010103"/>
                </a:solidFill>
              </a:rPr>
              <a:t>推论的正确性   用公理证明。</a:t>
            </a:r>
            <a:endParaRPr lang="zh-CN" altLang="en-US" b="1" dirty="0">
              <a:solidFill>
                <a:srgbClr val="010103"/>
              </a:solidFill>
            </a:endParaRPr>
          </a:p>
          <a:p>
            <a:pPr lvl="0" eaLnBrk="1" hangingPunct="1"/>
            <a:r>
              <a:rPr lang="zh-CN" altLang="en-US" dirty="0">
                <a:solidFill>
                  <a:srgbClr val="010103"/>
                </a:solidFill>
              </a:rPr>
              <a:t>    伪增性的</a:t>
            </a:r>
            <a:r>
              <a:rPr lang="zh-CN" altLang="en-US" b="1" dirty="0">
                <a:solidFill>
                  <a:srgbClr val="010103"/>
                </a:solidFill>
              </a:rPr>
              <a:t>正确性：若 </a:t>
            </a:r>
            <a:r>
              <a:rPr lang="en-US" altLang="zh-CN" b="1" dirty="0">
                <a:solidFill>
                  <a:srgbClr val="010103"/>
                </a:solidFill>
              </a:rPr>
              <a:t>X</a:t>
            </a:r>
            <a:r>
              <a:rPr lang="en-US" altLang="zh-CN" b="1" dirty="0">
                <a:solidFill>
                  <a:srgbClr val="010103"/>
                </a:solidFill>
                <a:sym typeface="Symbol" panose="05050102010706020507" pitchFamily="18" charset="2"/>
              </a:rPr>
              <a:t></a:t>
            </a:r>
            <a:r>
              <a:rPr lang="en-US" altLang="zh-CN" b="1" dirty="0">
                <a:solidFill>
                  <a:srgbClr val="010103"/>
                </a:solidFill>
              </a:rPr>
              <a:t>Y</a:t>
            </a:r>
            <a:r>
              <a:rPr lang="zh-CN" altLang="en-US" b="1" dirty="0">
                <a:solidFill>
                  <a:srgbClr val="010103"/>
                </a:solidFill>
              </a:rPr>
              <a:t>，</a:t>
            </a:r>
            <a:r>
              <a:rPr lang="en-US" altLang="zh-CN" b="1" dirty="0">
                <a:solidFill>
                  <a:srgbClr val="010103"/>
                </a:solidFill>
              </a:rPr>
              <a:t>W</a:t>
            </a:r>
            <a:r>
              <a:rPr lang="en-US" altLang="zh-CN" b="1" dirty="0">
                <a:solidFill>
                  <a:srgbClr val="010103"/>
                </a:solidFill>
                <a:sym typeface="Symbol" panose="05050102010706020507" pitchFamily="18" charset="2"/>
              </a:rPr>
              <a:t></a:t>
            </a:r>
            <a:r>
              <a:rPr lang="en-US" altLang="zh-CN" b="1" dirty="0">
                <a:solidFill>
                  <a:srgbClr val="010103"/>
                </a:solidFill>
              </a:rPr>
              <a:t>Z</a:t>
            </a:r>
            <a:r>
              <a:rPr lang="zh-CN" altLang="en-US" b="1" dirty="0">
                <a:solidFill>
                  <a:srgbClr val="010103"/>
                </a:solidFill>
              </a:rPr>
              <a:t>，则，</a:t>
            </a:r>
            <a:endParaRPr lang="zh-CN" altLang="en-US" b="1" dirty="0">
              <a:solidFill>
                <a:srgbClr val="010103"/>
              </a:solidFill>
            </a:endParaRPr>
          </a:p>
          <a:p>
            <a:pPr lvl="0" eaLnBrk="1" hangingPunct="1"/>
            <a:r>
              <a:rPr lang="zh-CN" altLang="en-US" b="1" dirty="0">
                <a:solidFill>
                  <a:srgbClr val="010103"/>
                </a:solidFill>
              </a:rPr>
              <a:t>                       </a:t>
            </a:r>
            <a:r>
              <a:rPr lang="en-US" altLang="zh-CN" b="1" dirty="0">
                <a:solidFill>
                  <a:srgbClr val="010103"/>
                </a:solidFill>
              </a:rPr>
              <a:t>XW </a:t>
            </a:r>
            <a:r>
              <a:rPr lang="en-US" altLang="zh-CN" b="1" dirty="0">
                <a:solidFill>
                  <a:srgbClr val="010103"/>
                </a:solidFill>
                <a:sym typeface="Symbol" panose="05050102010706020507" pitchFamily="18" charset="2"/>
              </a:rPr>
              <a:t>YW</a:t>
            </a:r>
            <a:r>
              <a:rPr lang="en-US" altLang="zh-CN" b="1" dirty="0">
                <a:solidFill>
                  <a:srgbClr val="010103"/>
                </a:solidFill>
              </a:rPr>
              <a:t>      (</a:t>
            </a:r>
            <a:r>
              <a:rPr lang="zh-CN" altLang="en-US" b="1" dirty="0">
                <a:solidFill>
                  <a:srgbClr val="010103"/>
                </a:solidFill>
              </a:rPr>
              <a:t>增广 </a:t>
            </a:r>
            <a:r>
              <a:rPr lang="en-US" altLang="zh-CN" b="1" dirty="0">
                <a:solidFill>
                  <a:srgbClr val="010103"/>
                </a:solidFill>
              </a:rPr>
              <a:t>)</a:t>
            </a:r>
            <a:endParaRPr lang="en-US" altLang="zh-CN" b="1" dirty="0">
              <a:solidFill>
                <a:srgbClr val="010103"/>
              </a:solidFill>
            </a:endParaRPr>
          </a:p>
          <a:p>
            <a:pPr lvl="0" eaLnBrk="1" hangingPunct="1"/>
            <a:r>
              <a:rPr lang="en-US" altLang="zh-CN" b="1" dirty="0">
                <a:solidFill>
                  <a:srgbClr val="010103"/>
                </a:solidFill>
              </a:rPr>
              <a:t>                           W</a:t>
            </a:r>
            <a:r>
              <a:rPr lang="en-US" altLang="zh-CN" b="1" dirty="0">
                <a:solidFill>
                  <a:srgbClr val="010103"/>
                </a:solidFill>
                <a:sym typeface="Symbol" panose="05050102010706020507" pitchFamily="18" charset="2"/>
              </a:rPr>
              <a:t></a:t>
            </a:r>
            <a:r>
              <a:rPr lang="en-US" altLang="zh-CN" b="1" dirty="0">
                <a:solidFill>
                  <a:srgbClr val="010103"/>
                </a:solidFill>
              </a:rPr>
              <a:t>Z          ( </a:t>
            </a:r>
            <a:r>
              <a:rPr lang="zh-CN" altLang="en-US" b="1" dirty="0">
                <a:solidFill>
                  <a:srgbClr val="010103"/>
                </a:solidFill>
              </a:rPr>
              <a:t>自反 </a:t>
            </a:r>
            <a:r>
              <a:rPr lang="en-US" altLang="zh-CN" b="1" dirty="0">
                <a:solidFill>
                  <a:srgbClr val="010103"/>
                </a:solidFill>
              </a:rPr>
              <a:t>)</a:t>
            </a:r>
            <a:endParaRPr lang="en-US" altLang="zh-CN" b="1" dirty="0">
              <a:solidFill>
                <a:srgbClr val="010103"/>
              </a:solidFill>
            </a:endParaRPr>
          </a:p>
          <a:p>
            <a:pPr lvl="0" eaLnBrk="1" hangingPunct="1"/>
            <a:r>
              <a:rPr lang="en-US" altLang="zh-CN" b="1" dirty="0">
                <a:solidFill>
                  <a:srgbClr val="010103"/>
                </a:solidFill>
              </a:rPr>
              <a:t>                        YW</a:t>
            </a:r>
            <a:r>
              <a:rPr lang="en-US" altLang="zh-CN" b="1" dirty="0">
                <a:solidFill>
                  <a:srgbClr val="010103"/>
                </a:solidFill>
                <a:sym typeface="Symbol" panose="05050102010706020507" pitchFamily="18" charset="2"/>
              </a:rPr>
              <a:t>Y</a:t>
            </a:r>
            <a:r>
              <a:rPr lang="en-US" altLang="zh-CN" b="1" dirty="0">
                <a:solidFill>
                  <a:srgbClr val="010103"/>
                </a:solidFill>
              </a:rPr>
              <a:t>Z       (</a:t>
            </a:r>
            <a:r>
              <a:rPr lang="zh-CN" altLang="en-US" b="1" dirty="0">
                <a:solidFill>
                  <a:srgbClr val="010103"/>
                </a:solidFill>
              </a:rPr>
              <a:t>增广</a:t>
            </a:r>
            <a:r>
              <a:rPr lang="en-US" altLang="zh-CN" b="1" dirty="0">
                <a:solidFill>
                  <a:srgbClr val="010103"/>
                </a:solidFill>
              </a:rPr>
              <a:t>)</a:t>
            </a:r>
            <a:endParaRPr lang="en-US" altLang="zh-CN" b="1" dirty="0">
              <a:solidFill>
                <a:srgbClr val="010103"/>
              </a:solidFill>
            </a:endParaRPr>
          </a:p>
          <a:p>
            <a:pPr lvl="0" eaLnBrk="1" hangingPunct="1"/>
            <a:r>
              <a:rPr lang="en-US" altLang="zh-CN" b="1" dirty="0">
                <a:solidFill>
                  <a:srgbClr val="010103"/>
                </a:solidFill>
              </a:rPr>
              <a:t>                        XW</a:t>
            </a:r>
            <a:r>
              <a:rPr lang="en-US" altLang="zh-CN" b="1" dirty="0">
                <a:solidFill>
                  <a:srgbClr val="010103"/>
                </a:solidFill>
                <a:sym typeface="Symbol" panose="05050102010706020507" pitchFamily="18" charset="2"/>
              </a:rPr>
              <a:t></a:t>
            </a:r>
            <a:r>
              <a:rPr lang="en-US" altLang="zh-CN" b="1" dirty="0">
                <a:solidFill>
                  <a:srgbClr val="010103"/>
                </a:solidFill>
              </a:rPr>
              <a:t>YZ       ( </a:t>
            </a:r>
            <a:r>
              <a:rPr lang="zh-CN" altLang="en-US" b="1" dirty="0">
                <a:solidFill>
                  <a:srgbClr val="010103"/>
                </a:solidFill>
              </a:rPr>
              <a:t>传递 </a:t>
            </a:r>
            <a:r>
              <a:rPr lang="en-US" altLang="zh-CN" b="1" dirty="0">
                <a:solidFill>
                  <a:srgbClr val="010103"/>
                </a:solidFill>
              </a:rPr>
              <a:t>)</a:t>
            </a:r>
            <a:endParaRPr lang="en-US" altLang="zh-CN" b="1" dirty="0">
              <a:solidFill>
                <a:srgbClr val="010103"/>
              </a:solidFill>
            </a:endParaRPr>
          </a:p>
          <a:p>
            <a:pPr lvl="0" eaLnBrk="1" hangingPunct="1"/>
            <a:endParaRPr lang="en-US" altLang="zh-CN" sz="1000" dirty="0">
              <a:solidFill>
                <a:srgbClr val="010103"/>
              </a:solidFill>
            </a:endParaRPr>
          </a:p>
          <a:p>
            <a:pPr lvl="0" eaLnBrk="1" hangingPunct="1"/>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2947" name="Rectangle 2"/>
          <p:cNvSpPr>
            <a:spLocks noRot="1" noTextEdit="1"/>
          </p:cNvSpPr>
          <p:nvPr>
            <p:ph type="sldImg"/>
          </p:nvPr>
        </p:nvSpPr>
        <p:spPr/>
      </p:sp>
      <p:sp>
        <p:nvSpPr>
          <p:cNvPr id="8294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3971" name="Rectangle 2"/>
          <p:cNvSpPr>
            <a:spLocks noRot="1" noTextEdit="1"/>
          </p:cNvSpPr>
          <p:nvPr>
            <p:ph type="sldImg"/>
          </p:nvPr>
        </p:nvSpPr>
        <p:spPr/>
      </p:sp>
      <p:sp>
        <p:nvSpPr>
          <p:cNvPr id="83972" name="Rectangle 3"/>
          <p:cNvSpPr>
            <a:spLocks noGrp="1"/>
          </p:cNvSpPr>
          <p:nvPr>
            <p:ph type="body" idx="1"/>
          </p:nvPr>
        </p:nvSpPr>
        <p:spPr/>
        <p:txBody>
          <a:bodyPr wrap="square" lIns="91440" tIns="45720" rIns="91440" bIns="45720" anchor="t" anchorCtr="0"/>
          <a:p>
            <a:pPr lvl="0" eaLnBrk="1" hangingPunct="1">
              <a:spcBef>
                <a:spcPct val="0"/>
              </a:spcBef>
            </a:pPr>
            <a:r>
              <a:rPr lang="zh-CN" altLang="en-US" b="1" dirty="0">
                <a:solidFill>
                  <a:srgbClr val="9900CC"/>
                </a:solidFill>
              </a:rPr>
              <a:t>当</a:t>
            </a:r>
            <a:r>
              <a:rPr lang="en-US" altLang="zh-CN" b="1" dirty="0">
                <a:solidFill>
                  <a:srgbClr val="9900CC"/>
                </a:solidFill>
              </a:rPr>
              <a:t>X</a:t>
            </a:r>
            <a:r>
              <a:rPr lang="en-US" altLang="zh-CN" b="1" dirty="0">
                <a:solidFill>
                  <a:srgbClr val="9900CC"/>
                </a:solidFill>
                <a:sym typeface="Symbol" panose="05050102010706020507" pitchFamily="18" charset="2"/>
              </a:rPr>
              <a:t>Y</a:t>
            </a:r>
            <a:r>
              <a:rPr lang="zh-CN" altLang="en-US" b="1" dirty="0">
                <a:solidFill>
                  <a:srgbClr val="9900CC"/>
                </a:solidFill>
                <a:sym typeface="Symbol" panose="05050102010706020507" pitchFamily="18" charset="2"/>
              </a:rPr>
              <a:t>时，称</a:t>
            </a:r>
            <a:r>
              <a:rPr lang="en-US" altLang="zh-CN" b="1" dirty="0">
                <a:solidFill>
                  <a:srgbClr val="9900CC"/>
                </a:solidFill>
                <a:sym typeface="Symbol" panose="05050102010706020507" pitchFamily="18" charset="2"/>
              </a:rPr>
              <a:t>FD  X→Y</a:t>
            </a:r>
            <a:r>
              <a:rPr lang="zh-CN" altLang="en-US" b="1" dirty="0">
                <a:solidFill>
                  <a:srgbClr val="9900CC"/>
                </a:solidFill>
                <a:sym typeface="Symbol" panose="05050102010706020507" pitchFamily="18" charset="2"/>
              </a:rPr>
              <a:t>为平庸的</a:t>
            </a:r>
            <a:endParaRPr lang="zh-CN" altLang="en-US" b="1" dirty="0">
              <a:solidFill>
                <a:srgbClr val="9900CC"/>
              </a:solidFill>
              <a:sym typeface="Symbol" panose="05050102010706020507" pitchFamily="18" charset="2"/>
            </a:endParaRPr>
          </a:p>
          <a:p>
            <a:pPr lvl="0" eaLnBrk="1" hangingPunct="1"/>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4995" name="Rectangle 2"/>
          <p:cNvSpPr>
            <a:spLocks noRot="1" noTextEdit="1"/>
          </p:cNvSpPr>
          <p:nvPr>
            <p:ph type="sldImg"/>
          </p:nvPr>
        </p:nvSpPr>
        <p:spPr/>
      </p:sp>
      <p:sp>
        <p:nvSpPr>
          <p:cNvPr id="84996" name="Rectangle 3"/>
          <p:cNvSpPr>
            <a:spLocks noGrp="1"/>
          </p:cNvSpPr>
          <p:nvPr>
            <p:ph type="body" idx="1"/>
          </p:nvPr>
        </p:nvSpPr>
        <p:spPr/>
        <p:txBody>
          <a:bodyPr wrap="square" lIns="91440" tIns="45720" rIns="91440" bIns="45720" anchor="t" anchorCtr="0"/>
          <a:p>
            <a:pPr lvl="0" eaLnBrk="1" hangingPunct="1"/>
            <a:r>
              <a:rPr lang="zh-CN" altLang="en-US" dirty="0"/>
              <a:t>所表达的信息是等价的 </a:t>
            </a:r>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6019" name="Rectangle 2"/>
          <p:cNvSpPr>
            <a:spLocks noRot="1" noTextEdit="1"/>
          </p:cNvSpPr>
          <p:nvPr>
            <p:ph type="sldImg"/>
          </p:nvPr>
        </p:nvSpPr>
        <p:spPr/>
      </p:sp>
      <p:sp>
        <p:nvSpPr>
          <p:cNvPr id="86020" name="Rectangle 3"/>
          <p:cNvSpPr>
            <a:spLocks noGrp="1"/>
          </p:cNvSpPr>
          <p:nvPr>
            <p:ph type="body" idx="1"/>
          </p:nvPr>
        </p:nvSpPr>
        <p:spPr/>
        <p:txBody>
          <a:bodyPr wrap="square" lIns="91440" tIns="45720" rIns="91440" bIns="45720" anchor="t" anchorCtr="0"/>
          <a:p>
            <a:pPr lvl="0" eaLnBrk="1" hangingPunct="1"/>
            <a:r>
              <a:rPr lang="zh-CN" altLang="en-US" dirty="0"/>
              <a:t>第一条保证在函数依赖的右部没有多余的属性；</a:t>
            </a:r>
            <a:endParaRPr lang="zh-CN" altLang="en-US" dirty="0"/>
          </a:p>
          <a:p>
            <a:pPr lvl="0" eaLnBrk="1" hangingPunct="1"/>
            <a:r>
              <a:rPr lang="zh-CN" altLang="en-US" dirty="0"/>
              <a:t>第二条保证</a:t>
            </a:r>
            <a:r>
              <a:rPr lang="en-US" altLang="zh-CN" dirty="0"/>
              <a:t>Fmin</a:t>
            </a:r>
            <a:r>
              <a:rPr lang="zh-CN" altLang="en-US" dirty="0"/>
              <a:t>中不存在多余的函数依赖</a:t>
            </a:r>
            <a:endParaRPr lang="zh-CN" altLang="en-US" dirty="0"/>
          </a:p>
          <a:p>
            <a:pPr lvl="0" eaLnBrk="1" hangingPunct="1"/>
            <a:r>
              <a:rPr lang="zh-CN" altLang="en-US" dirty="0"/>
              <a:t>第三条保证</a:t>
            </a:r>
            <a:r>
              <a:rPr lang="en-US" altLang="zh-CN" dirty="0"/>
              <a:t>Fmin</a:t>
            </a:r>
            <a:r>
              <a:rPr lang="zh-CN" altLang="en-US" dirty="0"/>
              <a:t>中每个函数依赖的左部没有多余的属性</a:t>
            </a:r>
            <a:endParaRPr lang="zh-CN" altLang="en-US" dirty="0"/>
          </a:p>
          <a:p>
            <a:pPr lvl="0" eaLnBrk="1" hangingPunct="1"/>
            <a:r>
              <a:rPr lang="zh-CN" altLang="en-US" dirty="0"/>
              <a:t>因此，</a:t>
            </a:r>
            <a:r>
              <a:rPr lang="en-US" altLang="zh-CN" dirty="0"/>
              <a:t>Fmin</a:t>
            </a:r>
            <a:r>
              <a:rPr lang="zh-CN" altLang="en-US" dirty="0"/>
              <a:t>是集合中无冗余的函数依赖，每个函数依赖又是具有最简单形式的函数依赖，这正是我们所期望的。</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4111" name="Rectangle 15"/>
          <p:cNvSpPr>
            <a:spLocks noGrp="1" noChangeArrowheads="1"/>
          </p:cNvSpPr>
          <p:nvPr>
            <p:ph type="ctrTitle" sz="quarter"/>
          </p:nvPr>
        </p:nvSpPr>
        <p:spPr>
          <a:xfrm>
            <a:off x="760413" y="1219200"/>
            <a:ext cx="7772400" cy="1143000"/>
          </a:xfrm>
        </p:spPr>
        <p:txBody>
          <a:bodyPr/>
          <a:lstStyle>
            <a:lvl1pPr>
              <a:defRPr/>
            </a:lvl1pPr>
          </a:lstStyle>
          <a:p>
            <a:r>
              <a:rPr lang="en-US" altLang="zh-CN"/>
              <a:t>Click to edit Master title style</a:t>
            </a:r>
            <a:endParaRPr lang="en-US" altLang="zh-CN"/>
          </a:p>
        </p:txBody>
      </p:sp>
      <p:sp>
        <p:nvSpPr>
          <p:cNvPr id="4112" name="Rectangle 16"/>
          <p:cNvSpPr>
            <a:spLocks noGrp="1" noChangeArrowheads="1"/>
          </p:cNvSpPr>
          <p:nvPr>
            <p:ph type="subTitle" sz="quarter" idx="1"/>
          </p:nvPr>
        </p:nvSpPr>
        <p:spPr>
          <a:xfrm>
            <a:off x="468313" y="2819400"/>
            <a:ext cx="8307387" cy="3200400"/>
          </a:xfrm>
        </p:spPr>
        <p:txBody>
          <a:bodyPr lIns="92075" tIns="46038" rIns="92075" bIns="46038"/>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9" name="Rectangle 17"/>
          <p:cNvSpPr>
            <a:spLocks noGrp="1" noChangeArrowheads="1"/>
          </p:cNvSpPr>
          <p:nvPr>
            <p:ph type="dt" sz="quarter" idx="2"/>
          </p:nvPr>
        </p:nvSpPr>
        <p:spPr bwMode="auto">
          <a:xfrm>
            <a:off x="152400" y="6248400"/>
            <a:ext cx="19050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0" name="Rectangle 18"/>
          <p:cNvSpPr>
            <a:spLocks noGrp="1" noChangeArrowheads="1"/>
          </p:cNvSpPr>
          <p:nvPr>
            <p:ph type="ftr" sz="quarter" idx="3"/>
          </p:nvPr>
        </p:nvSpPr>
        <p:spPr bwMode="auto">
          <a:xfrm>
            <a:off x="3124200" y="6248400"/>
            <a:ext cx="28956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1" name="Rectangle 19"/>
          <p:cNvSpPr>
            <a:spLocks noGrp="1" noChangeArrowheads="1"/>
          </p:cNvSpPr>
          <p:nvPr>
            <p:ph type="sldNum" sz="quarter" idx="4"/>
          </p:nvPr>
        </p:nvSpPr>
        <p:spPr bwMode="auto">
          <a:xfrm>
            <a:off x="7162800" y="6248400"/>
            <a:ext cx="1905000" cy="457200"/>
          </a:xfrm>
          <a:prstGeom prst="rect">
            <a:avLst/>
          </a:prstGeom>
          <a:ln>
            <a:miter lim="800000"/>
          </a:ln>
        </p:spPr>
        <p:txBody>
          <a:bodyPr vert="horz" wrap="none" lIns="92075" tIns="46038" rIns="92075" bIns="46038" numCol="1" anchor="ctr" anchorCtr="0" compatLnSpc="1"/>
          <a:p>
            <a:pPr algn="r">
              <a:spcBef>
                <a:spcPct val="0"/>
              </a:spcBef>
              <a:buNone/>
            </a:pPr>
            <a:fld id="{9A0DB2DC-4C9A-4742-B13C-FB6460FD3503}" type="slidenum">
              <a:rPr lang="en-US" altLang="zh-CN" i="1" dirty="0">
                <a:ea typeface="宋体" panose="02010600030101010101" pitchFamily="2" charset="-122"/>
              </a:rPr>
            </a:fld>
            <a:endParaRPr lang="en-US" altLang="zh-CN" i="1" dirty="0">
              <a:ea typeface="宋体" panose="02010600030101010101" pitchFamily="2" charset="-122"/>
            </a:endParaRPr>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1016000"/>
            <a:ext cx="4348163" cy="5473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1016000"/>
            <a:ext cx="4348162" cy="5473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endParaRPr kumimoji="1" lang="zh-CN" altLang="en-US" sz="3200" b="1" i="0" u="none" strike="noStrike" kern="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115888"/>
            <a:ext cx="2211387" cy="63738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52400" y="115888"/>
            <a:ext cx="6484938" cy="63738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8" y="115888"/>
            <a:ext cx="8659812" cy="69215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52400" y="1016000"/>
            <a:ext cx="8848725" cy="5473700"/>
          </a:xfrm>
        </p:spPr>
        <p:txBody>
          <a:bodyPr vert="horz" wrap="square" lIns="91440" tIns="45720" rIns="91440" bIns="45720" numCol="1" anchor="t" anchorCtr="0" compatLnSpc="1"/>
          <a:lstStyle/>
          <a:p>
            <a:pPr marL="269875" marR="0" lvl="0" indent="-269875"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endParaRPr kumimoji="1" lang="zh-CN" altLang="en-US" sz="3600" b="1" i="0" u="none" strike="noStrike" kern="0" cap="none" spc="0" normalizeH="0" baseline="0" noProof="0" smtClean="0">
              <a:ln>
                <a:noFill/>
              </a:ln>
              <a:solidFill>
                <a:srgbClr val="000000"/>
              </a:solidFill>
              <a:effectLst/>
              <a:uLnTx/>
              <a:uFillTx/>
              <a:latin typeface="Arial" panose="020B0604020202020204" pitchFamily="34" charset="0"/>
              <a:ea typeface="+mn-ea"/>
              <a:cs typeface="+mn-cs"/>
            </a:endParaRPr>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15888"/>
            <a:ext cx="8659812" cy="6921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1016000"/>
            <a:ext cx="4348163" cy="5473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1016000"/>
            <a:ext cx="4348162" cy="5473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15888"/>
            <a:ext cx="8659812" cy="692150"/>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1016000"/>
            <a:ext cx="4348163" cy="5473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52963" y="1016000"/>
            <a:ext cx="4348162" cy="26606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52963" y="3829050"/>
            <a:ext cx="4348162" cy="26606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vmlDrawing" Target="../drawings/vmlDrawing1.vml"/><Relationship Id="rId18" Type="http://schemas.openxmlformats.org/officeDocument/2006/relationships/audio" Target="../media/audio1.wav"/><Relationship Id="rId17" Type="http://schemas.openxmlformats.org/officeDocument/2006/relationships/image" Target="../media/image2.wmf"/><Relationship Id="rId16" Type="http://schemas.openxmlformats.org/officeDocument/2006/relationships/control" Target="../activeX/activeX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82" name="Rectangle 10"/>
          <p:cNvSpPr>
            <a:spLocks noGrp="1" noChangeArrowheads="1"/>
          </p:cNvSpPr>
          <p:nvPr>
            <p:ph type="title"/>
          </p:nvPr>
        </p:nvSpPr>
        <p:spPr bwMode="auto">
          <a:xfrm>
            <a:off x="179388" y="115888"/>
            <a:ext cx="8659813" cy="692150"/>
          </a:xfrm>
          <a:prstGeom prst="rect">
            <a:avLst/>
          </a:prstGeom>
          <a:noFill/>
          <a:ln w="9525">
            <a:noFill/>
            <a:miter lim="800000"/>
          </a:ln>
          <a:effectLst/>
        </p:spPr>
        <p:txBody>
          <a:bodyPr vert="horz" wrap="square" lIns="92075" tIns="46038" rIns="92075" bIns="46038" numCol="1" anchor="ctr" anchorCtr="0" compatLnSpc="1"/>
          <a:lstStyle/>
          <a:p>
            <a:pPr lvl="0"/>
            <a:r>
              <a:rPr lang="en-US" altLang="zh-CN" dirty="0" smtClean="0"/>
              <a:t>Click to edit Master title style</a:t>
            </a:r>
            <a:endParaRPr lang="en-US" altLang="zh-CN" dirty="0" smtClean="0"/>
          </a:p>
        </p:txBody>
      </p:sp>
      <p:sp>
        <p:nvSpPr>
          <p:cNvPr id="3083" name="Rectangle 11"/>
          <p:cNvSpPr>
            <a:spLocks noGrp="1" noChangeArrowheads="1"/>
          </p:cNvSpPr>
          <p:nvPr>
            <p:ph type="dt" sz="half" idx="2"/>
          </p:nvPr>
        </p:nvSpPr>
        <p:spPr bwMode="auto">
          <a:xfrm>
            <a:off x="12954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l" eaLnBrk="0" hangingPunct="0">
              <a:spcBef>
                <a:spcPct val="0"/>
              </a:spcBef>
              <a:defRPr sz="1400" b="0">
                <a:solidFill>
                  <a:schemeClr val="tx1"/>
                </a:solidFill>
                <a:latin typeface="+mn-lt"/>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733800" y="6248400"/>
            <a:ext cx="2895600" cy="457200"/>
          </a:xfrm>
          <a:prstGeom prst="rect">
            <a:avLst/>
          </a:prstGeom>
          <a:noFill/>
          <a:ln w="9525">
            <a:noFill/>
            <a:miter lim="800000"/>
          </a:ln>
          <a:effectLst/>
        </p:spPr>
        <p:txBody>
          <a:bodyPr vert="horz" wrap="none" lIns="92075" tIns="46038" rIns="92075" bIns="46038" numCol="1" anchor="ctr" anchorCtr="0" compatLnSpc="1"/>
          <a:lstStyle>
            <a:lvl1pPr eaLnBrk="0" hangingPunct="0">
              <a:spcBef>
                <a:spcPct val="0"/>
              </a:spcBef>
              <a:defRPr sz="1400" b="0">
                <a:solidFill>
                  <a:schemeClr val="tx1"/>
                </a:solidFill>
                <a:latin typeface="+mn-lt"/>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71628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a:solidFill>
                  <a:schemeClr val="tx1"/>
                </a:solidFill>
                <a:latin typeface="Times New Roman" panose="02020603050405020304" pitchFamily="18" charset="0"/>
                <a:ea typeface="宋体" panose="02010600030101010101" pitchFamily="2" charset="-122"/>
              </a:defRPr>
            </a:lvl1pPr>
          </a:lstStyle>
          <a:p>
            <a:pPr lvl="0" eaLnBrk="0" hangingPunct="0">
              <a:spcBef>
                <a:spcPct val="0"/>
              </a:spcBef>
              <a:buNone/>
            </a:pPr>
            <a:fld id="{9A0DB2DC-4C9A-4742-B13C-FB6460FD3503}" type="slidenum">
              <a:rPr lang="en-US" altLang="zh-CN" dirty="0"/>
            </a:fld>
            <a:endParaRPr lang="en-US" altLang="zh-CN" dirty="0"/>
          </a:p>
        </p:txBody>
      </p:sp>
      <p:sp>
        <p:nvSpPr>
          <p:cNvPr id="1032" name="Rectangle 23"/>
          <p:cNvSpPr>
            <a:spLocks noGrp="1"/>
          </p:cNvSpPr>
          <p:nvPr>
            <p:ph type="body" idx="1"/>
          </p:nvPr>
        </p:nvSpPr>
        <p:spPr>
          <a:xfrm>
            <a:off x="152400" y="1016000"/>
            <a:ext cx="8848725" cy="54737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3099" name="Picture 27" descr="paint"/>
          <p:cNvPicPr>
            <a:picLocks noChangeAspect="1"/>
          </p:cNvPicPr>
          <p:nvPr userDrawn="1"/>
        </p:nvPicPr>
        <p:blipFill>
          <a:blip r:embed="rId15">
            <a:clrChange>
              <a:clrFrom>
                <a:srgbClr val="C0C0C0"/>
              </a:clrFrom>
              <a:clrTo>
                <a:srgbClr val="C0C0C0">
                  <a:alpha val="0"/>
                </a:srgbClr>
              </a:clrTo>
            </a:clrChange>
          </a:blip>
          <a:stretch>
            <a:fillRect/>
          </a:stretch>
        </p:blipFill>
        <p:spPr>
          <a:xfrm>
            <a:off x="0" y="836613"/>
            <a:ext cx="4716463" cy="142875"/>
          </a:xfrm>
          <a:prstGeom prst="rect">
            <a:avLst/>
          </a:prstGeom>
          <a:noFill/>
          <a:ln w="9525">
            <a:noFill/>
          </a:ln>
        </p:spPr>
      </p:pic>
      <p:sp>
        <p:nvSpPr>
          <p:cNvPr id="3101" name="Text Box 29"/>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eaLnBrk="0" hangingPunct="0">
              <a:spcBef>
                <a:spcPct val="0"/>
              </a:spcBef>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Tree>
    <p:controls>
      <mc:AlternateContent xmlns:mc="http://schemas.openxmlformats.org/markup-compatibility/2006">
        <mc:Choice xmlns:v="urn:schemas-microsoft-com:vml" Requires="v">
          <p:control spid="1026" name="" r:id="rId16" imgW="684213" imgH="569913"/>
        </mc:Choice>
        <mc:Fallback>
          <p:control name="" r:id="rId16" imgW="684213" imgH="569913">
            <p:pic>
              <p:nvPicPr>
                <p:cNvPr id="0" name="Host Control  1025"/>
                <p:cNvPicPr/>
                <p:nvPr userDrawn="1"/>
              </p:nvPicPr>
              <p:blipFill>
                <a:blip r:embed="rId17"/>
                <a:stretch>
                  <a:fillRect/>
                </a:stretch>
              </p:blipFill>
              <p:spPr>
                <a:xfrm>
                  <a:off x="0" y="6245225"/>
                  <a:ext cx="684213" cy="569913"/>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random/>
    <p:sndAc>
      <p:stSnd>
        <p:snd r:embed="rId18"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099"/>
                                        </p:tgtEl>
                                        <p:attrNameLst>
                                          <p:attrName>style.visibility</p:attrName>
                                        </p:attrNameLst>
                                      </p:cBhvr>
                                      <p:to>
                                        <p:strVal val="visible"/>
                                      </p:to>
                                    </p:set>
                                    <p:animEffect transition="in" filter="wipe(left)">
                                      <p:cBhvr>
                                        <p:cTn id="7" dur="500"/>
                                        <p:tgtEl>
                                          <p:spTgt spid="3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2pPr>
      <a:lvl3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4pPr>
      <a:lvl5pPr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5pPr>
      <a:lvl6pPr marL="4572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6pPr>
      <a:lvl7pPr marL="9144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7pPr>
      <a:lvl8pPr marL="13716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8pPr>
      <a:lvl9pPr marL="1828800" algn="l" rtl="0" eaLnBrk="0" fontAlgn="base" hangingPunct="0">
        <a:spcBef>
          <a:spcPct val="0"/>
        </a:spcBef>
        <a:spcAft>
          <a:spcPct val="0"/>
        </a:spcAft>
        <a:defRPr kumimoji="1" sz="40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9pPr>
    </p:titleStyle>
    <p:bodyStyle>
      <a:lvl1pPr marL="269875" indent="-269875" algn="l" rtl="0" eaLnBrk="0" fontAlgn="base" hangingPunct="0">
        <a:spcBef>
          <a:spcPct val="0"/>
        </a:spcBef>
        <a:spcAft>
          <a:spcPct val="0"/>
        </a:spcAft>
        <a:buClr>
          <a:srgbClr val="FF0000"/>
        </a:buClr>
        <a:buSzPct val="65000"/>
        <a:buFont typeface="Wingdings" panose="05000000000000000000" pitchFamily="2" charset="2"/>
        <a:buChar char="n"/>
        <a:defRPr kumimoji="1" sz="3600" b="1">
          <a:solidFill>
            <a:srgbClr val="000000"/>
          </a:solidFill>
          <a:latin typeface="Arial" panose="020B0604020202020204" pitchFamily="34" charset="0"/>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kumimoji="1" sz="3200" b="1">
          <a:solidFill>
            <a:srgbClr val="000000"/>
          </a:solidFill>
          <a:latin typeface="Arial" panose="020B0604020202020204" pitchFamily="34" charset="0"/>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kumimoji="1" sz="2800" b="1">
          <a:solidFill>
            <a:srgbClr val="000000"/>
          </a:solidFill>
          <a:latin typeface="Arial" panose="020B0604020202020204" pitchFamily="34" charset="0"/>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kumimoji="1" sz="2400" b="1">
          <a:solidFill>
            <a:srgbClr val="000000"/>
          </a:solidFill>
          <a:latin typeface="Arial" panose="020B0604020202020204" pitchFamily="34" charset="0"/>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kumimoji="1" sz="2400" b="1">
          <a:solidFill>
            <a:srgbClr val="000000"/>
          </a:solidFill>
          <a:latin typeface="Arial" panose="020B0604020202020204" pitchFamily="34" charset="0"/>
          <a:ea typeface="+mn-ea"/>
        </a:defRPr>
      </a:lvl5pPr>
      <a:lvl6pPr marL="2792730" indent="-228600" algn="l" rtl="0" eaLnBrk="0" fontAlgn="base" hangingPunct="0">
        <a:spcBef>
          <a:spcPct val="20000"/>
        </a:spcBef>
        <a:spcAft>
          <a:spcPct val="0"/>
        </a:spcAft>
        <a:buClr>
          <a:srgbClr val="996633"/>
        </a:buClr>
        <a:buSzPct val="65000"/>
        <a:buFont typeface="Wingdings" panose="05000000000000000000" pitchFamily="2" charset="2"/>
        <a:buChar char="n"/>
        <a:defRPr kumimoji="1" sz="2400" b="1">
          <a:solidFill>
            <a:srgbClr val="000000"/>
          </a:solidFill>
          <a:latin typeface="+mn-lt"/>
          <a:ea typeface="+mn-ea"/>
        </a:defRPr>
      </a:lvl6pPr>
      <a:lvl7pPr marL="3249930" indent="-228600" algn="l" rtl="0" eaLnBrk="0" fontAlgn="base" hangingPunct="0">
        <a:spcBef>
          <a:spcPct val="20000"/>
        </a:spcBef>
        <a:spcAft>
          <a:spcPct val="0"/>
        </a:spcAft>
        <a:buClr>
          <a:srgbClr val="996633"/>
        </a:buClr>
        <a:buSzPct val="65000"/>
        <a:buFont typeface="Wingdings" panose="05000000000000000000" pitchFamily="2" charset="2"/>
        <a:buChar char="n"/>
        <a:defRPr kumimoji="1" sz="2400" b="1">
          <a:solidFill>
            <a:srgbClr val="000000"/>
          </a:solidFill>
          <a:latin typeface="+mn-lt"/>
          <a:ea typeface="+mn-ea"/>
        </a:defRPr>
      </a:lvl7pPr>
      <a:lvl8pPr marL="3707130" indent="-228600" algn="l" rtl="0" eaLnBrk="0" fontAlgn="base" hangingPunct="0">
        <a:spcBef>
          <a:spcPct val="20000"/>
        </a:spcBef>
        <a:spcAft>
          <a:spcPct val="0"/>
        </a:spcAft>
        <a:buClr>
          <a:srgbClr val="996633"/>
        </a:buClr>
        <a:buSzPct val="65000"/>
        <a:buFont typeface="Wingdings" panose="05000000000000000000" pitchFamily="2" charset="2"/>
        <a:buChar char="n"/>
        <a:defRPr kumimoji="1" sz="2400" b="1">
          <a:solidFill>
            <a:srgbClr val="000000"/>
          </a:solidFill>
          <a:latin typeface="+mn-lt"/>
          <a:ea typeface="+mn-ea"/>
        </a:defRPr>
      </a:lvl8pPr>
      <a:lvl9pPr marL="4164330" indent="-228600" algn="l" rtl="0" eaLnBrk="0" fontAlgn="base" hangingPunct="0">
        <a:spcBef>
          <a:spcPct val="20000"/>
        </a:spcBef>
        <a:spcAft>
          <a:spcPct val="0"/>
        </a:spcAft>
        <a:buClr>
          <a:srgbClr val="996633"/>
        </a:buClr>
        <a:buSzPct val="65000"/>
        <a:buFont typeface="Wingdings" panose="05000000000000000000" pitchFamily="2" charset="2"/>
        <a:buChar char="n"/>
        <a:defRPr kumimoji="1"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34.xml"/><Relationship Id="rId4" Type="http://schemas.openxmlformats.org/officeDocument/2006/relationships/slide" Target="slide33.xml"/><Relationship Id="rId3" Type="http://schemas.openxmlformats.org/officeDocument/2006/relationships/slide" Target="slide31.xml"/><Relationship Id="rId2" Type="http://schemas.openxmlformats.org/officeDocument/2006/relationships/slide" Target="slide35.xml"/><Relationship Id="rId1" Type="http://schemas.openxmlformats.org/officeDocument/2006/relationships/slide" Target="slide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3.xml"/><Relationship Id="rId2" Type="http://schemas.openxmlformats.org/officeDocument/2006/relationships/audio" Target="../media/audio1.wav"/><Relationship Id="rId1" Type="http://schemas.openxmlformats.org/officeDocument/2006/relationships/slide" Target="slide2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3.xml"/><Relationship Id="rId2" Type="http://schemas.openxmlformats.org/officeDocument/2006/relationships/audio" Target="../media/audio1.wav"/><Relationship Id="rId1" Type="http://schemas.openxmlformats.org/officeDocument/2006/relationships/slide" Target="slide25.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5.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074"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3075" name="Rectangle 3"/>
          <p:cNvSpPr/>
          <p:nvPr/>
        </p:nvSpPr>
        <p:spPr>
          <a:xfrm>
            <a:off x="827088" y="2924175"/>
            <a:ext cx="7772400" cy="936625"/>
          </a:xfrm>
          <a:prstGeom prst="rect">
            <a:avLst/>
          </a:prstGeom>
          <a:noFill/>
          <a:ln w="9525">
            <a:noFill/>
          </a:ln>
        </p:spPr>
        <p:txBody>
          <a:bodyPr anchor="b" anchorCtr="0"/>
          <a:p>
            <a:pPr eaLnBrk="0" hangingPunct="0">
              <a:spcBef>
                <a:spcPct val="0"/>
              </a:spcBef>
            </a:pPr>
            <a:r>
              <a:rPr lang="zh-CN" altLang="en-US" sz="5400" dirty="0">
                <a:solidFill>
                  <a:srgbClr val="0000CC"/>
                </a:solidFill>
                <a:latin typeface="华文新魏" panose="02010800040101010101" pitchFamily="2" charset="-122"/>
                <a:ea typeface="华文新魏" panose="02010800040101010101" pitchFamily="2" charset="-122"/>
              </a:rPr>
              <a:t>第</a:t>
            </a:r>
            <a:r>
              <a:rPr lang="en-US" altLang="zh-CN" sz="5400" dirty="0">
                <a:solidFill>
                  <a:srgbClr val="0000CC"/>
                </a:solidFill>
                <a:latin typeface="Arial" panose="020B0604020202020204" pitchFamily="34" charset="0"/>
                <a:ea typeface="华文新魏" panose="02010800040101010101" pitchFamily="2" charset="-122"/>
              </a:rPr>
              <a:t>7</a:t>
            </a:r>
            <a:r>
              <a:rPr lang="zh-CN" altLang="en-US" sz="5400" dirty="0">
                <a:solidFill>
                  <a:srgbClr val="0000CC"/>
                </a:solidFill>
                <a:latin typeface="华文新魏" panose="02010800040101010101" pitchFamily="2" charset="-122"/>
                <a:ea typeface="华文新魏" panose="02010800040101010101" pitchFamily="2" charset="-122"/>
              </a:rPr>
              <a:t>章 关系规范化理论</a:t>
            </a:r>
            <a:endParaRPr lang="zh-CN" altLang="en-US" sz="5400" dirty="0">
              <a:solidFill>
                <a:srgbClr val="0000CC"/>
              </a:solidFill>
              <a:latin typeface="华文新魏" panose="02010800040101010101" pitchFamily="2" charset="-122"/>
              <a:ea typeface="华文新魏" panose="02010800040101010101" pitchFamily="2" charset="-122"/>
            </a:endParaRPr>
          </a:p>
        </p:txBody>
      </p:sp>
      <p:sp>
        <p:nvSpPr>
          <p:cNvPr id="262148" name="Rectangle 4"/>
          <p:cNvSpPr>
            <a:spLocks noChangeArrowheads="1"/>
          </p:cNvSpPr>
          <p:nvPr/>
        </p:nvSpPr>
        <p:spPr bwMode="auto">
          <a:xfrm>
            <a:off x="468313" y="1052513"/>
            <a:ext cx="8497888" cy="1143000"/>
          </a:xfrm>
          <a:prstGeom prst="rect">
            <a:avLst/>
          </a:prstGeom>
          <a:noFill/>
          <a:ln w="12700">
            <a:noFill/>
            <a:miter lim="800000"/>
          </a:ln>
          <a:effectLst>
            <a:outerShdw dist="35921" dir="2700000" algn="ctr" rotWithShape="0">
              <a:schemeClr val="bg2">
                <a:alpha val="50000"/>
              </a:schemeClr>
            </a:outerShdw>
          </a:effectLst>
        </p:spPr>
        <p:txBody>
          <a:bodyPr lIns="90488" tIns="44450" rIns="90488" bIns="4445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5400" b="1" i="0" u="none" strike="noStrike" kern="1200" cap="none" spc="0" normalizeH="0" baseline="0" noProof="0" dirty="0" smtClean="0">
                <a:ln>
                  <a:noFill/>
                </a:ln>
                <a:solidFill>
                  <a:srgbClr val="FF3300"/>
                </a:solidFill>
                <a:effectLst/>
                <a:uLnTx/>
                <a:uFillTx/>
                <a:latin typeface="Arial" panose="020B0604020202020204" pitchFamily="34" charset="0"/>
                <a:ea typeface="华文新魏" panose="02010800040101010101" pitchFamily="2" charset="-122"/>
                <a:cs typeface="+mn-cs"/>
              </a:rPr>
              <a:t>数据库</a:t>
            </a:r>
            <a:r>
              <a:rPr kumimoji="1" lang="zh-CN" altLang="en-US" sz="5400" b="1" i="0" u="none" strike="noStrike" kern="1200" cap="none" spc="0" normalizeH="0" baseline="0" noProof="0" dirty="0" smtClean="0">
                <a:ln>
                  <a:noFill/>
                </a:ln>
                <a:solidFill>
                  <a:srgbClr val="FF3300"/>
                </a:solidFill>
                <a:effectLst/>
                <a:uLnTx/>
                <a:uFillTx/>
                <a:latin typeface="Arial" panose="020B0604020202020204" pitchFamily="34" charset="0"/>
                <a:ea typeface="华文新魏" panose="02010800040101010101" pitchFamily="2" charset="-122"/>
                <a:cs typeface="+mn-cs"/>
              </a:rPr>
              <a:t>系统</a:t>
            </a:r>
            <a:endParaRPr kumimoji="1" lang="zh-CN" altLang="en-US" sz="5400" b="1" i="0" u="none" strike="noStrike" kern="1200" cap="none" spc="0" normalizeH="0" baseline="0" noProof="0" dirty="0" smtClean="0">
              <a:ln>
                <a:noFill/>
              </a:ln>
              <a:solidFill>
                <a:srgbClr val="FF3300"/>
              </a:solidFill>
              <a:effectLst/>
              <a:uLnTx/>
              <a:uFillTx/>
              <a:latin typeface="Arial" panose="020B0604020202020204" pitchFamily="34" charset="0"/>
              <a:ea typeface="华文新魏" panose="02010800040101010101" pitchFamily="2" charset="-122"/>
              <a:cs typeface="+mn-cs"/>
            </a:endParaRPr>
          </a:p>
        </p:txBody>
      </p:sp>
      <p:sp>
        <p:nvSpPr>
          <p:cNvPr id="3077" name="Text Box 5"/>
          <p:cNvSpPr txBox="1"/>
          <p:nvPr/>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p>
            <a:pPr algn="l" eaLnBrk="0" hangingPunct="0">
              <a:lnSpc>
                <a:spcPct val="90000"/>
              </a:lnSpc>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3078" name="Text Box 6"/>
          <p:cNvSpPr txBox="1"/>
          <p:nvPr/>
        </p:nvSpPr>
        <p:spPr>
          <a:xfrm>
            <a:off x="0" y="-76200"/>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p>
            <a:pPr algn="l" eaLnBrk="0" hangingPunct="0">
              <a:lnSpc>
                <a:spcPct val="90000"/>
              </a:lnSpc>
            </a:pPr>
            <a:endParaRPr lang="zh-CN" altLang="zh-CN" sz="2400" dirty="0">
              <a:solidFill>
                <a:schemeClr val="tx1"/>
              </a:solidFill>
              <a:latin typeface="华文中宋" panose="02010600040101010101" pitchFamily="2" charset="-122"/>
              <a:ea typeface="华文中宋" panose="02010600040101010101" pitchFamily="2" charset="-122"/>
            </a:endParaRPr>
          </a:p>
        </p:txBody>
      </p:sp>
    </p:spTree>
  </p:cSld>
  <p:clrMapOvr>
    <a:masterClrMapping/>
  </p:clrMapOvr>
  <p:transition>
    <p:rand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099" name="Rectangle 3"/>
          <p:cNvSpPr>
            <a:spLocks noGrp="1"/>
          </p:cNvSpPr>
          <p:nvPr>
            <p:ph idx="1"/>
          </p:nvPr>
        </p:nvSpPr>
        <p:spPr>
          <a:xfrm>
            <a:off x="1231900" y="1016000"/>
            <a:ext cx="7372350" cy="5365750"/>
          </a:xfrm>
        </p:spPr>
        <p:txBody>
          <a:bodyPr vert="horz" wrap="square" lIns="91440" tIns="45720" rIns="91440" bIns="45720" anchor="t" anchorCtr="0"/>
          <a:p>
            <a:pPr>
              <a:lnSpc>
                <a:spcPct val="140000"/>
              </a:lnSpc>
              <a:buNone/>
            </a:pPr>
            <a:r>
              <a:rPr lang="en-US" altLang="zh-CN" dirty="0">
                <a:solidFill>
                  <a:srgbClr val="0000CC"/>
                </a:solidFill>
              </a:rPr>
              <a:t>7.1 </a:t>
            </a:r>
            <a:r>
              <a:rPr lang="zh-CN" altLang="en-US" dirty="0">
                <a:solidFill>
                  <a:srgbClr val="0000CC"/>
                </a:solidFill>
              </a:rPr>
              <a:t>问题的提出</a:t>
            </a:r>
            <a:endParaRPr lang="zh-CN" altLang="en-US" dirty="0">
              <a:solidFill>
                <a:srgbClr val="0000CC"/>
              </a:solidFill>
            </a:endParaRPr>
          </a:p>
          <a:p>
            <a:pPr>
              <a:lnSpc>
                <a:spcPct val="140000"/>
              </a:lnSpc>
              <a:buNone/>
            </a:pPr>
            <a:r>
              <a:rPr lang="en-US" altLang="zh-CN" dirty="0"/>
              <a:t>7.2 </a:t>
            </a:r>
            <a:r>
              <a:rPr lang="zh-CN" altLang="en-US" dirty="0">
                <a:latin typeface="宋体" panose="02010600030101010101" pitchFamily="2" charset="-122"/>
              </a:rPr>
              <a:t>函数依赖</a:t>
            </a:r>
            <a:endParaRPr lang="zh-CN" altLang="en-US" dirty="0">
              <a:latin typeface="宋体" panose="02010600030101010101" pitchFamily="2" charset="-122"/>
            </a:endParaRPr>
          </a:p>
          <a:p>
            <a:pPr>
              <a:lnSpc>
                <a:spcPct val="140000"/>
              </a:lnSpc>
              <a:buNone/>
            </a:pPr>
            <a:r>
              <a:rPr lang="en-US" altLang="zh-CN" dirty="0"/>
              <a:t>7.3 </a:t>
            </a:r>
            <a:r>
              <a:rPr lang="zh-CN" altLang="en-US" dirty="0"/>
              <a:t>数据依赖的公理系统</a:t>
            </a:r>
            <a:endParaRPr lang="zh-CN" altLang="en-US" dirty="0"/>
          </a:p>
          <a:p>
            <a:pPr>
              <a:lnSpc>
                <a:spcPct val="140000"/>
              </a:lnSpc>
              <a:buNone/>
            </a:pPr>
            <a:r>
              <a:rPr lang="en-US" altLang="zh-CN" dirty="0"/>
              <a:t>7.4 </a:t>
            </a:r>
            <a:r>
              <a:rPr lang="zh-CN" altLang="en-US" dirty="0"/>
              <a:t>关系</a:t>
            </a:r>
            <a:r>
              <a:rPr lang="zh-CN" altLang="en-US" dirty="0">
                <a:latin typeface="宋体" panose="02010600030101010101" pitchFamily="2" charset="-122"/>
              </a:rPr>
              <a:t>模式的分解</a:t>
            </a:r>
            <a:endParaRPr lang="zh-CN" altLang="en-US" dirty="0">
              <a:latin typeface="宋体" panose="02010600030101010101" pitchFamily="2" charset="-122"/>
            </a:endParaRPr>
          </a:p>
          <a:p>
            <a:pPr>
              <a:lnSpc>
                <a:spcPct val="140000"/>
              </a:lnSpc>
              <a:buNone/>
            </a:pPr>
            <a:r>
              <a:rPr lang="en-US" altLang="zh-CN" dirty="0"/>
              <a:t>7.5 </a:t>
            </a:r>
            <a:r>
              <a:rPr lang="zh-CN" altLang="en-US" dirty="0"/>
              <a:t>范式及其规范化</a:t>
            </a:r>
            <a:endParaRPr lang="zh-CN" altLang="en-US" dirty="0"/>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9.1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问题的提出</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5123" name="Rectangle 3"/>
          <p:cNvSpPr>
            <a:spLocks noGrp="1"/>
          </p:cNvSpPr>
          <p:nvPr>
            <p:ph idx="1"/>
          </p:nvPr>
        </p:nvSpPr>
        <p:spPr>
          <a:xfrm>
            <a:off x="1403350" y="1268413"/>
            <a:ext cx="7597775" cy="4824412"/>
          </a:xfrm>
        </p:spPr>
        <p:txBody>
          <a:bodyPr vert="horz" wrap="square" lIns="91440" tIns="45720" rIns="91440" bIns="45720" anchor="t" anchorCtr="0"/>
          <a:p>
            <a:pPr>
              <a:buNone/>
            </a:pPr>
            <a:r>
              <a:rPr lang="en-US" altLang="zh-CN" dirty="0"/>
              <a:t>1</a:t>
            </a:r>
            <a:r>
              <a:rPr lang="zh-CN" altLang="en-US" dirty="0"/>
              <a:t>、概念回顾</a:t>
            </a:r>
            <a:endParaRPr lang="zh-CN" altLang="en-US" dirty="0"/>
          </a:p>
          <a:p>
            <a:pPr>
              <a:lnSpc>
                <a:spcPct val="160000"/>
              </a:lnSpc>
              <a:buNone/>
            </a:pPr>
            <a:r>
              <a:rPr lang="en-US" altLang="zh-CN" dirty="0"/>
              <a:t>2</a:t>
            </a:r>
            <a:r>
              <a:rPr lang="zh-CN" altLang="en-US" dirty="0"/>
              <a:t>、什么是数据依赖</a:t>
            </a:r>
            <a:endParaRPr lang="zh-CN" altLang="en-US" dirty="0"/>
          </a:p>
          <a:p>
            <a:pPr>
              <a:lnSpc>
                <a:spcPct val="160000"/>
              </a:lnSpc>
              <a:buNone/>
            </a:pPr>
            <a:r>
              <a:rPr lang="en-US" altLang="zh-CN" dirty="0"/>
              <a:t>3</a:t>
            </a:r>
            <a:r>
              <a:rPr lang="zh-CN" altLang="en-US" dirty="0"/>
              <a:t>、关系模式的定义</a:t>
            </a:r>
            <a:endParaRPr lang="zh-CN" altLang="en-US" dirty="0"/>
          </a:p>
          <a:p>
            <a:pPr>
              <a:lnSpc>
                <a:spcPct val="160000"/>
              </a:lnSpc>
              <a:buNone/>
            </a:pPr>
            <a:r>
              <a:rPr lang="en-US" altLang="zh-CN" dirty="0"/>
              <a:t>4</a:t>
            </a:r>
            <a:r>
              <a:rPr lang="zh-CN" altLang="en-US" dirty="0"/>
              <a:t>、数据依赖对关系模式影响</a:t>
            </a:r>
            <a:endParaRPr lang="zh-CN" altLang="en-US" dirty="0"/>
          </a:p>
        </p:txBody>
      </p:sp>
    </p:spTree>
  </p:cSld>
  <p:clrMapOvr>
    <a:masterClrMapping/>
  </p:clrMapOvr>
  <p:transition>
    <p:random/>
    <p:sndAc>
      <p:stSnd>
        <p:snd r:embed="rId1" name="CAMERA.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、概念回顾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6147" name="Rectangle 4"/>
          <p:cNvSpPr>
            <a:spLocks noGrp="1"/>
          </p:cNvSpPr>
          <p:nvPr>
            <p:ph idx="1"/>
          </p:nvPr>
        </p:nvSpPr>
        <p:spPr>
          <a:xfrm>
            <a:off x="71438" y="1000125"/>
            <a:ext cx="9001125" cy="5473700"/>
          </a:xfrm>
        </p:spPr>
        <p:txBody>
          <a:bodyPr vert="horz" wrap="square" lIns="91440" tIns="45720" rIns="91440" bIns="45720" anchor="t" anchorCtr="0"/>
          <a:p>
            <a:pPr marL="354330" indent="-354330">
              <a:lnSpc>
                <a:spcPct val="90000"/>
              </a:lnSpc>
              <a:spcBef>
                <a:spcPct val="10000"/>
              </a:spcBef>
            </a:pPr>
            <a:r>
              <a:rPr lang="zh-CN" altLang="en-US" dirty="0">
                <a:solidFill>
                  <a:srgbClr val="0000CC"/>
                </a:solidFill>
              </a:rPr>
              <a:t>关系</a:t>
            </a:r>
            <a:r>
              <a:rPr lang="en-US" altLang="zh-CN" sz="3200" dirty="0"/>
              <a:t>(Relation)</a:t>
            </a:r>
            <a:r>
              <a:rPr lang="zh-CN" altLang="en-US" dirty="0"/>
              <a:t>：</a:t>
            </a:r>
            <a:r>
              <a:rPr lang="zh-CN" altLang="en-US" sz="3200" dirty="0"/>
              <a:t>是笛卡尔积</a:t>
            </a:r>
            <a:r>
              <a:rPr lang="en-US" altLang="zh-CN" sz="3200" dirty="0"/>
              <a:t>D</a:t>
            </a:r>
            <a:r>
              <a:rPr lang="en-US" altLang="zh-CN" sz="3200" baseline="-25000" dirty="0"/>
              <a:t>1</a:t>
            </a:r>
            <a:r>
              <a:rPr lang="en-US" altLang="zh-CN" sz="3200" dirty="0">
                <a:sym typeface="Symbol" panose="05050102010706020507" pitchFamily="18" charset="2"/>
              </a:rPr>
              <a:t> </a:t>
            </a:r>
            <a:r>
              <a:rPr lang="en-US" altLang="zh-CN" sz="3200" dirty="0"/>
              <a:t>D</a:t>
            </a:r>
            <a:r>
              <a:rPr lang="en-US" altLang="zh-CN" sz="3200" baseline="-25000" dirty="0"/>
              <a:t>2</a:t>
            </a:r>
            <a:r>
              <a:rPr lang="en-US" altLang="zh-CN" sz="3200" dirty="0">
                <a:sym typeface="Symbol" panose="05050102010706020507" pitchFamily="18" charset="2"/>
              </a:rPr>
              <a:t> …  </a:t>
            </a:r>
            <a:r>
              <a:rPr lang="en-US" altLang="zh-CN" sz="3200" dirty="0"/>
              <a:t>D</a:t>
            </a:r>
            <a:r>
              <a:rPr lang="en-US" altLang="zh-CN" sz="3200" baseline="-25000" dirty="0"/>
              <a:t>n</a:t>
            </a:r>
            <a:r>
              <a:rPr lang="zh-CN" altLang="en-US" sz="3200" dirty="0">
                <a:sym typeface="Symbol" panose="05050102010706020507" pitchFamily="18" charset="2"/>
              </a:rPr>
              <a:t>的一个子集</a:t>
            </a:r>
            <a:endParaRPr lang="zh-CN" altLang="en-US" sz="3200" dirty="0">
              <a:sym typeface="Symbol" panose="05050102010706020507" pitchFamily="18" charset="2"/>
            </a:endParaRPr>
          </a:p>
          <a:p>
            <a:pPr marL="900430" lvl="1" indent="-358775">
              <a:lnSpc>
                <a:spcPct val="90000"/>
              </a:lnSpc>
              <a:spcBef>
                <a:spcPct val="10000"/>
              </a:spcBef>
            </a:pPr>
            <a:r>
              <a:rPr lang="zh-CN" altLang="en-US" dirty="0"/>
              <a:t>描述实体、实体间的联系</a:t>
            </a:r>
            <a:endParaRPr lang="zh-CN" altLang="en-US" dirty="0"/>
          </a:p>
          <a:p>
            <a:pPr marL="900430" lvl="1" indent="-358775">
              <a:lnSpc>
                <a:spcPct val="90000"/>
              </a:lnSpc>
              <a:spcBef>
                <a:spcPct val="10000"/>
              </a:spcBef>
            </a:pPr>
            <a:r>
              <a:rPr lang="zh-CN" altLang="en-US" dirty="0"/>
              <a:t>从形式上看，它是一张二维表</a:t>
            </a:r>
            <a:endParaRPr lang="zh-CN" altLang="en-US" dirty="0"/>
          </a:p>
          <a:p>
            <a:pPr marL="354330" indent="-354330">
              <a:lnSpc>
                <a:spcPct val="90000"/>
              </a:lnSpc>
              <a:spcBef>
                <a:spcPts val="1800"/>
              </a:spcBef>
            </a:pPr>
            <a:r>
              <a:rPr lang="zh-CN" altLang="en-US" dirty="0">
                <a:solidFill>
                  <a:srgbClr val="0000CC"/>
                </a:solidFill>
              </a:rPr>
              <a:t>关系模式</a:t>
            </a:r>
            <a:r>
              <a:rPr lang="en-US" altLang="zh-CN" sz="3200" dirty="0"/>
              <a:t>(Relation Schema)</a:t>
            </a:r>
            <a:r>
              <a:rPr lang="zh-CN" altLang="en-US" dirty="0"/>
              <a:t>：</a:t>
            </a:r>
            <a:r>
              <a:rPr lang="zh-CN" altLang="en-US" sz="3200" dirty="0"/>
              <a:t>用来定义关系</a:t>
            </a:r>
            <a:endParaRPr lang="zh-CN" altLang="en-US" sz="3200" dirty="0"/>
          </a:p>
          <a:p>
            <a:pPr marL="900430" lvl="1" indent="-358775">
              <a:lnSpc>
                <a:spcPct val="90000"/>
              </a:lnSpc>
              <a:spcBef>
                <a:spcPts val="600"/>
              </a:spcBef>
            </a:pPr>
            <a:r>
              <a:rPr lang="zh-CN" altLang="en-US" dirty="0"/>
              <a:t>刻画关系的结构</a:t>
            </a:r>
            <a:endParaRPr lang="zh-CN" altLang="en-US" dirty="0"/>
          </a:p>
          <a:p>
            <a:pPr marL="900430" lvl="1" indent="-358775">
              <a:lnSpc>
                <a:spcPct val="90000"/>
              </a:lnSpc>
              <a:spcBef>
                <a:spcPct val="10000"/>
              </a:spcBef>
            </a:pPr>
            <a:r>
              <a:rPr lang="en-US" altLang="zh-CN" dirty="0"/>
              <a:t>R(U)  </a:t>
            </a:r>
            <a:r>
              <a:rPr lang="zh-CN" altLang="en-US" dirty="0"/>
              <a:t>或  </a:t>
            </a:r>
            <a:r>
              <a:rPr lang="en-US" altLang="zh-CN" dirty="0"/>
              <a:t>R(A</a:t>
            </a:r>
            <a:r>
              <a:rPr lang="en-US" altLang="zh-CN" sz="3600" baseline="-25000" dirty="0"/>
              <a:t>1</a:t>
            </a:r>
            <a:r>
              <a:rPr lang="en-US" altLang="zh-CN" dirty="0"/>
              <a:t>, A</a:t>
            </a:r>
            <a:r>
              <a:rPr lang="en-US" altLang="zh-CN" sz="3600" baseline="-25000" dirty="0"/>
              <a:t>2</a:t>
            </a:r>
            <a:r>
              <a:rPr lang="en-US" altLang="zh-CN" dirty="0"/>
              <a:t>,…, A</a:t>
            </a:r>
            <a:r>
              <a:rPr lang="en-US" altLang="zh-CN" sz="3600" baseline="-25000" dirty="0"/>
              <a:t>n</a:t>
            </a:r>
            <a:r>
              <a:rPr lang="en-US" altLang="zh-CN" dirty="0"/>
              <a:t>) </a:t>
            </a:r>
            <a:endParaRPr lang="en-US" altLang="zh-CN" dirty="0"/>
          </a:p>
          <a:p>
            <a:pPr marL="354330" indent="-354330">
              <a:lnSpc>
                <a:spcPct val="90000"/>
              </a:lnSpc>
              <a:spcBef>
                <a:spcPts val="1800"/>
              </a:spcBef>
            </a:pPr>
            <a:r>
              <a:rPr lang="zh-CN" altLang="en-US" dirty="0">
                <a:solidFill>
                  <a:srgbClr val="0000CC"/>
                </a:solidFill>
              </a:rPr>
              <a:t>关系实例</a:t>
            </a:r>
            <a:r>
              <a:rPr lang="en-US" altLang="zh-CN" sz="3200" dirty="0"/>
              <a:t>(Relation Instance)</a:t>
            </a:r>
            <a:r>
              <a:rPr lang="zh-CN" altLang="en-US" dirty="0"/>
              <a:t>：</a:t>
            </a:r>
            <a:r>
              <a:rPr lang="zh-CN" altLang="en-US" sz="3200" dirty="0"/>
              <a:t>关系中所有元组</a:t>
            </a:r>
            <a:endParaRPr lang="zh-CN" altLang="en-US" dirty="0"/>
          </a:p>
          <a:p>
            <a:pPr marL="900430" lvl="1" indent="-358775">
              <a:lnSpc>
                <a:spcPct val="90000"/>
              </a:lnSpc>
              <a:spcBef>
                <a:spcPct val="10000"/>
              </a:spcBef>
            </a:pPr>
            <a:r>
              <a:rPr lang="zh-CN" altLang="en-US" dirty="0"/>
              <a:t>关系的内容</a:t>
            </a:r>
            <a:endParaRPr lang="zh-CN" altLang="en-US" dirty="0"/>
          </a:p>
        </p:txBody>
      </p:sp>
    </p:spTree>
  </p:cSld>
  <p:clrMapOvr>
    <a:masterClrMapping/>
  </p:clrMapOvr>
  <p:transition>
    <p:random/>
    <p:sndAc>
      <p:stSnd>
        <p:snd r:embed="rId1" name="CAMERA.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、概念回顾</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7171" name="Rectangle 3"/>
          <p:cNvSpPr>
            <a:spLocks noGrp="1"/>
          </p:cNvSpPr>
          <p:nvPr>
            <p:ph idx="1"/>
          </p:nvPr>
        </p:nvSpPr>
        <p:spPr/>
        <p:txBody>
          <a:bodyPr vert="horz" wrap="square" lIns="91440" tIns="45720" rIns="91440" bIns="45720" anchor="t" anchorCtr="0"/>
          <a:p>
            <a:pPr marL="354330" indent="-354330">
              <a:spcBef>
                <a:spcPct val="20000"/>
              </a:spcBef>
            </a:pPr>
            <a:r>
              <a:rPr lang="zh-CN" altLang="en-US" dirty="0">
                <a:solidFill>
                  <a:srgbClr val="0000CC"/>
                </a:solidFill>
              </a:rPr>
              <a:t>关系数据库</a:t>
            </a:r>
            <a:r>
              <a:rPr lang="zh-CN" altLang="en-US" dirty="0"/>
              <a:t>：</a:t>
            </a:r>
            <a:r>
              <a:rPr lang="zh-CN" altLang="en-US" sz="3200" dirty="0"/>
              <a:t>基于关系模型的数据库，利用关系来描述现实世界</a:t>
            </a:r>
            <a:endParaRPr lang="zh-CN" altLang="en-US" sz="3200" dirty="0"/>
          </a:p>
          <a:p>
            <a:pPr lvl="1"/>
            <a:r>
              <a:rPr lang="zh-CN" altLang="en-US" dirty="0"/>
              <a:t>从形式上看，它由一组关系组成</a:t>
            </a:r>
            <a:endParaRPr lang="zh-CN" altLang="en-US" dirty="0"/>
          </a:p>
          <a:p>
            <a:pPr marL="354330" indent="-354330">
              <a:spcBef>
                <a:spcPct val="20000"/>
              </a:spcBef>
            </a:pPr>
            <a:r>
              <a:rPr lang="zh-CN" altLang="en-US" dirty="0">
                <a:solidFill>
                  <a:srgbClr val="0000CC"/>
                </a:solidFill>
              </a:rPr>
              <a:t>关系数据库的模式</a:t>
            </a:r>
            <a:r>
              <a:rPr lang="zh-CN" altLang="en-US" dirty="0"/>
              <a:t>：</a:t>
            </a:r>
            <a:r>
              <a:rPr lang="zh-CN" altLang="en-US" sz="3200" dirty="0"/>
              <a:t>定义这组关系的关系模式的全体</a:t>
            </a:r>
            <a:endParaRPr lang="zh-CN" altLang="en-US" sz="3200" dirty="0"/>
          </a:p>
          <a:p>
            <a:pPr marL="354330" indent="-354330">
              <a:spcBef>
                <a:spcPct val="50000"/>
              </a:spcBef>
            </a:pPr>
            <a:r>
              <a:rPr lang="zh-CN" altLang="en-US" i="1" dirty="0">
                <a:solidFill>
                  <a:srgbClr val="0000CC"/>
                </a:solidFill>
              </a:rPr>
              <a:t>问题：</a:t>
            </a:r>
            <a:endParaRPr lang="zh-CN" altLang="en-US" i="1" dirty="0">
              <a:solidFill>
                <a:srgbClr val="0000CC"/>
              </a:solidFill>
            </a:endParaRPr>
          </a:p>
          <a:p>
            <a:pPr lvl="1"/>
            <a:r>
              <a:rPr lang="zh-CN" altLang="en-US" i="1" dirty="0">
                <a:solidFill>
                  <a:srgbClr val="CC3300"/>
                </a:solidFill>
              </a:rPr>
              <a:t>什么样的数据库模式是一个“好”的模式？</a:t>
            </a:r>
            <a:endParaRPr lang="zh-CN" altLang="en-US" i="1" dirty="0">
              <a:solidFill>
                <a:srgbClr val="CC3300"/>
              </a:solidFill>
            </a:endParaRPr>
          </a:p>
          <a:p>
            <a:pPr lvl="1"/>
            <a:r>
              <a:rPr lang="zh-CN" altLang="en-US" i="1" dirty="0">
                <a:solidFill>
                  <a:srgbClr val="CC3300"/>
                </a:solidFill>
              </a:rPr>
              <a:t>如何设计出一个“好”的模式？</a:t>
            </a:r>
            <a:endParaRPr lang="zh-CN" altLang="en-US" i="1" dirty="0">
              <a:solidFill>
                <a:srgbClr val="CC3300"/>
              </a:solidFill>
            </a:endParaRPr>
          </a:p>
        </p:txBody>
      </p:sp>
    </p:spTree>
  </p:cSld>
  <p:clrMapOvr>
    <a:masterClrMapping/>
  </p:clrMapOvr>
  <p:transition>
    <p:random/>
    <p:sndAc>
      <p:stSnd>
        <p:snd r:embed="rId1" name="CAMERA.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195" name="Rectangle 3"/>
          <p:cNvSpPr>
            <a:spLocks noGrp="1"/>
          </p:cNvSpPr>
          <p:nvPr>
            <p:ph idx="1"/>
          </p:nvPr>
        </p:nvSpPr>
        <p:spPr/>
        <p:txBody>
          <a:bodyPr vert="horz" wrap="square" lIns="91440" tIns="45720" rIns="91440" bIns="45720" anchor="t" anchorCtr="0"/>
          <a:p>
            <a:pPr>
              <a:buNone/>
            </a:pPr>
            <a:r>
              <a:rPr lang="zh-CN" altLang="en-US" sz="3200" dirty="0"/>
              <a:t>某学校教务的数据库涉及的对象：</a:t>
            </a:r>
            <a:endParaRPr lang="zh-CN" altLang="en-US" sz="3200" dirty="0"/>
          </a:p>
          <a:p>
            <a:pPr lvl="1">
              <a:spcBef>
                <a:spcPct val="15000"/>
              </a:spcBef>
              <a:buNone/>
            </a:pPr>
            <a:r>
              <a:rPr lang="zh-CN" altLang="en-US" dirty="0"/>
              <a:t>	学生学号 </a:t>
            </a:r>
            <a:r>
              <a:rPr lang="en-US" altLang="zh-CN" dirty="0"/>
              <a:t>(Sno)</a:t>
            </a:r>
            <a:r>
              <a:rPr lang="zh-CN" altLang="en-US" dirty="0"/>
              <a:t>、学生姓名 </a:t>
            </a:r>
            <a:r>
              <a:rPr lang="en-US" altLang="zh-CN" dirty="0"/>
              <a:t>(Sname)</a:t>
            </a:r>
            <a:r>
              <a:rPr lang="zh-CN" altLang="en-US" dirty="0"/>
              <a:t>、</a:t>
            </a:r>
            <a:endParaRPr lang="zh-CN" altLang="en-US" dirty="0"/>
          </a:p>
          <a:p>
            <a:pPr lvl="1">
              <a:spcBef>
                <a:spcPct val="15000"/>
              </a:spcBef>
              <a:buNone/>
            </a:pPr>
            <a:r>
              <a:rPr lang="zh-CN" altLang="en-US" dirty="0"/>
              <a:t>  课程号 </a:t>
            </a:r>
            <a:r>
              <a:rPr lang="en-US" altLang="zh-CN" dirty="0"/>
              <a:t>(Cno)</a:t>
            </a:r>
            <a:r>
              <a:rPr lang="zh-CN" altLang="en-US" dirty="0"/>
              <a:t>、课程名 </a:t>
            </a:r>
            <a:r>
              <a:rPr lang="en-US" altLang="zh-CN" dirty="0"/>
              <a:t>(Cname) </a:t>
            </a:r>
            <a:r>
              <a:rPr lang="zh-CN" altLang="en-US" dirty="0"/>
              <a:t>、</a:t>
            </a:r>
            <a:endParaRPr lang="zh-CN" altLang="en-US" dirty="0"/>
          </a:p>
          <a:p>
            <a:pPr lvl="1">
              <a:spcBef>
                <a:spcPct val="15000"/>
              </a:spcBef>
              <a:buNone/>
            </a:pPr>
            <a:r>
              <a:rPr lang="zh-CN" altLang="en-US" dirty="0"/>
              <a:t>  成绩 </a:t>
            </a:r>
            <a:r>
              <a:rPr lang="en-US" altLang="zh-CN" dirty="0"/>
              <a:t>(Score)</a:t>
            </a:r>
            <a:endParaRPr lang="en-US" altLang="zh-CN" dirty="0"/>
          </a:p>
          <a:p>
            <a:pPr lvl="1">
              <a:buNone/>
            </a:pPr>
            <a:endParaRPr lang="en-US" altLang="zh-CN" dirty="0"/>
          </a:p>
          <a:p>
            <a:pPr lvl="1">
              <a:buNone/>
            </a:pPr>
            <a:r>
              <a:rPr lang="zh-CN" altLang="en-US" sz="3600" dirty="0"/>
              <a:t>单一的关系模式 ： </a:t>
            </a:r>
            <a:endParaRPr lang="zh-CN" altLang="en-US" sz="3600" dirty="0"/>
          </a:p>
          <a:p>
            <a:pPr>
              <a:spcBef>
                <a:spcPts val="1200"/>
              </a:spcBef>
              <a:buNone/>
            </a:pPr>
            <a:r>
              <a:rPr lang="zh-CN" altLang="en-US" dirty="0"/>
              <a:t>  </a:t>
            </a:r>
            <a:r>
              <a:rPr lang="en-US" altLang="zh-CN" dirty="0"/>
              <a:t>Student ( </a:t>
            </a:r>
            <a:r>
              <a:rPr lang="en-US" altLang="zh-CN" u="sng" dirty="0"/>
              <a:t>Sno</a:t>
            </a:r>
            <a:r>
              <a:rPr lang="en-US" altLang="zh-CN" dirty="0"/>
              <a:t>, Sname, </a:t>
            </a:r>
            <a:r>
              <a:rPr lang="en-US" altLang="zh-CN" u="sng" dirty="0"/>
              <a:t>Cno</a:t>
            </a:r>
            <a:r>
              <a:rPr lang="en-US" altLang="zh-CN" dirty="0"/>
              <a:t>, Cname, </a:t>
            </a:r>
            <a:endParaRPr lang="en-US" altLang="zh-CN" dirty="0"/>
          </a:p>
          <a:p>
            <a:pPr>
              <a:buNone/>
            </a:pPr>
            <a:r>
              <a:rPr lang="en-US" altLang="zh-CN" dirty="0"/>
              <a:t>                                       Score )</a:t>
            </a:r>
            <a:endParaRPr lang="en-US" altLang="zh-CN" dirty="0"/>
          </a:p>
        </p:txBody>
      </p:sp>
    </p:spTree>
  </p:cSld>
  <p:clrMapOvr>
    <a:masterClrMapping/>
  </p:clrMapOvr>
  <p:transition>
    <p:random/>
    <p:sndAc>
      <p:stSnd>
        <p:snd r:embed="rId1" name="CAMERA.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Student</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表</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311622" name="Group 326"/>
          <p:cNvGraphicFramePr>
            <a:graphicFrameLocks noGrp="1"/>
          </p:cNvGraphicFramePr>
          <p:nvPr>
            <p:ph type="tbl" idx="1"/>
          </p:nvPr>
        </p:nvGraphicFramePr>
        <p:xfrm>
          <a:off x="179388" y="1012825"/>
          <a:ext cx="8848725" cy="5241925"/>
        </p:xfrm>
        <a:graphic>
          <a:graphicData uri="http://schemas.openxmlformats.org/drawingml/2006/table">
            <a:tbl>
              <a:tblPr/>
              <a:tblGrid>
                <a:gridCol w="1611312"/>
                <a:gridCol w="1928813"/>
                <a:gridCol w="1320800"/>
                <a:gridCol w="2217737"/>
                <a:gridCol w="1770063"/>
              </a:tblGrid>
              <a:tr h="5095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dirty="0" err="1" smtClean="0">
                          <a:ln>
                            <a:noFill/>
                          </a:ln>
                          <a:solidFill>
                            <a:srgbClr val="000000"/>
                          </a:solidFill>
                          <a:effectLst/>
                          <a:latin typeface="Times New Roman" panose="02020603050405020304" pitchFamily="18" charset="0"/>
                          <a:ea typeface="黑体" panose="02010609060101010101" pitchFamily="2" charset="-122"/>
                        </a:rPr>
                        <a:t>Sno</a:t>
                      </a:r>
                      <a:endParaRPr kumimoji="1" lang="en-US" altLang="zh-CN" sz="32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Sname</a:t>
                      </a:r>
                      <a:endPar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Cno</a:t>
                      </a:r>
                      <a:endPar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Cname</a:t>
                      </a:r>
                      <a:endPar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Score</a:t>
                      </a:r>
                      <a:endParaRPr kumimoji="1" lang="en-US" altLang="zh-CN"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CCCC"/>
                    </a:solidFill>
                  </a:tcPr>
                </a:tc>
              </a:tr>
              <a:tr h="509588">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90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9588">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88</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78</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9588">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77</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80</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C006</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操作系统</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82</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C007</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程序设计</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79</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9588">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81</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r h="509588">
                <a:tc>
                  <a:txBody>
                    <a:body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2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89</a:t>
                      </a:r>
                      <a:endParaRPr kumimoji="1" lang="en-US" altLang="zh-CN" sz="2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2322" name="Rectangle 2"/>
          <p:cNvSpPr>
            <a:spLocks noGrp="1" noChangeArrowheads="1"/>
          </p:cNvSpPr>
          <p:nvPr>
            <p:ph type="title"/>
          </p:nvPr>
        </p:nvSpPr>
        <p:spPr>
          <a:xfrm>
            <a:off x="107950" y="144463"/>
            <a:ext cx="89646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关系模式</a:t>
            </a:r>
            <a:r>
              <a:rPr kumimoji="1" lang="en-US" altLang="zh-CN"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Student(U)</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中存在的问题</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0243" name="Rectangle 3"/>
          <p:cNvSpPr>
            <a:spLocks noGrp="1"/>
          </p:cNvSpPr>
          <p:nvPr>
            <p:ph type="body" sz="half" idx="1"/>
          </p:nvPr>
        </p:nvSpPr>
        <p:spPr>
          <a:xfrm>
            <a:off x="357188" y="3857625"/>
            <a:ext cx="8526462" cy="2519363"/>
          </a:xfrm>
          <a:solidFill>
            <a:schemeClr val="tx1">
              <a:alpha val="100000"/>
            </a:schemeClr>
          </a:solidFill>
          <a:ln>
            <a:solidFill>
              <a:srgbClr val="FF0000">
                <a:alpha val="100000"/>
              </a:srgbClr>
            </a:solidFill>
            <a:miter/>
          </a:ln>
        </p:spPr>
        <p:txBody>
          <a:bodyPr vert="horz" wrap="square" lIns="91440" tIns="45720" rIns="91440" bIns="45720" anchor="t" anchorCtr="0"/>
          <a:p>
            <a:pPr marL="0" indent="0">
              <a:lnSpc>
                <a:spcPct val="95000"/>
              </a:lnSpc>
              <a:buClr>
                <a:srgbClr val="FF0000"/>
              </a:buClr>
              <a:buSzPct val="65000"/>
              <a:buFont typeface="Wingdings" panose="05000000000000000000" pitchFamily="2" charset="2"/>
              <a:buNone/>
            </a:pPr>
            <a:r>
              <a:rPr lang="en-US" altLang="zh-CN" sz="3200" dirty="0"/>
              <a:t>(1) </a:t>
            </a:r>
            <a:r>
              <a:rPr lang="zh-CN" altLang="en-US" sz="3200" dirty="0"/>
              <a:t>数据冗余太大</a:t>
            </a:r>
            <a:endParaRPr lang="zh-CN" altLang="en-US" sz="3200" dirty="0"/>
          </a:p>
          <a:p>
            <a:pPr marL="542925" lvl="1" indent="-271145">
              <a:lnSpc>
                <a:spcPct val="95000"/>
              </a:lnSpc>
              <a:spcBef>
                <a:spcPct val="0"/>
              </a:spcBef>
              <a:buClr>
                <a:srgbClr val="0000CC"/>
              </a:buClr>
              <a:buSzPct val="65000"/>
              <a:buFont typeface="Wingdings" panose="05000000000000000000" pitchFamily="2" charset="2"/>
            </a:pPr>
            <a:r>
              <a:rPr lang="zh-CN" altLang="en-US" dirty="0"/>
              <a:t>浪费大量的存储空间</a:t>
            </a:r>
            <a:endParaRPr lang="zh-CN" altLang="en-US" dirty="0"/>
          </a:p>
          <a:p>
            <a:pPr marL="0" indent="0">
              <a:lnSpc>
                <a:spcPct val="95000"/>
              </a:lnSpc>
              <a:spcBef>
                <a:spcPct val="15000"/>
              </a:spcBef>
              <a:buClrTx/>
              <a:buSzTx/>
              <a:buFontTx/>
              <a:buNone/>
            </a:pPr>
            <a:r>
              <a:rPr lang="en-US" altLang="zh-CN" sz="3200" dirty="0"/>
              <a:t>(2) </a:t>
            </a:r>
            <a:r>
              <a:rPr lang="zh-CN" altLang="en-US" sz="3200" dirty="0"/>
              <a:t>更新异常</a:t>
            </a:r>
            <a:r>
              <a:rPr lang="en-US" altLang="zh-CN" sz="3200" dirty="0"/>
              <a:t>(Update Anomalies)</a:t>
            </a:r>
            <a:endParaRPr lang="en-US" altLang="zh-CN" sz="3200" dirty="0"/>
          </a:p>
          <a:p>
            <a:pPr marL="542925" lvl="1" indent="-271145">
              <a:lnSpc>
                <a:spcPct val="95000"/>
              </a:lnSpc>
              <a:spcBef>
                <a:spcPct val="0"/>
              </a:spcBef>
              <a:buClr>
                <a:srgbClr val="3333CC"/>
              </a:buClr>
              <a:buSzPct val="65000"/>
              <a:buFont typeface="Wingdings" panose="05000000000000000000" pitchFamily="2" charset="2"/>
            </a:pPr>
            <a:r>
              <a:rPr lang="zh-CN" altLang="en-US" dirty="0"/>
              <a:t>数据冗余，更新数据时，维护数据完整性代价大</a:t>
            </a:r>
            <a:endParaRPr lang="zh-CN" altLang="en-US" dirty="0"/>
          </a:p>
        </p:txBody>
      </p:sp>
      <p:graphicFrame>
        <p:nvGraphicFramePr>
          <p:cNvPr id="313292" name="Group 972"/>
          <p:cNvGraphicFramePr>
            <a:graphicFrameLocks noGrp="1"/>
          </p:cNvGraphicFramePr>
          <p:nvPr>
            <p:ph sz="half" idx="1"/>
          </p:nvPr>
        </p:nvGraphicFramePr>
        <p:xfrm>
          <a:off x="322263" y="1016000"/>
          <a:ext cx="8353425" cy="2773366"/>
        </p:xfrm>
        <a:graphic>
          <a:graphicData uri="http://schemas.openxmlformats.org/drawingml/2006/table">
            <a:tbl>
              <a:tblPr/>
              <a:tblGrid>
                <a:gridCol w="1520825"/>
                <a:gridCol w="1822450"/>
                <a:gridCol w="1247775"/>
                <a:gridCol w="2090737"/>
                <a:gridCol w="1671638"/>
              </a:tblGrid>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dirty="0" err="1" smtClean="0">
                          <a:ln>
                            <a:noFill/>
                          </a:ln>
                          <a:solidFill>
                            <a:srgbClr val="000000"/>
                          </a:solidFill>
                          <a:effectLst/>
                          <a:latin typeface="Times New Roman" panose="02020603050405020304" pitchFamily="18" charset="0"/>
                          <a:ea typeface="黑体" panose="02010609060101010101" pitchFamily="2" charset="-122"/>
                        </a:rPr>
                        <a:t>Sno</a:t>
                      </a:r>
                      <a:endParaRPr kumimoji="1" lang="en-US" altLang="zh-CN" sz="1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Cno</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Score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90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C006</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操作系统</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程序设计</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79</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20070903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89</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4370" name="Rectangle 2"/>
          <p:cNvSpPr>
            <a:spLocks noGrp="1" noChangeArrowheads="1"/>
          </p:cNvSpPr>
          <p:nvPr>
            <p:ph type="title"/>
          </p:nvPr>
        </p:nvSpPr>
        <p:spPr>
          <a:xfrm>
            <a:off x="107950" y="144463"/>
            <a:ext cx="89646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关系模式</a:t>
            </a:r>
            <a:r>
              <a:rPr kumimoji="1" lang="en-US" altLang="zh-CN" sz="36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Student(U)</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中存在的问题</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1267" name="Rectangle 77"/>
          <p:cNvSpPr>
            <a:spLocks noGrp="1"/>
          </p:cNvSpPr>
          <p:nvPr>
            <p:ph type="body" sz="half" idx="1"/>
          </p:nvPr>
        </p:nvSpPr>
        <p:spPr>
          <a:xfrm>
            <a:off x="331788" y="3857625"/>
            <a:ext cx="8526462" cy="2447925"/>
          </a:xfrm>
          <a:solidFill>
            <a:schemeClr val="tx1">
              <a:alpha val="100000"/>
            </a:schemeClr>
          </a:solidFill>
          <a:ln>
            <a:solidFill>
              <a:srgbClr val="FF0000">
                <a:alpha val="100000"/>
              </a:srgbClr>
            </a:solidFill>
            <a:miter/>
          </a:ln>
        </p:spPr>
        <p:txBody>
          <a:bodyPr vert="horz" wrap="square" lIns="91440" tIns="45720" rIns="91440" bIns="45720" anchor="t" anchorCtr="0"/>
          <a:p>
            <a:pPr marL="0" indent="0">
              <a:buClr>
                <a:srgbClr val="FF0000"/>
              </a:buClr>
              <a:buSzPct val="65000"/>
              <a:buFont typeface="Wingdings" panose="05000000000000000000" pitchFamily="2" charset="2"/>
              <a:buNone/>
            </a:pPr>
            <a:r>
              <a:rPr lang="en-US" altLang="zh-CN" sz="3200" dirty="0"/>
              <a:t>(3) </a:t>
            </a:r>
            <a:r>
              <a:rPr lang="zh-CN" altLang="en-US" sz="3200" dirty="0"/>
              <a:t>插入异常</a:t>
            </a:r>
            <a:r>
              <a:rPr lang="en-US" altLang="zh-CN" sz="3200" dirty="0"/>
              <a:t>(Insertion Anomalies)</a:t>
            </a:r>
            <a:endParaRPr lang="en-US" altLang="zh-CN" sz="3200" dirty="0"/>
          </a:p>
          <a:p>
            <a:pPr marL="542925" lvl="1" indent="-271145">
              <a:spcBef>
                <a:spcPct val="0"/>
              </a:spcBef>
              <a:buClr>
                <a:srgbClr val="3333CC"/>
              </a:buClr>
              <a:buSzPct val="65000"/>
              <a:buFont typeface="Wingdings" panose="05000000000000000000" pitchFamily="2" charset="2"/>
            </a:pPr>
            <a:r>
              <a:rPr lang="zh-CN" altLang="en-US" dirty="0"/>
              <a:t>需要的数据插不进去</a:t>
            </a:r>
            <a:endParaRPr lang="zh-CN" altLang="en-US" dirty="0"/>
          </a:p>
          <a:p>
            <a:pPr marL="0" indent="0">
              <a:spcBef>
                <a:spcPct val="15000"/>
              </a:spcBef>
              <a:buClr>
                <a:srgbClr val="FF0000"/>
              </a:buClr>
              <a:buSzPct val="65000"/>
              <a:buFont typeface="Wingdings" panose="05000000000000000000" pitchFamily="2" charset="2"/>
              <a:buNone/>
            </a:pPr>
            <a:r>
              <a:rPr lang="en-US" altLang="zh-CN" sz="3200" dirty="0"/>
              <a:t>(4) </a:t>
            </a:r>
            <a:r>
              <a:rPr lang="zh-CN" altLang="en-US" sz="3200" dirty="0"/>
              <a:t>删除异常</a:t>
            </a:r>
            <a:r>
              <a:rPr lang="en-US" altLang="zh-CN" sz="3200" dirty="0"/>
              <a:t>(Deletion Anomalies)</a:t>
            </a:r>
            <a:endParaRPr lang="en-US" altLang="zh-CN" sz="3200" dirty="0"/>
          </a:p>
          <a:p>
            <a:pPr marL="542925" lvl="1" indent="-271145">
              <a:spcBef>
                <a:spcPct val="0"/>
              </a:spcBef>
              <a:buClr>
                <a:srgbClr val="3333CC"/>
              </a:buClr>
              <a:buSzPct val="65000"/>
              <a:buFont typeface="Wingdings" panose="05000000000000000000" pitchFamily="2" charset="2"/>
            </a:pPr>
            <a:r>
              <a:rPr lang="zh-CN" altLang="en-US" dirty="0"/>
              <a:t>不该删除的数据不得不删</a:t>
            </a:r>
            <a:endParaRPr lang="zh-CN" altLang="en-US" dirty="0"/>
          </a:p>
        </p:txBody>
      </p:sp>
      <p:graphicFrame>
        <p:nvGraphicFramePr>
          <p:cNvPr id="314622" name="Group 254"/>
          <p:cNvGraphicFramePr>
            <a:graphicFrameLocks noGrp="1"/>
          </p:cNvGraphicFramePr>
          <p:nvPr>
            <p:ph sz="half" idx="1"/>
          </p:nvPr>
        </p:nvGraphicFramePr>
        <p:xfrm>
          <a:off x="322263" y="1016000"/>
          <a:ext cx="8353425" cy="2773366"/>
        </p:xfrm>
        <a:graphic>
          <a:graphicData uri="http://schemas.openxmlformats.org/drawingml/2006/table">
            <a:tbl>
              <a:tblPr/>
              <a:tblGrid>
                <a:gridCol w="1520825"/>
                <a:gridCol w="1822450"/>
                <a:gridCol w="1247775"/>
                <a:gridCol w="2090737"/>
                <a:gridCol w="1671638"/>
              </a:tblGrid>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dirty="0" err="1" smtClean="0">
                          <a:ln>
                            <a:noFill/>
                          </a:ln>
                          <a:solidFill>
                            <a:srgbClr val="000000"/>
                          </a:solidFill>
                          <a:effectLst/>
                          <a:latin typeface="Times New Roman" panose="02020603050405020304" pitchFamily="18" charset="0"/>
                          <a:ea typeface="黑体" panose="02010609060101010101" pitchFamily="2" charset="-122"/>
                        </a:rPr>
                        <a:t>Sno</a:t>
                      </a:r>
                      <a:endParaRPr kumimoji="1" lang="en-US" altLang="zh-CN" sz="1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Cno</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Score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90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C006</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操作系统</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程序设计</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79</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89</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Rectangle 2"/>
          <p:cNvSpPr>
            <a:spLocks noGrp="1" noChangeArrowheads="1"/>
          </p:cNvSpPr>
          <p:nvPr>
            <p:ph type="title"/>
          </p:nvPr>
        </p:nvSpPr>
        <p:spPr>
          <a:xfrm>
            <a:off x="107950" y="144463"/>
            <a:ext cx="89646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对关系模式</a:t>
            </a:r>
            <a:r>
              <a:rPr kumimoji="1" lang="en-US" altLang="zh-CN"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Student(U)</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进行改造</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2291" name="Rectangle 3"/>
          <p:cNvSpPr>
            <a:spLocks noGrp="1" noChangeArrowheads="1"/>
          </p:cNvSpPr>
          <p:nvPr>
            <p:ph type="body" sz="half" idx="1"/>
          </p:nvPr>
        </p:nvSpPr>
        <p:spPr>
          <a:xfrm>
            <a:off x="357188" y="3910013"/>
            <a:ext cx="8429625" cy="2662238"/>
          </a:xfrm>
          <a:solidFill>
            <a:schemeClr val="tx1"/>
          </a:solidFill>
          <a:ln>
            <a:solidFill>
              <a:srgbClr val="FF0000"/>
            </a:solidFill>
          </a:ln>
        </p:spPr>
        <p:txBody>
          <a:bodyPr vert="horz" wrap="square" lIns="90000" tIns="154800" rIns="91440" bIns="45720" numCol="1" anchor="t" anchorCtr="0" compatLnSpc="1"/>
          <a:lstStyle/>
          <a:p>
            <a:pPr marL="269875" marR="0" lvl="0" indent="-269875" algn="l" defTabSz="914400" rtl="0" eaLnBrk="0" fontAlgn="base" latinLnBrk="0" hangingPunct="0">
              <a:lnSpc>
                <a:spcPct val="100000"/>
              </a:lnSpc>
              <a:spcBef>
                <a:spcPct val="50000"/>
              </a:spcBef>
              <a:spcAft>
                <a:spcPct val="0"/>
              </a:spcAft>
              <a:buClr>
                <a:srgbClr val="FF0000"/>
              </a:buClr>
              <a:buSzPct val="65000"/>
              <a:buFont typeface="Wingdings" panose="05000000000000000000" pitchFamily="2" charset="2"/>
              <a:buNone/>
              <a:defRPr/>
            </a:pP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将</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Student</a:t>
            </a:r>
            <a:r>
              <a:rPr kumimoji="0"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分</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解为</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3</a:t>
            </a:r>
            <a:r>
              <a:rPr kumimoji="1" lang="zh-CN" altLang="en-US"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个关系模式：</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69875" marR="0" lvl="0" indent="-269875" algn="l" defTabSz="914400" rtl="0" eaLnBrk="0" fontAlgn="base" latinLnBrk="0" hangingPunct="0">
              <a:lnSpc>
                <a:spcPct val="100000"/>
              </a:lnSpc>
              <a:spcBef>
                <a:spcPct val="2500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S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69875" marR="0" lvl="0" indent="-269875" algn="l" defTabSz="914400" rtl="0" eaLnBrk="0" fontAlgn="base" latinLnBrk="0" hangingPunct="0">
              <a:lnSpc>
                <a:spcPct val="100000"/>
              </a:lnSpc>
              <a:spcBef>
                <a:spcPct val="2500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C (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Cno</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Cname</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269875" marR="0" lvl="0" indent="-269875" algn="l" defTabSz="914400" rtl="0" eaLnBrk="0" fontAlgn="base" latinLnBrk="0" hangingPunct="0">
              <a:lnSpc>
                <a:spcPct val="100000"/>
              </a:lnSpc>
              <a:spcBef>
                <a:spcPct val="25000"/>
              </a:spcBef>
              <a:spcAft>
                <a:spcPct val="0"/>
              </a:spcAft>
              <a:buClr>
                <a:srgbClr val="FF0000"/>
              </a:buClr>
              <a:buSzPct val="65000"/>
              <a:buFont typeface="Wingdings" panose="05000000000000000000" pitchFamily="2" charset="2"/>
              <a:buNone/>
              <a:defRPr/>
            </a:pP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SC (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2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Cno</a:t>
            </a:r>
            <a:r>
              <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Score )</a:t>
            </a: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
                <a:srgbClr val="FF0000"/>
              </a:buClr>
              <a:buSzPct val="65000"/>
              <a:buFont typeface="Wingdings" panose="05000000000000000000" pitchFamily="2" charset="2"/>
              <a:buNone/>
              <a:defRPr/>
            </a:pPr>
            <a:endParaRPr kumimoji="1" lang="en-US" altLang="zh-CN" sz="32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graphicFrame>
        <p:nvGraphicFramePr>
          <p:cNvPr id="318468" name="Group 4"/>
          <p:cNvGraphicFramePr>
            <a:graphicFrameLocks noGrp="1"/>
          </p:cNvGraphicFramePr>
          <p:nvPr>
            <p:ph sz="half" idx="1"/>
          </p:nvPr>
        </p:nvGraphicFramePr>
        <p:xfrm>
          <a:off x="322263" y="1016000"/>
          <a:ext cx="8353425" cy="2773366"/>
        </p:xfrm>
        <a:graphic>
          <a:graphicData uri="http://schemas.openxmlformats.org/drawingml/2006/table">
            <a:tbl>
              <a:tblPr/>
              <a:tblGrid>
                <a:gridCol w="1520825"/>
                <a:gridCol w="1822450"/>
                <a:gridCol w="1247775"/>
                <a:gridCol w="2090737"/>
                <a:gridCol w="1671638"/>
              </a:tblGrid>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dirty="0" err="1" smtClean="0">
                          <a:ln>
                            <a:noFill/>
                          </a:ln>
                          <a:solidFill>
                            <a:srgbClr val="000000"/>
                          </a:solidFill>
                          <a:effectLst/>
                          <a:latin typeface="Times New Roman" panose="02020603050405020304" pitchFamily="18" charset="0"/>
                          <a:ea typeface="黑体" panose="02010609060101010101" pitchFamily="2" charset="-122"/>
                        </a:rPr>
                        <a:t>Sno</a:t>
                      </a:r>
                      <a:endParaRPr kumimoji="1" lang="en-US" altLang="zh-CN" sz="1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Cno</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Score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90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C006</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操作系统</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程序设计</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79</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89</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8466" name="Rectangle 2"/>
          <p:cNvSpPr>
            <a:spLocks noGrp="1" noChangeArrowheads="1"/>
          </p:cNvSpPr>
          <p:nvPr>
            <p:ph type="title"/>
          </p:nvPr>
        </p:nvSpPr>
        <p:spPr>
          <a:xfrm>
            <a:off x="107950" y="144463"/>
            <a:ext cx="89646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关系模式</a:t>
            </a:r>
            <a:r>
              <a:rPr kumimoji="1" lang="en-US" altLang="zh-CN" sz="36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Student(U)</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中存在的问题</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3315" name="Rectangle 3"/>
          <p:cNvSpPr>
            <a:spLocks noGrp="1"/>
          </p:cNvSpPr>
          <p:nvPr>
            <p:ph type="body" sz="half" idx="1"/>
          </p:nvPr>
        </p:nvSpPr>
        <p:spPr>
          <a:xfrm>
            <a:off x="331788" y="3910013"/>
            <a:ext cx="8597900" cy="2447925"/>
          </a:xfrm>
          <a:solidFill>
            <a:schemeClr val="tx1">
              <a:alpha val="100000"/>
            </a:schemeClr>
          </a:solidFill>
          <a:ln>
            <a:solidFill>
              <a:srgbClr val="FF0000">
                <a:alpha val="100000"/>
              </a:srgbClr>
            </a:solidFill>
            <a:miter/>
          </a:ln>
        </p:spPr>
        <p:txBody>
          <a:bodyPr vert="horz" wrap="square" lIns="90000" tIns="154800" rIns="91440" bIns="45720" anchor="t" anchorCtr="0"/>
          <a:p>
            <a:pPr marL="0" indent="0">
              <a:spcBef>
                <a:spcPct val="30000"/>
              </a:spcBef>
              <a:buClr>
                <a:srgbClr val="FF0000"/>
              </a:buClr>
              <a:buSzPct val="65000"/>
              <a:buFont typeface="Wingdings" panose="05000000000000000000" pitchFamily="2" charset="2"/>
              <a:buNone/>
            </a:pPr>
            <a:r>
              <a:rPr lang="en-US" altLang="zh-CN" sz="3200" dirty="0"/>
              <a:t> </a:t>
            </a:r>
            <a:r>
              <a:rPr lang="zh-CN" altLang="en-US" sz="3200" dirty="0"/>
              <a:t>存在问题的原因：</a:t>
            </a:r>
            <a:endParaRPr lang="en-US" altLang="zh-CN" sz="3200" dirty="0"/>
          </a:p>
          <a:p>
            <a:pPr marL="0" indent="0">
              <a:spcBef>
                <a:spcPts val="600"/>
              </a:spcBef>
              <a:buClr>
                <a:srgbClr val="FF0000"/>
              </a:buClr>
              <a:buSzPct val="65000"/>
              <a:buFont typeface="Wingdings" panose="05000000000000000000" pitchFamily="2" charset="2"/>
              <a:buNone/>
            </a:pPr>
            <a:r>
              <a:rPr lang="en-US" altLang="zh-CN" sz="3200" dirty="0"/>
              <a:t>        </a:t>
            </a:r>
            <a:r>
              <a:rPr lang="zh-CN" altLang="en-US" sz="3200" dirty="0"/>
              <a:t>某些属性之间存在</a:t>
            </a:r>
            <a:r>
              <a:rPr lang="zh-CN" altLang="en-US" sz="3200" u="sng" dirty="0">
                <a:solidFill>
                  <a:srgbClr val="0000CC"/>
                </a:solidFill>
              </a:rPr>
              <a:t>数据依赖关系</a:t>
            </a:r>
            <a:endParaRPr lang="zh-CN" altLang="en-US" sz="3200" u="sng" dirty="0">
              <a:solidFill>
                <a:srgbClr val="0000CC"/>
              </a:solidFill>
            </a:endParaRPr>
          </a:p>
          <a:p>
            <a:pPr marL="0" indent="0">
              <a:spcBef>
                <a:spcPct val="15000"/>
              </a:spcBef>
              <a:buClr>
                <a:srgbClr val="FF0000"/>
              </a:buClr>
              <a:buSzPct val="65000"/>
              <a:buFont typeface="Wingdings" panose="05000000000000000000" pitchFamily="2" charset="2"/>
              <a:buNone/>
            </a:pPr>
            <a:r>
              <a:rPr lang="zh-CN" altLang="en-US" sz="3200" dirty="0"/>
              <a:t> 如：</a:t>
            </a:r>
            <a:r>
              <a:rPr lang="en-US" altLang="zh-CN" sz="3200" dirty="0"/>
              <a:t>Sno </a:t>
            </a:r>
            <a:r>
              <a:rPr lang="zh-CN" altLang="en-US" sz="3200" u="sng" dirty="0"/>
              <a:t>决定</a:t>
            </a:r>
            <a:r>
              <a:rPr lang="zh-CN" altLang="en-US" sz="3200" dirty="0"/>
              <a:t> </a:t>
            </a:r>
            <a:r>
              <a:rPr lang="en-US" altLang="zh-CN" sz="3200" dirty="0"/>
              <a:t>Sname</a:t>
            </a:r>
            <a:r>
              <a:rPr lang="zh-CN" altLang="en-US" sz="3200" dirty="0"/>
              <a:t>，</a:t>
            </a:r>
            <a:r>
              <a:rPr lang="en-US" altLang="zh-CN" sz="3200" dirty="0"/>
              <a:t>Cno </a:t>
            </a:r>
            <a:r>
              <a:rPr lang="zh-CN" altLang="en-US" sz="3200" u="sng" dirty="0"/>
              <a:t>决定</a:t>
            </a:r>
            <a:r>
              <a:rPr lang="zh-CN" altLang="en-US" sz="3200" dirty="0"/>
              <a:t> </a:t>
            </a:r>
            <a:r>
              <a:rPr lang="en-US" altLang="zh-CN" sz="3200" dirty="0"/>
              <a:t>Cname</a:t>
            </a:r>
            <a:endParaRPr lang="en-US" altLang="zh-CN" sz="3200" dirty="0"/>
          </a:p>
          <a:p>
            <a:pPr marL="0" indent="0">
              <a:spcBef>
                <a:spcPct val="15000"/>
              </a:spcBef>
              <a:buClr>
                <a:srgbClr val="FF0000"/>
              </a:buClr>
              <a:buSzPct val="65000"/>
              <a:buFont typeface="Wingdings" panose="05000000000000000000" pitchFamily="2" charset="2"/>
              <a:buNone/>
            </a:pPr>
            <a:r>
              <a:rPr lang="en-US" altLang="zh-CN" sz="3200" dirty="0"/>
              <a:t>        Sno</a:t>
            </a:r>
            <a:r>
              <a:rPr lang="zh-CN" altLang="en-US" sz="3200" dirty="0"/>
              <a:t>和</a:t>
            </a:r>
            <a:r>
              <a:rPr lang="en-US" altLang="zh-CN" sz="3200" dirty="0"/>
              <a:t>Cno </a:t>
            </a:r>
            <a:r>
              <a:rPr lang="zh-CN" altLang="en-US" sz="3200" u="sng" dirty="0"/>
              <a:t>共同决定</a:t>
            </a:r>
            <a:r>
              <a:rPr lang="zh-CN" altLang="en-US" sz="3200" dirty="0"/>
              <a:t> </a:t>
            </a:r>
            <a:r>
              <a:rPr lang="en-US" altLang="zh-CN" sz="3200" dirty="0"/>
              <a:t>Score</a:t>
            </a:r>
            <a:endParaRPr lang="en-US" altLang="zh-CN" sz="3200" dirty="0"/>
          </a:p>
        </p:txBody>
      </p:sp>
      <p:graphicFrame>
        <p:nvGraphicFramePr>
          <p:cNvPr id="318468" name="Group 4"/>
          <p:cNvGraphicFramePr>
            <a:graphicFrameLocks noGrp="1"/>
          </p:cNvGraphicFramePr>
          <p:nvPr>
            <p:ph sz="half" idx="1"/>
          </p:nvPr>
        </p:nvGraphicFramePr>
        <p:xfrm>
          <a:off x="322263" y="1016000"/>
          <a:ext cx="8353425" cy="2773366"/>
        </p:xfrm>
        <a:graphic>
          <a:graphicData uri="http://schemas.openxmlformats.org/drawingml/2006/table">
            <a:tbl>
              <a:tblPr/>
              <a:tblGrid>
                <a:gridCol w="1520825"/>
                <a:gridCol w="1822450"/>
                <a:gridCol w="1247775"/>
                <a:gridCol w="2090737"/>
                <a:gridCol w="1671638"/>
              </a:tblGrid>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dirty="0" err="1" smtClean="0">
                          <a:ln>
                            <a:noFill/>
                          </a:ln>
                          <a:solidFill>
                            <a:srgbClr val="000000"/>
                          </a:solidFill>
                          <a:effectLst/>
                          <a:latin typeface="Times New Roman" panose="02020603050405020304" pitchFamily="18" charset="0"/>
                          <a:ea typeface="黑体" panose="02010609060101010101" pitchFamily="2" charset="-122"/>
                        </a:rPr>
                        <a:t>Sno</a:t>
                      </a:r>
                      <a:endParaRPr kumimoji="1" lang="en-US" altLang="zh-CN" sz="18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Cno</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Cname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Score</a:t>
                      </a:r>
                      <a:endParaRPr kumimoji="1" lang="en-US" altLang="zh-CN" sz="18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CCC"/>
                    </a:solid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90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20080901</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李明</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78</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C003</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数据库原理</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80</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C006</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操作系统</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20080902</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王林</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C007</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程序设计</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79</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高等数学</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81</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r h="2778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20080903</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张湘</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C002</a:t>
                      </a:r>
                      <a:endParaRPr kumimoji="1" lang="en-US" altLang="zh-CN"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数据结构</a:t>
                      </a:r>
                      <a:endParaRPr kumimoji="1" lang="zh-CN" altLang="en-US" sz="16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rPr>
                        <a:t>89</a:t>
                      </a:r>
                      <a:endParaRPr kumimoji="1" lang="en-US" altLang="zh-CN" sz="1600" b="1" i="0" u="none" strike="noStrike" cap="none" normalizeH="0" baseline="0" dirty="0" smtClean="0">
                        <a:ln>
                          <a:noFill/>
                        </a:ln>
                        <a:solidFill>
                          <a:srgbClr val="000000"/>
                        </a:solidFill>
                        <a:effectLst/>
                        <a:latin typeface="Times New Roman" panose="02020603050405020304" pitchFamily="18" charset="0"/>
                        <a:ea typeface="黑体" panose="02010609060101010101" pitchFamily="2" charset="-122"/>
                      </a:endParaRPr>
                    </a:p>
                  </a:txBody>
                  <a:tcPr marL="0" marR="0" marT="0" marB="0" anchor="b"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、什么是数据依赖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33124" name="Rectangle 4"/>
          <p:cNvSpPr>
            <a:spLocks noGrp="1"/>
          </p:cNvSpPr>
          <p:nvPr>
            <p:ph idx="1"/>
          </p:nvPr>
        </p:nvSpPr>
        <p:spPr/>
        <p:txBody>
          <a:bodyPr vert="horz" wrap="square" lIns="91440" tIns="45720" rIns="91440" bIns="45720" anchor="t" anchorCtr="0"/>
          <a:p>
            <a:pPr marL="354330" indent="-354330">
              <a:lnSpc>
                <a:spcPct val="110000"/>
              </a:lnSpc>
            </a:pPr>
            <a:r>
              <a:rPr lang="zh-CN" altLang="en-US" dirty="0"/>
              <a:t>数据依赖是</a:t>
            </a:r>
            <a:r>
              <a:rPr lang="zh-CN" altLang="en-US" u="sng" dirty="0"/>
              <a:t>一个关系内部属性与属性</a:t>
            </a:r>
            <a:r>
              <a:rPr lang="zh-CN" altLang="en-US" dirty="0"/>
              <a:t>之间的一种</a:t>
            </a:r>
            <a:r>
              <a:rPr lang="zh-CN" altLang="en-US" dirty="0">
                <a:solidFill>
                  <a:srgbClr val="0000CC"/>
                </a:solidFill>
              </a:rPr>
              <a:t>约束关系</a:t>
            </a:r>
            <a:endParaRPr lang="zh-CN" altLang="en-US" dirty="0">
              <a:solidFill>
                <a:srgbClr val="0000CC"/>
              </a:solidFill>
            </a:endParaRPr>
          </a:p>
          <a:p>
            <a:pPr marL="354330" indent="-354330">
              <a:lnSpc>
                <a:spcPct val="110000"/>
              </a:lnSpc>
              <a:spcBef>
                <a:spcPct val="20000"/>
              </a:spcBef>
            </a:pPr>
            <a:r>
              <a:rPr lang="zh-CN" altLang="en-US" dirty="0"/>
              <a:t>通过</a:t>
            </a:r>
            <a:r>
              <a:rPr lang="zh-CN" altLang="en-US" dirty="0">
                <a:solidFill>
                  <a:srgbClr val="0000CC"/>
                </a:solidFill>
              </a:rPr>
              <a:t>属性值</a:t>
            </a:r>
            <a:r>
              <a:rPr lang="zh-CN" altLang="en-US" dirty="0"/>
              <a:t>之间的依赖关系体现这种约束关系</a:t>
            </a:r>
            <a:endParaRPr lang="zh-CN" altLang="en-US" dirty="0"/>
          </a:p>
          <a:p>
            <a:pPr marL="354330" indent="-354330">
              <a:lnSpc>
                <a:spcPct val="110000"/>
              </a:lnSpc>
              <a:spcBef>
                <a:spcPct val="20000"/>
              </a:spcBef>
            </a:pPr>
            <a:r>
              <a:rPr lang="zh-CN" altLang="en-US" dirty="0"/>
              <a:t>是数据内在的性质，是</a:t>
            </a:r>
            <a:r>
              <a:rPr lang="zh-CN" altLang="en-US" dirty="0">
                <a:solidFill>
                  <a:srgbClr val="0000CC"/>
                </a:solidFill>
              </a:rPr>
              <a:t>语义</a:t>
            </a:r>
            <a:r>
              <a:rPr lang="zh-CN" altLang="en-US" dirty="0"/>
              <a:t>的体现</a:t>
            </a:r>
            <a:endParaRPr lang="zh-CN" altLang="en-US" dirty="0"/>
          </a:p>
          <a:p>
            <a:pPr marL="354330" indent="-354330">
              <a:lnSpc>
                <a:spcPct val="120000"/>
              </a:lnSpc>
              <a:spcBef>
                <a:spcPct val="20000"/>
              </a:spcBef>
              <a:spcAft>
                <a:spcPct val="50000"/>
              </a:spcAft>
            </a:pPr>
            <a:r>
              <a:rPr lang="zh-CN" altLang="en-US" dirty="0"/>
              <a:t>是数据库模式设计的</a:t>
            </a:r>
            <a:r>
              <a:rPr lang="zh-CN" altLang="en-US" dirty="0">
                <a:solidFill>
                  <a:srgbClr val="0000CC"/>
                </a:solidFill>
              </a:rPr>
              <a:t>关键</a:t>
            </a:r>
            <a:endParaRPr lang="zh-CN" altLang="en-US" dirty="0">
              <a:solidFill>
                <a:srgbClr val="0000CC"/>
              </a:solidFill>
            </a:endParaRPr>
          </a:p>
          <a:p>
            <a:pPr marL="354330" indent="-354330">
              <a:lnSpc>
                <a:spcPct val="120000"/>
              </a:lnSpc>
              <a:spcAft>
                <a:spcPct val="50000"/>
              </a:spcAft>
            </a:pPr>
            <a:endParaRPr lang="en-US" altLang="zh-CN" dirty="0"/>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24">
                                            <p:txEl>
                                              <p:charRg st="0" end="2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24">
                                            <p:txEl>
                                              <p:charRg st="26" end="4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24">
                                            <p:txEl>
                                              <p:charRg st="47" end="6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124">
                                            <p:txEl>
                                              <p:charRg st="63" end="7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、什么是数据依赖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5363" name="Rectangle 3"/>
          <p:cNvSpPr>
            <a:spLocks noGrp="1"/>
          </p:cNvSpPr>
          <p:nvPr>
            <p:ph idx="1"/>
          </p:nvPr>
        </p:nvSpPr>
        <p:spPr/>
        <p:txBody>
          <a:bodyPr vert="horz" wrap="square" lIns="91440" tIns="45720" rIns="91440" bIns="45720" anchor="t" anchorCtr="0"/>
          <a:p>
            <a:pPr marL="365125" indent="-365125">
              <a:lnSpc>
                <a:spcPct val="120000"/>
              </a:lnSpc>
            </a:pPr>
            <a:r>
              <a:rPr lang="zh-CN" altLang="en-US" dirty="0"/>
              <a:t>数据依赖的类型</a:t>
            </a:r>
            <a:endParaRPr lang="zh-CN" altLang="en-US" dirty="0"/>
          </a:p>
          <a:p>
            <a:pPr marL="901700" lvl="1" indent="-356870">
              <a:lnSpc>
                <a:spcPct val="120000"/>
              </a:lnSpc>
            </a:pPr>
            <a:r>
              <a:rPr lang="zh-CN" altLang="en-US" sz="3600" dirty="0"/>
              <a:t>函数依赖 </a:t>
            </a:r>
            <a:r>
              <a:rPr lang="en-US" altLang="zh-CN" sz="3600" dirty="0"/>
              <a:t>( Functional Dependency</a:t>
            </a:r>
            <a:endParaRPr lang="en-US" altLang="zh-CN" sz="3600" dirty="0"/>
          </a:p>
          <a:p>
            <a:pPr marL="901700" lvl="1" indent="-356870">
              <a:spcBef>
                <a:spcPct val="0"/>
              </a:spcBef>
              <a:buNone/>
            </a:pPr>
            <a:r>
              <a:rPr lang="en-US" altLang="zh-CN" sz="3600" dirty="0"/>
              <a:t>                      </a:t>
            </a:r>
            <a:r>
              <a:rPr lang="zh-CN" altLang="en-US" sz="3600" dirty="0"/>
              <a:t>简记为</a:t>
            </a:r>
            <a:r>
              <a:rPr lang="en-US" altLang="zh-CN" sz="3600" dirty="0"/>
              <a:t>FD )</a:t>
            </a:r>
            <a:endParaRPr lang="en-US" altLang="zh-CN" sz="3600" dirty="0"/>
          </a:p>
          <a:p>
            <a:pPr marL="901700" lvl="1" indent="-356870">
              <a:lnSpc>
                <a:spcPct val="120000"/>
              </a:lnSpc>
            </a:pPr>
            <a:r>
              <a:rPr lang="zh-CN" altLang="en-US" sz="3600" dirty="0"/>
              <a:t>多值依赖 </a:t>
            </a:r>
            <a:r>
              <a:rPr lang="en-US" altLang="zh-CN" sz="3600" dirty="0"/>
              <a:t>( Multivalued Dependency</a:t>
            </a:r>
            <a:endParaRPr lang="en-US" altLang="zh-CN" sz="3600" dirty="0"/>
          </a:p>
          <a:p>
            <a:pPr marL="901700" lvl="1" indent="-356870">
              <a:spcBef>
                <a:spcPct val="0"/>
              </a:spcBef>
              <a:buNone/>
            </a:pPr>
            <a:r>
              <a:rPr lang="en-US" altLang="zh-CN" sz="3600" dirty="0"/>
              <a:t>                      </a:t>
            </a:r>
            <a:r>
              <a:rPr lang="zh-CN" altLang="en-US" sz="3600" dirty="0"/>
              <a:t>简记为</a:t>
            </a:r>
            <a:r>
              <a:rPr lang="en-US" altLang="zh-CN" sz="3600" dirty="0"/>
              <a:t>MVD )</a:t>
            </a:r>
            <a:endParaRPr lang="en-US" altLang="zh-CN" sz="3600" dirty="0"/>
          </a:p>
          <a:p>
            <a:pPr marL="901700" lvl="1" indent="-356870">
              <a:spcBef>
                <a:spcPct val="0"/>
              </a:spcBef>
            </a:pPr>
            <a:r>
              <a:rPr lang="zh-CN" altLang="en-US" sz="3600" dirty="0"/>
              <a:t>其它</a:t>
            </a:r>
            <a:endParaRPr lang="zh-CN" altLang="en-US" sz="3600" dirty="0"/>
          </a:p>
        </p:txBody>
      </p:sp>
    </p:spTree>
  </p:cSld>
  <p:clrMapOvr>
    <a:masterClrMapping/>
  </p:clrMapOvr>
  <p:transition>
    <p:random/>
    <p:sndAc>
      <p:stSnd>
        <p:snd r:embed="rId1"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051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举例</a:t>
            </a:r>
            <a:r>
              <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rPr>
              <a:t>函数依赖</a:t>
            </a:r>
            <a:endParaRPr kumimoji="1" lang="zh-CN" altLang="en-US" sz="4000" b="1" i="0" u="none" strike="noStrike" kern="0" cap="none" spc="0" normalizeH="0" baseline="0" noProof="0" dirty="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20515" name="Rectangle 3"/>
          <p:cNvSpPr>
            <a:spLocks noGrp="1" noChangeArrowheads="1"/>
          </p:cNvSpPr>
          <p:nvPr>
            <p:ph idx="1"/>
          </p:nvPr>
        </p:nvSpPr>
        <p:spPr/>
        <p:txBody>
          <a:bodyPr vert="horz" wrap="square" lIns="91440" tIns="45720" rIns="91440" bIns="45720" numCol="1" anchor="t" anchorCtr="0" compatLnSpc="1"/>
          <a:lstStyle/>
          <a:p>
            <a:pPr marL="443230" marR="0" lvl="0" indent="-443230" algn="l" defTabSz="914400" rtl="0" eaLnBrk="0" fontAlgn="base" latinLnBrk="0" hangingPunct="0">
              <a:lnSpc>
                <a:spcPct val="120000"/>
              </a:lnSpc>
              <a:spcBef>
                <a:spcPct val="0"/>
              </a:spcBef>
              <a:spcAft>
                <a:spcPct val="0"/>
              </a:spcAft>
              <a:buClr>
                <a:srgbClr val="FF0000"/>
              </a:buClr>
              <a:buSzPct val="65000"/>
              <a:buFont typeface="Wingdings" panose="05000000000000000000" pitchFamily="2" charset="2"/>
              <a:buChar char="n"/>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设有</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Sdept</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属性，</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3230" marR="0" lvl="0" indent="-443230" algn="l" defTabSz="914400" rtl="0" eaLnBrk="0" fontAlgn="base" latinLnBrk="0" hangingPunct="0">
              <a:lnSpc>
                <a:spcPct val="120000"/>
              </a:lnSpc>
              <a:spcBef>
                <a:spcPct val="0"/>
              </a:spcBef>
              <a:spcAft>
                <a:spcPct val="0"/>
              </a:spcAft>
              <a:buClr>
                <a:srgbClr val="FF0000"/>
              </a:buClr>
              <a:buSzPct val="65000"/>
              <a:buFont typeface="Wingdings" panose="05000000000000000000" pitchFamily="2" charset="2"/>
              <a:buNone/>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当</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确定，</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Sdept</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就确定；</a:t>
            </a:r>
            <a:endPar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3230" marR="0" lvl="0" indent="-443230" algn="l" defTabSz="914400" rtl="0" eaLnBrk="0" fontAlgn="base" latinLnBrk="0" hangingPunct="0">
              <a:lnSpc>
                <a:spcPct val="120000"/>
              </a:lnSpc>
              <a:spcBef>
                <a:spcPct val="0"/>
              </a:spcBef>
              <a:spcAft>
                <a:spcPct val="0"/>
              </a:spcAft>
              <a:buClr>
                <a:srgbClr val="FF0000"/>
              </a:buClr>
              <a:buSzPct val="65000"/>
              <a:buFont typeface="Wingdings" panose="05000000000000000000" pitchFamily="2" charset="2"/>
              <a:buNone/>
              <a:defRPr/>
            </a:pP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1" u="none" strike="noStrike" kern="0" cap="none" spc="0" normalizeH="0" baseline="0" noProof="0" dirty="0" smtClean="0">
                <a:ln>
                  <a:noFill/>
                </a:ln>
                <a:solidFill>
                  <a:srgbClr val="FF0000"/>
                </a:solidFill>
                <a:effectLst/>
                <a:uLnTx/>
                <a:uFillTx/>
                <a:latin typeface="+mn-lt"/>
                <a:ea typeface="+mn-ea"/>
                <a:cs typeface="+mn-cs"/>
              </a:rPr>
              <a:t>f </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Sdept</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 </a:t>
            </a:r>
            <a:r>
              <a:rPr kumimoji="1" lang="en-US" altLang="zh-CN" sz="3600" b="1" i="1" u="none" strike="noStrike" kern="0" cap="none" spc="0" normalizeH="0" baseline="0" noProof="0" dirty="0" smtClean="0">
                <a:ln>
                  <a:noFill/>
                </a:ln>
                <a:solidFill>
                  <a:srgbClr val="FF0000"/>
                </a:solidFill>
                <a:effectLst/>
                <a:uLnTx/>
                <a:uFillTx/>
                <a:latin typeface="+mn-lt"/>
                <a:ea typeface="+mn-ea"/>
                <a:cs typeface="+mn-cs"/>
              </a:rPr>
              <a:t>f </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3230" marR="0" lvl="0" indent="-443230" algn="l" defTabSz="914400" rtl="0" eaLnBrk="0" fontAlgn="base" latinLnBrk="0" hangingPunct="0">
              <a:lnSpc>
                <a:spcPct val="100000"/>
              </a:lnSpc>
              <a:spcBef>
                <a:spcPct val="7500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即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zh-CN" altLang="en-US"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函数决定</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和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Sdept</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3230" marR="0" lvl="0" indent="-443230" algn="l" defTabSz="914400" rtl="0" eaLnBrk="0" fontAlgn="base" latinLnBrk="0" hangingPunct="0">
              <a:lnSpc>
                <a:spcPct val="120000"/>
              </a:lnSpc>
              <a:spcBef>
                <a:spcPct val="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或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和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Sdept</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zh-CN" altLang="en-US" sz="3600" b="1" i="0" u="none" strike="noStrike" kern="0" cap="none" spc="0" normalizeH="0" baseline="0" noProof="0" dirty="0" smtClean="0">
                <a:ln>
                  <a:noFill/>
                </a:ln>
                <a:solidFill>
                  <a:srgbClr val="FF0000"/>
                </a:solidFill>
                <a:effectLst/>
                <a:uLnTx/>
                <a:uFillTx/>
                <a:latin typeface="Arial" panose="020B0604020202020204" pitchFamily="34" charset="0"/>
                <a:ea typeface="+mn-ea"/>
                <a:cs typeface="+mn-cs"/>
              </a:rPr>
              <a:t>函数依赖于</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a:p>
            <a:pPr marL="443230" marR="0" lvl="0" indent="-443230" algn="l" defTabSz="914400" rtl="0" eaLnBrk="0" fontAlgn="base" latinLnBrk="0" hangingPunct="0">
              <a:lnSpc>
                <a:spcPct val="120000"/>
              </a:lnSpc>
              <a:spcBef>
                <a:spcPct val="0"/>
              </a:spcBef>
              <a:spcAft>
                <a:spcPct val="0"/>
              </a:spcAft>
              <a:buClr>
                <a:srgbClr val="FF0000"/>
              </a:buClr>
              <a:buSzPct val="65000"/>
              <a:buFont typeface="Wingdings" panose="05000000000000000000" pitchFamily="2" charset="2"/>
              <a:buNone/>
              <a:defRPr/>
            </a:pP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r>
              <a:rPr kumimoji="1"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记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err="1" smtClean="0">
                <a:ln>
                  <a:noFill/>
                </a:ln>
                <a:solidFill>
                  <a:srgbClr val="FF0000"/>
                </a:solidFill>
                <a:effectLst/>
                <a:uLnTx/>
                <a:uFillTx/>
                <a:latin typeface="Arial" panose="020B0604020202020204" pitchFamily="34" charset="0"/>
                <a:ea typeface="+mn-ea"/>
                <a:cs typeface="+mn-cs"/>
              </a:rPr>
              <a:t>→</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Sname</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 </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Sno</a:t>
            </a:r>
            <a:r>
              <a:rPr kumimoji="1" lang="en-US" altLang="zh-CN" sz="3600" b="1" i="0" u="none" strike="noStrike" kern="0" cap="none" spc="0" normalizeH="0" baseline="0" noProof="0" dirty="0" err="1" smtClean="0">
                <a:ln>
                  <a:noFill/>
                </a:ln>
                <a:solidFill>
                  <a:srgbClr val="FF0000"/>
                </a:solidFill>
                <a:effectLst/>
                <a:uLnTx/>
                <a:uFillTx/>
                <a:latin typeface="Arial" panose="020B0604020202020204" pitchFamily="34" charset="0"/>
                <a:ea typeface="+mn-ea"/>
                <a:cs typeface="+mn-cs"/>
              </a:rPr>
              <a:t>→</a:t>
            </a:r>
            <a:r>
              <a:rPr kumimoji="1" lang="en-US" altLang="zh-CN" sz="3600" b="1" i="0" u="none" strike="noStrike" kern="0" cap="none" spc="0" normalizeH="0" baseline="0" noProof="0" dirty="0" err="1" smtClean="0">
                <a:ln>
                  <a:noFill/>
                </a:ln>
                <a:solidFill>
                  <a:srgbClr val="000000"/>
                </a:solidFill>
                <a:effectLst/>
                <a:uLnTx/>
                <a:uFillTx/>
                <a:latin typeface="Arial" panose="020B0604020202020204" pitchFamily="34" charset="0"/>
                <a:ea typeface="+mn-ea"/>
                <a:cs typeface="+mn-cs"/>
              </a:rPr>
              <a:t>Sdept</a:t>
            </a:r>
            <a:r>
              <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rPr>
              <a:t> </a:t>
            </a:r>
            <a:endParaRPr kumimoji="1" lang="en-US" altLang="zh-CN"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Tree>
  </p:cSld>
  <p:clrMapOvr>
    <a:masterClrMapping/>
  </p:clrMapOvr>
  <p:transition>
    <p:random/>
    <p:sndAc>
      <p:stSnd>
        <p:snd r:embed="rId1"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、关系模式的表示</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7411" name="Rectangle 4"/>
          <p:cNvSpPr>
            <a:spLocks noGrp="1"/>
          </p:cNvSpPr>
          <p:nvPr>
            <p:ph idx="1"/>
          </p:nvPr>
        </p:nvSpPr>
        <p:spPr/>
        <p:txBody>
          <a:bodyPr vert="horz" wrap="square" lIns="91440" tIns="45720" rIns="91440" bIns="45720" anchor="t" anchorCtr="0"/>
          <a:p>
            <a:r>
              <a:rPr lang="zh-CN" altLang="en-US" dirty="0"/>
              <a:t>关系模式 ：</a:t>
            </a:r>
            <a:endParaRPr lang="zh-CN" altLang="en-US" dirty="0"/>
          </a:p>
          <a:p>
            <a:pPr>
              <a:spcBef>
                <a:spcPts val="1200"/>
              </a:spcBef>
              <a:buNone/>
            </a:pPr>
            <a:r>
              <a:rPr lang="zh-CN" altLang="en-US" dirty="0"/>
              <a:t>                    </a:t>
            </a:r>
            <a:r>
              <a:rPr lang="en-US" altLang="zh-CN" sz="4000" dirty="0">
                <a:solidFill>
                  <a:srgbClr val="0000CC"/>
                </a:solidFill>
              </a:rPr>
              <a:t>R &lt; U, F &gt;</a:t>
            </a:r>
            <a:endParaRPr lang="en-US" altLang="zh-CN" sz="4000" dirty="0">
              <a:solidFill>
                <a:srgbClr val="0000CC"/>
              </a:solidFill>
            </a:endParaRPr>
          </a:p>
          <a:p>
            <a:pPr lvl="1">
              <a:lnSpc>
                <a:spcPct val="110000"/>
              </a:lnSpc>
              <a:spcBef>
                <a:spcPts val="1200"/>
              </a:spcBef>
              <a:buNone/>
            </a:pPr>
            <a:r>
              <a:rPr lang="en-US" altLang="zh-CN" sz="3600" dirty="0"/>
              <a:t>   U</a:t>
            </a:r>
            <a:r>
              <a:rPr lang="zh-CN" altLang="en-US" sz="3600" dirty="0"/>
              <a:t>：组成该关系的属性名集合</a:t>
            </a:r>
            <a:endParaRPr lang="zh-CN" altLang="en-US" sz="3600" dirty="0"/>
          </a:p>
          <a:p>
            <a:pPr lvl="1">
              <a:lnSpc>
                <a:spcPct val="110000"/>
              </a:lnSpc>
              <a:spcBef>
                <a:spcPct val="0"/>
              </a:spcBef>
              <a:buNone/>
            </a:pPr>
            <a:r>
              <a:rPr lang="zh-CN" altLang="en-US" sz="3600" dirty="0"/>
              <a:t>   </a:t>
            </a:r>
            <a:r>
              <a:rPr lang="en-US" altLang="zh-CN" sz="3600" dirty="0"/>
              <a:t>F</a:t>
            </a:r>
            <a:r>
              <a:rPr lang="zh-CN" altLang="en-US" sz="3600" dirty="0"/>
              <a:t>：属性间数据的依赖关系集合</a:t>
            </a:r>
            <a:endParaRPr lang="zh-CN" altLang="en-US" sz="3600" dirty="0"/>
          </a:p>
          <a:p>
            <a:pPr>
              <a:buNone/>
            </a:pPr>
            <a:endParaRPr lang="zh-CN" altLang="en-US" sz="4000" dirty="0">
              <a:solidFill>
                <a:srgbClr val="0000CC"/>
              </a:solidFill>
            </a:endParaRPr>
          </a:p>
          <a:p>
            <a:pPr>
              <a:buNone/>
            </a:pPr>
            <a:r>
              <a:rPr lang="zh-CN" altLang="en-US" dirty="0"/>
              <a:t>    当且仅当 </a:t>
            </a:r>
            <a:r>
              <a:rPr lang="en-US" altLang="zh-CN" dirty="0"/>
              <a:t>U </a:t>
            </a:r>
            <a:r>
              <a:rPr lang="zh-CN" altLang="en-US" dirty="0"/>
              <a:t>上的一个关系 </a:t>
            </a:r>
            <a:r>
              <a:rPr lang="en-US" altLang="zh-CN" dirty="0">
                <a:solidFill>
                  <a:srgbClr val="0000CC"/>
                </a:solidFill>
              </a:rPr>
              <a:t>r</a:t>
            </a:r>
            <a:r>
              <a:rPr lang="en-US" altLang="zh-CN" dirty="0">
                <a:solidFill>
                  <a:schemeClr val="accent2"/>
                </a:solidFill>
              </a:rPr>
              <a:t> </a:t>
            </a:r>
            <a:r>
              <a:rPr lang="zh-CN" altLang="en-US" dirty="0"/>
              <a:t>满足</a:t>
            </a:r>
            <a:r>
              <a:rPr lang="zh-CN" altLang="en-US" dirty="0">
                <a:solidFill>
                  <a:srgbClr val="0000CC"/>
                </a:solidFill>
              </a:rPr>
              <a:t> </a:t>
            </a:r>
            <a:r>
              <a:rPr lang="en-US" altLang="zh-CN" dirty="0">
                <a:solidFill>
                  <a:srgbClr val="0000CC"/>
                </a:solidFill>
              </a:rPr>
              <a:t>F </a:t>
            </a:r>
            <a:r>
              <a:rPr lang="zh-CN" altLang="en-US" dirty="0"/>
              <a:t>时，</a:t>
            </a:r>
            <a:r>
              <a:rPr lang="en-US" altLang="zh-CN" dirty="0">
                <a:solidFill>
                  <a:srgbClr val="0000CC"/>
                </a:solidFill>
              </a:rPr>
              <a:t>r </a:t>
            </a:r>
            <a:r>
              <a:rPr lang="zh-CN" altLang="en-US" dirty="0"/>
              <a:t>称为</a:t>
            </a:r>
            <a:r>
              <a:rPr lang="zh-CN" altLang="en-US" dirty="0">
                <a:solidFill>
                  <a:srgbClr val="0000CC"/>
                </a:solidFill>
              </a:rPr>
              <a:t>关系模式 </a:t>
            </a:r>
            <a:r>
              <a:rPr lang="en-US" altLang="zh-CN" dirty="0">
                <a:solidFill>
                  <a:srgbClr val="0000CC"/>
                </a:solidFill>
              </a:rPr>
              <a:t>R&lt; U, F &gt;</a:t>
            </a:r>
            <a:r>
              <a:rPr lang="en-US" altLang="zh-CN" dirty="0"/>
              <a:t> </a:t>
            </a:r>
            <a:r>
              <a:rPr lang="zh-CN" altLang="en-US" dirty="0"/>
              <a:t>的一个</a:t>
            </a:r>
            <a:r>
              <a:rPr lang="zh-CN" altLang="en-US" dirty="0">
                <a:solidFill>
                  <a:srgbClr val="0000CC"/>
                </a:solidFill>
              </a:rPr>
              <a:t>关系</a:t>
            </a:r>
            <a:r>
              <a:rPr lang="zh-CN" altLang="en-US" dirty="0"/>
              <a:t>。</a:t>
            </a:r>
            <a:endParaRPr lang="zh-CN" altLang="en-US" dirty="0"/>
          </a:p>
        </p:txBody>
      </p:sp>
    </p:spTree>
  </p:cSld>
  <p:clrMapOvr>
    <a:masterClrMapping/>
  </p:clrMapOvr>
  <p:transition>
    <p:random/>
    <p:sndAc>
      <p:stSnd>
        <p:snd r:embed="rId1" name="CAMERA.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、数据依赖对关系模式的影响</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8435" name="Rectangle 3"/>
          <p:cNvSpPr>
            <a:spLocks noGrp="1"/>
          </p:cNvSpPr>
          <p:nvPr>
            <p:ph idx="1"/>
          </p:nvPr>
        </p:nvSpPr>
        <p:spPr/>
        <p:txBody>
          <a:bodyPr vert="horz" wrap="square" lIns="91440" tIns="45720" rIns="91440" bIns="45720" anchor="t" anchorCtr="0"/>
          <a:p>
            <a:pPr>
              <a:buNone/>
            </a:pPr>
            <a:r>
              <a:rPr lang="zh-CN" altLang="en-US" sz="3200" dirty="0"/>
              <a:t>例：某学校教务的数据库涉及的对象：</a:t>
            </a:r>
            <a:endParaRPr lang="zh-CN" altLang="en-US" sz="3200" dirty="0"/>
          </a:p>
          <a:p>
            <a:pPr lvl="1">
              <a:spcBef>
                <a:spcPct val="40000"/>
              </a:spcBef>
              <a:buNone/>
            </a:pPr>
            <a:r>
              <a:rPr lang="zh-CN" altLang="en-US" dirty="0"/>
              <a:t>	学生的学号 </a:t>
            </a:r>
            <a:r>
              <a:rPr lang="en-US" altLang="zh-CN" dirty="0"/>
              <a:t>(Sno)</a:t>
            </a:r>
            <a:r>
              <a:rPr lang="zh-CN" altLang="en-US" dirty="0"/>
              <a:t>、学生的姓名 </a:t>
            </a:r>
            <a:r>
              <a:rPr lang="en-US" altLang="zh-CN" dirty="0"/>
              <a:t>(Sname)</a:t>
            </a:r>
            <a:r>
              <a:rPr lang="zh-CN" altLang="en-US" dirty="0"/>
              <a:t>、</a:t>
            </a:r>
            <a:endParaRPr lang="zh-CN" altLang="en-US" dirty="0"/>
          </a:p>
          <a:p>
            <a:pPr lvl="1">
              <a:spcBef>
                <a:spcPct val="40000"/>
              </a:spcBef>
              <a:buNone/>
            </a:pPr>
            <a:r>
              <a:rPr lang="zh-CN" altLang="en-US" dirty="0"/>
              <a:t>  所在系 </a:t>
            </a:r>
            <a:r>
              <a:rPr lang="en-US" altLang="zh-CN" dirty="0"/>
              <a:t>(Sdept)</a:t>
            </a:r>
            <a:r>
              <a:rPr lang="zh-CN" altLang="en-US" dirty="0"/>
              <a:t>、系主任姓名 </a:t>
            </a:r>
            <a:r>
              <a:rPr lang="en-US" altLang="zh-CN" dirty="0"/>
              <a:t>(Mname) </a:t>
            </a:r>
            <a:r>
              <a:rPr lang="zh-CN" altLang="en-US" dirty="0"/>
              <a:t>、</a:t>
            </a:r>
            <a:endParaRPr lang="zh-CN" altLang="en-US" dirty="0"/>
          </a:p>
          <a:p>
            <a:pPr lvl="1">
              <a:spcBef>
                <a:spcPct val="40000"/>
              </a:spcBef>
              <a:buNone/>
            </a:pPr>
            <a:r>
              <a:rPr lang="zh-CN" altLang="en-US" dirty="0"/>
              <a:t>  课程号 </a:t>
            </a:r>
            <a:r>
              <a:rPr lang="en-US" altLang="zh-CN" dirty="0"/>
              <a:t>(Cno)</a:t>
            </a:r>
            <a:r>
              <a:rPr lang="zh-CN" altLang="en-US" dirty="0"/>
              <a:t>、成绩 </a:t>
            </a:r>
            <a:r>
              <a:rPr lang="en-US" altLang="zh-CN" dirty="0"/>
              <a:t>(Score)</a:t>
            </a:r>
            <a:endParaRPr lang="en-US" altLang="zh-CN" dirty="0"/>
          </a:p>
          <a:p>
            <a:pPr lvl="1">
              <a:buNone/>
            </a:pPr>
            <a:endParaRPr lang="en-US" altLang="zh-CN" dirty="0"/>
          </a:p>
          <a:p>
            <a:pPr lvl="1">
              <a:buNone/>
            </a:pPr>
            <a:r>
              <a:rPr lang="zh-CN" altLang="en-US" sz="3600" dirty="0"/>
              <a:t>单一的关系模式 ： </a:t>
            </a:r>
            <a:r>
              <a:rPr lang="en-US" altLang="zh-CN" sz="3600" dirty="0"/>
              <a:t>Student &lt;U</a:t>
            </a:r>
            <a:r>
              <a:rPr lang="zh-CN" altLang="en-US" sz="3600" dirty="0"/>
              <a:t>、</a:t>
            </a:r>
            <a:r>
              <a:rPr lang="en-US" altLang="zh-CN" sz="3600" dirty="0"/>
              <a:t>F&gt;</a:t>
            </a:r>
            <a:endParaRPr lang="en-US" altLang="zh-CN" sz="3600" dirty="0"/>
          </a:p>
          <a:p>
            <a:pPr>
              <a:spcBef>
                <a:spcPct val="25000"/>
              </a:spcBef>
              <a:buNone/>
            </a:pPr>
            <a:r>
              <a:rPr lang="en-US" altLang="zh-CN" sz="3200" dirty="0"/>
              <a:t> U={Sno, Sname, Sdept, Mname, Cno, Score}</a:t>
            </a:r>
            <a:endParaRPr lang="en-US" altLang="zh-CN" sz="3200" dirty="0"/>
          </a:p>
        </p:txBody>
      </p:sp>
    </p:spTree>
  </p:cSld>
  <p:clrMapOvr>
    <a:masterClrMapping/>
  </p:clrMapOvr>
  <p:transition>
    <p:random/>
    <p:sndAc>
      <p:stSnd>
        <p:snd r:embed="rId1"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、数据依赖对关系模式的影响</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9459" name="Rectangle 4"/>
          <p:cNvSpPr>
            <a:spLocks noGrp="1"/>
          </p:cNvSpPr>
          <p:nvPr>
            <p:ph idx="1"/>
          </p:nvPr>
        </p:nvSpPr>
        <p:spPr>
          <a:xfrm>
            <a:off x="179388" y="1016000"/>
            <a:ext cx="8856662" cy="5473700"/>
          </a:xfrm>
        </p:spPr>
        <p:txBody>
          <a:bodyPr vert="horz" wrap="square" lIns="91440" tIns="45720" rIns="91440" bIns="45720" anchor="t" anchorCtr="0"/>
          <a:p>
            <a:pPr marL="360680" indent="-360680">
              <a:lnSpc>
                <a:spcPct val="110000"/>
              </a:lnSpc>
              <a:buNone/>
            </a:pPr>
            <a:r>
              <a:rPr lang="en-US" altLang="zh-CN" dirty="0"/>
              <a:t>      </a:t>
            </a:r>
            <a:r>
              <a:rPr lang="zh-CN" altLang="en-US" dirty="0"/>
              <a:t>学校教务数据库的语义：</a:t>
            </a:r>
            <a:endParaRPr lang="zh-CN" altLang="en-US" dirty="0"/>
          </a:p>
          <a:p>
            <a:pPr marL="360680" indent="-360680">
              <a:lnSpc>
                <a:spcPct val="110000"/>
              </a:lnSpc>
              <a:buSzPct val="85000"/>
              <a:buFont typeface="Wingdings" panose="05000000000000000000" pitchFamily="2" charset="2"/>
              <a:buAutoNum type="arabicPeriod"/>
            </a:pPr>
            <a:r>
              <a:rPr lang="zh-CN" altLang="en-US" dirty="0"/>
              <a:t>一个系有若干学生，一个学生只属于一个系；</a:t>
            </a:r>
            <a:endParaRPr lang="zh-CN" altLang="en-US" dirty="0"/>
          </a:p>
          <a:p>
            <a:pPr marL="360680" indent="-360680">
              <a:lnSpc>
                <a:spcPct val="110000"/>
              </a:lnSpc>
              <a:buSzPct val="85000"/>
              <a:buFont typeface="Wingdings" panose="05000000000000000000" pitchFamily="2" charset="2"/>
              <a:buAutoNum type="arabicPeriod"/>
            </a:pPr>
            <a:r>
              <a:rPr lang="zh-CN" altLang="en-US" dirty="0"/>
              <a:t>一个系只有一名主任；</a:t>
            </a:r>
            <a:endParaRPr lang="zh-CN" altLang="en-US" dirty="0"/>
          </a:p>
          <a:p>
            <a:pPr marL="360680" indent="-360680">
              <a:lnSpc>
                <a:spcPct val="110000"/>
              </a:lnSpc>
              <a:buSzPct val="85000"/>
              <a:buFont typeface="Wingdings" panose="05000000000000000000" pitchFamily="2" charset="2"/>
              <a:buAutoNum type="arabicPeriod"/>
            </a:pPr>
            <a:r>
              <a:rPr lang="zh-CN" altLang="en-US" dirty="0"/>
              <a:t>一个学生可以选修多门课程， 每门课程有若干学生选修；</a:t>
            </a:r>
            <a:endParaRPr lang="zh-CN" altLang="en-US" dirty="0"/>
          </a:p>
          <a:p>
            <a:pPr marL="360680" indent="-360680">
              <a:lnSpc>
                <a:spcPct val="110000"/>
              </a:lnSpc>
              <a:buSzPct val="85000"/>
              <a:buFont typeface="Wingdings" panose="05000000000000000000" pitchFamily="2" charset="2"/>
              <a:buAutoNum type="arabicPeriod"/>
            </a:pPr>
            <a:r>
              <a:rPr lang="zh-CN" altLang="en-US" dirty="0"/>
              <a:t>每个学生所学的每门课程都有一个成绩。</a:t>
            </a:r>
            <a:endParaRPr lang="zh-CN" altLang="en-US" dirty="0"/>
          </a:p>
        </p:txBody>
      </p:sp>
    </p:spTree>
  </p:cSld>
  <p:clrMapOvr>
    <a:masterClrMapping/>
  </p:clrMapOvr>
  <p:transition>
    <p:random/>
    <p:sndAc>
      <p:stSnd>
        <p:snd r:embed="rId1"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、数据依赖对关系模式的影响</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42350" name="Rectangle 14"/>
          <p:cNvSpPr>
            <a:spLocks noGrp="1"/>
          </p:cNvSpPr>
          <p:nvPr>
            <p:ph idx="1"/>
          </p:nvPr>
        </p:nvSpPr>
        <p:spPr>
          <a:xfrm>
            <a:off x="152400" y="1092200"/>
            <a:ext cx="8848725" cy="5275263"/>
          </a:xfrm>
        </p:spPr>
        <p:txBody>
          <a:bodyPr vert="horz" wrap="square" lIns="91440" tIns="45720" rIns="91440" bIns="45720" anchor="t" anchorCtr="0"/>
          <a:p>
            <a:pPr>
              <a:buNone/>
            </a:pPr>
            <a:r>
              <a:rPr lang="en-US" altLang="zh-CN" dirty="0"/>
              <a:t>    </a:t>
            </a:r>
            <a:r>
              <a:rPr lang="zh-CN" altLang="en-US" dirty="0"/>
              <a:t>属性组 </a:t>
            </a:r>
            <a:r>
              <a:rPr lang="en-US" altLang="zh-CN" dirty="0"/>
              <a:t>U </a:t>
            </a:r>
            <a:r>
              <a:rPr lang="zh-CN" altLang="en-US" dirty="0"/>
              <a:t>上的一组函数依赖 </a:t>
            </a:r>
            <a:r>
              <a:rPr lang="en-US" altLang="zh-CN" dirty="0"/>
              <a:t>F</a:t>
            </a:r>
            <a:r>
              <a:rPr lang="zh-CN" altLang="en-US" dirty="0"/>
              <a:t>：</a:t>
            </a:r>
            <a:endParaRPr lang="zh-CN" altLang="en-US" dirty="0"/>
          </a:p>
          <a:p>
            <a:pPr>
              <a:lnSpc>
                <a:spcPct val="120000"/>
              </a:lnSpc>
              <a:buNone/>
            </a:pPr>
            <a:r>
              <a:rPr lang="zh-CN" altLang="en-US" dirty="0"/>
              <a:t>    </a:t>
            </a:r>
            <a:r>
              <a:rPr lang="en-US" altLang="zh-CN" dirty="0"/>
              <a:t>F = { Sno→Sname , Sno→Sdept , Sdept→Mname, (Sno, Cno) →Score }</a:t>
            </a:r>
            <a:endParaRPr lang="en-US" altLang="zh-CN" dirty="0"/>
          </a:p>
        </p:txBody>
      </p:sp>
      <p:grpSp>
        <p:nvGrpSpPr>
          <p:cNvPr id="20484" name="Group 21"/>
          <p:cNvGrpSpPr/>
          <p:nvPr/>
        </p:nvGrpSpPr>
        <p:grpSpPr>
          <a:xfrm>
            <a:off x="900113" y="3459163"/>
            <a:ext cx="7704137" cy="2849562"/>
            <a:chOff x="567" y="2179"/>
            <a:chExt cx="4853" cy="1795"/>
          </a:xfrm>
        </p:grpSpPr>
        <p:sp>
          <p:nvSpPr>
            <p:cNvPr id="20485" name="Line 20"/>
            <p:cNvSpPr/>
            <p:nvPr/>
          </p:nvSpPr>
          <p:spPr>
            <a:xfrm>
              <a:off x="1519" y="2750"/>
              <a:ext cx="762" cy="476"/>
            </a:xfrm>
            <a:prstGeom prst="line">
              <a:avLst/>
            </a:prstGeom>
            <a:ln w="38100" cap="flat" cmpd="sng">
              <a:solidFill>
                <a:srgbClr val="000000"/>
              </a:solidFill>
              <a:prstDash val="solid"/>
              <a:headEnd type="none" w="med" len="med"/>
              <a:tailEnd type="triangle" w="med" len="med"/>
            </a:ln>
          </p:spPr>
        </p:sp>
        <p:sp>
          <p:nvSpPr>
            <p:cNvPr id="20486" name="Line 10"/>
            <p:cNvSpPr/>
            <p:nvPr/>
          </p:nvSpPr>
          <p:spPr>
            <a:xfrm>
              <a:off x="1247" y="2758"/>
              <a:ext cx="0" cy="808"/>
            </a:xfrm>
            <a:prstGeom prst="line">
              <a:avLst/>
            </a:prstGeom>
            <a:ln w="38100" cap="flat" cmpd="sng">
              <a:solidFill>
                <a:srgbClr val="000000"/>
              </a:solidFill>
              <a:prstDash val="solid"/>
              <a:headEnd type="none" w="med" len="med"/>
              <a:tailEnd type="triangle" w="med" len="med"/>
            </a:ln>
          </p:spPr>
        </p:sp>
        <p:grpSp>
          <p:nvGrpSpPr>
            <p:cNvPr id="20487" name="Group 15"/>
            <p:cNvGrpSpPr/>
            <p:nvPr/>
          </p:nvGrpSpPr>
          <p:grpSpPr>
            <a:xfrm>
              <a:off x="880" y="3586"/>
              <a:ext cx="2505" cy="388"/>
              <a:chOff x="880" y="3404"/>
              <a:chExt cx="2505" cy="388"/>
            </a:xfrm>
          </p:grpSpPr>
          <p:sp>
            <p:nvSpPr>
              <p:cNvPr id="20496" name="Text Box 8"/>
              <p:cNvSpPr txBox="1"/>
              <p:nvPr/>
            </p:nvSpPr>
            <p:spPr>
              <a:xfrm>
                <a:off x="880" y="3404"/>
                <a:ext cx="939" cy="388"/>
              </a:xfrm>
              <a:prstGeom prst="rect">
                <a:avLst/>
              </a:prstGeom>
              <a:noFill/>
              <a:ln w="28575" cap="flat" cmpd="sng">
                <a:solidFill>
                  <a:srgbClr val="000000"/>
                </a:solidFill>
                <a:prstDash val="solid"/>
                <a:miter/>
                <a:headEnd type="none" w="med" len="med"/>
                <a:tailEnd type="none" w="med" len="med"/>
              </a:ln>
            </p:spPr>
            <p:txBody>
              <a:bodyPr/>
              <a:p>
                <a:pPr eaLnBrk="0" hangingPunct="0">
                  <a:spcBef>
                    <a:spcPct val="0"/>
                  </a:spcBef>
                </a:pPr>
                <a:r>
                  <a:rPr lang="en-US" altLang="zh-CN" sz="3200" dirty="0">
                    <a:solidFill>
                      <a:srgbClr val="0000CC"/>
                    </a:solidFill>
                    <a:latin typeface="Arial" panose="020B0604020202020204" pitchFamily="34" charset="0"/>
                    <a:ea typeface="宋体" panose="02010600030101010101" pitchFamily="2" charset="-122"/>
                  </a:rPr>
                  <a:t>Sdept</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20497" name="Text Box 9"/>
              <p:cNvSpPr txBox="1"/>
              <p:nvPr/>
            </p:nvSpPr>
            <p:spPr>
              <a:xfrm>
                <a:off x="2289" y="3404"/>
                <a:ext cx="1096" cy="388"/>
              </a:xfrm>
              <a:prstGeom prst="rect">
                <a:avLst/>
              </a:prstGeom>
              <a:noFill/>
              <a:ln w="28575" cap="flat" cmpd="sng">
                <a:solidFill>
                  <a:srgbClr val="000000"/>
                </a:solidFill>
                <a:prstDash val="solid"/>
                <a:miter/>
                <a:headEnd type="none" w="med" len="med"/>
                <a:tailEnd type="none" w="med" len="med"/>
              </a:ln>
            </p:spPr>
            <p:txBody>
              <a:bodyPr/>
              <a:p>
                <a:pPr eaLnBrk="0" hangingPunct="0">
                  <a:spcBef>
                    <a:spcPct val="0"/>
                  </a:spcBef>
                </a:pPr>
                <a:r>
                  <a:rPr lang="en-US" altLang="zh-CN" sz="3200" dirty="0">
                    <a:solidFill>
                      <a:srgbClr val="0000CC"/>
                    </a:solidFill>
                    <a:latin typeface="Arial" panose="020B0604020202020204" pitchFamily="34" charset="0"/>
                    <a:ea typeface="宋体" panose="02010600030101010101" pitchFamily="2" charset="-122"/>
                  </a:rPr>
                  <a:t>Mname</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20498" name="Line 11"/>
              <p:cNvSpPr/>
              <p:nvPr/>
            </p:nvSpPr>
            <p:spPr>
              <a:xfrm>
                <a:off x="1817" y="3593"/>
                <a:ext cx="469" cy="0"/>
              </a:xfrm>
              <a:prstGeom prst="line">
                <a:avLst/>
              </a:prstGeom>
              <a:ln w="38100" cap="flat" cmpd="sng">
                <a:solidFill>
                  <a:srgbClr val="000000"/>
                </a:solidFill>
                <a:prstDash val="solid"/>
                <a:headEnd type="none" w="med" len="med"/>
                <a:tailEnd type="triangle" w="med" len="med"/>
              </a:ln>
            </p:spPr>
          </p:sp>
        </p:grpSp>
        <p:grpSp>
          <p:nvGrpSpPr>
            <p:cNvPr id="20488" name="Group 16"/>
            <p:cNvGrpSpPr/>
            <p:nvPr/>
          </p:nvGrpSpPr>
          <p:grpSpPr>
            <a:xfrm>
              <a:off x="3698" y="2296"/>
              <a:ext cx="1722" cy="388"/>
              <a:chOff x="3698" y="2296"/>
              <a:chExt cx="1722" cy="388"/>
            </a:xfrm>
          </p:grpSpPr>
          <p:sp>
            <p:nvSpPr>
              <p:cNvPr id="20494" name="Text Box 12"/>
              <p:cNvSpPr txBox="1"/>
              <p:nvPr/>
            </p:nvSpPr>
            <p:spPr>
              <a:xfrm>
                <a:off x="4324" y="2296"/>
                <a:ext cx="1096" cy="388"/>
              </a:xfrm>
              <a:prstGeom prst="rect">
                <a:avLst/>
              </a:prstGeom>
              <a:noFill/>
              <a:ln w="28575" cap="flat" cmpd="sng">
                <a:solidFill>
                  <a:srgbClr val="000000"/>
                </a:solidFill>
                <a:prstDash val="solid"/>
                <a:miter/>
                <a:headEnd type="none" w="med" len="med"/>
                <a:tailEnd type="none" w="med" len="med"/>
              </a:ln>
            </p:spPr>
            <p:txBody>
              <a:bodyPr/>
              <a:p>
                <a:pPr eaLnBrk="0" hangingPunct="0">
                  <a:spcBef>
                    <a:spcPct val="0"/>
                  </a:spcBef>
                </a:pPr>
                <a:r>
                  <a:rPr lang="en-US" altLang="zh-CN" sz="3200" dirty="0">
                    <a:solidFill>
                      <a:srgbClr val="0000CC"/>
                    </a:solidFill>
                    <a:latin typeface="Arial" panose="020B0604020202020204" pitchFamily="34" charset="0"/>
                    <a:ea typeface="宋体" panose="02010600030101010101" pitchFamily="2" charset="-122"/>
                  </a:rPr>
                  <a:t>Score</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20495" name="Line 13"/>
              <p:cNvSpPr/>
              <p:nvPr/>
            </p:nvSpPr>
            <p:spPr>
              <a:xfrm>
                <a:off x="3698" y="2500"/>
                <a:ext cx="626" cy="0"/>
              </a:xfrm>
              <a:prstGeom prst="line">
                <a:avLst/>
              </a:prstGeom>
              <a:ln w="38100" cap="flat" cmpd="sng">
                <a:solidFill>
                  <a:srgbClr val="000000"/>
                </a:solidFill>
                <a:prstDash val="solid"/>
                <a:headEnd type="none" w="med" len="med"/>
                <a:tailEnd type="triangle" w="med" len="med"/>
              </a:ln>
            </p:spPr>
          </p:sp>
        </p:grpSp>
        <p:sp>
          <p:nvSpPr>
            <p:cNvPr id="20489" name="Text Box 19"/>
            <p:cNvSpPr txBox="1"/>
            <p:nvPr/>
          </p:nvSpPr>
          <p:spPr>
            <a:xfrm>
              <a:off x="2281" y="3022"/>
              <a:ext cx="1096" cy="388"/>
            </a:xfrm>
            <a:prstGeom prst="rect">
              <a:avLst/>
            </a:prstGeom>
            <a:noFill/>
            <a:ln w="28575" cap="flat" cmpd="sng">
              <a:solidFill>
                <a:srgbClr val="000000"/>
              </a:solidFill>
              <a:prstDash val="solid"/>
              <a:miter/>
              <a:headEnd type="none" w="med" len="med"/>
              <a:tailEnd type="none" w="med" len="med"/>
            </a:ln>
          </p:spPr>
          <p:txBody>
            <a:bodyPr/>
            <a:p>
              <a:pPr eaLnBrk="0" hangingPunct="0">
                <a:spcBef>
                  <a:spcPct val="0"/>
                </a:spcBef>
              </a:pPr>
              <a:r>
                <a:rPr lang="en-US" altLang="zh-CN" sz="3200" dirty="0">
                  <a:solidFill>
                    <a:srgbClr val="0000CC"/>
                  </a:solidFill>
                  <a:latin typeface="Arial" panose="020B0604020202020204" pitchFamily="34" charset="0"/>
                  <a:ea typeface="宋体" panose="02010600030101010101" pitchFamily="2" charset="-122"/>
                </a:rPr>
                <a:t>Sname</a:t>
              </a:r>
              <a:endParaRPr lang="en-US" altLang="zh-CN" sz="3200" b="0" dirty="0">
                <a:solidFill>
                  <a:srgbClr val="0000CC"/>
                </a:solidFill>
                <a:latin typeface="Arial" panose="020B0604020202020204" pitchFamily="34" charset="0"/>
                <a:ea typeface="宋体" panose="02010600030101010101" pitchFamily="2" charset="-122"/>
              </a:endParaRPr>
            </a:p>
          </p:txBody>
        </p:sp>
        <p:grpSp>
          <p:nvGrpSpPr>
            <p:cNvPr id="20490" name="Group 17"/>
            <p:cNvGrpSpPr/>
            <p:nvPr/>
          </p:nvGrpSpPr>
          <p:grpSpPr>
            <a:xfrm>
              <a:off x="567" y="2179"/>
              <a:ext cx="3131" cy="707"/>
              <a:chOff x="567" y="2179"/>
              <a:chExt cx="3131" cy="707"/>
            </a:xfrm>
          </p:grpSpPr>
          <p:sp>
            <p:nvSpPr>
              <p:cNvPr id="20491" name="Rectangle 5"/>
              <p:cNvSpPr/>
              <p:nvPr/>
            </p:nvSpPr>
            <p:spPr>
              <a:xfrm>
                <a:off x="567" y="2179"/>
                <a:ext cx="3131" cy="707"/>
              </a:xfrm>
              <a:prstGeom prst="rect">
                <a:avLst/>
              </a:prstGeom>
              <a:noFill/>
              <a:ln w="28575" cap="flat" cmpd="sng">
                <a:solidFill>
                  <a:srgbClr val="000000"/>
                </a:solidFill>
                <a:prstDash val="dash"/>
                <a:miter/>
                <a:headEnd type="none" w="med" len="med"/>
                <a:tailEnd type="none" w="med" len="med"/>
              </a:ln>
            </p:spPr>
            <p:txBody>
              <a:bodyPr/>
              <a:p>
                <a:endParaRPr lang="zh-CN" altLang="en-US" dirty="0">
                  <a:latin typeface="Arial" panose="020B0604020202020204" pitchFamily="34" charset="0"/>
                </a:endParaRPr>
              </a:p>
            </p:txBody>
          </p:sp>
          <p:sp>
            <p:nvSpPr>
              <p:cNvPr id="20492" name="Text Box 6"/>
              <p:cNvSpPr txBox="1"/>
              <p:nvPr/>
            </p:nvSpPr>
            <p:spPr>
              <a:xfrm>
                <a:off x="880" y="2370"/>
                <a:ext cx="939" cy="388"/>
              </a:xfrm>
              <a:prstGeom prst="rect">
                <a:avLst/>
              </a:prstGeom>
              <a:noFill/>
              <a:ln w="28575" cap="flat" cmpd="sng">
                <a:solidFill>
                  <a:srgbClr val="000000"/>
                </a:solidFill>
                <a:prstDash val="solid"/>
                <a:miter/>
                <a:headEnd type="none" w="med" len="med"/>
                <a:tailEnd type="none" w="med" len="med"/>
              </a:ln>
            </p:spPr>
            <p:txBody>
              <a:bodyPr/>
              <a:p>
                <a:pPr eaLnBrk="0" hangingPunct="0">
                  <a:spcBef>
                    <a:spcPct val="0"/>
                  </a:spcBef>
                </a:pPr>
                <a:r>
                  <a:rPr lang="en-US" altLang="zh-CN" sz="3200" b="0" dirty="0">
                    <a:solidFill>
                      <a:srgbClr val="0000CC"/>
                    </a:solidFill>
                    <a:latin typeface="Arial" panose="020B0604020202020204" pitchFamily="34" charset="0"/>
                    <a:ea typeface="宋体" panose="02010600030101010101" pitchFamily="2" charset="-122"/>
                  </a:rPr>
                  <a:t> </a:t>
                </a:r>
                <a:r>
                  <a:rPr lang="en-US" altLang="zh-CN" sz="3200" dirty="0">
                    <a:solidFill>
                      <a:srgbClr val="0000CC"/>
                    </a:solidFill>
                    <a:latin typeface="Arial" panose="020B0604020202020204" pitchFamily="34" charset="0"/>
                    <a:ea typeface="宋体" panose="02010600030101010101" pitchFamily="2" charset="-122"/>
                  </a:rPr>
                  <a:t>Sno</a:t>
                </a:r>
                <a:endParaRPr lang="en-US" altLang="zh-CN" sz="3200" b="0" dirty="0">
                  <a:solidFill>
                    <a:srgbClr val="0000CC"/>
                  </a:solidFill>
                  <a:latin typeface="Arial" panose="020B0604020202020204" pitchFamily="34" charset="0"/>
                  <a:ea typeface="宋体" panose="02010600030101010101" pitchFamily="2" charset="-122"/>
                </a:endParaRPr>
              </a:p>
            </p:txBody>
          </p:sp>
          <p:sp>
            <p:nvSpPr>
              <p:cNvPr id="20493" name="Text Box 7"/>
              <p:cNvSpPr txBox="1"/>
              <p:nvPr/>
            </p:nvSpPr>
            <p:spPr>
              <a:xfrm>
                <a:off x="2289" y="2370"/>
                <a:ext cx="1096" cy="388"/>
              </a:xfrm>
              <a:prstGeom prst="rect">
                <a:avLst/>
              </a:prstGeom>
              <a:noFill/>
              <a:ln w="28575" cap="flat" cmpd="sng">
                <a:solidFill>
                  <a:srgbClr val="000000"/>
                </a:solidFill>
                <a:prstDash val="solid"/>
                <a:miter/>
                <a:headEnd type="none" w="med" len="med"/>
                <a:tailEnd type="none" w="med" len="med"/>
              </a:ln>
            </p:spPr>
            <p:txBody>
              <a:bodyPr/>
              <a:p>
                <a:pPr eaLnBrk="0" hangingPunct="0">
                  <a:spcBef>
                    <a:spcPct val="0"/>
                  </a:spcBef>
                </a:pPr>
                <a:r>
                  <a:rPr lang="en-US" altLang="zh-CN" sz="3200" dirty="0">
                    <a:solidFill>
                      <a:srgbClr val="0000CC"/>
                    </a:solidFill>
                    <a:latin typeface="Arial" panose="020B0604020202020204" pitchFamily="34" charset="0"/>
                    <a:ea typeface="宋体" panose="02010600030101010101" pitchFamily="2" charset="-122"/>
                  </a:rPr>
                  <a:t>Cno</a:t>
                </a:r>
                <a:endParaRPr lang="en-US" altLang="zh-CN" sz="3200" dirty="0">
                  <a:solidFill>
                    <a:srgbClr val="0000CC"/>
                  </a:solidFill>
                  <a:latin typeface="Arial" panose="020B0604020202020204" pitchFamily="34" charset="0"/>
                  <a:ea typeface="宋体" panose="02010600030101010101" pitchFamily="2" charset="-122"/>
                </a:endParaRPr>
              </a:p>
            </p:txBody>
          </p:sp>
        </p:gr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50">
                                            <p:txEl>
                                              <p:charRg st="0" end="2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2350">
                                            <p:txEl>
                                              <p:charRg st="22" end="8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Student</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表</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143791" name="Group 431"/>
          <p:cNvGraphicFramePr>
            <a:graphicFrameLocks noGrp="1"/>
          </p:cNvGraphicFramePr>
          <p:nvPr>
            <p:ph idx="1"/>
          </p:nvPr>
        </p:nvGraphicFramePr>
        <p:xfrm>
          <a:off x="395288" y="1052513"/>
          <a:ext cx="8424863" cy="5149852"/>
        </p:xfrm>
        <a:graphic>
          <a:graphicData uri="http://schemas.openxmlformats.org/drawingml/2006/table">
            <a:tbl>
              <a:tblPr/>
              <a:tblGrid>
                <a:gridCol w="1404937"/>
                <a:gridCol w="1403350"/>
                <a:gridCol w="1508125"/>
                <a:gridCol w="1444625"/>
                <a:gridCol w="1258888"/>
                <a:gridCol w="1404937"/>
              </a:tblGrid>
              <a:tr h="6762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Sno</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Sname</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Sdept</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Mname</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Cno</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Score</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chemeClr val="tx1"/>
                    </a:solidFill>
                  </a:tcPr>
                </a:tc>
              </a:tr>
              <a:tr h="6397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6397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77</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6397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6381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吴涛</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6397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吴涛</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6381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王林</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IS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78</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638175">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p:random/>
    <p:sndAc>
      <p:stSnd>
        <p:snd r:embed="rId1" name="CAMERA.WAV"/>
      </p:stSnd>
    </p:sndAc>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56002" name="Rectangle 2"/>
          <p:cNvSpPr>
            <a:spLocks noGrp="1" noChangeArrowheads="1"/>
          </p:cNvSpPr>
          <p:nvPr>
            <p:ph type="title"/>
          </p:nvPr>
        </p:nvSpPr>
        <p:spPr>
          <a:xfrm>
            <a:off x="107950" y="144463"/>
            <a:ext cx="89646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关系模式</a:t>
            </a:r>
            <a:r>
              <a:rPr kumimoji="1" lang="en-US" altLang="zh-CN" sz="36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Student&lt;U, F&gt;</a:t>
            </a:r>
            <a:r>
              <a:rPr kumimoji="1" lang="zh-CN" altLang="en-US" sz="36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中存在的问题</a:t>
            </a:r>
            <a:endParaRPr kumimoji="1" lang="zh-CN" altLang="en-US" sz="36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2531" name="Rectangle 3"/>
          <p:cNvSpPr>
            <a:spLocks noGrp="1"/>
          </p:cNvSpPr>
          <p:nvPr>
            <p:ph type="body" sz="half" idx="1"/>
          </p:nvPr>
        </p:nvSpPr>
        <p:spPr>
          <a:xfrm>
            <a:off x="152400" y="4005263"/>
            <a:ext cx="8812213" cy="2519362"/>
          </a:xfrm>
          <a:solidFill>
            <a:schemeClr val="tx1">
              <a:alpha val="100000"/>
            </a:schemeClr>
          </a:solidFill>
          <a:ln>
            <a:solidFill>
              <a:srgbClr val="FF0000">
                <a:alpha val="100000"/>
              </a:srgbClr>
            </a:solidFill>
            <a:miter/>
          </a:ln>
        </p:spPr>
        <p:txBody>
          <a:bodyPr vert="horz" wrap="square" lIns="91440" tIns="226800" rIns="91440" bIns="45720" anchor="t" anchorCtr="0"/>
          <a:p>
            <a:pPr marL="0" indent="0">
              <a:lnSpc>
                <a:spcPct val="105000"/>
              </a:lnSpc>
              <a:buClr>
                <a:srgbClr val="FF0000"/>
              </a:buClr>
              <a:buSzPct val="65000"/>
              <a:buFont typeface="Wingdings" panose="05000000000000000000" pitchFamily="2" charset="2"/>
              <a:buNone/>
            </a:pPr>
            <a:r>
              <a:rPr lang="en-US" altLang="zh-CN" sz="3200" dirty="0"/>
              <a:t> (1) </a:t>
            </a:r>
            <a:r>
              <a:rPr lang="zh-CN" altLang="en-US" sz="3200" dirty="0"/>
              <a:t>数据冗余太大</a:t>
            </a:r>
            <a:endParaRPr lang="zh-CN" altLang="en-US" sz="3200" dirty="0"/>
          </a:p>
          <a:p>
            <a:pPr marL="0" indent="0">
              <a:lnSpc>
                <a:spcPct val="105000"/>
              </a:lnSpc>
              <a:buClr>
                <a:srgbClr val="FF0000"/>
              </a:buClr>
              <a:buSzPct val="65000"/>
              <a:buFont typeface="Wingdings" panose="05000000000000000000" pitchFamily="2" charset="2"/>
              <a:buNone/>
            </a:pPr>
            <a:r>
              <a:rPr lang="zh-CN" altLang="en-US" sz="3200" dirty="0"/>
              <a:t> </a:t>
            </a:r>
            <a:r>
              <a:rPr lang="en-US" altLang="zh-CN" sz="3200" dirty="0"/>
              <a:t>(2) </a:t>
            </a:r>
            <a:r>
              <a:rPr lang="zh-CN" altLang="en-US" sz="3200" dirty="0"/>
              <a:t>更新异常</a:t>
            </a:r>
            <a:r>
              <a:rPr lang="en-US" altLang="zh-CN" sz="3200" dirty="0"/>
              <a:t>(Update Anomalies)</a:t>
            </a:r>
            <a:endParaRPr lang="en-US" altLang="zh-CN" sz="3200" dirty="0"/>
          </a:p>
          <a:p>
            <a:pPr marL="0" indent="0">
              <a:lnSpc>
                <a:spcPct val="105000"/>
              </a:lnSpc>
              <a:buClr>
                <a:srgbClr val="FF0000"/>
              </a:buClr>
              <a:buSzPct val="65000"/>
              <a:buFont typeface="Wingdings" panose="05000000000000000000" pitchFamily="2" charset="2"/>
              <a:buNone/>
            </a:pPr>
            <a:r>
              <a:rPr lang="en-US" altLang="zh-CN" sz="3200" dirty="0"/>
              <a:t> (3) </a:t>
            </a:r>
            <a:r>
              <a:rPr lang="zh-CN" altLang="en-US" sz="3200" dirty="0"/>
              <a:t>插入异常</a:t>
            </a:r>
            <a:r>
              <a:rPr lang="en-US" altLang="zh-CN" sz="3200" dirty="0"/>
              <a:t>(Insertion Anomalies)</a:t>
            </a:r>
            <a:endParaRPr lang="en-US" altLang="zh-CN" sz="3200" dirty="0"/>
          </a:p>
          <a:p>
            <a:pPr marL="0" indent="0">
              <a:lnSpc>
                <a:spcPct val="105000"/>
              </a:lnSpc>
              <a:buClr>
                <a:srgbClr val="FF0000"/>
              </a:buClr>
              <a:buSzPct val="65000"/>
              <a:buFont typeface="Wingdings" panose="05000000000000000000" pitchFamily="2" charset="2"/>
              <a:buNone/>
            </a:pPr>
            <a:r>
              <a:rPr lang="en-US" altLang="zh-CN" sz="3200" dirty="0"/>
              <a:t> (4) </a:t>
            </a:r>
            <a:r>
              <a:rPr lang="zh-CN" altLang="en-US" sz="3200" dirty="0"/>
              <a:t>删除异常</a:t>
            </a:r>
            <a:r>
              <a:rPr lang="en-US" altLang="zh-CN" sz="3200" dirty="0"/>
              <a:t>(Deletion Anomalies)</a:t>
            </a:r>
            <a:endParaRPr lang="en-US" altLang="zh-CN" sz="3200" dirty="0"/>
          </a:p>
        </p:txBody>
      </p:sp>
      <p:graphicFrame>
        <p:nvGraphicFramePr>
          <p:cNvPr id="256145" name="Group 145"/>
          <p:cNvGraphicFramePr>
            <a:graphicFrameLocks noGrp="1"/>
          </p:cNvGraphicFramePr>
          <p:nvPr>
            <p:ph sz="half" idx="1"/>
          </p:nvPr>
        </p:nvGraphicFramePr>
        <p:xfrm>
          <a:off x="179388" y="908050"/>
          <a:ext cx="8821738" cy="2925763"/>
        </p:xfrm>
        <a:graphic>
          <a:graphicData uri="http://schemas.openxmlformats.org/drawingml/2006/table">
            <a:tbl>
              <a:tblPr/>
              <a:tblGrid>
                <a:gridCol w="1473200"/>
                <a:gridCol w="1466850"/>
                <a:gridCol w="1577975"/>
                <a:gridCol w="1514475"/>
                <a:gridCol w="1316037"/>
                <a:gridCol w="1473200"/>
              </a:tblGrid>
              <a:tr h="3540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Sno</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Sname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Sdept</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Mname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Cno</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Score</a:t>
                      </a:r>
                      <a:endParaRPr kumimoji="1" lang="en-US" altLang="zh-CN" sz="1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6550">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49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77</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49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49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吴涛</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49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吴涛</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49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王林</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IS</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李德</a:t>
                      </a:r>
                      <a:endParaRPr kumimoji="1" lang="zh-CN" altLang="en-US"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78</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r h="33496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1" lang="en-US" altLang="zh-CN" sz="1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Tree>
  </p:cSld>
  <p:clrMapOvr>
    <a:masterClrMapping/>
  </p:clrMapOvr>
  <p:transition>
    <p:random/>
    <p:sndAc>
      <p:stSnd>
        <p:snd r:embed="rId1" name="CAMERA.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、数据依赖对关系模式的影响</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3555" name="Rectangle 4"/>
          <p:cNvSpPr>
            <a:spLocks noGrp="1"/>
          </p:cNvSpPr>
          <p:nvPr>
            <p:ph idx="1"/>
          </p:nvPr>
        </p:nvSpPr>
        <p:spPr/>
        <p:txBody>
          <a:bodyPr vert="horz" wrap="square" lIns="91440" tIns="45720" rIns="91440" bIns="45720" anchor="t" anchorCtr="0"/>
          <a:p>
            <a:r>
              <a:rPr lang="zh-CN" altLang="en-US" sz="3200" dirty="0">
                <a:solidFill>
                  <a:srgbClr val="FF0000"/>
                </a:solidFill>
              </a:rPr>
              <a:t>结论</a:t>
            </a:r>
            <a:r>
              <a:rPr lang="zh-CN" altLang="en-US" sz="3200" dirty="0"/>
              <a:t>：</a:t>
            </a:r>
            <a:endParaRPr lang="zh-CN" altLang="en-US" sz="3200" dirty="0"/>
          </a:p>
          <a:p>
            <a:pPr marL="900430" lvl="1" indent="-358775">
              <a:spcBef>
                <a:spcPct val="0"/>
              </a:spcBef>
            </a:pPr>
            <a:r>
              <a:rPr lang="en-US" altLang="zh-CN" dirty="0"/>
              <a:t>Student</a:t>
            </a:r>
            <a:r>
              <a:rPr lang="zh-CN" altLang="en-US" dirty="0"/>
              <a:t>关系模式不是一个好的模式。</a:t>
            </a:r>
            <a:endParaRPr lang="zh-CN" altLang="en-US" dirty="0"/>
          </a:p>
          <a:p>
            <a:pPr marL="900430" lvl="1" indent="-358775">
              <a:spcBef>
                <a:spcPct val="0"/>
              </a:spcBef>
            </a:pPr>
            <a:r>
              <a:rPr lang="zh-CN" altLang="en-US" dirty="0"/>
              <a:t>“好”的模式：</a:t>
            </a:r>
            <a:endParaRPr lang="zh-CN" altLang="en-US" dirty="0"/>
          </a:p>
          <a:p>
            <a:pPr marL="1529080" lvl="2" indent="-357505">
              <a:spcBef>
                <a:spcPct val="0"/>
              </a:spcBef>
            </a:pPr>
            <a:r>
              <a:rPr lang="zh-CN" altLang="en-US" sz="3200" dirty="0"/>
              <a:t>不会发生插入、删除、更新异常</a:t>
            </a:r>
            <a:endParaRPr lang="zh-CN" altLang="en-US" sz="3200" dirty="0"/>
          </a:p>
          <a:p>
            <a:pPr marL="1529080" lvl="2" indent="-357505">
              <a:spcBef>
                <a:spcPct val="0"/>
              </a:spcBef>
            </a:pPr>
            <a:r>
              <a:rPr lang="zh-CN" altLang="en-US" sz="3200" dirty="0"/>
              <a:t>数据冗余应尽可能少</a:t>
            </a:r>
            <a:endParaRPr lang="zh-CN" altLang="en-US" sz="3200" dirty="0"/>
          </a:p>
          <a:p>
            <a:r>
              <a:rPr lang="zh-CN" altLang="en-US" sz="3200" dirty="0">
                <a:solidFill>
                  <a:srgbClr val="FF0000"/>
                </a:solidFill>
              </a:rPr>
              <a:t>原因</a:t>
            </a:r>
            <a:r>
              <a:rPr lang="zh-CN" altLang="en-US" sz="3200" dirty="0"/>
              <a:t>：</a:t>
            </a:r>
            <a:endParaRPr lang="zh-CN" altLang="en-US" sz="3200" dirty="0"/>
          </a:p>
          <a:p>
            <a:pPr marL="900430" lvl="1" indent="-358775">
              <a:spcBef>
                <a:spcPct val="0"/>
              </a:spcBef>
            </a:pPr>
            <a:r>
              <a:rPr lang="zh-CN" altLang="en-US" dirty="0"/>
              <a:t>由存在于模式中的</a:t>
            </a:r>
            <a:r>
              <a:rPr lang="zh-CN" altLang="en-US" dirty="0">
                <a:solidFill>
                  <a:srgbClr val="0000CC"/>
                </a:solidFill>
              </a:rPr>
              <a:t>某些数据依赖</a:t>
            </a:r>
            <a:r>
              <a:rPr lang="zh-CN" altLang="en-US" dirty="0"/>
              <a:t>引起的</a:t>
            </a:r>
            <a:endParaRPr lang="zh-CN" altLang="en-US" dirty="0"/>
          </a:p>
          <a:p>
            <a:pPr>
              <a:spcBef>
                <a:spcPct val="20000"/>
              </a:spcBef>
            </a:pPr>
            <a:r>
              <a:rPr lang="zh-CN" altLang="en-US" sz="3200" dirty="0">
                <a:solidFill>
                  <a:srgbClr val="FF0000"/>
                </a:solidFill>
              </a:rPr>
              <a:t>解决方法</a:t>
            </a:r>
            <a:r>
              <a:rPr lang="zh-CN" altLang="en-US" sz="3200" dirty="0"/>
              <a:t>：</a:t>
            </a:r>
            <a:endParaRPr lang="zh-CN" altLang="en-US" sz="3200" dirty="0"/>
          </a:p>
          <a:p>
            <a:pPr marL="900430" lvl="1" indent="-358775">
              <a:spcBef>
                <a:spcPct val="0"/>
              </a:spcBef>
            </a:pPr>
            <a:r>
              <a:rPr lang="zh-CN" altLang="en-US" dirty="0"/>
              <a:t>通过</a:t>
            </a:r>
            <a:r>
              <a:rPr lang="zh-CN" altLang="en-US" dirty="0">
                <a:solidFill>
                  <a:srgbClr val="0000CC"/>
                </a:solidFill>
              </a:rPr>
              <a:t>分解</a:t>
            </a:r>
            <a:r>
              <a:rPr lang="zh-CN" altLang="en-US" dirty="0"/>
              <a:t>关系模式来消除其中不合适的数据依赖</a:t>
            </a:r>
            <a:endParaRPr lang="zh-CN" altLang="en-US" dirty="0"/>
          </a:p>
        </p:txBody>
      </p:sp>
    </p:spTree>
  </p:cSld>
  <p:clrMapOvr>
    <a:masterClrMapping/>
  </p:clrMapOvr>
  <p:transition>
    <p:random/>
    <p:sndAc>
      <p:stSnd>
        <p:snd r:embed="rId1"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、数据依赖对关系模式的影响</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4579" name="Rectangle 3"/>
          <p:cNvSpPr>
            <a:spLocks noGrp="1"/>
          </p:cNvSpPr>
          <p:nvPr>
            <p:ph idx="1"/>
          </p:nvPr>
        </p:nvSpPr>
        <p:spPr/>
        <p:txBody>
          <a:bodyPr vert="horz" wrap="square" lIns="91440" tIns="45720" rIns="91440" bIns="45720" anchor="t" anchorCtr="0"/>
          <a:p>
            <a:pPr>
              <a:buNone/>
            </a:pPr>
            <a:r>
              <a:rPr lang="zh-CN" altLang="en-US" sz="3200" dirty="0"/>
              <a:t>例：描述学校教务的数据库：</a:t>
            </a:r>
            <a:endParaRPr lang="zh-CN" altLang="en-US" sz="3200" dirty="0"/>
          </a:p>
          <a:p>
            <a:pPr lvl="1">
              <a:spcBef>
                <a:spcPct val="40000"/>
              </a:spcBef>
              <a:buNone/>
            </a:pPr>
            <a:r>
              <a:rPr lang="zh-CN" altLang="en-US" dirty="0"/>
              <a:t>	单一的关系模式 ：   </a:t>
            </a:r>
            <a:r>
              <a:rPr lang="en-US" altLang="zh-CN" dirty="0"/>
              <a:t>Student &lt;U</a:t>
            </a:r>
            <a:r>
              <a:rPr lang="zh-CN" altLang="en-US" dirty="0"/>
              <a:t>、</a:t>
            </a:r>
            <a:r>
              <a:rPr lang="en-US" altLang="zh-CN" dirty="0"/>
              <a:t>F&gt;</a:t>
            </a:r>
            <a:endParaRPr lang="en-US" altLang="zh-CN" dirty="0"/>
          </a:p>
          <a:p>
            <a:pPr>
              <a:spcBef>
                <a:spcPct val="25000"/>
              </a:spcBef>
              <a:buNone/>
            </a:pPr>
            <a:r>
              <a:rPr lang="en-US" altLang="zh-CN" sz="3200" dirty="0"/>
              <a:t> U={Sno, Sname, Sdept, Mname, Cno, Score}</a:t>
            </a:r>
            <a:endParaRPr lang="en-US" altLang="zh-CN" sz="3200" dirty="0"/>
          </a:p>
          <a:p>
            <a:pPr>
              <a:spcBef>
                <a:spcPct val="50000"/>
              </a:spcBef>
              <a:buNone/>
            </a:pPr>
            <a:r>
              <a:rPr lang="en-US" altLang="zh-CN" sz="3200" dirty="0"/>
              <a:t> </a:t>
            </a:r>
            <a:r>
              <a:rPr lang="zh-CN" altLang="en-US" sz="3200" dirty="0"/>
              <a:t>将</a:t>
            </a:r>
            <a:r>
              <a:rPr lang="en-US" altLang="zh-CN" sz="3200" dirty="0"/>
              <a:t>Student</a:t>
            </a:r>
            <a:r>
              <a:rPr lang="zh-CN" altLang="en-US" sz="3200" dirty="0"/>
              <a:t>分解为</a:t>
            </a:r>
            <a:r>
              <a:rPr lang="en-US" altLang="zh-CN" sz="3200" dirty="0"/>
              <a:t>3</a:t>
            </a:r>
            <a:r>
              <a:rPr lang="zh-CN" altLang="en-US" sz="3200" dirty="0"/>
              <a:t>个关系模式</a:t>
            </a:r>
            <a:r>
              <a:rPr lang="en-US" altLang="zh-CN" sz="3200" dirty="0"/>
              <a:t>:</a:t>
            </a:r>
            <a:endParaRPr lang="en-US" altLang="zh-CN" sz="3200" dirty="0"/>
          </a:p>
          <a:p>
            <a:pPr>
              <a:spcBef>
                <a:spcPct val="25000"/>
              </a:spcBef>
              <a:buNone/>
            </a:pPr>
            <a:r>
              <a:rPr lang="en-US" altLang="zh-CN" sz="3200" dirty="0"/>
              <a:t>     S ( Sno, Sname, Sdept )</a:t>
            </a:r>
            <a:endParaRPr lang="en-US" altLang="zh-CN" sz="3200" dirty="0"/>
          </a:p>
          <a:p>
            <a:pPr>
              <a:spcBef>
                <a:spcPct val="25000"/>
              </a:spcBef>
              <a:buNone/>
            </a:pPr>
            <a:r>
              <a:rPr lang="en-US" altLang="zh-CN" sz="3200" dirty="0"/>
              <a:t>     D (Sdept, Mname )</a:t>
            </a:r>
            <a:endParaRPr lang="en-US" altLang="zh-CN" sz="3200" dirty="0"/>
          </a:p>
          <a:p>
            <a:pPr>
              <a:spcBef>
                <a:spcPct val="25000"/>
              </a:spcBef>
              <a:buNone/>
            </a:pPr>
            <a:r>
              <a:rPr lang="en-US" altLang="zh-CN" sz="3200" dirty="0"/>
              <a:t>     SC ( Sno, Cno, Score )</a:t>
            </a:r>
            <a:endParaRPr lang="en-US" altLang="zh-CN" sz="3200" dirty="0"/>
          </a:p>
          <a:p>
            <a:pPr>
              <a:spcBef>
                <a:spcPct val="25000"/>
              </a:spcBef>
              <a:buNone/>
            </a:pPr>
            <a:endParaRPr lang="en-US" altLang="zh-CN" sz="3200" dirty="0"/>
          </a:p>
        </p:txBody>
      </p:sp>
    </p:spTree>
  </p:cSld>
  <p:clrMapOvr>
    <a:masterClrMapping/>
  </p:clrMapOvr>
  <p:transition>
    <p:random/>
    <p:sndAc>
      <p:stSnd>
        <p:snd r:embed="rId1" name="CAMERA.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0371" name="Group 339"/>
          <p:cNvGraphicFramePr>
            <a:graphicFrameLocks noGrp="1"/>
          </p:cNvGraphicFramePr>
          <p:nvPr>
            <p:ph sz="half" idx="1"/>
          </p:nvPr>
        </p:nvGraphicFramePr>
        <p:xfrm>
          <a:off x="466725" y="1195388"/>
          <a:ext cx="4033838" cy="2809877"/>
        </p:xfrm>
        <a:graphic>
          <a:graphicData uri="http://schemas.openxmlformats.org/drawingml/2006/table">
            <a:tbl>
              <a:tblPr/>
              <a:tblGrid>
                <a:gridCol w="1074738"/>
                <a:gridCol w="1547812"/>
                <a:gridCol w="1411288"/>
              </a:tblGrid>
              <a:tr h="512763">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Sno </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Sname</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Sdept</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r>
              <a:tr h="5572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58800">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吴涛</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57213">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王林</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IS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6238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300373" name="Group 341"/>
          <p:cNvGraphicFramePr>
            <a:graphicFrameLocks noGrp="1"/>
          </p:cNvGraphicFramePr>
          <p:nvPr>
            <p:ph sz="quarter" idx="1"/>
          </p:nvPr>
        </p:nvGraphicFramePr>
        <p:xfrm>
          <a:off x="827088" y="4292600"/>
          <a:ext cx="3529013" cy="2090738"/>
        </p:xfrm>
        <a:graphic>
          <a:graphicData uri="http://schemas.openxmlformats.org/drawingml/2006/table">
            <a:tbl>
              <a:tblPr/>
              <a:tblGrid>
                <a:gridCol w="1655762"/>
                <a:gridCol w="1873250"/>
              </a:tblGrid>
              <a:tr h="384175">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Sdept</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Mname</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r>
              <a:tr h="457200">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张朋</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19100">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IS</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李德</a:t>
                      </a:r>
                      <a:endParaRPr kumimoji="1"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419100">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32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graphicFrame>
        <p:nvGraphicFramePr>
          <p:cNvPr id="300372" name="Group 340"/>
          <p:cNvGraphicFramePr>
            <a:graphicFrameLocks noGrp="1"/>
          </p:cNvGraphicFramePr>
          <p:nvPr>
            <p:ph sz="quarter" idx="1"/>
          </p:nvPr>
        </p:nvGraphicFramePr>
        <p:xfrm>
          <a:off x="4787900" y="1196975"/>
          <a:ext cx="3951288" cy="4537079"/>
        </p:xfrm>
        <a:graphic>
          <a:graphicData uri="http://schemas.openxmlformats.org/drawingml/2006/table">
            <a:tbl>
              <a:tblPr/>
              <a:tblGrid>
                <a:gridCol w="1223963"/>
                <a:gridCol w="1160462"/>
                <a:gridCol w="1566863"/>
              </a:tblGrid>
              <a:tr h="525463">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Sno</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Cno</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9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rPr>
                        <a:t>Score</a:t>
                      </a:r>
                      <a:endParaRPr kumimoji="1"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tx1"/>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77</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78</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r h="573088">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pPr>
                      <a:r>
                        <a:rPr kumimoji="1" lang="en-US" altLang="zh-CN" sz="2800" b="1" i="0" u="none" strike="noStrike" cap="none" normalizeH="0" baseline="0" smtClean="0">
                          <a:ln>
                            <a:noFill/>
                          </a:ln>
                          <a:solidFill>
                            <a:srgbClr val="000000"/>
                          </a:solidFill>
                          <a:effectLst/>
                          <a:latin typeface="Times New Roman" panose="02020603050405020304"/>
                          <a:ea typeface="黑体" panose="02010609060101010101" pitchFamily="2" charset="-122"/>
                        </a:rPr>
                        <a:t>…</a:t>
                      </a:r>
                      <a:endParaRPr kumimoji="1"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
        <p:nvSpPr>
          <p:cNvPr id="300243" name="Rectangle 211"/>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、数据依赖对关系模式的影响</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6627" name="Rectangle 3"/>
          <p:cNvSpPr>
            <a:spLocks noGrp="1"/>
          </p:cNvSpPr>
          <p:nvPr>
            <p:ph idx="1"/>
          </p:nvPr>
        </p:nvSpPr>
        <p:spPr>
          <a:xfrm>
            <a:off x="1231900" y="1016000"/>
            <a:ext cx="7372350" cy="5365750"/>
          </a:xfrm>
        </p:spPr>
        <p:txBody>
          <a:bodyPr vert="horz" wrap="square" lIns="91440" tIns="45720" rIns="91440" bIns="45720" anchor="t" anchorCtr="0"/>
          <a:p>
            <a:pPr>
              <a:lnSpc>
                <a:spcPct val="140000"/>
              </a:lnSpc>
              <a:buNone/>
            </a:pPr>
            <a:r>
              <a:rPr lang="en-US" altLang="zh-CN" dirty="0"/>
              <a:t>7.1 </a:t>
            </a:r>
            <a:r>
              <a:rPr lang="zh-CN" altLang="en-US" dirty="0">
                <a:latin typeface="宋体" panose="02010600030101010101" pitchFamily="2" charset="-122"/>
              </a:rPr>
              <a:t>问题的提出</a:t>
            </a:r>
            <a:endParaRPr lang="zh-CN" altLang="en-US" dirty="0">
              <a:latin typeface="宋体" panose="02010600030101010101" pitchFamily="2" charset="-122"/>
            </a:endParaRPr>
          </a:p>
          <a:p>
            <a:pPr>
              <a:lnSpc>
                <a:spcPct val="140000"/>
              </a:lnSpc>
              <a:buNone/>
            </a:pPr>
            <a:r>
              <a:rPr lang="en-US" altLang="zh-CN" dirty="0">
                <a:solidFill>
                  <a:srgbClr val="0000CC"/>
                </a:solidFill>
              </a:rPr>
              <a:t>7.2 </a:t>
            </a:r>
            <a:r>
              <a:rPr lang="zh-CN" altLang="en-US" dirty="0">
                <a:solidFill>
                  <a:srgbClr val="0000CC"/>
                </a:solidFill>
              </a:rPr>
              <a:t>函数依赖</a:t>
            </a:r>
            <a:endParaRPr lang="zh-CN" altLang="en-US" dirty="0">
              <a:solidFill>
                <a:srgbClr val="0000CC"/>
              </a:solidFill>
            </a:endParaRPr>
          </a:p>
          <a:p>
            <a:pPr>
              <a:lnSpc>
                <a:spcPct val="140000"/>
              </a:lnSpc>
              <a:buNone/>
            </a:pPr>
            <a:r>
              <a:rPr lang="en-US" altLang="zh-CN" dirty="0"/>
              <a:t>7.3 </a:t>
            </a:r>
            <a:r>
              <a:rPr lang="zh-CN" altLang="en-US" dirty="0"/>
              <a:t>数据依赖的公理系统</a:t>
            </a:r>
            <a:endParaRPr lang="zh-CN" altLang="en-US" dirty="0"/>
          </a:p>
          <a:p>
            <a:pPr>
              <a:lnSpc>
                <a:spcPct val="140000"/>
              </a:lnSpc>
              <a:buNone/>
            </a:pPr>
            <a:r>
              <a:rPr lang="en-US" altLang="zh-CN" dirty="0"/>
              <a:t>7.4 </a:t>
            </a:r>
            <a:r>
              <a:rPr lang="zh-CN" altLang="en-US" dirty="0"/>
              <a:t>关系</a:t>
            </a:r>
            <a:r>
              <a:rPr lang="zh-CN" altLang="en-US" dirty="0">
                <a:latin typeface="宋体" panose="02010600030101010101" pitchFamily="2" charset="-122"/>
              </a:rPr>
              <a:t>模式的分解</a:t>
            </a:r>
            <a:endParaRPr lang="zh-CN" altLang="en-US" dirty="0">
              <a:latin typeface="宋体" panose="02010600030101010101" pitchFamily="2" charset="-122"/>
            </a:endParaRPr>
          </a:p>
          <a:p>
            <a:pPr>
              <a:lnSpc>
                <a:spcPct val="140000"/>
              </a:lnSpc>
              <a:buNone/>
            </a:pPr>
            <a:r>
              <a:rPr lang="en-US" altLang="zh-CN" dirty="0"/>
              <a:t>7.5 </a:t>
            </a:r>
            <a:r>
              <a:rPr lang="zh-CN" altLang="en-US" dirty="0"/>
              <a:t>范式及其规范化</a:t>
            </a:r>
            <a:endParaRPr lang="zh-CN" altLang="en-US" dirty="0"/>
          </a:p>
        </p:txBody>
      </p:sp>
    </p:spTree>
  </p:cSld>
  <p:clrMapOvr>
    <a:masterClrMapping/>
  </p:clrMapOvr>
  <p:transition>
    <p:random/>
    <p:sndAc>
      <p:stSnd>
        <p:snd r:embed="rId1" name="CAMERA.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9.2.1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7651" name="Rectangle 3"/>
          <p:cNvSpPr>
            <a:spLocks noGrp="1"/>
          </p:cNvSpPr>
          <p:nvPr>
            <p:ph idx="1"/>
          </p:nvPr>
        </p:nvSpPr>
        <p:spPr>
          <a:xfrm>
            <a:off x="684213" y="1016000"/>
            <a:ext cx="7597775" cy="5473700"/>
          </a:xfrm>
        </p:spPr>
        <p:txBody>
          <a:bodyPr vert="horz" wrap="square" lIns="91440" tIns="45720" rIns="91440" bIns="45720" anchor="t" anchorCtr="0"/>
          <a:p>
            <a:pPr>
              <a:lnSpc>
                <a:spcPct val="130000"/>
              </a:lnSpc>
              <a:buNone/>
            </a:pPr>
            <a:r>
              <a:rPr lang="en-US" altLang="zh-CN" dirty="0"/>
              <a:t>1</a:t>
            </a:r>
            <a:r>
              <a:rPr lang="zh-CN" altLang="en-US" dirty="0"/>
              <a:t>、函数依赖</a:t>
            </a:r>
            <a:endParaRPr lang="zh-CN" altLang="en-US" dirty="0"/>
          </a:p>
          <a:p>
            <a:pPr>
              <a:lnSpc>
                <a:spcPct val="130000"/>
              </a:lnSpc>
              <a:buNone/>
            </a:pPr>
            <a:r>
              <a:rPr lang="en-US" altLang="zh-CN" dirty="0"/>
              <a:t>2</a:t>
            </a:r>
            <a:r>
              <a:rPr lang="zh-CN" altLang="en-US" dirty="0"/>
              <a:t>、平凡函数依赖与非平凡函数依赖</a:t>
            </a:r>
            <a:endParaRPr lang="zh-CN" altLang="en-US" dirty="0"/>
          </a:p>
          <a:p>
            <a:pPr>
              <a:lnSpc>
                <a:spcPct val="130000"/>
              </a:lnSpc>
              <a:buNone/>
            </a:pPr>
            <a:r>
              <a:rPr lang="en-US" altLang="zh-CN" dirty="0"/>
              <a:t>3</a:t>
            </a:r>
            <a:r>
              <a:rPr lang="zh-CN" altLang="en-US" dirty="0"/>
              <a:t>、完全函数依赖与部分函数依赖</a:t>
            </a:r>
            <a:endParaRPr lang="zh-CN" altLang="en-US" dirty="0"/>
          </a:p>
          <a:p>
            <a:pPr>
              <a:lnSpc>
                <a:spcPct val="130000"/>
              </a:lnSpc>
              <a:buNone/>
            </a:pPr>
            <a:r>
              <a:rPr lang="en-US" altLang="zh-CN" dirty="0"/>
              <a:t>4</a:t>
            </a:r>
            <a:r>
              <a:rPr lang="zh-CN" altLang="en-US" dirty="0"/>
              <a:t>、传递函数依赖</a:t>
            </a:r>
            <a:endParaRPr lang="zh-CN" altLang="en-US" dirty="0"/>
          </a:p>
          <a:p>
            <a:pPr>
              <a:lnSpc>
                <a:spcPct val="130000"/>
              </a:lnSpc>
              <a:buNone/>
            </a:pPr>
            <a:endParaRPr lang="en-US" altLang="zh-CN" dirty="0"/>
          </a:p>
        </p:txBody>
      </p:sp>
      <p:sp>
        <p:nvSpPr>
          <p:cNvPr id="147460" name="AutoShape 4">
            <a:hlinkClick r:id="rId1" action="ppaction://hlinksldjump"/>
          </p:cNvPr>
          <p:cNvSpPr>
            <a:spLocks noChangeArrowheads="1"/>
          </p:cNvSpPr>
          <p:nvPr/>
        </p:nvSpPr>
        <p:spPr bwMode="auto">
          <a:xfrm flipH="1">
            <a:off x="8388350" y="112553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
        <p:nvSpPr>
          <p:cNvPr id="147461" name="AutoShape 5">
            <a:hlinkClick r:id="rId2" action="ppaction://hlinksldjump"/>
          </p:cNvPr>
          <p:cNvSpPr>
            <a:spLocks noChangeArrowheads="1"/>
          </p:cNvSpPr>
          <p:nvPr/>
        </p:nvSpPr>
        <p:spPr bwMode="auto">
          <a:xfrm>
            <a:off x="8459788" y="6194425"/>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
        <p:nvSpPr>
          <p:cNvPr id="147462" name="AutoShape 6">
            <a:hlinkClick r:id="rId3" action="ppaction://hlinksldjump"/>
          </p:cNvPr>
          <p:cNvSpPr>
            <a:spLocks noChangeArrowheads="1"/>
          </p:cNvSpPr>
          <p:nvPr/>
        </p:nvSpPr>
        <p:spPr bwMode="auto">
          <a:xfrm flipH="1">
            <a:off x="8388350" y="1844675"/>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
        <p:nvSpPr>
          <p:cNvPr id="147463" name="AutoShape 7">
            <a:hlinkClick r:id="rId4" action="ppaction://hlinksldjump"/>
          </p:cNvPr>
          <p:cNvSpPr>
            <a:spLocks noChangeArrowheads="1"/>
          </p:cNvSpPr>
          <p:nvPr/>
        </p:nvSpPr>
        <p:spPr bwMode="auto">
          <a:xfrm flipH="1">
            <a:off x="8388350" y="256540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
        <p:nvSpPr>
          <p:cNvPr id="147464" name="AutoShape 8">
            <a:hlinkClick r:id="rId5" action="ppaction://hlinksldjump"/>
          </p:cNvPr>
          <p:cNvSpPr>
            <a:spLocks noChangeArrowheads="1"/>
          </p:cNvSpPr>
          <p:nvPr/>
        </p:nvSpPr>
        <p:spPr bwMode="auto">
          <a:xfrm flipH="1">
            <a:off x="8388350" y="328453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Tree>
  </p:cSld>
  <p:clrMapOvr>
    <a:masterClrMapping/>
  </p:clrMapOvr>
  <p:transition>
    <p:random/>
    <p:sndAc>
      <p:stSnd>
        <p:snd r:embed="rId6" name="CAMERA.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idx="1"/>
          </p:nvPr>
        </p:nvSpPr>
        <p:spPr>
          <a:xfrm>
            <a:off x="179388" y="981075"/>
            <a:ext cx="8856662" cy="5273675"/>
          </a:xfrm>
        </p:spPr>
        <p:txBody>
          <a:bodyPr vert="horz" wrap="square" lIns="91440" tIns="45720" rIns="91440" bIns="45720" anchor="t" anchorCtr="0"/>
          <a:p>
            <a:pPr marL="0" indent="0" defTabSz="723900"/>
            <a:r>
              <a:rPr lang="zh-CN" altLang="en-US" dirty="0">
                <a:solidFill>
                  <a:srgbClr val="010103"/>
                </a:solidFill>
              </a:rPr>
              <a:t>定义</a:t>
            </a:r>
            <a:endParaRPr lang="zh-CN" altLang="en-US" dirty="0">
              <a:solidFill>
                <a:srgbClr val="010103"/>
              </a:solidFill>
            </a:endParaRPr>
          </a:p>
          <a:p>
            <a:pPr marL="0" indent="0" defTabSz="723900">
              <a:buNone/>
            </a:pPr>
            <a:r>
              <a:rPr lang="zh-CN" altLang="en-US" dirty="0">
                <a:solidFill>
                  <a:srgbClr val="010103"/>
                </a:solidFill>
              </a:rPr>
              <a:t>       设 </a:t>
            </a:r>
            <a:r>
              <a:rPr lang="en-US" altLang="zh-CN" dirty="0">
                <a:solidFill>
                  <a:srgbClr val="010103"/>
                </a:solidFill>
              </a:rPr>
              <a:t>R(U) </a:t>
            </a:r>
            <a:r>
              <a:rPr lang="zh-CN" altLang="en-US" dirty="0">
                <a:solidFill>
                  <a:srgbClr val="010103"/>
                </a:solidFill>
              </a:rPr>
              <a:t>是属性集 </a:t>
            </a:r>
            <a:r>
              <a:rPr lang="en-US" altLang="zh-CN" dirty="0">
                <a:solidFill>
                  <a:srgbClr val="010103"/>
                </a:solidFill>
              </a:rPr>
              <a:t>U </a:t>
            </a:r>
            <a:r>
              <a:rPr lang="zh-CN" altLang="en-US" dirty="0">
                <a:solidFill>
                  <a:srgbClr val="010103"/>
                </a:solidFill>
              </a:rPr>
              <a:t>上的关系模式，</a:t>
            </a:r>
            <a:r>
              <a:rPr lang="en-US" altLang="zh-CN" dirty="0">
                <a:solidFill>
                  <a:srgbClr val="010103"/>
                </a:solidFill>
              </a:rPr>
              <a:t>X</a:t>
            </a:r>
            <a:r>
              <a:rPr lang="zh-CN" altLang="en-US" dirty="0">
                <a:solidFill>
                  <a:srgbClr val="010103"/>
                </a:solidFill>
              </a:rPr>
              <a:t>、</a:t>
            </a:r>
            <a:r>
              <a:rPr lang="en-US" altLang="zh-CN" dirty="0">
                <a:solidFill>
                  <a:srgbClr val="010103"/>
                </a:solidFill>
              </a:rPr>
              <a:t>Y </a:t>
            </a:r>
            <a:r>
              <a:rPr lang="zh-CN" altLang="en-US" dirty="0">
                <a:solidFill>
                  <a:srgbClr val="010103"/>
                </a:solidFill>
              </a:rPr>
              <a:t>是 </a:t>
            </a:r>
            <a:r>
              <a:rPr lang="en-US" altLang="zh-CN" dirty="0">
                <a:solidFill>
                  <a:srgbClr val="010103"/>
                </a:solidFill>
              </a:rPr>
              <a:t>U </a:t>
            </a:r>
            <a:r>
              <a:rPr lang="zh-CN" altLang="en-US" dirty="0">
                <a:solidFill>
                  <a:srgbClr val="010103"/>
                </a:solidFill>
              </a:rPr>
              <a:t>的子集。若对 </a:t>
            </a:r>
            <a:r>
              <a:rPr lang="en-US" altLang="zh-CN" dirty="0">
                <a:solidFill>
                  <a:srgbClr val="010103"/>
                </a:solidFill>
              </a:rPr>
              <a:t>R(U) </a:t>
            </a:r>
            <a:r>
              <a:rPr lang="zh-CN" altLang="en-US" dirty="0">
                <a:solidFill>
                  <a:srgbClr val="010103"/>
                </a:solidFill>
              </a:rPr>
              <a:t>的</a:t>
            </a:r>
            <a:r>
              <a:rPr lang="zh-CN" altLang="en-US" u="sng" dirty="0"/>
              <a:t>任意一个</a:t>
            </a:r>
            <a:r>
              <a:rPr lang="zh-CN" altLang="en-US" dirty="0">
                <a:solidFill>
                  <a:srgbClr val="010103"/>
                </a:solidFill>
              </a:rPr>
              <a:t>可能的关系实例 </a:t>
            </a:r>
            <a:r>
              <a:rPr lang="en-US" altLang="zh-CN" dirty="0">
                <a:solidFill>
                  <a:srgbClr val="010103"/>
                </a:solidFill>
              </a:rPr>
              <a:t>r</a:t>
            </a:r>
            <a:r>
              <a:rPr lang="zh-CN" altLang="en-US" dirty="0">
                <a:solidFill>
                  <a:srgbClr val="010103"/>
                </a:solidFill>
              </a:rPr>
              <a:t>，</a:t>
            </a:r>
            <a:r>
              <a:rPr lang="en-US" altLang="zh-CN" dirty="0">
                <a:solidFill>
                  <a:srgbClr val="010103"/>
                </a:solidFill>
              </a:rPr>
              <a:t>r </a:t>
            </a:r>
            <a:r>
              <a:rPr lang="zh-CN" altLang="en-US" dirty="0">
                <a:solidFill>
                  <a:srgbClr val="010103"/>
                </a:solidFill>
              </a:rPr>
              <a:t>中不可能存在两个元组在 </a:t>
            </a:r>
            <a:r>
              <a:rPr lang="en-US" altLang="zh-CN" dirty="0">
                <a:solidFill>
                  <a:srgbClr val="010103"/>
                </a:solidFill>
              </a:rPr>
              <a:t>X </a:t>
            </a:r>
            <a:r>
              <a:rPr lang="zh-CN" altLang="en-US" dirty="0">
                <a:solidFill>
                  <a:srgbClr val="010103"/>
                </a:solidFill>
              </a:rPr>
              <a:t>上的属性相等，而在 </a:t>
            </a:r>
            <a:r>
              <a:rPr lang="en-US" altLang="zh-CN" dirty="0">
                <a:solidFill>
                  <a:srgbClr val="010103"/>
                </a:solidFill>
              </a:rPr>
              <a:t>Y </a:t>
            </a:r>
            <a:r>
              <a:rPr lang="zh-CN" altLang="en-US" dirty="0">
                <a:solidFill>
                  <a:srgbClr val="010103"/>
                </a:solidFill>
              </a:rPr>
              <a:t>上的属性值不等，则称 </a:t>
            </a:r>
            <a:r>
              <a:rPr lang="en-US" altLang="zh-CN" dirty="0">
                <a:solidFill>
                  <a:srgbClr val="FF0000"/>
                </a:solidFill>
              </a:rPr>
              <a:t>X </a:t>
            </a:r>
            <a:r>
              <a:rPr lang="zh-CN" altLang="en-US" dirty="0">
                <a:solidFill>
                  <a:srgbClr val="FF0000"/>
                </a:solidFill>
              </a:rPr>
              <a:t>函数确定 </a:t>
            </a:r>
            <a:r>
              <a:rPr lang="en-US" altLang="zh-CN" dirty="0">
                <a:solidFill>
                  <a:srgbClr val="FF0000"/>
                </a:solidFill>
              </a:rPr>
              <a:t>Y</a:t>
            </a:r>
            <a:r>
              <a:rPr lang="zh-CN" altLang="en-US" dirty="0">
                <a:solidFill>
                  <a:srgbClr val="010103"/>
                </a:solidFill>
              </a:rPr>
              <a:t>，或 </a:t>
            </a:r>
            <a:r>
              <a:rPr lang="en-US" altLang="zh-CN" dirty="0">
                <a:solidFill>
                  <a:srgbClr val="FF0000"/>
                </a:solidFill>
              </a:rPr>
              <a:t>Y </a:t>
            </a:r>
            <a:r>
              <a:rPr lang="zh-CN" altLang="en-US" dirty="0">
                <a:solidFill>
                  <a:srgbClr val="FF0000"/>
                </a:solidFill>
              </a:rPr>
              <a:t>函数依赖于</a:t>
            </a:r>
            <a:r>
              <a:rPr lang="en-US" altLang="zh-CN" dirty="0">
                <a:solidFill>
                  <a:srgbClr val="FF0000"/>
                </a:solidFill>
              </a:rPr>
              <a:t>X</a:t>
            </a:r>
            <a:r>
              <a:rPr lang="zh-CN" altLang="en-US" dirty="0">
                <a:solidFill>
                  <a:srgbClr val="010103"/>
                </a:solidFill>
              </a:rPr>
              <a:t>，记为 </a:t>
            </a:r>
            <a:r>
              <a:rPr lang="en-US" altLang="zh-CN" dirty="0">
                <a:solidFill>
                  <a:srgbClr val="FF0000"/>
                </a:solidFill>
              </a:rPr>
              <a:t>X→Y</a:t>
            </a:r>
            <a:r>
              <a:rPr lang="zh-CN" altLang="en-US" dirty="0">
                <a:solidFill>
                  <a:srgbClr val="010103"/>
                </a:solidFill>
              </a:rPr>
              <a:t>。</a:t>
            </a:r>
            <a:endParaRPr lang="zh-CN" altLang="en-US" dirty="0">
              <a:solidFill>
                <a:srgbClr val="010103"/>
              </a:solidFill>
            </a:endParaRPr>
          </a:p>
          <a:p>
            <a:pPr marL="723900" lvl="1" indent="-361950" defTabSz="723900">
              <a:spcBef>
                <a:spcPct val="15000"/>
              </a:spcBef>
            </a:pPr>
            <a:r>
              <a:rPr lang="zh-CN" altLang="en-US" sz="3600" dirty="0"/>
              <a:t>若</a:t>
            </a:r>
            <a:r>
              <a:rPr lang="en-US" altLang="zh-CN" sz="3600" dirty="0"/>
              <a:t>X→Y</a:t>
            </a:r>
            <a:r>
              <a:rPr lang="zh-CN" altLang="en-US" sz="3600" dirty="0"/>
              <a:t>，并且</a:t>
            </a:r>
            <a:r>
              <a:rPr lang="en-US" altLang="zh-CN" sz="3600" dirty="0"/>
              <a:t>Y→X,  </a:t>
            </a:r>
            <a:r>
              <a:rPr lang="zh-CN" altLang="en-US" sz="3600" dirty="0"/>
              <a:t>则记为</a:t>
            </a:r>
            <a:r>
              <a:rPr lang="en-US" altLang="zh-CN" sz="3600" dirty="0"/>
              <a:t>X</a:t>
            </a:r>
            <a:r>
              <a:rPr lang="en-US" altLang="zh-CN" sz="3600" dirty="0">
                <a:solidFill>
                  <a:srgbClr val="0000CC"/>
                </a:solidFill>
              </a:rPr>
              <a:t>←→</a:t>
            </a:r>
            <a:r>
              <a:rPr lang="en-US" altLang="zh-CN" sz="3600" dirty="0"/>
              <a:t>Y</a:t>
            </a:r>
            <a:endParaRPr lang="en-US" altLang="zh-CN" sz="3600" dirty="0"/>
          </a:p>
          <a:p>
            <a:pPr marL="723900" lvl="1" indent="-361950" defTabSz="723900">
              <a:spcBef>
                <a:spcPct val="15000"/>
              </a:spcBef>
            </a:pPr>
            <a:r>
              <a:rPr lang="zh-CN" altLang="en-US" sz="3600" dirty="0"/>
              <a:t>若</a:t>
            </a:r>
            <a:r>
              <a:rPr lang="en-US" altLang="zh-CN" sz="3600" dirty="0"/>
              <a:t>Y</a:t>
            </a:r>
            <a:r>
              <a:rPr lang="zh-CN" altLang="en-US" sz="3600" dirty="0"/>
              <a:t>不函数依赖于</a:t>
            </a:r>
            <a:r>
              <a:rPr lang="en-US" altLang="zh-CN" sz="3600" dirty="0"/>
              <a:t>X,   </a:t>
            </a:r>
            <a:r>
              <a:rPr lang="zh-CN" altLang="en-US" sz="3600" dirty="0"/>
              <a:t>则记为</a:t>
            </a:r>
            <a:r>
              <a:rPr lang="en-US" altLang="zh-CN" sz="3600" dirty="0"/>
              <a:t>X →Y</a:t>
            </a:r>
            <a:endParaRPr lang="en-US" altLang="zh-CN" sz="3600" dirty="0">
              <a:solidFill>
                <a:srgbClr val="010103"/>
              </a:solidFill>
            </a:endParaRPr>
          </a:p>
        </p:txBody>
      </p:sp>
      <p:sp>
        <p:nvSpPr>
          <p:cNvPr id="2355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8676" name="Line 4"/>
          <p:cNvSpPr/>
          <p:nvPr/>
        </p:nvSpPr>
        <p:spPr>
          <a:xfrm flipH="1">
            <a:off x="7235825" y="5681663"/>
            <a:ext cx="195263" cy="339725"/>
          </a:xfrm>
          <a:prstGeom prst="line">
            <a:avLst/>
          </a:prstGeom>
          <a:ln w="38100" cap="flat" cmpd="sng">
            <a:solidFill>
              <a:srgbClr val="000000"/>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idx="1"/>
          </p:nvPr>
        </p:nvSpPr>
        <p:spPr>
          <a:xfrm>
            <a:off x="107950" y="1052513"/>
            <a:ext cx="8785225" cy="5545137"/>
          </a:xfrm>
        </p:spPr>
        <p:txBody>
          <a:bodyPr vert="horz" wrap="square" lIns="91440" tIns="45720" rIns="91440" bIns="45720" anchor="t" anchorCtr="0"/>
          <a:p>
            <a:pPr marL="365125" indent="-365125"/>
            <a:r>
              <a:rPr lang="zh-CN" altLang="en-US" dirty="0"/>
              <a:t>函数依赖是</a:t>
            </a:r>
            <a:r>
              <a:rPr lang="zh-CN" altLang="en-US" dirty="0">
                <a:solidFill>
                  <a:srgbClr val="0000CC"/>
                </a:solidFill>
              </a:rPr>
              <a:t>语义范畴</a:t>
            </a:r>
            <a:r>
              <a:rPr lang="zh-CN" altLang="en-US" dirty="0"/>
              <a:t>的概念。只能根据数据的语义来确定函数依赖。</a:t>
            </a:r>
            <a:endParaRPr lang="zh-CN" altLang="en-US" dirty="0"/>
          </a:p>
          <a:p>
            <a:pPr marL="365125" indent="-365125">
              <a:spcBef>
                <a:spcPct val="15000"/>
              </a:spcBef>
            </a:pPr>
            <a:r>
              <a:rPr lang="zh-CN" altLang="en-US" dirty="0"/>
              <a:t>函数依赖与属性关系：</a:t>
            </a:r>
            <a:r>
              <a:rPr lang="zh-CN" altLang="en-US" dirty="0">
                <a:solidFill>
                  <a:srgbClr val="CC3300"/>
                </a:solidFill>
              </a:rPr>
              <a:t>在一个关系中</a:t>
            </a:r>
            <a:endParaRPr lang="zh-CN" altLang="en-US" dirty="0">
              <a:solidFill>
                <a:srgbClr val="CC3300"/>
              </a:solidFill>
            </a:endParaRPr>
          </a:p>
          <a:p>
            <a:pPr marL="895350" lvl="1" indent="-350520">
              <a:lnSpc>
                <a:spcPct val="95000"/>
              </a:lnSpc>
              <a:spcBef>
                <a:spcPct val="5000"/>
              </a:spcBef>
            </a:pPr>
            <a:r>
              <a:rPr lang="zh-CN" altLang="en-US" sz="3600" dirty="0"/>
              <a:t>如果属性</a:t>
            </a:r>
            <a:r>
              <a:rPr lang="en-US" altLang="zh-CN" sz="3600" dirty="0"/>
              <a:t>X</a:t>
            </a:r>
            <a:r>
              <a:rPr lang="zh-CN" altLang="en-US" sz="3600" dirty="0"/>
              <a:t>、</a:t>
            </a:r>
            <a:r>
              <a:rPr lang="en-US" altLang="zh-CN" sz="3600" dirty="0"/>
              <a:t>Y</a:t>
            </a:r>
            <a:r>
              <a:rPr lang="zh-CN" altLang="en-US" sz="3600" dirty="0"/>
              <a:t>有 </a:t>
            </a:r>
            <a:r>
              <a:rPr lang="en-US" altLang="zh-CN" sz="3600" dirty="0">
                <a:solidFill>
                  <a:srgbClr val="0000CC"/>
                </a:solidFill>
              </a:rPr>
              <a:t>1:1 </a:t>
            </a:r>
            <a:r>
              <a:rPr lang="zh-CN" altLang="en-US" sz="3600" dirty="0"/>
              <a:t>联系，则</a:t>
            </a:r>
            <a:r>
              <a:rPr lang="en-US" altLang="zh-CN" sz="3600" dirty="0"/>
              <a:t>X</a:t>
            </a:r>
            <a:r>
              <a:rPr lang="zh-CN" altLang="en-US" sz="3600" dirty="0"/>
              <a:t>、</a:t>
            </a:r>
            <a:r>
              <a:rPr lang="en-US" altLang="zh-CN" sz="3600" dirty="0"/>
              <a:t>Y</a:t>
            </a:r>
            <a:r>
              <a:rPr lang="zh-CN" altLang="en-US" sz="3600" dirty="0"/>
              <a:t>相互依赖，即</a:t>
            </a:r>
            <a:r>
              <a:rPr lang="en-US" altLang="zh-CN" sz="3600" dirty="0"/>
              <a:t>X→Y</a:t>
            </a:r>
            <a:r>
              <a:rPr lang="zh-CN" altLang="en-US" sz="3600" dirty="0"/>
              <a:t>，并且</a:t>
            </a:r>
            <a:r>
              <a:rPr lang="en-US" altLang="zh-CN" sz="3600" dirty="0"/>
              <a:t>Y→X,  </a:t>
            </a:r>
            <a:r>
              <a:rPr lang="zh-CN" altLang="en-US" sz="3600" dirty="0"/>
              <a:t>则记为</a:t>
            </a:r>
            <a:r>
              <a:rPr lang="en-US" altLang="zh-CN" sz="3600" dirty="0"/>
              <a:t>X←→Y</a:t>
            </a:r>
            <a:r>
              <a:rPr lang="zh-CN" altLang="en-US" sz="3600" dirty="0"/>
              <a:t>。</a:t>
            </a:r>
            <a:endParaRPr lang="zh-CN" altLang="en-US" sz="3600" dirty="0"/>
          </a:p>
          <a:p>
            <a:pPr marL="895350" lvl="1" indent="-350520">
              <a:lnSpc>
                <a:spcPct val="95000"/>
              </a:lnSpc>
              <a:spcBef>
                <a:spcPct val="5000"/>
              </a:spcBef>
            </a:pPr>
            <a:r>
              <a:rPr lang="zh-CN" altLang="en-US" sz="3600" dirty="0"/>
              <a:t>如果属性</a:t>
            </a:r>
            <a:r>
              <a:rPr lang="en-US" altLang="zh-CN" sz="3600" dirty="0"/>
              <a:t>X</a:t>
            </a:r>
            <a:r>
              <a:rPr lang="zh-CN" altLang="en-US" sz="3600" dirty="0"/>
              <a:t>、</a:t>
            </a:r>
            <a:r>
              <a:rPr lang="en-US" altLang="zh-CN" sz="3600" dirty="0"/>
              <a:t>Y</a:t>
            </a:r>
            <a:r>
              <a:rPr lang="zh-CN" altLang="en-US" sz="3600" dirty="0"/>
              <a:t>有 </a:t>
            </a:r>
            <a:r>
              <a:rPr lang="en-US" altLang="zh-CN" sz="3600" dirty="0">
                <a:solidFill>
                  <a:srgbClr val="0000CC"/>
                </a:solidFill>
              </a:rPr>
              <a:t>1:n </a:t>
            </a:r>
            <a:r>
              <a:rPr lang="zh-CN" altLang="en-US" sz="3600" dirty="0"/>
              <a:t>联系，则存在函数依赖 </a:t>
            </a:r>
            <a:r>
              <a:rPr lang="en-US" altLang="zh-CN" sz="3600" dirty="0"/>
              <a:t>Y→X</a:t>
            </a:r>
            <a:r>
              <a:rPr lang="zh-CN" altLang="en-US" sz="3600" dirty="0"/>
              <a:t>。</a:t>
            </a:r>
            <a:endParaRPr lang="zh-CN" altLang="en-US" sz="3600" dirty="0"/>
          </a:p>
          <a:p>
            <a:pPr marL="895350" lvl="1" indent="-350520">
              <a:lnSpc>
                <a:spcPct val="95000"/>
              </a:lnSpc>
              <a:spcBef>
                <a:spcPct val="5000"/>
              </a:spcBef>
            </a:pPr>
            <a:r>
              <a:rPr lang="zh-CN" altLang="en-US" sz="3600" dirty="0"/>
              <a:t>如果属性</a:t>
            </a:r>
            <a:r>
              <a:rPr lang="en-US" altLang="zh-CN" sz="3600" dirty="0"/>
              <a:t>X</a:t>
            </a:r>
            <a:r>
              <a:rPr lang="zh-CN" altLang="en-US" sz="3600" dirty="0"/>
              <a:t>、</a:t>
            </a:r>
            <a:r>
              <a:rPr lang="en-US" altLang="zh-CN" sz="3600" dirty="0"/>
              <a:t>Y</a:t>
            </a:r>
            <a:r>
              <a:rPr lang="zh-CN" altLang="en-US" sz="3600" dirty="0"/>
              <a:t>有 </a:t>
            </a:r>
            <a:r>
              <a:rPr lang="en-US" altLang="zh-CN" sz="3600" dirty="0">
                <a:solidFill>
                  <a:srgbClr val="0000CC"/>
                </a:solidFill>
              </a:rPr>
              <a:t>m:n </a:t>
            </a:r>
            <a:r>
              <a:rPr lang="zh-CN" altLang="en-US" sz="3600" dirty="0"/>
              <a:t>联系，则</a:t>
            </a:r>
            <a:r>
              <a:rPr lang="en-US" altLang="zh-CN" sz="3600" dirty="0"/>
              <a:t>X</a:t>
            </a:r>
            <a:r>
              <a:rPr lang="zh-CN" altLang="en-US" sz="3600" dirty="0"/>
              <a:t>、</a:t>
            </a:r>
            <a:r>
              <a:rPr lang="en-US" altLang="zh-CN" sz="3600" dirty="0"/>
              <a:t>Y</a:t>
            </a:r>
            <a:r>
              <a:rPr lang="zh-CN" altLang="en-US" sz="3600" dirty="0"/>
              <a:t>之间不存在任何函数依赖。</a:t>
            </a:r>
            <a:endParaRPr lang="zh-CN" altLang="en-US" sz="3600" dirty="0"/>
          </a:p>
        </p:txBody>
      </p:sp>
      <p:sp>
        <p:nvSpPr>
          <p:cNvPr id="29081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idx="1"/>
          </p:nvPr>
        </p:nvSpPr>
        <p:spPr>
          <a:xfrm>
            <a:off x="152400" y="1035050"/>
            <a:ext cx="8991600" cy="5273675"/>
          </a:xfrm>
        </p:spPr>
        <p:txBody>
          <a:bodyPr vert="horz" wrap="square" lIns="91440" tIns="45720" rIns="91440" bIns="45720" anchor="t" anchorCtr="0"/>
          <a:p>
            <a:pPr marL="361950" indent="-361950">
              <a:spcBef>
                <a:spcPct val="15000"/>
              </a:spcBef>
              <a:buNone/>
            </a:pPr>
            <a:r>
              <a:rPr lang="zh-CN" altLang="en-US" dirty="0"/>
              <a:t>例：</a:t>
            </a:r>
            <a:r>
              <a:rPr lang="en-US" altLang="zh-CN" dirty="0"/>
              <a:t>S ( Sno, Sname, Ssex, Sage, Sdept )</a:t>
            </a:r>
            <a:endParaRPr lang="en-US" altLang="zh-CN" dirty="0"/>
          </a:p>
          <a:p>
            <a:pPr marL="361950" indent="-361950">
              <a:buNone/>
            </a:pPr>
            <a:r>
              <a:rPr lang="en-US" altLang="zh-CN" dirty="0"/>
              <a:t>    </a:t>
            </a:r>
            <a:r>
              <a:rPr lang="zh-CN" altLang="en-US" dirty="0"/>
              <a:t>假设不允许重名，则有</a:t>
            </a:r>
            <a:r>
              <a:rPr lang="en-US" altLang="zh-CN" dirty="0"/>
              <a:t>:</a:t>
            </a:r>
            <a:endParaRPr lang="en-US" altLang="zh-CN" dirty="0"/>
          </a:p>
          <a:p>
            <a:pPr marL="1075055" lvl="1" indent="-361950">
              <a:buNone/>
            </a:pPr>
            <a:r>
              <a:rPr lang="en-US" altLang="zh-CN" sz="3600" dirty="0"/>
              <a:t>Sno → Ssex,  Sno → Sage, </a:t>
            </a:r>
            <a:endParaRPr lang="en-US" altLang="zh-CN" sz="3600" dirty="0"/>
          </a:p>
          <a:p>
            <a:pPr marL="1075055" lvl="1" indent="-361950">
              <a:buNone/>
            </a:pPr>
            <a:r>
              <a:rPr lang="en-US" altLang="zh-CN" sz="3600" dirty="0"/>
              <a:t>Sno → Sdept,   </a:t>
            </a:r>
            <a:r>
              <a:rPr lang="en-US" altLang="zh-CN" sz="3600" dirty="0">
                <a:solidFill>
                  <a:srgbClr val="0000CC"/>
                </a:solidFill>
              </a:rPr>
              <a:t>Sno ←→ Sname</a:t>
            </a:r>
            <a:r>
              <a:rPr lang="en-US" altLang="zh-CN" sz="3600" dirty="0"/>
              <a:t>,</a:t>
            </a:r>
            <a:endParaRPr lang="en-US" altLang="zh-CN" sz="3600" dirty="0"/>
          </a:p>
          <a:p>
            <a:pPr marL="1075055" lvl="1" indent="-361950">
              <a:buNone/>
            </a:pPr>
            <a:r>
              <a:rPr lang="en-US" altLang="zh-CN" sz="3600" dirty="0"/>
              <a:t>Sname → Ssex,    Sname → Sage,</a:t>
            </a:r>
            <a:endParaRPr lang="en-US" altLang="zh-CN" sz="3600" dirty="0"/>
          </a:p>
          <a:p>
            <a:pPr marL="1075055" lvl="1" indent="-361950">
              <a:buNone/>
            </a:pPr>
            <a:r>
              <a:rPr lang="en-US" altLang="zh-CN" sz="3600" dirty="0"/>
              <a:t>Sname → Sdept</a:t>
            </a:r>
            <a:endParaRPr lang="en-US" altLang="zh-CN" sz="3600" dirty="0"/>
          </a:p>
          <a:p>
            <a:pPr marL="1075055" lvl="1" indent="-361950">
              <a:buNone/>
            </a:pPr>
            <a:r>
              <a:rPr lang="zh-CN" altLang="en-US" sz="3600" dirty="0"/>
              <a:t>但  </a:t>
            </a:r>
            <a:r>
              <a:rPr lang="en-US" altLang="zh-CN" sz="3600" dirty="0">
                <a:solidFill>
                  <a:srgbClr val="0000CC"/>
                </a:solidFill>
              </a:rPr>
              <a:t>Ssex →Sage</a:t>
            </a:r>
            <a:endParaRPr lang="en-US" altLang="zh-CN" sz="3600" dirty="0">
              <a:solidFill>
                <a:srgbClr val="0000CC"/>
              </a:solidFill>
            </a:endParaRPr>
          </a:p>
        </p:txBody>
      </p:sp>
      <p:sp>
        <p:nvSpPr>
          <p:cNvPr id="15053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1</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150533" name="Line 5"/>
          <p:cNvSpPr/>
          <p:nvPr/>
        </p:nvSpPr>
        <p:spPr>
          <a:xfrm flipH="1">
            <a:off x="2916238" y="5049838"/>
            <a:ext cx="215900" cy="282575"/>
          </a:xfrm>
          <a:prstGeom prst="line">
            <a:avLst/>
          </a:prstGeom>
          <a:ln w="38100" cap="flat" cmpd="sng">
            <a:solidFill>
              <a:srgbClr val="0000CC"/>
            </a:solidFill>
            <a:prstDash val="solid"/>
            <a:headEnd type="none" w="med" len="med"/>
            <a:tailEnd type="none" w="med" len="med"/>
          </a:ln>
        </p:spPr>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0530">
                                            <p:txEl>
                                              <p:charRg st="54" end="8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0530">
                                            <p:txEl>
                                              <p:charRg st="80" end="109"/>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0530">
                                            <p:txEl>
                                              <p:charRg st="109" end="14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0530">
                                            <p:txEl>
                                              <p:charRg st="140" end="15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0530">
                                            <p:txEl>
                                              <p:charRg st="154" end="16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0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9" name="Rectangle 3"/>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r>
              <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2</a:t>
            </a:r>
            <a:endParaRPr kumimoji="1" lang="en-US" altLang="zh-CN"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1747" name="Rectangle 2"/>
          <p:cNvSpPr>
            <a:spLocks noGrp="1"/>
          </p:cNvSpPr>
          <p:nvPr>
            <p:ph type="body" sz="half" idx="1"/>
          </p:nvPr>
        </p:nvSpPr>
        <p:spPr>
          <a:xfrm>
            <a:off x="152400" y="1052513"/>
            <a:ext cx="5859463" cy="5437187"/>
          </a:xfrm>
        </p:spPr>
        <p:txBody>
          <a:bodyPr vert="horz" wrap="square" lIns="91440" tIns="45720" rIns="91440" bIns="45720" anchor="t" anchorCtr="0"/>
          <a:p>
            <a:pPr marL="0" indent="0">
              <a:buClr>
                <a:srgbClr val="FF0000"/>
              </a:buClr>
              <a:buSzPct val="65000"/>
              <a:buFont typeface="Wingdings" panose="05000000000000000000" pitchFamily="2" charset="2"/>
              <a:buNone/>
            </a:pPr>
            <a:r>
              <a:rPr lang="zh-CN" altLang="en-US" dirty="0"/>
              <a:t>找出关系</a:t>
            </a:r>
            <a:r>
              <a:rPr lang="en-US" altLang="zh-CN" dirty="0"/>
              <a:t>R</a:t>
            </a:r>
            <a:r>
              <a:rPr lang="zh-CN" altLang="en-US" dirty="0"/>
              <a:t>中的函数依赖。</a:t>
            </a:r>
            <a:endParaRPr lang="zh-CN" altLang="en-US" dirty="0"/>
          </a:p>
          <a:p>
            <a:pPr marL="0" indent="0">
              <a:buClr>
                <a:srgbClr val="FF0000"/>
              </a:buClr>
              <a:buSzPct val="65000"/>
              <a:buFont typeface="Wingdings" panose="05000000000000000000" pitchFamily="2" charset="2"/>
              <a:buNone/>
            </a:pPr>
            <a:endParaRPr lang="zh-CN" altLang="en-US" dirty="0"/>
          </a:p>
          <a:p>
            <a:pPr marL="0" indent="0">
              <a:buClr>
                <a:srgbClr val="FF0000"/>
              </a:buClr>
              <a:buSzPct val="65000"/>
              <a:buFont typeface="Wingdings" panose="05000000000000000000" pitchFamily="2" charset="2"/>
              <a:buNone/>
            </a:pPr>
            <a:r>
              <a:rPr lang="zh-CN" altLang="en-US" dirty="0">
                <a:solidFill>
                  <a:srgbClr val="010103"/>
                </a:solidFill>
              </a:rPr>
              <a:t>  在</a:t>
            </a:r>
            <a:r>
              <a:rPr lang="en-US" altLang="zh-CN" dirty="0">
                <a:solidFill>
                  <a:srgbClr val="010103"/>
                </a:solidFill>
              </a:rPr>
              <a:t>R</a:t>
            </a:r>
            <a:r>
              <a:rPr lang="zh-CN" altLang="en-US" dirty="0">
                <a:solidFill>
                  <a:srgbClr val="010103"/>
                </a:solidFill>
              </a:rPr>
              <a:t>上有函数依赖：</a:t>
            </a:r>
            <a:endParaRPr lang="zh-CN" altLang="en-US" dirty="0">
              <a:solidFill>
                <a:srgbClr val="010103"/>
              </a:solidFill>
            </a:endParaRPr>
          </a:p>
          <a:p>
            <a:pPr marL="0" indent="0">
              <a:buClr>
                <a:srgbClr val="FF0000"/>
              </a:buClr>
              <a:buSzPct val="65000"/>
              <a:buFont typeface="Wingdings" panose="05000000000000000000" pitchFamily="2" charset="2"/>
              <a:buNone/>
            </a:pPr>
            <a:r>
              <a:rPr lang="zh-CN" altLang="en-US" dirty="0">
                <a:solidFill>
                  <a:srgbClr val="010103"/>
                </a:solidFill>
              </a:rPr>
              <a:t>     </a:t>
            </a:r>
            <a:r>
              <a:rPr lang="en-US" altLang="zh-CN" dirty="0">
                <a:solidFill>
                  <a:srgbClr val="010103"/>
                </a:solidFill>
              </a:rPr>
              <a:t>A→B</a:t>
            </a:r>
            <a:r>
              <a:rPr lang="zh-CN" altLang="en-US" dirty="0">
                <a:solidFill>
                  <a:srgbClr val="010103"/>
                </a:solidFill>
              </a:rPr>
              <a:t>，</a:t>
            </a:r>
            <a:r>
              <a:rPr lang="en-US" altLang="zh-CN" dirty="0">
                <a:solidFill>
                  <a:srgbClr val="010103"/>
                </a:solidFill>
              </a:rPr>
              <a:t>B→A</a:t>
            </a:r>
            <a:endParaRPr lang="en-US" altLang="zh-CN" dirty="0">
              <a:solidFill>
                <a:srgbClr val="010103"/>
              </a:solidFill>
            </a:endParaRPr>
          </a:p>
        </p:txBody>
      </p:sp>
      <p:sp>
        <p:nvSpPr>
          <p:cNvPr id="31748" name="Line 28"/>
          <p:cNvSpPr/>
          <p:nvPr/>
        </p:nvSpPr>
        <p:spPr>
          <a:xfrm flipH="1">
            <a:off x="2898775" y="2935288"/>
            <a:ext cx="144463" cy="215900"/>
          </a:xfrm>
          <a:prstGeom prst="line">
            <a:avLst/>
          </a:prstGeom>
          <a:ln w="38100" cap="flat" cmpd="sng">
            <a:solidFill>
              <a:srgbClr val="000000"/>
            </a:solidFill>
            <a:prstDash val="solid"/>
            <a:headEnd type="none" w="med" len="med"/>
            <a:tailEnd type="none" w="med" len="med"/>
          </a:ln>
        </p:spPr>
      </p:sp>
      <p:graphicFrame>
        <p:nvGraphicFramePr>
          <p:cNvPr id="31749" name="内容占位符 31748"/>
          <p:cNvGraphicFramePr/>
          <p:nvPr>
            <p:ph sz="half" idx="2"/>
          </p:nvPr>
        </p:nvGraphicFramePr>
        <p:xfrm>
          <a:off x="6284913" y="1800225"/>
          <a:ext cx="2174875" cy="4652963"/>
        </p:xfrm>
        <a:graphic>
          <a:graphicData uri="http://schemas.openxmlformats.org/drawingml/2006/table">
            <a:tbl>
              <a:tblPr/>
              <a:tblGrid>
                <a:gridCol w="1087438"/>
                <a:gridCol w="1087437"/>
              </a:tblGrid>
              <a:tr h="942975">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ea typeface="黑体" panose="02010609060101010101" pitchFamily="2" charset="-122"/>
                        </a:rPr>
                        <a:t>A</a:t>
                      </a:r>
                      <a:endParaRPr lang="en-US" altLang="zh-CN" dirty="0">
                        <a:solidFill>
                          <a:srgbClr val="0000CC"/>
                        </a:solidFill>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ea typeface="黑体" panose="02010609060101010101" pitchFamily="2" charset="-122"/>
                        </a:rPr>
                        <a:t>B</a:t>
                      </a:r>
                      <a:endParaRPr lang="en-US" altLang="zh-CN" dirty="0">
                        <a:solidFill>
                          <a:srgbClr val="0000CC"/>
                        </a:solidFill>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41363">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X1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Y1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42950">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X2</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Y2</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39775">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X3</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Y3</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42950">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X4</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Y2</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42950">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X5</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Y1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
        <p:nvSpPr>
          <p:cNvPr id="31772" name="Text Box 104"/>
          <p:cNvSpPr txBox="1"/>
          <p:nvPr/>
        </p:nvSpPr>
        <p:spPr>
          <a:xfrm>
            <a:off x="6445250" y="1071563"/>
            <a:ext cx="1655763" cy="701675"/>
          </a:xfrm>
          <a:prstGeom prst="rect">
            <a:avLst/>
          </a:prstGeom>
          <a:noFill/>
          <a:ln w="9525">
            <a:noFill/>
          </a:ln>
        </p:spPr>
        <p:txBody>
          <a:bodyPr>
            <a:spAutoFit/>
          </a:bodyPr>
          <a:p>
            <a:pPr algn="l"/>
            <a:r>
              <a:rPr lang="zh-CN" altLang="en-US" dirty="0">
                <a:latin typeface="Arial" panose="020B0604020202020204" pitchFamily="34" charset="0"/>
                <a:ea typeface="黑体" panose="02010609060101010101" pitchFamily="2" charset="-122"/>
              </a:rPr>
              <a:t>关系 </a:t>
            </a:r>
            <a:r>
              <a:rPr lang="en-US" altLang="zh-CN" sz="4000" dirty="0">
                <a:latin typeface="Arial" panose="020B0604020202020204" pitchFamily="34" charset="0"/>
                <a:ea typeface="宋体" panose="02010600030101010101" pitchFamily="2" charset="-122"/>
              </a:rPr>
              <a:t>R</a:t>
            </a:r>
            <a:endParaRPr lang="en-US" altLang="zh-CN" sz="4000" dirty="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判断是否函数依赖的算法及</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2771" name="Rectangle 3"/>
          <p:cNvSpPr>
            <a:spLocks noGrp="1"/>
          </p:cNvSpPr>
          <p:nvPr>
            <p:ph type="body" sz="half" idx="1"/>
          </p:nvPr>
        </p:nvSpPr>
        <p:spPr>
          <a:xfrm>
            <a:off x="152400" y="1016000"/>
            <a:ext cx="8991600" cy="5473700"/>
          </a:xfrm>
        </p:spPr>
        <p:txBody>
          <a:bodyPr vert="horz" wrap="square" lIns="91440" tIns="45720" rIns="91440" bIns="45720" anchor="t" anchorCtr="0"/>
          <a:p>
            <a:pPr marL="0" indent="0">
              <a:buClr>
                <a:srgbClr val="FF0000"/>
              </a:buClr>
              <a:buSzPct val="65000"/>
              <a:buFont typeface="Wingdings" panose="05000000000000000000" pitchFamily="2" charset="2"/>
              <a:buNone/>
            </a:pPr>
            <a:r>
              <a:rPr lang="zh-CN" altLang="en-US" dirty="0">
                <a:solidFill>
                  <a:srgbClr val="0000CC"/>
                </a:solidFill>
              </a:rPr>
              <a:t>计算</a:t>
            </a:r>
            <a:r>
              <a:rPr lang="zh-CN" altLang="en-US" dirty="0">
                <a:solidFill>
                  <a:srgbClr val="0000CC"/>
                </a:solidFill>
                <a:sym typeface="Symbol" panose="05050102010706020507" pitchFamily="18" charset="2"/>
              </a:rPr>
              <a:t></a:t>
            </a:r>
            <a:r>
              <a:rPr lang="en-US" altLang="zh-CN" baseline="-25000" dirty="0">
                <a:solidFill>
                  <a:srgbClr val="0000CC"/>
                </a:solidFill>
                <a:sym typeface="Symbol" panose="05050102010706020507" pitchFamily="18" charset="2"/>
              </a:rPr>
              <a:t>X</a:t>
            </a:r>
            <a:r>
              <a:rPr lang="en-US" altLang="zh-CN" baseline="-16000" dirty="0">
                <a:solidFill>
                  <a:srgbClr val="0000CC"/>
                </a:solidFill>
                <a:sym typeface="Symbol" panose="05050102010706020507" pitchFamily="18" charset="2"/>
              </a:rPr>
              <a:t>, </a:t>
            </a:r>
            <a:r>
              <a:rPr lang="en-US" altLang="zh-CN" baseline="-25000" dirty="0">
                <a:solidFill>
                  <a:srgbClr val="0000CC"/>
                </a:solidFill>
                <a:sym typeface="Symbol" panose="05050102010706020507" pitchFamily="18" charset="2"/>
              </a:rPr>
              <a:t>Y</a:t>
            </a:r>
            <a:r>
              <a:rPr lang="en-US" altLang="zh-CN" dirty="0">
                <a:solidFill>
                  <a:srgbClr val="0000CC"/>
                </a:solidFill>
                <a:sym typeface="Symbol" panose="05050102010706020507" pitchFamily="18" charset="2"/>
              </a:rPr>
              <a:t>(r)</a:t>
            </a:r>
            <a:r>
              <a:rPr lang="zh-CN" altLang="en-US" dirty="0">
                <a:solidFill>
                  <a:srgbClr val="0000CC"/>
                </a:solidFill>
                <a:sym typeface="Symbol" panose="05050102010706020507" pitchFamily="18" charset="2"/>
              </a:rPr>
              <a:t>，若</a:t>
            </a:r>
            <a:r>
              <a:rPr lang="en-US" altLang="zh-CN" dirty="0">
                <a:solidFill>
                  <a:srgbClr val="0000CC"/>
                </a:solidFill>
                <a:sym typeface="Symbol" panose="05050102010706020507" pitchFamily="18" charset="2"/>
              </a:rPr>
              <a:t>X</a:t>
            </a:r>
            <a:r>
              <a:rPr lang="zh-CN" altLang="en-US" dirty="0">
                <a:solidFill>
                  <a:srgbClr val="0000CC"/>
                </a:solidFill>
                <a:sym typeface="Symbol" panose="05050102010706020507" pitchFamily="18" charset="2"/>
              </a:rPr>
              <a:t>列无重复值，则有</a:t>
            </a:r>
            <a:r>
              <a:rPr lang="en-US" altLang="zh-CN" dirty="0">
                <a:solidFill>
                  <a:srgbClr val="0000CC"/>
                </a:solidFill>
                <a:sym typeface="Symbol" panose="05050102010706020507" pitchFamily="18" charset="2"/>
              </a:rPr>
              <a:t>X→Y</a:t>
            </a:r>
            <a:r>
              <a:rPr lang="zh-CN" altLang="en-US" dirty="0">
                <a:solidFill>
                  <a:srgbClr val="0000CC"/>
                </a:solidFill>
                <a:sym typeface="Symbol" panose="05050102010706020507" pitchFamily="18" charset="2"/>
              </a:rPr>
              <a:t>。</a:t>
            </a:r>
            <a:endParaRPr lang="zh-CN" altLang="en-US" dirty="0">
              <a:solidFill>
                <a:srgbClr val="010103"/>
              </a:solidFill>
            </a:endParaRPr>
          </a:p>
          <a:p>
            <a:pPr marL="0" indent="0">
              <a:spcBef>
                <a:spcPts val="600"/>
              </a:spcBef>
              <a:buClr>
                <a:srgbClr val="FF0000"/>
              </a:buClr>
              <a:buSzPct val="65000"/>
              <a:buFont typeface="Wingdings" panose="05000000000000000000" pitchFamily="2" charset="2"/>
              <a:buNone/>
            </a:pPr>
            <a:endParaRPr lang="zh-CN" altLang="en-US" dirty="0">
              <a:solidFill>
                <a:srgbClr val="010103"/>
              </a:solidFill>
            </a:endParaRPr>
          </a:p>
          <a:p>
            <a:pPr marL="0" indent="0">
              <a:buClr>
                <a:srgbClr val="FF0000"/>
              </a:buClr>
              <a:buSzPct val="65000"/>
              <a:buFont typeface="Wingdings" panose="05000000000000000000" pitchFamily="2" charset="2"/>
              <a:buNone/>
            </a:pPr>
            <a:r>
              <a:rPr lang="zh-CN" altLang="en-US" dirty="0">
                <a:solidFill>
                  <a:srgbClr val="010103"/>
                </a:solidFill>
              </a:rPr>
              <a:t>在</a:t>
            </a:r>
            <a:r>
              <a:rPr lang="en-US" altLang="zh-CN" dirty="0">
                <a:solidFill>
                  <a:srgbClr val="010103"/>
                </a:solidFill>
              </a:rPr>
              <a:t>r</a:t>
            </a:r>
            <a:r>
              <a:rPr lang="zh-CN" altLang="en-US" dirty="0">
                <a:solidFill>
                  <a:srgbClr val="010103"/>
                </a:solidFill>
              </a:rPr>
              <a:t>上有函数依赖：</a:t>
            </a:r>
            <a:endParaRPr lang="zh-CN" altLang="en-US" dirty="0">
              <a:solidFill>
                <a:srgbClr val="010103"/>
              </a:solidFill>
            </a:endParaRPr>
          </a:p>
          <a:p>
            <a:pPr marL="0" indent="0">
              <a:buClr>
                <a:srgbClr val="FF0000"/>
              </a:buClr>
              <a:buSzPct val="65000"/>
              <a:buFont typeface="Wingdings" panose="05000000000000000000" pitchFamily="2" charset="2"/>
              <a:buNone/>
            </a:pPr>
            <a:r>
              <a:rPr lang="en-US" altLang="zh-CN" dirty="0">
                <a:solidFill>
                  <a:srgbClr val="010103"/>
                </a:solidFill>
              </a:rPr>
              <a:t>A→B</a:t>
            </a:r>
            <a:r>
              <a:rPr lang="zh-CN" altLang="en-US" dirty="0">
                <a:solidFill>
                  <a:srgbClr val="010103"/>
                </a:solidFill>
              </a:rPr>
              <a:t>，</a:t>
            </a:r>
            <a:r>
              <a:rPr lang="en-US" altLang="zh-CN" dirty="0">
                <a:solidFill>
                  <a:srgbClr val="010103"/>
                </a:solidFill>
              </a:rPr>
              <a:t>A→D</a:t>
            </a:r>
            <a:r>
              <a:rPr lang="zh-CN" altLang="en-US" dirty="0">
                <a:solidFill>
                  <a:srgbClr val="010103"/>
                </a:solidFill>
              </a:rPr>
              <a:t>，</a:t>
            </a:r>
            <a:endParaRPr lang="zh-CN" altLang="en-US" dirty="0">
              <a:solidFill>
                <a:srgbClr val="010103"/>
              </a:solidFill>
            </a:endParaRPr>
          </a:p>
          <a:p>
            <a:pPr marL="0" indent="0">
              <a:buClr>
                <a:srgbClr val="FF0000"/>
              </a:buClr>
              <a:buSzPct val="65000"/>
              <a:buFont typeface="Wingdings" panose="05000000000000000000" pitchFamily="2" charset="2"/>
              <a:buNone/>
            </a:pPr>
            <a:r>
              <a:rPr lang="en-US" altLang="zh-CN" dirty="0">
                <a:solidFill>
                  <a:srgbClr val="010103"/>
                </a:solidFill>
              </a:rPr>
              <a:t>D→A</a:t>
            </a:r>
            <a:r>
              <a:rPr lang="zh-CN" altLang="en-US" dirty="0">
                <a:solidFill>
                  <a:srgbClr val="010103"/>
                </a:solidFill>
              </a:rPr>
              <a:t>，</a:t>
            </a:r>
            <a:r>
              <a:rPr lang="en-US" altLang="zh-CN" dirty="0">
                <a:solidFill>
                  <a:srgbClr val="010103"/>
                </a:solidFill>
              </a:rPr>
              <a:t>CD→B</a:t>
            </a:r>
            <a:r>
              <a:rPr lang="zh-CN" altLang="en-US" dirty="0">
                <a:solidFill>
                  <a:srgbClr val="010103"/>
                </a:solidFill>
              </a:rPr>
              <a:t>，</a:t>
            </a:r>
            <a:endParaRPr lang="zh-CN" altLang="en-US" dirty="0">
              <a:solidFill>
                <a:srgbClr val="010103"/>
              </a:solidFill>
            </a:endParaRPr>
          </a:p>
          <a:p>
            <a:pPr marL="0" indent="0">
              <a:buClr>
                <a:srgbClr val="FF0000"/>
              </a:buClr>
              <a:buSzPct val="65000"/>
              <a:buFont typeface="Wingdings" panose="05000000000000000000" pitchFamily="2" charset="2"/>
              <a:buNone/>
            </a:pPr>
            <a:r>
              <a:rPr lang="en-US" altLang="zh-CN" dirty="0">
                <a:solidFill>
                  <a:srgbClr val="010103"/>
                </a:solidFill>
              </a:rPr>
              <a:t>CD→A</a:t>
            </a:r>
            <a:r>
              <a:rPr lang="zh-CN" altLang="en-US" dirty="0">
                <a:solidFill>
                  <a:srgbClr val="010103"/>
                </a:solidFill>
              </a:rPr>
              <a:t>，</a:t>
            </a:r>
            <a:r>
              <a:rPr lang="en-US" altLang="zh-CN" dirty="0">
                <a:solidFill>
                  <a:srgbClr val="010103"/>
                </a:solidFill>
              </a:rPr>
              <a:t>CD→AB</a:t>
            </a:r>
            <a:r>
              <a:rPr lang="zh-CN" altLang="en-US" dirty="0">
                <a:solidFill>
                  <a:srgbClr val="010103"/>
                </a:solidFill>
              </a:rPr>
              <a:t>，</a:t>
            </a:r>
            <a:endParaRPr lang="zh-CN" altLang="en-US" dirty="0">
              <a:solidFill>
                <a:srgbClr val="010103"/>
              </a:solidFill>
            </a:endParaRPr>
          </a:p>
          <a:p>
            <a:pPr marL="0" indent="0">
              <a:buClr>
                <a:srgbClr val="FF0000"/>
              </a:buClr>
              <a:buSzPct val="65000"/>
              <a:buFont typeface="Wingdings" panose="05000000000000000000" pitchFamily="2" charset="2"/>
              <a:buNone/>
            </a:pPr>
            <a:r>
              <a:rPr lang="en-US" altLang="zh-CN" dirty="0">
                <a:solidFill>
                  <a:srgbClr val="010103"/>
                </a:solidFill>
              </a:rPr>
              <a:t>……</a:t>
            </a:r>
            <a:endParaRPr lang="en-US" altLang="zh-CN" dirty="0">
              <a:solidFill>
                <a:srgbClr val="010103"/>
              </a:solidFill>
            </a:endParaRPr>
          </a:p>
          <a:p>
            <a:pPr marL="0" indent="0">
              <a:buClr>
                <a:srgbClr val="FF0000"/>
              </a:buClr>
              <a:buSzPct val="65000"/>
              <a:buFont typeface="Wingdings" panose="05000000000000000000" pitchFamily="2" charset="2"/>
              <a:buNone/>
            </a:pPr>
            <a:r>
              <a:rPr lang="en-US" altLang="zh-CN" dirty="0">
                <a:solidFill>
                  <a:srgbClr val="010103"/>
                </a:solidFill>
              </a:rPr>
              <a:t>C→B,  B→C</a:t>
            </a:r>
            <a:endParaRPr lang="en-US" altLang="zh-CN" dirty="0">
              <a:solidFill>
                <a:srgbClr val="010103"/>
              </a:solidFill>
            </a:endParaRPr>
          </a:p>
        </p:txBody>
      </p:sp>
      <p:grpSp>
        <p:nvGrpSpPr>
          <p:cNvPr id="32772" name="Group 4"/>
          <p:cNvGrpSpPr/>
          <p:nvPr/>
        </p:nvGrpSpPr>
        <p:grpSpPr>
          <a:xfrm>
            <a:off x="700088" y="5183188"/>
            <a:ext cx="1657350" cy="215900"/>
            <a:chOff x="612" y="1888"/>
            <a:chExt cx="1044" cy="136"/>
          </a:xfrm>
        </p:grpSpPr>
        <p:sp>
          <p:nvSpPr>
            <p:cNvPr id="32807" name="Line 5"/>
            <p:cNvSpPr/>
            <p:nvPr/>
          </p:nvSpPr>
          <p:spPr>
            <a:xfrm flipH="1">
              <a:off x="612" y="1888"/>
              <a:ext cx="91" cy="136"/>
            </a:xfrm>
            <a:prstGeom prst="line">
              <a:avLst/>
            </a:prstGeom>
            <a:ln w="38100" cap="flat" cmpd="sng">
              <a:solidFill>
                <a:srgbClr val="000000"/>
              </a:solidFill>
              <a:prstDash val="solid"/>
              <a:headEnd type="none" w="med" len="med"/>
              <a:tailEnd type="none" w="med" len="med"/>
            </a:ln>
          </p:spPr>
        </p:sp>
        <p:sp>
          <p:nvSpPr>
            <p:cNvPr id="32808" name="Line 6"/>
            <p:cNvSpPr/>
            <p:nvPr/>
          </p:nvSpPr>
          <p:spPr>
            <a:xfrm flipH="1">
              <a:off x="1565" y="1888"/>
              <a:ext cx="91" cy="136"/>
            </a:xfrm>
            <a:prstGeom prst="line">
              <a:avLst/>
            </a:prstGeom>
            <a:ln w="38100" cap="flat" cmpd="sng">
              <a:solidFill>
                <a:srgbClr val="000000"/>
              </a:solidFill>
              <a:prstDash val="solid"/>
              <a:headEnd type="none" w="med" len="med"/>
              <a:tailEnd type="none" w="med" len="med"/>
            </a:ln>
          </p:spPr>
        </p:sp>
      </p:grpSp>
      <p:graphicFrame>
        <p:nvGraphicFramePr>
          <p:cNvPr id="32773" name="内容占位符 32772"/>
          <p:cNvGraphicFramePr/>
          <p:nvPr>
            <p:ph sz="half" idx="2"/>
          </p:nvPr>
        </p:nvGraphicFramePr>
        <p:xfrm>
          <a:off x="4572000" y="2205038"/>
          <a:ext cx="4348163" cy="3997325"/>
        </p:xfrm>
        <a:graphic>
          <a:graphicData uri="http://schemas.openxmlformats.org/drawingml/2006/table">
            <a:tbl>
              <a:tblPr/>
              <a:tblGrid>
                <a:gridCol w="1087438"/>
                <a:gridCol w="1087437"/>
                <a:gridCol w="1085850"/>
                <a:gridCol w="1087438"/>
              </a:tblGrid>
              <a:tr h="800100">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ea typeface="黑体" panose="02010609060101010101" pitchFamily="2" charset="-122"/>
                        </a:rPr>
                        <a:t>A</a:t>
                      </a:r>
                      <a:endParaRPr lang="en-US" altLang="zh-CN" dirty="0">
                        <a:solidFill>
                          <a:srgbClr val="0000CC"/>
                        </a:solidFill>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ea typeface="黑体" panose="02010609060101010101" pitchFamily="2" charset="-122"/>
                        </a:rPr>
                        <a:t>B</a:t>
                      </a:r>
                      <a:endParaRPr lang="en-US" altLang="zh-CN" dirty="0">
                        <a:solidFill>
                          <a:srgbClr val="0000CC"/>
                        </a:solidFill>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ea typeface="黑体" panose="02010609060101010101" pitchFamily="2" charset="-122"/>
                        </a:rPr>
                        <a:t>C</a:t>
                      </a:r>
                      <a:endParaRPr lang="en-US" altLang="zh-CN" dirty="0">
                        <a:solidFill>
                          <a:srgbClr val="0000CC"/>
                        </a:solidFill>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ea typeface="黑体" panose="02010609060101010101" pitchFamily="2" charset="-122"/>
                        </a:rPr>
                        <a:t>D</a:t>
                      </a:r>
                      <a:endParaRPr lang="en-US" altLang="zh-CN" dirty="0">
                        <a:solidFill>
                          <a:srgbClr val="0000CC"/>
                        </a:solidFill>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98513">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a</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e</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800100">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b</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e</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2</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798512">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a</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f</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1</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r h="800100">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c</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2</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f</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c>
                  <a:txBody>
                    <a:bodyPr/>
                    <a:lstStyle>
                      <a:lvl1pPr marL="0" lvl="0" indent="0" algn="ctr" defTabSz="914400" rtl="0" eaLnBrk="0" fontAlgn="base" latinLnBrk="0" hangingPunct="0">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defRPr>
                      </a:lvl1pPr>
                      <a:lvl2pPr marL="457200" lvl="1"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2pPr>
                      <a:lvl3pPr marL="914400" lvl="2"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3pPr>
                      <a:lvl4pPr marL="1371600" lvl="3"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4pPr>
                      <a:lvl5pPr marL="1828800" lvl="4" indent="0" algn="ctr" defTabSz="914400" rtl="0" eaLnBrk="1" fontAlgn="base" latinLnBrk="0" hangingPunct="1">
                        <a:lnSpc>
                          <a:spcPct val="100000"/>
                        </a:lnSpc>
                        <a:spcBef>
                          <a:spcPct val="50000"/>
                        </a:spcBef>
                        <a:spcAft>
                          <a:spcPct val="0"/>
                        </a:spcAft>
                        <a:buNone/>
                        <a:defRPr sz="3600" b="1" i="0" u="none" kern="1200" baseline="0">
                          <a:solidFill>
                            <a:srgbClr val="000000"/>
                          </a:solidFill>
                          <a:latin typeface="Arial" panose="020B0604020202020204" pitchFamily="34" charset="0"/>
                          <a:ea typeface="幼圆" panose="02010509060101010101" pitchFamily="49" charset="-122"/>
                          <a:cs typeface="+mn-cs"/>
                        </a:defRPr>
                      </a:lvl5pPr>
                    </a:lstStyle>
                    <a:p>
                      <a:pPr lvl="0" eaLnBrk="0" hangingPunct="0">
                        <a:spcBef>
                          <a:spcPct val="0"/>
                        </a:spcBef>
                        <a:buClr>
                          <a:srgbClr val="FF0000"/>
                        </a:buClr>
                        <a:buSzPct val="65000"/>
                        <a:buFont typeface="Wingdings" panose="05000000000000000000" pitchFamily="2" charset="2"/>
                        <a:buNone/>
                      </a:pPr>
                      <a:r>
                        <a:rPr lang="en-US" altLang="zh-CN" dirty="0">
                          <a:latin typeface="Arial" panose="020B0604020202020204" pitchFamily="34" charset="0"/>
                          <a:ea typeface="黑体" panose="02010609060101010101" pitchFamily="2" charset="-122"/>
                        </a:rPr>
                        <a:t>3</a:t>
                      </a:r>
                      <a:endParaRPr lang="en-US" altLang="zh-CN" dirty="0">
                        <a:latin typeface="Arial" panose="020B0604020202020204" pitchFamily="34" charset="0"/>
                        <a:ea typeface="黑体" panose="02010609060101010101" pitchFamily="2" charset="-122"/>
                      </a:endParaRPr>
                    </a:p>
                  </a:txBody>
                  <a:tcPr anchor="ctr" anchorCtr="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solidFill>
                      <a:srgbClr val="FFFFFF"/>
                    </a:solidFill>
                  </a:tcPr>
                </a:tc>
              </a:tr>
            </a:tbl>
          </a:graphicData>
        </a:graphic>
      </p:graphicFrame>
      <p:sp>
        <p:nvSpPr>
          <p:cNvPr id="32805" name="Text Box 39"/>
          <p:cNvSpPr txBox="1"/>
          <p:nvPr/>
        </p:nvSpPr>
        <p:spPr>
          <a:xfrm>
            <a:off x="5795963" y="1412875"/>
            <a:ext cx="1655762" cy="823913"/>
          </a:xfrm>
          <a:prstGeom prst="rect">
            <a:avLst/>
          </a:prstGeom>
          <a:noFill/>
          <a:ln w="9525">
            <a:noFill/>
          </a:ln>
        </p:spPr>
        <p:txBody>
          <a:bodyPr>
            <a:spAutoFit/>
          </a:bodyPr>
          <a:p>
            <a:pPr algn="l"/>
            <a:r>
              <a:rPr lang="zh-CN" altLang="en-US" dirty="0">
                <a:latin typeface="Arial" panose="020B0604020202020204" pitchFamily="34" charset="0"/>
                <a:ea typeface="黑体" panose="02010609060101010101" pitchFamily="2" charset="-122"/>
              </a:rPr>
              <a:t>关系 </a:t>
            </a:r>
            <a:r>
              <a:rPr lang="en-US" altLang="zh-CN" sz="4800" dirty="0">
                <a:latin typeface="Arial" panose="020B0604020202020204" pitchFamily="34" charset="0"/>
                <a:ea typeface="宋体" panose="02010600030101010101" pitchFamily="2" charset="-122"/>
              </a:rPr>
              <a:t>r</a:t>
            </a:r>
            <a:endParaRPr lang="en-US" altLang="zh-CN" sz="4800" dirty="0">
              <a:latin typeface="Arial" panose="020B0604020202020204" pitchFamily="34" charset="0"/>
              <a:ea typeface="宋体" panose="02010600030101010101" pitchFamily="2" charset="-122"/>
            </a:endParaRPr>
          </a:p>
        </p:txBody>
      </p:sp>
      <p:sp>
        <p:nvSpPr>
          <p:cNvPr id="292904" name="AutoShape 40">
            <a:hlinkClick r:id="rId1" action="ppaction://hlinksldjump"/>
          </p:cNvPr>
          <p:cNvSpPr>
            <a:spLocks noChangeArrowheads="1"/>
          </p:cNvSpPr>
          <p:nvPr/>
        </p:nvSpPr>
        <p:spPr bwMode="auto">
          <a:xfrm>
            <a:off x="8459788" y="6237288"/>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Tree>
  </p:cSld>
  <p:clrMapOvr>
    <a:masterClrMapping/>
  </p:clrMapOvr>
  <p:transition>
    <p:random/>
    <p:sndAc>
      <p:stSnd>
        <p:snd r:embed="rId2"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noChangeArrowheads="1"/>
          </p:cNvSpPr>
          <p:nvPr>
            <p:ph type="title"/>
          </p:nvPr>
        </p:nvSpPr>
        <p:spPr>
          <a:xfrm>
            <a:off x="179388" y="0"/>
            <a:ext cx="8964613" cy="8382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、平凡函数依赖与非平凡函数依赖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3795" name="Rectangle 3"/>
          <p:cNvSpPr>
            <a:spLocks noGrp="1"/>
          </p:cNvSpPr>
          <p:nvPr>
            <p:ph type="body" sz="half" idx="1"/>
          </p:nvPr>
        </p:nvSpPr>
        <p:spPr>
          <a:xfrm>
            <a:off x="223838" y="1016000"/>
            <a:ext cx="8740775" cy="5473700"/>
          </a:xfrm>
        </p:spPr>
        <p:txBody>
          <a:bodyPr vert="horz" wrap="square" lIns="91440" tIns="45720" rIns="91440" bIns="45720" anchor="t" anchorCtr="0"/>
          <a:p>
            <a:pPr>
              <a:lnSpc>
                <a:spcPct val="110000"/>
              </a:lnSpc>
              <a:buClr>
                <a:srgbClr val="FF0000"/>
              </a:buClr>
              <a:buSzPct val="65000"/>
              <a:buFont typeface="Wingdings" panose="05000000000000000000" pitchFamily="2" charset="2"/>
            </a:pPr>
            <a:r>
              <a:rPr lang="zh-CN" altLang="en-US" dirty="0">
                <a:solidFill>
                  <a:srgbClr val="010103"/>
                </a:solidFill>
              </a:rPr>
              <a:t>定义</a:t>
            </a:r>
            <a:endParaRPr lang="zh-CN" altLang="en-US" dirty="0">
              <a:solidFill>
                <a:srgbClr val="010103"/>
              </a:solidFill>
            </a:endParaRPr>
          </a:p>
          <a:p>
            <a:pPr>
              <a:lnSpc>
                <a:spcPct val="110000"/>
              </a:lnSpc>
              <a:buClr>
                <a:srgbClr val="FF0000"/>
              </a:buClr>
              <a:buSzPct val="65000"/>
              <a:buFont typeface="Wingdings" panose="05000000000000000000" pitchFamily="2" charset="2"/>
              <a:buNone/>
            </a:pPr>
            <a:r>
              <a:rPr lang="zh-CN" altLang="en-US" dirty="0"/>
              <a:t>         在关系模式 </a:t>
            </a:r>
            <a:r>
              <a:rPr lang="en-US" altLang="zh-CN" dirty="0"/>
              <a:t>R(U) </a:t>
            </a:r>
            <a:r>
              <a:rPr lang="zh-CN" altLang="en-US" dirty="0"/>
              <a:t>中，对于 </a:t>
            </a:r>
            <a:r>
              <a:rPr lang="en-US" altLang="zh-CN" dirty="0"/>
              <a:t>U</a:t>
            </a:r>
            <a:r>
              <a:rPr lang="zh-CN" altLang="en-US" dirty="0"/>
              <a:t>的子集</a:t>
            </a:r>
            <a:r>
              <a:rPr lang="en-US" altLang="zh-CN" dirty="0"/>
              <a:t>X</a:t>
            </a:r>
            <a:r>
              <a:rPr lang="zh-CN" altLang="en-US" dirty="0"/>
              <a:t>和</a:t>
            </a:r>
            <a:r>
              <a:rPr lang="en-US" altLang="zh-CN" dirty="0"/>
              <a:t>Y</a:t>
            </a:r>
            <a:r>
              <a:rPr lang="zh-CN" altLang="en-US" dirty="0"/>
              <a:t>，若</a:t>
            </a:r>
            <a:r>
              <a:rPr lang="en-US" altLang="zh-CN" dirty="0">
                <a:ea typeface="Arial Unicode MS" pitchFamily="34" charset="-122"/>
              </a:rPr>
              <a:t>X</a:t>
            </a:r>
            <a:r>
              <a:rPr lang="en-US" altLang="zh-CN" dirty="0"/>
              <a:t>→</a:t>
            </a:r>
            <a:r>
              <a:rPr lang="en-US" altLang="zh-CN" dirty="0">
                <a:ea typeface="Arial Unicode MS" pitchFamily="34" charset="-122"/>
              </a:rPr>
              <a:t>Y</a:t>
            </a:r>
            <a:r>
              <a:rPr lang="zh-CN" altLang="en-US" dirty="0"/>
              <a:t>，但</a:t>
            </a:r>
            <a:r>
              <a:rPr lang="en-US" altLang="zh-CN" dirty="0">
                <a:ea typeface="Arial Unicode MS" pitchFamily="34" charset="-122"/>
              </a:rPr>
              <a:t>Y</a:t>
            </a:r>
            <a:r>
              <a:rPr lang="en-US" altLang="zh-CN" dirty="0">
                <a:sym typeface="Symbol" panose="05050102010706020507" pitchFamily="18" charset="2"/>
              </a:rPr>
              <a:t></a:t>
            </a:r>
            <a:r>
              <a:rPr lang="en-US" altLang="zh-CN" dirty="0">
                <a:ea typeface="Arial Unicode MS" pitchFamily="34" charset="-122"/>
              </a:rPr>
              <a:t>X </a:t>
            </a:r>
            <a:r>
              <a:rPr lang="zh-CN" altLang="en-US" dirty="0"/>
              <a:t>，则称</a:t>
            </a:r>
            <a:r>
              <a:rPr lang="en-US" altLang="zh-CN" dirty="0">
                <a:ea typeface="Arial Unicode MS" pitchFamily="34" charset="-122"/>
              </a:rPr>
              <a:t>X</a:t>
            </a:r>
            <a:r>
              <a:rPr lang="en-US" altLang="zh-CN" dirty="0"/>
              <a:t>→</a:t>
            </a:r>
            <a:r>
              <a:rPr lang="en-US" altLang="zh-CN" dirty="0">
                <a:ea typeface="Arial Unicode MS" pitchFamily="34" charset="-122"/>
              </a:rPr>
              <a:t>Y</a:t>
            </a:r>
            <a:r>
              <a:rPr lang="zh-CN" altLang="en-US" dirty="0"/>
              <a:t>是</a:t>
            </a:r>
            <a:r>
              <a:rPr lang="zh-CN" altLang="en-US" dirty="0">
                <a:solidFill>
                  <a:srgbClr val="FF0000"/>
                </a:solidFill>
              </a:rPr>
              <a:t>非平凡的函数依赖</a:t>
            </a:r>
            <a:r>
              <a:rPr lang="zh-CN" altLang="en-US" dirty="0"/>
              <a:t>。若</a:t>
            </a:r>
            <a:r>
              <a:rPr lang="en-US" altLang="zh-CN" dirty="0"/>
              <a:t>X→Y</a:t>
            </a:r>
            <a:r>
              <a:rPr lang="zh-CN" altLang="en-US" dirty="0"/>
              <a:t>，但</a:t>
            </a:r>
            <a:r>
              <a:rPr lang="en-US" altLang="zh-CN" dirty="0"/>
              <a:t>Y </a:t>
            </a:r>
            <a:r>
              <a:rPr lang="en-US" altLang="zh-CN" dirty="0">
                <a:sym typeface="Symbol" panose="05050102010706020507" pitchFamily="18" charset="2"/>
              </a:rPr>
              <a:t></a:t>
            </a:r>
            <a:r>
              <a:rPr lang="en-US" altLang="zh-CN" dirty="0"/>
              <a:t> X,   </a:t>
            </a:r>
            <a:r>
              <a:rPr lang="zh-CN" altLang="en-US" dirty="0"/>
              <a:t>则称</a:t>
            </a:r>
            <a:r>
              <a:rPr lang="en-US" altLang="zh-CN" dirty="0"/>
              <a:t>X→Y</a:t>
            </a:r>
            <a:r>
              <a:rPr lang="zh-CN" altLang="en-US" dirty="0"/>
              <a:t>是</a:t>
            </a:r>
            <a:r>
              <a:rPr lang="zh-CN" altLang="en-US" dirty="0">
                <a:solidFill>
                  <a:srgbClr val="FF0000"/>
                </a:solidFill>
              </a:rPr>
              <a:t>平凡的函数依赖</a:t>
            </a:r>
            <a:r>
              <a:rPr lang="zh-CN" altLang="en-US" dirty="0"/>
              <a:t>。</a:t>
            </a:r>
            <a:endParaRPr lang="zh-CN" altLang="en-US" dirty="0">
              <a:solidFill>
                <a:srgbClr val="0000CC"/>
              </a:solidFill>
            </a:endParaRPr>
          </a:p>
          <a:p>
            <a:pPr>
              <a:lnSpc>
                <a:spcPct val="110000"/>
              </a:lnSpc>
              <a:spcBef>
                <a:spcPct val="25000"/>
              </a:spcBef>
              <a:buClr>
                <a:srgbClr val="FF0000"/>
              </a:buClr>
              <a:buSzPct val="65000"/>
              <a:buFont typeface="Wingdings" panose="05000000000000000000" pitchFamily="2" charset="2"/>
            </a:pPr>
            <a:r>
              <a:rPr lang="zh-CN" altLang="en-US" dirty="0">
                <a:solidFill>
                  <a:srgbClr val="010103"/>
                </a:solidFill>
              </a:rPr>
              <a:t>定义  </a:t>
            </a:r>
            <a:endParaRPr lang="zh-CN" altLang="en-US" dirty="0">
              <a:solidFill>
                <a:srgbClr val="010103"/>
              </a:solidFill>
            </a:endParaRPr>
          </a:p>
          <a:p>
            <a:pPr>
              <a:lnSpc>
                <a:spcPct val="110000"/>
              </a:lnSpc>
              <a:buClr>
                <a:srgbClr val="FF0000"/>
              </a:buClr>
              <a:buSzPct val="65000"/>
              <a:buFont typeface="Wingdings" panose="05000000000000000000" pitchFamily="2" charset="2"/>
              <a:buNone/>
            </a:pPr>
            <a:r>
              <a:rPr lang="zh-CN" altLang="en-US" dirty="0"/>
              <a:t>          若</a:t>
            </a:r>
            <a:r>
              <a:rPr lang="en-US" altLang="zh-CN" dirty="0">
                <a:ea typeface="Arial Unicode MS" pitchFamily="34" charset="-122"/>
              </a:rPr>
              <a:t>X</a:t>
            </a:r>
            <a:r>
              <a:rPr lang="en-US" altLang="zh-CN" dirty="0"/>
              <a:t>→</a:t>
            </a:r>
            <a:r>
              <a:rPr lang="en-US" altLang="zh-CN" dirty="0">
                <a:ea typeface="Arial Unicode MS" pitchFamily="34" charset="-122"/>
              </a:rPr>
              <a:t>Y</a:t>
            </a:r>
            <a:r>
              <a:rPr lang="zh-CN" altLang="en-US" dirty="0"/>
              <a:t>，则 </a:t>
            </a:r>
            <a:r>
              <a:rPr lang="en-US" altLang="zh-CN" dirty="0">
                <a:ea typeface="Arial Unicode MS" pitchFamily="34" charset="-122"/>
              </a:rPr>
              <a:t>X </a:t>
            </a:r>
            <a:r>
              <a:rPr lang="zh-CN" altLang="en-US" dirty="0"/>
              <a:t>称为这个函数依赖的</a:t>
            </a:r>
            <a:r>
              <a:rPr lang="zh-CN" altLang="en-US" dirty="0">
                <a:solidFill>
                  <a:srgbClr val="FF0000"/>
                </a:solidFill>
              </a:rPr>
              <a:t>决定因素，</a:t>
            </a:r>
            <a:r>
              <a:rPr lang="en-US" altLang="zh-CN" dirty="0"/>
              <a:t>Y</a:t>
            </a:r>
            <a:r>
              <a:rPr lang="zh-CN" altLang="en-US" dirty="0"/>
              <a:t>称为</a:t>
            </a:r>
            <a:r>
              <a:rPr lang="zh-CN" altLang="en-US" dirty="0">
                <a:solidFill>
                  <a:srgbClr val="FF0000"/>
                </a:solidFill>
              </a:rPr>
              <a:t>依赖因素</a:t>
            </a:r>
            <a:r>
              <a:rPr lang="zh-CN" altLang="en-US" dirty="0"/>
              <a:t>。</a:t>
            </a:r>
            <a:endParaRPr lang="zh-CN" altLang="en-US" dirty="0"/>
          </a:p>
        </p:txBody>
      </p:sp>
      <p:sp>
        <p:nvSpPr>
          <p:cNvPr id="33796" name="Line 4"/>
          <p:cNvSpPr/>
          <p:nvPr/>
        </p:nvSpPr>
        <p:spPr>
          <a:xfrm flipH="1">
            <a:off x="4873625" y="2457450"/>
            <a:ext cx="288925" cy="412750"/>
          </a:xfrm>
          <a:prstGeom prst="line">
            <a:avLst/>
          </a:prstGeom>
          <a:ln w="38100" cap="flat" cmpd="sng">
            <a:solidFill>
              <a:srgbClr val="000000"/>
            </a:solidFill>
            <a:prstDash val="solid"/>
            <a:headEnd type="none" w="med" len="med"/>
            <a:tailEnd type="none" w="med" len="med"/>
          </a:ln>
        </p:spPr>
      </p:sp>
    </p:spTree>
  </p:cSld>
  <p:clrMapOvr>
    <a:masterClrMapping/>
  </p:clrMapOvr>
  <p:transition>
    <p:random/>
    <p:sndAc>
      <p:stSnd>
        <p:snd r:embed="rId1" name="CAMERA.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noChangeArrowheads="1"/>
          </p:cNvSpPr>
          <p:nvPr>
            <p:ph type="title"/>
          </p:nvPr>
        </p:nvSpPr>
        <p:spPr>
          <a:xfrm>
            <a:off x="179388" y="0"/>
            <a:ext cx="8964613" cy="8382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平凡函数依赖</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非平凡函数依赖</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34819" name="Rectangle 3"/>
          <p:cNvSpPr>
            <a:spLocks noGrp="1"/>
          </p:cNvSpPr>
          <p:nvPr>
            <p:ph type="body" sz="half" idx="1"/>
          </p:nvPr>
        </p:nvSpPr>
        <p:spPr>
          <a:xfrm>
            <a:off x="225425" y="1016000"/>
            <a:ext cx="8667750" cy="5473700"/>
          </a:xfrm>
        </p:spPr>
        <p:txBody>
          <a:bodyPr vert="horz" wrap="square" lIns="91440" tIns="45720" rIns="91440" bIns="45720" anchor="t" anchorCtr="0"/>
          <a:p>
            <a:pPr marL="360680" indent="-360680">
              <a:buClr>
                <a:srgbClr val="FF0000"/>
              </a:buClr>
              <a:buSzPct val="65000"/>
              <a:buFont typeface="Wingdings" panose="05000000000000000000" pitchFamily="2" charset="2"/>
              <a:buNone/>
            </a:pPr>
            <a:r>
              <a:rPr lang="zh-CN" altLang="en-US" dirty="0"/>
              <a:t>例：在关系 </a:t>
            </a:r>
            <a:r>
              <a:rPr lang="en-US" altLang="zh-CN" dirty="0"/>
              <a:t>SC ( Sno, Cno, Score ) </a:t>
            </a:r>
            <a:r>
              <a:rPr lang="zh-CN" altLang="en-US" dirty="0"/>
              <a:t>中，</a:t>
            </a:r>
            <a:endParaRPr lang="zh-CN" altLang="en-US" dirty="0"/>
          </a:p>
          <a:p>
            <a:pPr marL="360680" indent="-360680">
              <a:lnSpc>
                <a:spcPct val="140000"/>
              </a:lnSpc>
              <a:buClr>
                <a:srgbClr val="FF0000"/>
              </a:buClr>
              <a:buSzPct val="65000"/>
              <a:buFont typeface="Wingdings" panose="05000000000000000000" pitchFamily="2" charset="2"/>
              <a:buNone/>
            </a:pPr>
            <a:r>
              <a:rPr lang="zh-CN" altLang="en-US" dirty="0"/>
              <a:t>      非平凡函数依赖： </a:t>
            </a:r>
            <a:endParaRPr lang="zh-CN" altLang="en-US" dirty="0"/>
          </a:p>
          <a:p>
            <a:pPr marL="360680" indent="-360680">
              <a:lnSpc>
                <a:spcPct val="110000"/>
              </a:lnSpc>
              <a:buClr>
                <a:srgbClr val="FF0000"/>
              </a:buClr>
              <a:buSzPct val="65000"/>
              <a:buFont typeface="Wingdings" panose="05000000000000000000" pitchFamily="2" charset="2"/>
              <a:buNone/>
            </a:pPr>
            <a:r>
              <a:rPr lang="zh-CN" altLang="en-US" dirty="0"/>
              <a:t>			</a:t>
            </a:r>
            <a:r>
              <a:rPr lang="en-US" altLang="zh-CN" dirty="0"/>
              <a:t>(Sno, Cno) →</a:t>
            </a:r>
            <a:r>
              <a:rPr lang="en-US" altLang="zh-CN" baseline="46000" dirty="0"/>
              <a:t> </a:t>
            </a:r>
            <a:r>
              <a:rPr lang="en-US" altLang="zh-CN" dirty="0"/>
              <a:t>Score</a:t>
            </a:r>
            <a:endParaRPr lang="en-US" altLang="zh-CN" dirty="0"/>
          </a:p>
          <a:p>
            <a:pPr marL="360680" indent="-360680">
              <a:lnSpc>
                <a:spcPct val="110000"/>
              </a:lnSpc>
              <a:buClr>
                <a:srgbClr val="FF0000"/>
              </a:buClr>
              <a:buSzPct val="65000"/>
              <a:buFont typeface="Wingdings" panose="05000000000000000000" pitchFamily="2" charset="2"/>
              <a:buNone/>
            </a:pPr>
            <a:r>
              <a:rPr lang="en-US" altLang="zh-CN" dirty="0"/>
              <a:t>      </a:t>
            </a:r>
            <a:r>
              <a:rPr lang="zh-CN" altLang="en-US" dirty="0"/>
              <a:t>平凡函数依赖：</a:t>
            </a:r>
            <a:endParaRPr lang="zh-CN" altLang="en-US" dirty="0"/>
          </a:p>
          <a:p>
            <a:pPr marL="360680" indent="-360680">
              <a:lnSpc>
                <a:spcPct val="110000"/>
              </a:lnSpc>
              <a:buClr>
                <a:srgbClr val="FF0000"/>
              </a:buClr>
              <a:buSzPct val="65000"/>
              <a:buFont typeface="Wingdings" panose="05000000000000000000" pitchFamily="2" charset="2"/>
              <a:buNone/>
            </a:pPr>
            <a:r>
              <a:rPr lang="zh-CN" altLang="en-US" dirty="0"/>
              <a:t>			</a:t>
            </a:r>
            <a:r>
              <a:rPr lang="en-US" altLang="zh-CN" dirty="0"/>
              <a:t>(Sno, Cno) →</a:t>
            </a:r>
            <a:r>
              <a:rPr lang="en-US" altLang="zh-CN" baseline="46000" dirty="0"/>
              <a:t> </a:t>
            </a:r>
            <a:r>
              <a:rPr lang="en-US" altLang="zh-CN" dirty="0"/>
              <a:t>Sno </a:t>
            </a:r>
            <a:endParaRPr lang="en-US" altLang="zh-CN" dirty="0"/>
          </a:p>
          <a:p>
            <a:pPr marL="360680" indent="-360680">
              <a:lnSpc>
                <a:spcPct val="110000"/>
              </a:lnSpc>
              <a:buClr>
                <a:srgbClr val="FF0000"/>
              </a:buClr>
              <a:buSzPct val="65000"/>
              <a:buFont typeface="Wingdings" panose="05000000000000000000" pitchFamily="2" charset="2"/>
              <a:buNone/>
            </a:pPr>
            <a:r>
              <a:rPr lang="en-US" altLang="zh-CN" dirty="0"/>
              <a:t>			(Sno, Cno) → Cno</a:t>
            </a:r>
            <a:endParaRPr lang="en-US" altLang="zh-CN" dirty="0"/>
          </a:p>
          <a:p>
            <a:pPr marL="360680" indent="-360680">
              <a:lnSpc>
                <a:spcPct val="110000"/>
              </a:lnSpc>
              <a:spcBef>
                <a:spcPct val="35000"/>
              </a:spcBef>
              <a:buClr>
                <a:srgbClr val="FF0000"/>
              </a:buClr>
              <a:buSzPct val="65000"/>
              <a:buFont typeface="Wingdings" panose="05000000000000000000" pitchFamily="2" charset="2"/>
            </a:pPr>
            <a:r>
              <a:rPr lang="zh-CN" altLang="en-US" dirty="0"/>
              <a:t>平凡函数依赖没有反映新的语义。不特别声明，总是讨论非平凡函数依赖。</a:t>
            </a:r>
            <a:endParaRPr lang="zh-CN" altLang="en-US" dirty="0"/>
          </a:p>
        </p:txBody>
      </p:sp>
      <p:sp>
        <p:nvSpPr>
          <p:cNvPr id="153605" name="AutoShape 5">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Tree>
  </p:cSld>
  <p:clrMapOvr>
    <a:masterClrMapping/>
  </p:clrMapOvr>
  <p:transition>
    <p:random/>
    <p:sndAc>
      <p:stSnd>
        <p:snd r:embed="rId2"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idx="1"/>
          </p:nvPr>
        </p:nvSpPr>
        <p:spPr>
          <a:xfrm>
            <a:off x="107950" y="1017588"/>
            <a:ext cx="8991600" cy="5435600"/>
          </a:xfrm>
        </p:spPr>
        <p:txBody>
          <a:bodyPr vert="horz" wrap="square" lIns="91440" tIns="45720" rIns="91440" bIns="45720" anchor="t" anchorCtr="0"/>
          <a:p>
            <a:pPr marL="360680" indent="-360680"/>
            <a:r>
              <a:rPr lang="zh-CN" altLang="en-US" dirty="0">
                <a:solidFill>
                  <a:srgbClr val="010103"/>
                </a:solidFill>
              </a:rPr>
              <a:t>定义</a:t>
            </a:r>
            <a:endParaRPr lang="zh-CN" altLang="en-US" dirty="0">
              <a:solidFill>
                <a:srgbClr val="010103"/>
              </a:solidFill>
            </a:endParaRPr>
          </a:p>
          <a:p>
            <a:pPr marL="360680" indent="-360680">
              <a:lnSpc>
                <a:spcPct val="115000"/>
              </a:lnSpc>
              <a:buNone/>
            </a:pPr>
            <a:r>
              <a:rPr lang="zh-CN" altLang="en-US" dirty="0">
                <a:solidFill>
                  <a:srgbClr val="010103"/>
                </a:solidFill>
              </a:rPr>
              <a:t>       在关系模式</a:t>
            </a:r>
            <a:r>
              <a:rPr lang="en-US" altLang="zh-CN" dirty="0">
                <a:solidFill>
                  <a:srgbClr val="010103"/>
                </a:solidFill>
              </a:rPr>
              <a:t>R</a:t>
            </a:r>
            <a:r>
              <a:rPr lang="en-US" altLang="zh-CN" dirty="0">
                <a:solidFill>
                  <a:srgbClr val="010103"/>
                </a:solidFill>
                <a:ea typeface="Arial Unicode MS" pitchFamily="34" charset="-122"/>
              </a:rPr>
              <a:t>(U)</a:t>
            </a:r>
            <a:r>
              <a:rPr lang="zh-CN" altLang="en-US" dirty="0">
                <a:solidFill>
                  <a:srgbClr val="010103"/>
                </a:solidFill>
              </a:rPr>
              <a:t>中，</a:t>
            </a:r>
            <a:r>
              <a:rPr lang="en-US" altLang="zh-CN" dirty="0">
                <a:solidFill>
                  <a:srgbClr val="010103"/>
                </a:solidFill>
                <a:ea typeface="Arial Unicode MS" pitchFamily="34" charset="-122"/>
              </a:rPr>
              <a:t>X</a:t>
            </a:r>
            <a:r>
              <a:rPr lang="zh-CN" altLang="en-US" dirty="0">
                <a:solidFill>
                  <a:srgbClr val="010103"/>
                </a:solidFill>
                <a:ea typeface="Arial Unicode MS" pitchFamily="34" charset="-122"/>
              </a:rPr>
              <a:t>和</a:t>
            </a:r>
            <a:r>
              <a:rPr lang="en-US" altLang="zh-CN" dirty="0">
                <a:solidFill>
                  <a:srgbClr val="010103"/>
                </a:solidFill>
                <a:ea typeface="Arial Unicode MS" pitchFamily="34" charset="-122"/>
              </a:rPr>
              <a:t>Y</a:t>
            </a:r>
            <a:r>
              <a:rPr lang="zh-CN" altLang="en-US" dirty="0">
                <a:solidFill>
                  <a:srgbClr val="010103"/>
                </a:solidFill>
              </a:rPr>
              <a:t>是</a:t>
            </a:r>
            <a:r>
              <a:rPr lang="en-US" altLang="zh-CN" dirty="0">
                <a:solidFill>
                  <a:srgbClr val="010103"/>
                </a:solidFill>
                <a:ea typeface="Arial Unicode MS" pitchFamily="34" charset="-122"/>
              </a:rPr>
              <a:t>U</a:t>
            </a:r>
            <a:r>
              <a:rPr lang="zh-CN" altLang="en-US" dirty="0">
                <a:solidFill>
                  <a:srgbClr val="010103"/>
                </a:solidFill>
              </a:rPr>
              <a:t>的子集，若</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rPr>
              <a:t>，且不存在</a:t>
            </a:r>
            <a:r>
              <a:rPr lang="en-US" altLang="zh-CN" dirty="0">
                <a:solidFill>
                  <a:srgbClr val="010103"/>
                </a:solidFill>
                <a:ea typeface="Arial Unicode MS" pitchFamily="34" charset="-122"/>
              </a:rPr>
              <a:t>X</a:t>
            </a:r>
            <a:r>
              <a:rPr lang="en-US" altLang="zh-CN" dirty="0">
                <a:cs typeface="Arial" panose="020B0604020202020204" pitchFamily="34" charset="0"/>
              </a:rPr>
              <a:t>'</a:t>
            </a:r>
            <a:r>
              <a:rPr lang="en-US" altLang="zh-CN" dirty="0">
                <a:solidFill>
                  <a:srgbClr val="010103"/>
                </a:solidFill>
                <a:ea typeface="Arial Unicode MS" pitchFamily="34" charset="-122"/>
                <a:sym typeface="Symbol" panose="05050102010706020507" pitchFamily="18" charset="2"/>
              </a:rPr>
              <a:t></a:t>
            </a:r>
            <a:r>
              <a:rPr lang="en-US" altLang="zh-CN" dirty="0">
                <a:solidFill>
                  <a:srgbClr val="010103"/>
                </a:solidFill>
                <a:ea typeface="Arial Unicode MS" pitchFamily="34" charset="-122"/>
              </a:rPr>
              <a:t>X</a:t>
            </a:r>
            <a:r>
              <a:rPr lang="zh-CN" altLang="en-US" dirty="0">
                <a:solidFill>
                  <a:srgbClr val="010103"/>
                </a:solidFill>
              </a:rPr>
              <a:t>，使</a:t>
            </a:r>
            <a:r>
              <a:rPr lang="en-US" altLang="zh-CN" dirty="0">
                <a:solidFill>
                  <a:srgbClr val="010103"/>
                </a:solidFill>
                <a:ea typeface="Arial Unicode MS" pitchFamily="34" charset="-122"/>
              </a:rPr>
              <a:t>X</a:t>
            </a:r>
            <a:r>
              <a:rPr lang="en-US" altLang="zh-CN" dirty="0">
                <a:cs typeface="Arial" panose="020B0604020202020204" pitchFamily="34" charset="0"/>
              </a:rPr>
              <a:t>'</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rPr>
              <a:t>，则称</a:t>
            </a:r>
            <a:r>
              <a:rPr lang="en-US" altLang="zh-CN" dirty="0">
                <a:solidFill>
                  <a:srgbClr val="FF0000"/>
                </a:solidFill>
                <a:ea typeface="Arial Unicode MS" pitchFamily="34" charset="-122"/>
              </a:rPr>
              <a:t>Y</a:t>
            </a:r>
            <a:r>
              <a:rPr lang="zh-CN" altLang="en-US" dirty="0">
                <a:solidFill>
                  <a:srgbClr val="FF0000"/>
                </a:solidFill>
              </a:rPr>
              <a:t>完全函数依赖于</a:t>
            </a:r>
            <a:r>
              <a:rPr lang="en-US" altLang="zh-CN" dirty="0">
                <a:solidFill>
                  <a:srgbClr val="FF0000"/>
                </a:solidFill>
                <a:ea typeface="Arial Unicode MS" pitchFamily="34" charset="-122"/>
              </a:rPr>
              <a:t>X</a:t>
            </a:r>
            <a:r>
              <a:rPr lang="en-US" altLang="zh-CN" dirty="0">
                <a:solidFill>
                  <a:srgbClr val="0000CC"/>
                </a:solidFill>
              </a:rPr>
              <a:t> </a:t>
            </a:r>
            <a:r>
              <a:rPr lang="zh-CN" altLang="en-US" dirty="0">
                <a:solidFill>
                  <a:srgbClr val="010103"/>
                </a:solidFill>
              </a:rPr>
              <a:t>，记作</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ea typeface="Arial Unicode MS" pitchFamily="34" charset="-122"/>
              </a:rPr>
              <a:t>。</a:t>
            </a:r>
            <a:r>
              <a:rPr lang="zh-CN" altLang="en-US" dirty="0">
                <a:solidFill>
                  <a:srgbClr val="010103"/>
                </a:solidFill>
              </a:rPr>
              <a:t>否则，就是</a:t>
            </a:r>
            <a:r>
              <a:rPr lang="zh-CN" altLang="en-US" dirty="0">
                <a:solidFill>
                  <a:srgbClr val="FF0000"/>
                </a:solidFill>
              </a:rPr>
              <a:t>部分函数依赖</a:t>
            </a:r>
            <a:r>
              <a:rPr lang="zh-CN" altLang="en-US" dirty="0">
                <a:solidFill>
                  <a:srgbClr val="010103"/>
                </a:solidFill>
              </a:rPr>
              <a:t>， 记作</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ea typeface="Arial Unicode MS" pitchFamily="34" charset="-122"/>
              </a:rPr>
              <a:t>。</a:t>
            </a:r>
            <a:endParaRPr lang="zh-CN" altLang="en-US" dirty="0">
              <a:solidFill>
                <a:srgbClr val="010103"/>
              </a:solidFill>
              <a:ea typeface="Arial Unicode MS" pitchFamily="34" charset="-122"/>
            </a:endParaRPr>
          </a:p>
          <a:p>
            <a:pPr marL="360680" indent="-360680"/>
            <a:r>
              <a:rPr lang="zh-CN" altLang="en-US" dirty="0"/>
              <a:t>举例</a:t>
            </a:r>
            <a:endParaRPr lang="zh-CN" altLang="en-US" dirty="0"/>
          </a:p>
          <a:p>
            <a:pPr marL="360680" indent="-360680">
              <a:buNone/>
            </a:pPr>
            <a:r>
              <a:rPr lang="zh-CN" altLang="en-US" dirty="0"/>
              <a:t>        在关系</a:t>
            </a:r>
            <a:r>
              <a:rPr lang="en-US" altLang="zh-CN" dirty="0"/>
              <a:t>SC(Sno, Cno, Score)</a:t>
            </a:r>
            <a:r>
              <a:rPr lang="zh-CN" altLang="en-US" dirty="0"/>
              <a:t>中，</a:t>
            </a:r>
            <a:endParaRPr lang="zh-CN" altLang="en-US" dirty="0"/>
          </a:p>
          <a:p>
            <a:pPr marL="360680" indent="-360680">
              <a:buNone/>
            </a:pPr>
            <a:r>
              <a:rPr lang="zh-CN" altLang="en-US" dirty="0"/>
              <a:t>     由于：</a:t>
            </a:r>
            <a:r>
              <a:rPr lang="en-US" altLang="zh-CN" dirty="0"/>
              <a:t>Sno →Score </a:t>
            </a:r>
            <a:r>
              <a:rPr lang="zh-CN" altLang="en-US" dirty="0"/>
              <a:t>，</a:t>
            </a:r>
            <a:r>
              <a:rPr lang="en-US" altLang="zh-CN" dirty="0"/>
              <a:t>Cno → Score </a:t>
            </a:r>
            <a:endParaRPr lang="en-US" altLang="zh-CN" dirty="0"/>
          </a:p>
          <a:p>
            <a:pPr marL="360680" indent="-360680">
              <a:buNone/>
            </a:pPr>
            <a:r>
              <a:rPr lang="en-US" altLang="zh-CN" dirty="0"/>
              <a:t>     </a:t>
            </a:r>
            <a:r>
              <a:rPr lang="zh-CN" altLang="en-US" dirty="0"/>
              <a:t>因此：</a:t>
            </a:r>
            <a:r>
              <a:rPr lang="en-US" altLang="zh-CN" dirty="0">
                <a:solidFill>
                  <a:srgbClr val="0000CC"/>
                </a:solidFill>
              </a:rPr>
              <a:t>(Sno, Cno) →</a:t>
            </a:r>
            <a:r>
              <a:rPr lang="en-US" altLang="zh-CN" baseline="46000" dirty="0">
                <a:solidFill>
                  <a:srgbClr val="0000CC"/>
                </a:solidFill>
              </a:rPr>
              <a:t> </a:t>
            </a:r>
            <a:r>
              <a:rPr lang="en-US" altLang="zh-CN" dirty="0">
                <a:solidFill>
                  <a:srgbClr val="0000CC"/>
                </a:solidFill>
              </a:rPr>
              <a:t>Score</a:t>
            </a:r>
            <a:endParaRPr lang="en-US" altLang="zh-CN" dirty="0">
              <a:solidFill>
                <a:srgbClr val="0000CC"/>
              </a:solidFill>
            </a:endParaRPr>
          </a:p>
        </p:txBody>
      </p:sp>
      <p:sp>
        <p:nvSpPr>
          <p:cNvPr id="251907" name="Rectangle 3"/>
          <p:cNvSpPr>
            <a:spLocks noGrp="1" noChangeArrowheads="1"/>
          </p:cNvSpPr>
          <p:nvPr>
            <p:ph type="title"/>
          </p:nvPr>
        </p:nvSpPr>
        <p:spPr>
          <a:xfrm>
            <a:off x="250825" y="0"/>
            <a:ext cx="8893175" cy="8382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、完全函数依赖与部分函数依赖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35844" name="Group 4"/>
          <p:cNvGrpSpPr/>
          <p:nvPr/>
        </p:nvGrpSpPr>
        <p:grpSpPr>
          <a:xfrm>
            <a:off x="6084888" y="2727325"/>
            <a:ext cx="503237" cy="1062038"/>
            <a:chOff x="3923" y="1661"/>
            <a:chExt cx="317" cy="669"/>
          </a:xfrm>
        </p:grpSpPr>
        <p:sp>
          <p:nvSpPr>
            <p:cNvPr id="35850" name="Text Box 5"/>
            <p:cNvSpPr txBox="1"/>
            <p:nvPr/>
          </p:nvSpPr>
          <p:spPr>
            <a:xfrm>
              <a:off x="4013" y="1661"/>
              <a:ext cx="227" cy="365"/>
            </a:xfrm>
            <a:prstGeom prst="rect">
              <a:avLst/>
            </a:prstGeom>
            <a:noFill/>
            <a:ln w="38100">
              <a:noFill/>
            </a:ln>
          </p:spPr>
          <p:txBody>
            <a:bodyPr>
              <a:spAutoFit/>
            </a:bodyPr>
            <a:p>
              <a:r>
                <a:rPr lang="en-US" altLang="zh-CN" sz="3200" dirty="0">
                  <a:latin typeface="Arial" panose="020B0604020202020204" pitchFamily="34" charset="0"/>
                  <a:ea typeface="宋体" panose="02010600030101010101" pitchFamily="2" charset="-122"/>
                </a:rPr>
                <a:t>f</a:t>
              </a:r>
              <a:endParaRPr lang="en-US" altLang="zh-CN" sz="3200" dirty="0">
                <a:latin typeface="Arial" panose="020B0604020202020204" pitchFamily="34" charset="0"/>
                <a:ea typeface="宋体" panose="02010600030101010101" pitchFamily="2" charset="-122"/>
              </a:endParaRPr>
            </a:p>
          </p:txBody>
        </p:sp>
        <p:sp>
          <p:nvSpPr>
            <p:cNvPr id="35851" name="Text Box 6"/>
            <p:cNvSpPr txBox="1"/>
            <p:nvPr/>
          </p:nvSpPr>
          <p:spPr>
            <a:xfrm>
              <a:off x="3923" y="1965"/>
              <a:ext cx="227" cy="365"/>
            </a:xfrm>
            <a:prstGeom prst="rect">
              <a:avLst/>
            </a:prstGeom>
            <a:noFill/>
            <a:ln w="38100">
              <a:noFill/>
            </a:ln>
          </p:spPr>
          <p:txBody>
            <a:bodyPr>
              <a:spAutoFit/>
            </a:bodyPr>
            <a:p>
              <a:r>
                <a:rPr lang="en-US" altLang="zh-CN" sz="3200" dirty="0">
                  <a:latin typeface="Arial" panose="020B0604020202020204" pitchFamily="34" charset="0"/>
                  <a:ea typeface="宋体" panose="02010600030101010101" pitchFamily="2" charset="-122"/>
                </a:rPr>
                <a:t>p</a:t>
              </a:r>
              <a:endParaRPr lang="en-US" altLang="zh-CN" sz="3200" dirty="0">
                <a:latin typeface="Arial" panose="020B0604020202020204" pitchFamily="34" charset="0"/>
                <a:ea typeface="宋体" panose="02010600030101010101" pitchFamily="2" charset="-122"/>
              </a:endParaRPr>
            </a:p>
          </p:txBody>
        </p:sp>
      </p:grpSp>
      <p:grpSp>
        <p:nvGrpSpPr>
          <p:cNvPr id="35845" name="Group 7"/>
          <p:cNvGrpSpPr/>
          <p:nvPr/>
        </p:nvGrpSpPr>
        <p:grpSpPr>
          <a:xfrm>
            <a:off x="3276600" y="5357813"/>
            <a:ext cx="3549650" cy="857250"/>
            <a:chOff x="2096" y="3266"/>
            <a:chExt cx="2236" cy="540"/>
          </a:xfrm>
        </p:grpSpPr>
        <p:sp>
          <p:nvSpPr>
            <p:cNvPr id="35847" name="Text Box 8"/>
            <p:cNvSpPr txBox="1"/>
            <p:nvPr/>
          </p:nvSpPr>
          <p:spPr>
            <a:xfrm>
              <a:off x="2966" y="3441"/>
              <a:ext cx="227" cy="365"/>
            </a:xfrm>
            <a:prstGeom prst="rect">
              <a:avLst/>
            </a:prstGeom>
            <a:noFill/>
            <a:ln w="38100">
              <a:noFill/>
            </a:ln>
          </p:spPr>
          <p:txBody>
            <a:bodyPr>
              <a:spAutoFit/>
            </a:bodyPr>
            <a:p>
              <a:r>
                <a:rPr lang="en-US" altLang="zh-CN" sz="3200" dirty="0">
                  <a:solidFill>
                    <a:srgbClr val="0000CC"/>
                  </a:solidFill>
                  <a:latin typeface="Arial" panose="020B0604020202020204" pitchFamily="34" charset="0"/>
                  <a:ea typeface="宋体" panose="02010600030101010101" pitchFamily="2" charset="-122"/>
                </a:rPr>
                <a:t>f</a:t>
              </a:r>
              <a:endParaRPr lang="en-US" altLang="zh-CN" sz="3200" dirty="0">
                <a:solidFill>
                  <a:srgbClr val="0000CC"/>
                </a:solidFill>
                <a:latin typeface="Arial" panose="020B0604020202020204" pitchFamily="34" charset="0"/>
                <a:ea typeface="宋体" panose="02010600030101010101" pitchFamily="2" charset="-122"/>
              </a:endParaRPr>
            </a:p>
          </p:txBody>
        </p:sp>
        <p:sp>
          <p:nvSpPr>
            <p:cNvPr id="35848" name="Line 9"/>
            <p:cNvSpPr/>
            <p:nvPr/>
          </p:nvSpPr>
          <p:spPr>
            <a:xfrm flipH="1">
              <a:off x="2096" y="3266"/>
              <a:ext cx="143" cy="214"/>
            </a:xfrm>
            <a:prstGeom prst="line">
              <a:avLst/>
            </a:prstGeom>
            <a:ln w="38100" cap="flat" cmpd="sng">
              <a:solidFill>
                <a:srgbClr val="000000"/>
              </a:solidFill>
              <a:prstDash val="solid"/>
              <a:headEnd type="none" w="med" len="med"/>
              <a:tailEnd type="none" w="med" len="med"/>
            </a:ln>
          </p:spPr>
        </p:sp>
        <p:sp>
          <p:nvSpPr>
            <p:cNvPr id="35849" name="Line 10"/>
            <p:cNvSpPr/>
            <p:nvPr/>
          </p:nvSpPr>
          <p:spPr>
            <a:xfrm flipH="1">
              <a:off x="4189" y="3266"/>
              <a:ext cx="143" cy="214"/>
            </a:xfrm>
            <a:prstGeom prst="line">
              <a:avLst/>
            </a:prstGeom>
            <a:ln w="38100" cap="flat" cmpd="sng">
              <a:solidFill>
                <a:srgbClr val="000000"/>
              </a:solidFill>
              <a:prstDash val="solid"/>
              <a:headEnd type="none" w="med" len="med"/>
              <a:tailEnd type="none" w="med" len="med"/>
            </a:ln>
          </p:spPr>
        </p:sp>
      </p:grpSp>
      <p:sp>
        <p:nvSpPr>
          <p:cNvPr id="251915" name="AutoShape 11">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Tree>
  </p:cSld>
  <p:clrMapOvr>
    <a:masterClrMapping/>
  </p:clrMapOvr>
  <p:transition>
    <p:random/>
    <p:sndAc>
      <p:stSnd>
        <p:snd r:embed="rId2" name="CAMERA.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idx="1"/>
          </p:nvPr>
        </p:nvSpPr>
        <p:spPr>
          <a:xfrm>
            <a:off x="107950" y="1052513"/>
            <a:ext cx="8991600" cy="5273675"/>
          </a:xfrm>
        </p:spPr>
        <p:txBody>
          <a:bodyPr vert="horz" wrap="square" lIns="91440" tIns="45720" rIns="91440" bIns="45720" anchor="t" anchorCtr="0"/>
          <a:p>
            <a:pPr marL="360680" indent="-360680"/>
            <a:r>
              <a:rPr lang="zh-CN" altLang="en-US" dirty="0">
                <a:solidFill>
                  <a:srgbClr val="010103"/>
                </a:solidFill>
              </a:rPr>
              <a:t>定义</a:t>
            </a:r>
            <a:endParaRPr lang="zh-CN" altLang="en-US" dirty="0">
              <a:solidFill>
                <a:srgbClr val="010103"/>
              </a:solidFill>
            </a:endParaRPr>
          </a:p>
          <a:p>
            <a:pPr marL="360680" indent="-360680">
              <a:buNone/>
            </a:pPr>
            <a:r>
              <a:rPr lang="zh-CN" altLang="en-US" dirty="0">
                <a:solidFill>
                  <a:srgbClr val="010103"/>
                </a:solidFill>
              </a:rPr>
              <a:t>       在关系模式</a:t>
            </a:r>
            <a:r>
              <a:rPr lang="en-US" altLang="zh-CN" dirty="0">
                <a:solidFill>
                  <a:srgbClr val="010103"/>
                </a:solidFill>
                <a:ea typeface="Arial Unicode MS" pitchFamily="34" charset="-122"/>
              </a:rPr>
              <a:t>R(U)</a:t>
            </a:r>
            <a:r>
              <a:rPr lang="zh-CN" altLang="en-US" dirty="0">
                <a:solidFill>
                  <a:srgbClr val="010103"/>
                </a:solidFill>
              </a:rPr>
              <a:t>中，</a:t>
            </a:r>
            <a:r>
              <a:rPr lang="en-US" altLang="zh-CN" dirty="0">
                <a:solidFill>
                  <a:srgbClr val="010103"/>
                </a:solidFill>
                <a:ea typeface="Arial Unicode MS" pitchFamily="34" charset="-122"/>
              </a:rPr>
              <a:t>X</a:t>
            </a:r>
            <a:r>
              <a:rPr lang="zh-CN" altLang="en-US" dirty="0">
                <a:solidFill>
                  <a:srgbClr val="010103"/>
                </a:solidFill>
                <a:ea typeface="Arial Unicode MS" pitchFamily="34" charset="-122"/>
              </a:rPr>
              <a:t>和</a:t>
            </a:r>
            <a:r>
              <a:rPr lang="en-US" altLang="zh-CN" dirty="0">
                <a:solidFill>
                  <a:srgbClr val="010103"/>
                </a:solidFill>
                <a:ea typeface="Arial Unicode MS" pitchFamily="34" charset="-122"/>
              </a:rPr>
              <a:t>Y</a:t>
            </a:r>
            <a:r>
              <a:rPr lang="zh-CN" altLang="en-US" dirty="0">
                <a:solidFill>
                  <a:srgbClr val="010103"/>
                </a:solidFill>
              </a:rPr>
              <a:t>是</a:t>
            </a:r>
            <a:r>
              <a:rPr lang="en-US" altLang="zh-CN" dirty="0">
                <a:solidFill>
                  <a:srgbClr val="010103"/>
                </a:solidFill>
                <a:ea typeface="Arial Unicode MS" pitchFamily="34" charset="-122"/>
              </a:rPr>
              <a:t>U</a:t>
            </a:r>
            <a:r>
              <a:rPr lang="zh-CN" altLang="en-US" dirty="0">
                <a:solidFill>
                  <a:srgbClr val="010103"/>
                </a:solidFill>
              </a:rPr>
              <a:t>的子集，若</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rPr>
              <a:t>，</a:t>
            </a:r>
            <a:r>
              <a:rPr lang="en-US" altLang="zh-CN" dirty="0">
                <a:solidFill>
                  <a:srgbClr val="010103"/>
                </a:solidFill>
                <a:ea typeface="Arial Unicode MS" pitchFamily="34" charset="-122"/>
              </a:rPr>
              <a:t>Y </a:t>
            </a:r>
            <a:r>
              <a:rPr lang="en-US" altLang="zh-CN" dirty="0">
                <a:sym typeface="Symbol" panose="05050102010706020507" pitchFamily="18" charset="2"/>
              </a:rPr>
              <a:t></a:t>
            </a:r>
            <a:r>
              <a:rPr lang="en-US" altLang="zh-CN" dirty="0">
                <a:solidFill>
                  <a:srgbClr val="010103"/>
                </a:solidFill>
                <a:sym typeface="Symbol" panose="05050102010706020507" pitchFamily="18" charset="2"/>
              </a:rPr>
              <a:t> </a:t>
            </a:r>
            <a:r>
              <a:rPr lang="en-US" altLang="zh-CN" dirty="0">
                <a:solidFill>
                  <a:srgbClr val="010103"/>
                </a:solidFill>
                <a:ea typeface="Arial Unicode MS" pitchFamily="34" charset="-122"/>
              </a:rPr>
              <a:t>X</a:t>
            </a:r>
            <a:r>
              <a:rPr lang="zh-CN" altLang="en-US" dirty="0">
                <a:ea typeface="Arial Unicode MS" pitchFamily="34" charset="-122"/>
              </a:rPr>
              <a:t>，</a:t>
            </a:r>
            <a:r>
              <a:rPr lang="en-US" altLang="zh-CN" dirty="0">
                <a:solidFill>
                  <a:srgbClr val="010103"/>
                </a:solidFill>
                <a:ea typeface="Arial Unicode MS" pitchFamily="34" charset="-122"/>
              </a:rPr>
              <a:t>Y</a:t>
            </a:r>
            <a:r>
              <a:rPr lang="en-US" altLang="zh-CN" dirty="0">
                <a:solidFill>
                  <a:srgbClr val="010103"/>
                </a:solidFill>
              </a:rPr>
              <a:t>→Z</a:t>
            </a:r>
            <a:r>
              <a:rPr lang="zh-CN" altLang="en-US" dirty="0">
                <a:solidFill>
                  <a:srgbClr val="010103"/>
                </a:solidFill>
              </a:rPr>
              <a:t>，并且</a:t>
            </a:r>
            <a:r>
              <a:rPr lang="en-US" altLang="zh-CN" dirty="0">
                <a:solidFill>
                  <a:srgbClr val="010103"/>
                </a:solidFill>
                <a:ea typeface="Arial Unicode MS" pitchFamily="34" charset="-122"/>
              </a:rPr>
              <a:t>Y</a:t>
            </a:r>
            <a:r>
              <a:rPr lang="en-US" altLang="zh-CN" dirty="0">
                <a:solidFill>
                  <a:srgbClr val="010103"/>
                </a:solidFill>
              </a:rPr>
              <a:t>→</a:t>
            </a:r>
            <a:r>
              <a:rPr lang="en-US" altLang="zh-CN" dirty="0">
                <a:solidFill>
                  <a:srgbClr val="010103"/>
                </a:solidFill>
                <a:ea typeface="Arial Unicode MS" pitchFamily="34" charset="-122"/>
              </a:rPr>
              <a:t>X</a:t>
            </a:r>
            <a:r>
              <a:rPr lang="zh-CN" altLang="en-US" dirty="0">
                <a:solidFill>
                  <a:srgbClr val="010103"/>
                </a:solidFill>
              </a:rPr>
              <a:t>，则称  </a:t>
            </a:r>
            <a:r>
              <a:rPr lang="en-US" altLang="zh-CN" dirty="0">
                <a:solidFill>
                  <a:srgbClr val="FF0000"/>
                </a:solidFill>
                <a:ea typeface="Arial Unicode MS" pitchFamily="34" charset="-122"/>
              </a:rPr>
              <a:t>Z </a:t>
            </a:r>
            <a:r>
              <a:rPr lang="zh-CN" altLang="en-US" dirty="0">
                <a:solidFill>
                  <a:srgbClr val="FF0000"/>
                </a:solidFill>
              </a:rPr>
              <a:t>传递函数依赖于 </a:t>
            </a:r>
            <a:r>
              <a:rPr lang="en-US" altLang="zh-CN" dirty="0">
                <a:solidFill>
                  <a:srgbClr val="FF0000"/>
                </a:solidFill>
                <a:ea typeface="Arial Unicode MS" pitchFamily="34" charset="-122"/>
              </a:rPr>
              <a:t>X</a:t>
            </a:r>
            <a:r>
              <a:rPr lang="en-US" altLang="zh-CN" dirty="0">
                <a:solidFill>
                  <a:srgbClr val="0000CC"/>
                </a:solidFill>
              </a:rPr>
              <a:t> </a:t>
            </a:r>
            <a:r>
              <a:rPr lang="zh-CN" altLang="en-US" dirty="0">
                <a:solidFill>
                  <a:srgbClr val="010103"/>
                </a:solidFill>
              </a:rPr>
              <a:t>。</a:t>
            </a:r>
            <a:endParaRPr lang="zh-CN" altLang="en-US" dirty="0">
              <a:solidFill>
                <a:srgbClr val="010103"/>
              </a:solidFill>
            </a:endParaRPr>
          </a:p>
          <a:p>
            <a:pPr marL="360680" indent="-360680">
              <a:spcBef>
                <a:spcPts val="1800"/>
              </a:spcBef>
            </a:pPr>
            <a:r>
              <a:rPr lang="zh-CN" altLang="en-US" dirty="0">
                <a:solidFill>
                  <a:srgbClr val="010103"/>
                </a:solidFill>
              </a:rPr>
              <a:t>举例</a:t>
            </a:r>
            <a:endParaRPr lang="zh-CN" altLang="en-US" dirty="0">
              <a:solidFill>
                <a:srgbClr val="010103"/>
              </a:solidFill>
            </a:endParaRPr>
          </a:p>
          <a:p>
            <a:pPr marL="360680" indent="-360680">
              <a:lnSpc>
                <a:spcPct val="110000"/>
              </a:lnSpc>
              <a:buNone/>
            </a:pPr>
            <a:r>
              <a:rPr lang="zh-CN" altLang="en-US" dirty="0"/>
              <a:t>        在关系 </a:t>
            </a:r>
            <a:r>
              <a:rPr lang="en-US" altLang="zh-CN" dirty="0"/>
              <a:t>Std(Sno, Sdept, Mname)</a:t>
            </a:r>
            <a:r>
              <a:rPr lang="zh-CN" altLang="en-US" dirty="0"/>
              <a:t>中，有：</a:t>
            </a:r>
            <a:r>
              <a:rPr lang="en-US" altLang="zh-CN" dirty="0"/>
              <a:t>Sno → Sdept</a:t>
            </a:r>
            <a:r>
              <a:rPr lang="zh-CN" altLang="en-US" dirty="0"/>
              <a:t>，</a:t>
            </a:r>
            <a:r>
              <a:rPr lang="en-US" altLang="zh-CN" dirty="0"/>
              <a:t>Sdept → Mname</a:t>
            </a:r>
            <a:endParaRPr lang="en-US" altLang="zh-CN" dirty="0"/>
          </a:p>
          <a:p>
            <a:pPr marL="360680" indent="-360680">
              <a:lnSpc>
                <a:spcPct val="110000"/>
              </a:lnSpc>
              <a:buNone/>
            </a:pPr>
            <a:r>
              <a:rPr lang="en-US" altLang="zh-CN" dirty="0"/>
              <a:t>    Mname</a:t>
            </a:r>
            <a:r>
              <a:rPr lang="zh-CN" altLang="en-US" dirty="0"/>
              <a:t>传递函数依赖于</a:t>
            </a:r>
            <a:r>
              <a:rPr lang="en-US" altLang="zh-CN" dirty="0"/>
              <a:t>Sno</a:t>
            </a:r>
            <a:r>
              <a:rPr lang="zh-CN" altLang="en-US" dirty="0"/>
              <a:t>。</a:t>
            </a:r>
            <a:endParaRPr lang="zh-CN" altLang="en-US" dirty="0">
              <a:solidFill>
                <a:srgbClr val="010103"/>
              </a:solidFill>
            </a:endParaRPr>
          </a:p>
          <a:p>
            <a:pPr marL="360680" indent="-360680"/>
            <a:endParaRPr lang="en-US" altLang="zh-CN" dirty="0">
              <a:solidFill>
                <a:srgbClr val="010103"/>
              </a:solidFill>
            </a:endParaRPr>
          </a:p>
        </p:txBody>
      </p:sp>
      <p:sp>
        <p:nvSpPr>
          <p:cNvPr id="1638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、传递函数依赖</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36868" name="Group 7"/>
          <p:cNvGrpSpPr/>
          <p:nvPr/>
        </p:nvGrpSpPr>
        <p:grpSpPr>
          <a:xfrm>
            <a:off x="3032125" y="2305050"/>
            <a:ext cx="4187825" cy="411163"/>
            <a:chOff x="2018" y="1525"/>
            <a:chExt cx="2638" cy="259"/>
          </a:xfrm>
        </p:grpSpPr>
        <p:sp>
          <p:nvSpPr>
            <p:cNvPr id="36870" name="Line 5"/>
            <p:cNvSpPr/>
            <p:nvPr/>
          </p:nvSpPr>
          <p:spPr>
            <a:xfrm flipH="1">
              <a:off x="2018" y="1570"/>
              <a:ext cx="143" cy="214"/>
            </a:xfrm>
            <a:prstGeom prst="line">
              <a:avLst/>
            </a:prstGeom>
            <a:ln w="38100" cap="flat" cmpd="sng">
              <a:solidFill>
                <a:srgbClr val="000000"/>
              </a:solidFill>
              <a:prstDash val="solid"/>
              <a:headEnd type="none" w="med" len="med"/>
              <a:tailEnd type="none" w="med" len="med"/>
            </a:ln>
          </p:spPr>
        </p:sp>
        <p:sp>
          <p:nvSpPr>
            <p:cNvPr id="36871" name="Line 6"/>
            <p:cNvSpPr/>
            <p:nvPr/>
          </p:nvSpPr>
          <p:spPr>
            <a:xfrm flipH="1">
              <a:off x="4513" y="1525"/>
              <a:ext cx="143" cy="214"/>
            </a:xfrm>
            <a:prstGeom prst="line">
              <a:avLst/>
            </a:prstGeom>
            <a:ln w="38100" cap="flat" cmpd="sng">
              <a:solidFill>
                <a:srgbClr val="000000"/>
              </a:solidFill>
              <a:prstDash val="solid"/>
              <a:headEnd type="none" w="med" len="med"/>
              <a:tailEnd type="none" w="med" len="med"/>
            </a:ln>
          </p:spPr>
        </p:sp>
      </p:grpSp>
      <p:sp>
        <p:nvSpPr>
          <p:cNvPr id="163849" name="AutoShape 9">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3600" b="1" i="0" u="none" strike="noStrike" kern="1200" cap="none" spc="0" normalizeH="0" baseline="0" noProof="0">
              <a:ln>
                <a:noFill/>
              </a:ln>
              <a:solidFill>
                <a:srgbClr val="000000"/>
              </a:solidFill>
              <a:effectLst/>
              <a:uLnTx/>
              <a:uFillTx/>
              <a:latin typeface="Arial" panose="020B0604020202020204" pitchFamily="34" charset="0"/>
              <a:ea typeface="幼圆" panose="02010509060101010101" pitchFamily="49" charset="-122"/>
              <a:cs typeface="+mn-cs"/>
            </a:endParaRPr>
          </a:p>
        </p:txBody>
      </p:sp>
    </p:spTree>
  </p:cSld>
  <p:clrMapOvr>
    <a:masterClrMapping/>
  </p:clrMapOvr>
  <p:transition>
    <p:random/>
    <p:sndAc>
      <p:stSnd>
        <p:snd r:embed="rId2"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idx="1"/>
          </p:nvPr>
        </p:nvSpPr>
        <p:spPr>
          <a:xfrm>
            <a:off x="138113" y="1143000"/>
            <a:ext cx="8991600" cy="5273675"/>
          </a:xfrm>
        </p:spPr>
        <p:txBody>
          <a:bodyPr vert="horz" wrap="square" lIns="91440" tIns="45720" rIns="91440" bIns="45720" anchor="t" anchorCtr="0"/>
          <a:p>
            <a:pPr marL="360680" indent="-360680"/>
            <a:r>
              <a:rPr lang="zh-CN" altLang="en-US" dirty="0">
                <a:solidFill>
                  <a:srgbClr val="010103"/>
                </a:solidFill>
              </a:rPr>
              <a:t>定义</a:t>
            </a:r>
            <a:endParaRPr lang="zh-CN" altLang="en-US" dirty="0">
              <a:solidFill>
                <a:srgbClr val="010103"/>
              </a:solidFill>
            </a:endParaRPr>
          </a:p>
          <a:p>
            <a:pPr marL="360680" indent="-360680">
              <a:lnSpc>
                <a:spcPct val="110000"/>
              </a:lnSpc>
              <a:buNone/>
            </a:pPr>
            <a:r>
              <a:rPr lang="zh-CN" altLang="en-US" dirty="0">
                <a:solidFill>
                  <a:srgbClr val="010103"/>
                </a:solidFill>
              </a:rPr>
              <a:t>          设有关系模式</a:t>
            </a:r>
            <a:r>
              <a:rPr lang="en-US" altLang="zh-CN" dirty="0">
                <a:solidFill>
                  <a:srgbClr val="010103"/>
                </a:solidFill>
                <a:ea typeface="Arial Unicode MS" pitchFamily="34" charset="-122"/>
              </a:rPr>
              <a:t>R&lt;U, F&gt;</a:t>
            </a:r>
            <a:r>
              <a:rPr lang="zh-CN" altLang="en-US" dirty="0">
                <a:solidFill>
                  <a:srgbClr val="010103"/>
                </a:solidFill>
              </a:rPr>
              <a:t>，</a:t>
            </a:r>
            <a:r>
              <a:rPr lang="en-US" altLang="zh-CN" dirty="0">
                <a:solidFill>
                  <a:srgbClr val="010103"/>
                </a:solidFill>
                <a:ea typeface="Arial Unicode MS" pitchFamily="34" charset="-122"/>
              </a:rPr>
              <a:t>F</a:t>
            </a:r>
            <a:r>
              <a:rPr lang="zh-CN" altLang="en-US" dirty="0">
                <a:solidFill>
                  <a:srgbClr val="010103"/>
                </a:solidFill>
              </a:rPr>
              <a:t>是</a:t>
            </a:r>
            <a:r>
              <a:rPr lang="en-US" altLang="zh-CN" dirty="0">
                <a:solidFill>
                  <a:srgbClr val="010103"/>
                </a:solidFill>
                <a:ea typeface="Arial Unicode MS" pitchFamily="34" charset="-122"/>
              </a:rPr>
              <a:t>R</a:t>
            </a:r>
            <a:r>
              <a:rPr lang="zh-CN" altLang="en-US" dirty="0">
                <a:solidFill>
                  <a:srgbClr val="010103"/>
                </a:solidFill>
              </a:rPr>
              <a:t>的函数依赖集，</a:t>
            </a:r>
            <a:r>
              <a:rPr lang="en-US" altLang="zh-CN" dirty="0">
                <a:solidFill>
                  <a:srgbClr val="010103"/>
                </a:solidFill>
                <a:ea typeface="Arial Unicode MS" pitchFamily="34" charset="-122"/>
              </a:rPr>
              <a:t>K</a:t>
            </a:r>
            <a:r>
              <a:rPr lang="zh-CN" altLang="en-US" dirty="0">
                <a:solidFill>
                  <a:srgbClr val="010103"/>
                </a:solidFill>
              </a:rPr>
              <a:t>是</a:t>
            </a:r>
            <a:r>
              <a:rPr lang="en-US" altLang="zh-CN" dirty="0">
                <a:solidFill>
                  <a:srgbClr val="010103"/>
                </a:solidFill>
                <a:ea typeface="Arial Unicode MS" pitchFamily="34" charset="-122"/>
              </a:rPr>
              <a:t>U</a:t>
            </a:r>
            <a:r>
              <a:rPr lang="zh-CN" altLang="en-US" dirty="0">
                <a:solidFill>
                  <a:srgbClr val="010103"/>
                </a:solidFill>
              </a:rPr>
              <a:t>的一个子集。若</a:t>
            </a:r>
            <a:r>
              <a:rPr lang="en-US" altLang="zh-CN" dirty="0">
                <a:solidFill>
                  <a:srgbClr val="010103"/>
                </a:solidFill>
                <a:ea typeface="Arial Unicode MS" pitchFamily="34" charset="-122"/>
              </a:rPr>
              <a:t>U</a:t>
            </a:r>
            <a:r>
              <a:rPr lang="zh-CN" altLang="en-US" dirty="0">
                <a:solidFill>
                  <a:srgbClr val="010103"/>
                </a:solidFill>
              </a:rPr>
              <a:t>对</a:t>
            </a:r>
            <a:r>
              <a:rPr lang="en-US" altLang="zh-CN" dirty="0">
                <a:solidFill>
                  <a:srgbClr val="010103"/>
                </a:solidFill>
                <a:ea typeface="Arial Unicode MS" pitchFamily="34" charset="-122"/>
              </a:rPr>
              <a:t>K</a:t>
            </a:r>
            <a:r>
              <a:rPr lang="zh-CN" altLang="en-US" dirty="0">
                <a:solidFill>
                  <a:srgbClr val="010103"/>
                </a:solidFill>
              </a:rPr>
              <a:t>完全函数依赖，则</a:t>
            </a:r>
            <a:r>
              <a:rPr lang="zh-CN" altLang="en-US" dirty="0">
                <a:solidFill>
                  <a:srgbClr val="010103"/>
                </a:solidFill>
                <a:ea typeface="Arial Unicode MS" pitchFamily="34" charset="-122"/>
              </a:rPr>
              <a:t>称</a:t>
            </a:r>
            <a:r>
              <a:rPr lang="en-US" altLang="zh-CN" dirty="0">
                <a:solidFill>
                  <a:srgbClr val="010103"/>
                </a:solidFill>
                <a:ea typeface="Arial Unicode MS" pitchFamily="34" charset="-122"/>
              </a:rPr>
              <a:t>K</a:t>
            </a:r>
            <a:r>
              <a:rPr lang="zh-CN" altLang="en-US" dirty="0">
                <a:solidFill>
                  <a:srgbClr val="010103"/>
                </a:solidFill>
              </a:rPr>
              <a:t>是</a:t>
            </a:r>
            <a:r>
              <a:rPr lang="en-US" altLang="zh-CN" dirty="0">
                <a:solidFill>
                  <a:srgbClr val="010103"/>
                </a:solidFill>
                <a:ea typeface="Arial Unicode MS" pitchFamily="34" charset="-122"/>
              </a:rPr>
              <a:t>R</a:t>
            </a:r>
            <a:r>
              <a:rPr lang="zh-CN" altLang="en-US" dirty="0">
                <a:solidFill>
                  <a:srgbClr val="010103"/>
                </a:solidFill>
              </a:rPr>
              <a:t>的</a:t>
            </a:r>
            <a:r>
              <a:rPr lang="zh-CN" altLang="en-US" dirty="0">
                <a:solidFill>
                  <a:srgbClr val="FF0000"/>
                </a:solidFill>
              </a:rPr>
              <a:t>候选码 </a:t>
            </a:r>
            <a:r>
              <a:rPr lang="en-US" altLang="zh-CN" dirty="0">
                <a:solidFill>
                  <a:srgbClr val="010103"/>
                </a:solidFill>
                <a:ea typeface="Arial Unicode MS" pitchFamily="34" charset="-122"/>
              </a:rPr>
              <a:t>(Candidate Key)</a:t>
            </a:r>
            <a:r>
              <a:rPr lang="zh-CN" altLang="en-US" dirty="0">
                <a:solidFill>
                  <a:srgbClr val="010103"/>
                </a:solidFill>
                <a:ea typeface="Arial Unicode MS" pitchFamily="34" charset="-122"/>
              </a:rPr>
              <a:t>，</a:t>
            </a:r>
            <a:r>
              <a:rPr lang="zh-CN" altLang="en-US" dirty="0">
                <a:solidFill>
                  <a:srgbClr val="010103"/>
                </a:solidFill>
              </a:rPr>
              <a:t>简称</a:t>
            </a:r>
            <a:r>
              <a:rPr lang="zh-CN" altLang="en-US" dirty="0">
                <a:solidFill>
                  <a:srgbClr val="FF0000"/>
                </a:solidFill>
              </a:rPr>
              <a:t>码</a:t>
            </a:r>
            <a:r>
              <a:rPr lang="zh-CN" altLang="en-US" dirty="0">
                <a:solidFill>
                  <a:srgbClr val="010103"/>
                </a:solidFill>
              </a:rPr>
              <a:t>。</a:t>
            </a:r>
            <a:endParaRPr lang="zh-CN" altLang="en-US" dirty="0">
              <a:solidFill>
                <a:srgbClr val="010103"/>
              </a:solidFill>
            </a:endParaRPr>
          </a:p>
          <a:p>
            <a:pPr marL="360680" indent="-360680">
              <a:spcBef>
                <a:spcPct val="40000"/>
              </a:spcBef>
              <a:buNone/>
            </a:pPr>
            <a:r>
              <a:rPr lang="zh-CN" altLang="en-US" dirty="0">
                <a:solidFill>
                  <a:srgbClr val="010103"/>
                </a:solidFill>
              </a:rPr>
              <a:t>          若候选码有多个，则选定其中的一个为</a:t>
            </a:r>
            <a:r>
              <a:rPr lang="zh-CN" altLang="en-US" dirty="0">
                <a:solidFill>
                  <a:srgbClr val="FF0000"/>
                </a:solidFill>
              </a:rPr>
              <a:t>主码 </a:t>
            </a:r>
            <a:r>
              <a:rPr lang="en-US" altLang="zh-CN" dirty="0">
                <a:solidFill>
                  <a:srgbClr val="010103"/>
                </a:solidFill>
                <a:ea typeface="Arial Unicode MS" pitchFamily="34" charset="-122"/>
              </a:rPr>
              <a:t>(Primary Key)</a:t>
            </a:r>
            <a:r>
              <a:rPr lang="en-US" altLang="zh-CN" dirty="0">
                <a:solidFill>
                  <a:srgbClr val="FF0000"/>
                </a:solidFill>
              </a:rPr>
              <a:t> </a:t>
            </a:r>
            <a:r>
              <a:rPr lang="zh-CN" altLang="en-US" dirty="0">
                <a:solidFill>
                  <a:srgbClr val="010103"/>
                </a:solidFill>
              </a:rPr>
              <a:t>，用下划线标识</a:t>
            </a:r>
            <a:r>
              <a:rPr lang="zh-CN" altLang="en-US" dirty="0">
                <a:solidFill>
                  <a:srgbClr val="010103"/>
                </a:solidFill>
                <a:ea typeface="Arial Unicode MS" pitchFamily="34" charset="-122"/>
              </a:rPr>
              <a:t>。</a:t>
            </a:r>
            <a:endParaRPr lang="zh-CN" altLang="en-US" dirty="0">
              <a:solidFill>
                <a:srgbClr val="010103"/>
              </a:solidFill>
              <a:ea typeface="Arial Unicode MS" pitchFamily="34" charset="-122"/>
            </a:endParaRPr>
          </a:p>
          <a:p>
            <a:pPr marL="360680" indent="-360680">
              <a:buNone/>
            </a:pPr>
            <a:r>
              <a:rPr lang="zh-CN" altLang="en-US" dirty="0">
                <a:solidFill>
                  <a:srgbClr val="010103"/>
                </a:solidFill>
                <a:ea typeface="Arial Unicode MS" pitchFamily="34" charset="-122"/>
              </a:rPr>
              <a:t>       </a:t>
            </a:r>
            <a:endParaRPr lang="zh-CN" altLang="en-US" dirty="0">
              <a:solidFill>
                <a:srgbClr val="010103"/>
              </a:solidFill>
              <a:ea typeface="Arial Unicode MS" pitchFamily="34" charset="-122"/>
            </a:endParaRPr>
          </a:p>
        </p:txBody>
      </p:sp>
      <p:sp>
        <p:nvSpPr>
          <p:cNvPr id="1669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tabLst>
                <a:tab pos="2149475" algn="l"/>
              </a:tabLst>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7.2.2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码</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idx="1"/>
          </p:nvPr>
        </p:nvSpPr>
        <p:spPr>
          <a:xfrm>
            <a:off x="179388" y="1143000"/>
            <a:ext cx="8847137" cy="5273675"/>
          </a:xfrm>
        </p:spPr>
        <p:txBody>
          <a:bodyPr vert="horz" wrap="square" lIns="91440" tIns="45720" rIns="91440" bIns="45720" anchor="t" anchorCtr="0"/>
          <a:p>
            <a:pPr marL="361950" indent="-361950"/>
            <a:r>
              <a:rPr lang="zh-CN" altLang="en-US" dirty="0">
                <a:solidFill>
                  <a:srgbClr val="010103"/>
                </a:solidFill>
              </a:rPr>
              <a:t>定义</a:t>
            </a:r>
            <a:endParaRPr lang="zh-CN" altLang="en-US" dirty="0">
              <a:solidFill>
                <a:srgbClr val="010103"/>
              </a:solidFill>
            </a:endParaRPr>
          </a:p>
          <a:p>
            <a:pPr marL="897255" lvl="1" indent="-355600"/>
            <a:r>
              <a:rPr lang="zh-CN" altLang="en-US" sz="3600" dirty="0">
                <a:solidFill>
                  <a:srgbClr val="FF0000"/>
                </a:solidFill>
              </a:rPr>
              <a:t>主属性</a:t>
            </a:r>
            <a:r>
              <a:rPr lang="en-US" altLang="zh-CN" sz="3600" dirty="0"/>
              <a:t>(Prime Attribute)</a:t>
            </a:r>
            <a:r>
              <a:rPr lang="zh-CN" altLang="en-US" sz="3600" dirty="0"/>
              <a:t>：</a:t>
            </a:r>
            <a:r>
              <a:rPr lang="zh-CN" altLang="en-US" sz="3600" dirty="0">
                <a:solidFill>
                  <a:srgbClr val="010103"/>
                </a:solidFill>
              </a:rPr>
              <a:t>包含在任一候选码中的属性</a:t>
            </a:r>
            <a:endParaRPr lang="zh-CN" altLang="en-US" sz="3600" dirty="0">
              <a:solidFill>
                <a:srgbClr val="010103"/>
              </a:solidFill>
            </a:endParaRPr>
          </a:p>
          <a:p>
            <a:pPr marL="897255" lvl="1" indent="-355600">
              <a:spcBef>
                <a:spcPct val="35000"/>
              </a:spcBef>
            </a:pPr>
            <a:r>
              <a:rPr lang="zh-CN" altLang="en-US" sz="3600" dirty="0">
                <a:solidFill>
                  <a:srgbClr val="FF0000"/>
                </a:solidFill>
              </a:rPr>
              <a:t>非主属性</a:t>
            </a:r>
            <a:r>
              <a:rPr lang="en-US" altLang="zh-CN" sz="3600" dirty="0"/>
              <a:t>(Non-key Attribute)</a:t>
            </a:r>
            <a:r>
              <a:rPr lang="zh-CN" altLang="en-US" sz="3600" dirty="0"/>
              <a:t>：</a:t>
            </a:r>
            <a:r>
              <a:rPr lang="zh-CN" altLang="en-US" sz="3600" dirty="0">
                <a:solidFill>
                  <a:srgbClr val="010103"/>
                </a:solidFill>
              </a:rPr>
              <a:t>不包含在任一候选码中的属性</a:t>
            </a:r>
            <a:endParaRPr lang="zh-CN" altLang="en-US" sz="3600" dirty="0">
              <a:solidFill>
                <a:srgbClr val="010103"/>
              </a:solidFill>
            </a:endParaRPr>
          </a:p>
          <a:p>
            <a:pPr marL="897255" lvl="1" indent="-355600">
              <a:spcBef>
                <a:spcPct val="40000"/>
              </a:spcBef>
            </a:pPr>
            <a:r>
              <a:rPr lang="zh-CN" altLang="en-US" sz="3600" dirty="0">
                <a:solidFill>
                  <a:srgbClr val="FF0000"/>
                </a:solidFill>
              </a:rPr>
              <a:t>全码</a:t>
            </a:r>
            <a:r>
              <a:rPr lang="en-US" altLang="zh-CN" sz="3600" dirty="0"/>
              <a:t>(All-key)</a:t>
            </a:r>
            <a:r>
              <a:rPr lang="zh-CN" altLang="en-US" sz="3600" dirty="0"/>
              <a:t>：</a:t>
            </a:r>
            <a:r>
              <a:rPr lang="zh-CN" altLang="en-US" sz="3600" dirty="0">
                <a:solidFill>
                  <a:srgbClr val="010103"/>
                </a:solidFill>
              </a:rPr>
              <a:t>若整个属性组是码</a:t>
            </a:r>
            <a:endParaRPr lang="zh-CN" altLang="en-US" sz="3600" dirty="0">
              <a:solidFill>
                <a:srgbClr val="010103"/>
              </a:solidFill>
            </a:endParaRPr>
          </a:p>
          <a:p>
            <a:pPr marL="897255" lvl="1" indent="-355600"/>
            <a:endParaRPr lang="en-US" altLang="zh-CN" sz="3600" dirty="0">
              <a:solidFill>
                <a:srgbClr val="010103"/>
              </a:solidFill>
            </a:endParaRPr>
          </a:p>
        </p:txBody>
      </p:sp>
      <p:sp>
        <p:nvSpPr>
          <p:cNvPr id="27443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tabLst>
                <a:tab pos="2149475" algn="l"/>
              </a:tabLst>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7.2.2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码</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idx="1"/>
          </p:nvPr>
        </p:nvSpPr>
        <p:spPr>
          <a:xfrm>
            <a:off x="152400" y="1143000"/>
            <a:ext cx="8812213" cy="5273675"/>
          </a:xfrm>
        </p:spPr>
        <p:txBody>
          <a:bodyPr vert="horz" wrap="square" lIns="91440" tIns="45720" rIns="91440" bIns="45720" anchor="t" anchorCtr="0"/>
          <a:p>
            <a:pPr marL="361950" indent="-361950"/>
            <a:r>
              <a:rPr lang="zh-CN" altLang="en-US" dirty="0">
                <a:solidFill>
                  <a:srgbClr val="010103"/>
                </a:solidFill>
              </a:rPr>
              <a:t>定义</a:t>
            </a:r>
            <a:endParaRPr lang="zh-CN" altLang="en-US" dirty="0">
              <a:solidFill>
                <a:srgbClr val="010103"/>
              </a:solidFill>
            </a:endParaRPr>
          </a:p>
          <a:p>
            <a:pPr marL="361950" indent="-361950">
              <a:buNone/>
            </a:pPr>
            <a:r>
              <a:rPr lang="zh-CN" altLang="en-US" dirty="0">
                <a:solidFill>
                  <a:srgbClr val="010103"/>
                </a:solidFill>
              </a:rPr>
              <a:t>        </a:t>
            </a:r>
            <a:r>
              <a:rPr lang="zh-CN" altLang="en-US" dirty="0"/>
              <a:t>关系模式 </a:t>
            </a:r>
            <a:r>
              <a:rPr lang="en-US" altLang="zh-CN" dirty="0"/>
              <a:t>R </a:t>
            </a:r>
            <a:r>
              <a:rPr lang="zh-CN" altLang="en-US" dirty="0"/>
              <a:t>中属性或属性组 </a:t>
            </a:r>
            <a:r>
              <a:rPr lang="en-US" altLang="zh-CN" dirty="0"/>
              <a:t>X </a:t>
            </a:r>
            <a:r>
              <a:rPr lang="zh-CN" altLang="en-US" dirty="0"/>
              <a:t>不是 </a:t>
            </a:r>
            <a:r>
              <a:rPr lang="en-US" altLang="zh-CN" dirty="0"/>
              <a:t>R </a:t>
            </a:r>
            <a:r>
              <a:rPr lang="zh-CN" altLang="en-US" dirty="0"/>
              <a:t>的码，但 </a:t>
            </a:r>
            <a:r>
              <a:rPr lang="en-US" altLang="zh-CN" dirty="0"/>
              <a:t>X </a:t>
            </a:r>
            <a:r>
              <a:rPr lang="zh-CN" altLang="en-US" dirty="0"/>
              <a:t>是另一个关系模式 </a:t>
            </a:r>
            <a:r>
              <a:rPr lang="en-US" altLang="zh-CN" dirty="0"/>
              <a:t>S </a:t>
            </a:r>
            <a:r>
              <a:rPr lang="zh-CN" altLang="en-US" dirty="0"/>
              <a:t>的码，则称 </a:t>
            </a:r>
            <a:r>
              <a:rPr lang="en-US" altLang="zh-CN" dirty="0"/>
              <a:t>X </a:t>
            </a:r>
            <a:r>
              <a:rPr lang="zh-CN" altLang="en-US" dirty="0"/>
              <a:t>是 </a:t>
            </a:r>
            <a:r>
              <a:rPr lang="en-US" altLang="zh-CN" dirty="0"/>
              <a:t>R </a:t>
            </a:r>
            <a:r>
              <a:rPr lang="zh-CN" altLang="en-US" dirty="0"/>
              <a:t>的</a:t>
            </a:r>
            <a:r>
              <a:rPr lang="zh-CN" altLang="en-US" dirty="0">
                <a:solidFill>
                  <a:srgbClr val="FF0000"/>
                </a:solidFill>
              </a:rPr>
              <a:t>外部码</a:t>
            </a:r>
            <a:r>
              <a:rPr lang="en-US" altLang="zh-CN" dirty="0"/>
              <a:t>(Foreign Key)</a:t>
            </a:r>
            <a:r>
              <a:rPr lang="zh-CN" altLang="en-US" dirty="0"/>
              <a:t>，简称</a:t>
            </a:r>
            <a:r>
              <a:rPr lang="zh-CN" altLang="en-US" dirty="0">
                <a:solidFill>
                  <a:srgbClr val="FF0000"/>
                </a:solidFill>
              </a:rPr>
              <a:t>外码</a:t>
            </a:r>
            <a:r>
              <a:rPr lang="zh-CN" altLang="en-US" dirty="0"/>
              <a:t>。</a:t>
            </a:r>
            <a:endParaRPr lang="zh-CN" altLang="en-US" dirty="0"/>
          </a:p>
          <a:p>
            <a:pPr marL="361950" indent="-361950">
              <a:spcBef>
                <a:spcPct val="45000"/>
              </a:spcBef>
            </a:pPr>
            <a:r>
              <a:rPr lang="zh-CN" altLang="en-US" dirty="0"/>
              <a:t>主码与外码表示了关系之间的联系</a:t>
            </a:r>
            <a:endParaRPr lang="zh-CN" altLang="en-US" dirty="0"/>
          </a:p>
        </p:txBody>
      </p:sp>
      <p:sp>
        <p:nvSpPr>
          <p:cNvPr id="1689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tabLst>
                <a:tab pos="2149475" algn="l"/>
              </a:tabLst>
              <a:defRPr/>
            </a:pPr>
            <a:r>
              <a:rPr kumimoji="1" lang="en-US" altLang="zh-CN"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7.2.2 </a:t>
            </a: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码</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02082" name="Group 2"/>
          <p:cNvGraphicFramePr>
            <a:graphicFrameLocks noGrp="1"/>
          </p:cNvGraphicFramePr>
          <p:nvPr/>
        </p:nvGraphicFramePr>
        <p:xfrm>
          <a:off x="2987675" y="1543050"/>
          <a:ext cx="3529013" cy="1739900"/>
        </p:xfrm>
        <a:graphic>
          <a:graphicData uri="http://schemas.openxmlformats.org/drawingml/2006/table">
            <a:tbl>
              <a:tblPr/>
              <a:tblGrid>
                <a:gridCol w="1655763"/>
                <a:gridCol w="1873250"/>
              </a:tblGrid>
              <a:tr h="519113">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Dept</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CCCC"/>
                    </a:solidFill>
                  </a:tcPr>
                </a:tc>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err="1" smtClean="0">
                          <a:ln>
                            <a:noFill/>
                          </a:ln>
                          <a:solidFill>
                            <a:srgbClr val="0000CC"/>
                          </a:solidFill>
                          <a:effectLst/>
                          <a:latin typeface="Arial" panose="020B0604020202020204" pitchFamily="34" charset="0"/>
                          <a:ea typeface="黑体" panose="02010609060101010101" pitchFamily="2" charset="-122"/>
                        </a:rPr>
                        <a:t>Addr</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CCCC"/>
                    </a:solidFill>
                  </a:tcPr>
                </a:tc>
              </a:tr>
              <a:tr h="630238">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计算机</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号楼</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信息</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号楼</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bl>
          </a:graphicData>
        </a:graphic>
      </p:graphicFrame>
      <p:sp>
        <p:nvSpPr>
          <p:cNvPr id="40976" name="Text Box 20"/>
          <p:cNvSpPr txBox="1"/>
          <p:nvPr/>
        </p:nvSpPr>
        <p:spPr>
          <a:xfrm>
            <a:off x="3059113" y="908050"/>
            <a:ext cx="1428750" cy="641350"/>
          </a:xfrm>
          <a:prstGeom prst="rect">
            <a:avLst/>
          </a:prstGeom>
          <a:noFill/>
          <a:ln w="9525">
            <a:noFill/>
          </a:ln>
        </p:spPr>
        <p:txBody>
          <a:bodyPr wrap="none">
            <a:spAutoFit/>
          </a:bodyPr>
          <a:p>
            <a:r>
              <a:rPr lang="zh-CN" altLang="en-US" dirty="0">
                <a:solidFill>
                  <a:srgbClr val="0000CC"/>
                </a:solidFill>
                <a:latin typeface="Arial" panose="020B0604020202020204" pitchFamily="34" charset="0"/>
                <a:ea typeface="黑体" panose="02010609060101010101" pitchFamily="2" charset="-122"/>
              </a:rPr>
              <a:t>关系</a:t>
            </a:r>
            <a:r>
              <a:rPr lang="en-US" altLang="zh-CN" dirty="0">
                <a:solidFill>
                  <a:srgbClr val="0000CC"/>
                </a:solidFill>
                <a:latin typeface="Arial" panose="020B0604020202020204" pitchFamily="34" charset="0"/>
                <a:ea typeface="黑体" panose="02010609060101010101" pitchFamily="2" charset="-122"/>
              </a:rPr>
              <a:t>D</a:t>
            </a:r>
            <a:endParaRPr lang="en-US" altLang="zh-CN" dirty="0">
              <a:solidFill>
                <a:srgbClr val="0000CC"/>
              </a:solidFill>
              <a:latin typeface="Arial" panose="020B0604020202020204" pitchFamily="34" charset="0"/>
              <a:ea typeface="黑体" panose="02010609060101010101" pitchFamily="2" charset="-122"/>
            </a:endParaRPr>
          </a:p>
        </p:txBody>
      </p:sp>
      <p:graphicFrame>
        <p:nvGraphicFramePr>
          <p:cNvPr id="302101" name="Group 21"/>
          <p:cNvGraphicFramePr>
            <a:graphicFrameLocks noGrp="1"/>
          </p:cNvGraphicFramePr>
          <p:nvPr/>
        </p:nvGraphicFramePr>
        <p:xfrm>
          <a:off x="755650" y="3824288"/>
          <a:ext cx="7416800" cy="2266950"/>
        </p:xfrm>
        <a:graphic>
          <a:graphicData uri="http://schemas.openxmlformats.org/drawingml/2006/table">
            <a:tbl>
              <a:tblPr/>
              <a:tblGrid>
                <a:gridCol w="1412875"/>
                <a:gridCol w="1531938"/>
                <a:gridCol w="1635125"/>
                <a:gridCol w="1254125"/>
                <a:gridCol w="1582737"/>
              </a:tblGrid>
              <a:tr h="468313">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err="1" smtClean="0">
                          <a:ln>
                            <a:noFill/>
                          </a:ln>
                          <a:solidFill>
                            <a:srgbClr val="0000CC"/>
                          </a:solidFill>
                          <a:effectLst/>
                          <a:latin typeface="Arial" panose="020B0604020202020204" pitchFamily="34" charset="0"/>
                          <a:ea typeface="黑体" panose="02010609060101010101" pitchFamily="2" charset="-122"/>
                        </a:rPr>
                        <a:t>Sno</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err="1" smtClean="0">
                          <a:ln>
                            <a:noFill/>
                          </a:ln>
                          <a:solidFill>
                            <a:srgbClr val="0000CC"/>
                          </a:solidFill>
                          <a:effectLst/>
                          <a:latin typeface="Arial" panose="020B0604020202020204" pitchFamily="34" charset="0"/>
                          <a:ea typeface="黑体" panose="02010609060101010101" pitchFamily="2" charset="-122"/>
                        </a:rPr>
                        <a:t>Sname</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err="1" smtClean="0">
                          <a:ln>
                            <a:noFill/>
                          </a:ln>
                          <a:solidFill>
                            <a:srgbClr val="0000CC"/>
                          </a:solidFill>
                          <a:effectLst/>
                          <a:latin typeface="Arial" panose="020B0604020202020204" pitchFamily="34" charset="0"/>
                          <a:ea typeface="黑体" panose="02010609060101010101" pitchFamily="2" charset="-122"/>
                        </a:rPr>
                        <a:t>Ssex</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rPr>
                        <a:t>Sage</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9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dirty="0" err="1" smtClean="0">
                          <a:ln>
                            <a:noFill/>
                          </a:ln>
                          <a:solidFill>
                            <a:srgbClr val="0000CC"/>
                          </a:solidFill>
                          <a:effectLst/>
                          <a:latin typeface="Arial" panose="020B0604020202020204" pitchFamily="34" charset="0"/>
                          <a:ea typeface="黑体" panose="02010609060101010101" pitchFamily="2" charset="-122"/>
                        </a:rPr>
                        <a:t>Sdept</a:t>
                      </a:r>
                      <a:endParaRPr kumimoji="0" lang="en-US" altLang="zh-CN" sz="3200" b="1" i="0" u="none" strike="noStrike" cap="none" normalizeH="0" baseline="0" dirty="0" smtClean="0">
                        <a:ln>
                          <a:noFill/>
                        </a:ln>
                        <a:solidFill>
                          <a:srgbClr val="0000CC"/>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99"/>
                    </a:solidFill>
                  </a:tcPr>
                </a:tc>
              </a:tr>
              <a:tr h="46831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赵亦</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17</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计算机</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468313">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钱尔</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信息</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466725">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孙珊</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20</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Pct val="70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信息</a:t>
                      </a:r>
                      <a:endPar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bl>
          </a:graphicData>
        </a:graphic>
      </p:graphicFrame>
      <p:sp>
        <p:nvSpPr>
          <p:cNvPr id="41009" name="Text Box 58"/>
          <p:cNvSpPr txBox="1"/>
          <p:nvPr/>
        </p:nvSpPr>
        <p:spPr>
          <a:xfrm>
            <a:off x="792163" y="3181350"/>
            <a:ext cx="1403350" cy="641350"/>
          </a:xfrm>
          <a:prstGeom prst="rect">
            <a:avLst/>
          </a:prstGeom>
          <a:noFill/>
          <a:ln w="9525">
            <a:noFill/>
          </a:ln>
        </p:spPr>
        <p:txBody>
          <a:bodyPr wrap="none">
            <a:spAutoFit/>
          </a:bodyPr>
          <a:p>
            <a:r>
              <a:rPr lang="zh-CN" altLang="en-US" dirty="0">
                <a:solidFill>
                  <a:srgbClr val="0000CC"/>
                </a:solidFill>
                <a:latin typeface="Arial" panose="020B0604020202020204" pitchFamily="34" charset="0"/>
                <a:ea typeface="黑体" panose="02010609060101010101" pitchFamily="2" charset="-122"/>
              </a:rPr>
              <a:t>关系</a:t>
            </a:r>
            <a:r>
              <a:rPr lang="en-US" altLang="zh-CN" dirty="0">
                <a:solidFill>
                  <a:srgbClr val="0000CC"/>
                </a:solidFill>
                <a:latin typeface="Arial" panose="020B0604020202020204" pitchFamily="34" charset="0"/>
                <a:ea typeface="黑体" panose="02010609060101010101" pitchFamily="2" charset="-122"/>
              </a:rPr>
              <a:t>S</a:t>
            </a:r>
            <a:endParaRPr lang="en-US" altLang="zh-CN" dirty="0">
              <a:solidFill>
                <a:srgbClr val="0000CC"/>
              </a:solidFill>
              <a:latin typeface="Arial" panose="020B0604020202020204" pitchFamily="34" charset="0"/>
              <a:ea typeface="黑体" panose="02010609060101010101" pitchFamily="2" charset="-122"/>
            </a:endParaRPr>
          </a:p>
        </p:txBody>
      </p:sp>
      <p:sp>
        <p:nvSpPr>
          <p:cNvPr id="302140" name="Rectangle 60"/>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cxnSp>
        <p:nvCxnSpPr>
          <p:cNvPr id="302142" name="AutoShape 62"/>
          <p:cNvCxnSpPr/>
          <p:nvPr/>
        </p:nvCxnSpPr>
        <p:spPr>
          <a:xfrm rot="5400000" flipV="1">
            <a:off x="4457700" y="900113"/>
            <a:ext cx="2281238" cy="3565525"/>
          </a:xfrm>
          <a:prstGeom prst="curvedConnector3">
            <a:avLst>
              <a:gd name="adj1" fmla="val -28046"/>
            </a:avLst>
          </a:prstGeom>
          <a:ln w="38100" cap="flat" cmpd="sng">
            <a:solidFill>
              <a:srgbClr val="FF0000"/>
            </a:solidFill>
            <a:prstDash val="dash"/>
            <a:headEnd type="none" w="med" len="med"/>
            <a:tailEnd type="none" w="med" len="med"/>
          </a:ln>
        </p:spPr>
      </p:cxn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2142"/>
                                        </p:tgtEl>
                                        <p:attrNameLst>
                                          <p:attrName>style.visibility</p:attrName>
                                        </p:attrNameLst>
                                      </p:cBhvr>
                                      <p:to>
                                        <p:strVal val="visible"/>
                                      </p:to>
                                    </p:set>
                                    <p:animEffect transition="in" filter="wipe(down)">
                                      <p:cBhvr>
                                        <p:cTn id="7" dur="500"/>
                                        <p:tgtEl>
                                          <p:spTgt spid="302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153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1987" name="Rectangle 3"/>
          <p:cNvSpPr>
            <a:spLocks noGrp="1"/>
          </p:cNvSpPr>
          <p:nvPr>
            <p:ph idx="1"/>
          </p:nvPr>
        </p:nvSpPr>
        <p:spPr>
          <a:xfrm>
            <a:off x="1231900" y="1016000"/>
            <a:ext cx="7372350" cy="5365750"/>
          </a:xfrm>
        </p:spPr>
        <p:txBody>
          <a:bodyPr vert="horz" wrap="square" lIns="91440" tIns="45720" rIns="91440" bIns="45720" anchor="t" anchorCtr="0"/>
          <a:p>
            <a:pPr>
              <a:lnSpc>
                <a:spcPct val="140000"/>
              </a:lnSpc>
              <a:buNone/>
            </a:pPr>
            <a:r>
              <a:rPr lang="en-US" altLang="zh-CN" dirty="0"/>
              <a:t>7.1 </a:t>
            </a:r>
            <a:r>
              <a:rPr lang="zh-CN" altLang="en-US" dirty="0">
                <a:latin typeface="宋体" panose="02010600030101010101" pitchFamily="2" charset="-122"/>
              </a:rPr>
              <a:t>问题的提出</a:t>
            </a:r>
            <a:endParaRPr lang="zh-CN" altLang="en-US" dirty="0">
              <a:latin typeface="宋体" panose="02010600030101010101" pitchFamily="2" charset="-122"/>
            </a:endParaRPr>
          </a:p>
          <a:p>
            <a:pPr>
              <a:lnSpc>
                <a:spcPct val="140000"/>
              </a:lnSpc>
              <a:buNone/>
            </a:pPr>
            <a:r>
              <a:rPr lang="en-US" altLang="zh-CN" dirty="0"/>
              <a:t>7.2</a:t>
            </a:r>
            <a:r>
              <a:rPr lang="en-US" altLang="zh-CN" dirty="0">
                <a:latin typeface="宋体" panose="02010600030101010101" pitchFamily="2" charset="-122"/>
              </a:rPr>
              <a:t> </a:t>
            </a:r>
            <a:r>
              <a:rPr lang="zh-CN" altLang="en-US" dirty="0">
                <a:latin typeface="宋体" panose="02010600030101010101" pitchFamily="2" charset="-122"/>
              </a:rPr>
              <a:t>函数依赖</a:t>
            </a:r>
            <a:endParaRPr lang="zh-CN" altLang="en-US" dirty="0">
              <a:latin typeface="宋体" panose="02010600030101010101" pitchFamily="2" charset="-122"/>
            </a:endParaRPr>
          </a:p>
          <a:p>
            <a:pPr>
              <a:lnSpc>
                <a:spcPct val="140000"/>
              </a:lnSpc>
              <a:buNone/>
            </a:pPr>
            <a:r>
              <a:rPr lang="en-US" altLang="zh-CN" dirty="0">
                <a:solidFill>
                  <a:srgbClr val="0000CC"/>
                </a:solidFill>
              </a:rPr>
              <a:t>7.3 </a:t>
            </a:r>
            <a:r>
              <a:rPr lang="zh-CN" altLang="en-US" dirty="0">
                <a:solidFill>
                  <a:srgbClr val="0000CC"/>
                </a:solidFill>
              </a:rPr>
              <a:t>数据依赖的公理系统</a:t>
            </a:r>
            <a:endParaRPr lang="zh-CN" altLang="en-US" dirty="0">
              <a:solidFill>
                <a:srgbClr val="0000CC"/>
              </a:solidFill>
            </a:endParaRPr>
          </a:p>
          <a:p>
            <a:pPr>
              <a:lnSpc>
                <a:spcPct val="140000"/>
              </a:lnSpc>
              <a:buNone/>
            </a:pPr>
            <a:r>
              <a:rPr lang="en-US" altLang="zh-CN" dirty="0"/>
              <a:t>7.4 </a:t>
            </a:r>
            <a:r>
              <a:rPr lang="zh-CN" altLang="en-US" dirty="0"/>
              <a:t>关系</a:t>
            </a:r>
            <a:r>
              <a:rPr lang="zh-CN" altLang="en-US" dirty="0">
                <a:latin typeface="宋体" panose="02010600030101010101" pitchFamily="2" charset="-122"/>
              </a:rPr>
              <a:t>模式的分解</a:t>
            </a:r>
            <a:endParaRPr lang="zh-CN" altLang="en-US" dirty="0">
              <a:latin typeface="宋体" panose="02010600030101010101" pitchFamily="2" charset="-122"/>
            </a:endParaRPr>
          </a:p>
          <a:p>
            <a:pPr>
              <a:lnSpc>
                <a:spcPct val="140000"/>
              </a:lnSpc>
              <a:buNone/>
            </a:pPr>
            <a:r>
              <a:rPr lang="en-US" altLang="zh-CN" dirty="0"/>
              <a:t>7.5 </a:t>
            </a:r>
            <a:r>
              <a:rPr lang="zh-CN" altLang="en-US" dirty="0"/>
              <a:t>范式及其规范化</a:t>
            </a:r>
            <a:endParaRPr lang="zh-CN" altLang="en-US" dirty="0"/>
          </a:p>
        </p:txBody>
      </p:sp>
    </p:spTree>
  </p:cSld>
  <p:clrMapOvr>
    <a:masterClrMapping/>
  </p:clrMapOvr>
  <p:transition>
    <p:random/>
    <p:sndAc>
      <p:stSnd>
        <p:snd r:embed="rId1" name="CAMERA.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idx="1"/>
          </p:nvPr>
        </p:nvSpPr>
        <p:spPr>
          <a:xfrm>
            <a:off x="179388" y="1052513"/>
            <a:ext cx="8785225" cy="5273675"/>
          </a:xfrm>
        </p:spPr>
        <p:txBody>
          <a:bodyPr vert="horz" wrap="square" lIns="91440" tIns="45720" rIns="91440" bIns="45720" anchor="t" anchorCtr="0"/>
          <a:p>
            <a:pPr marL="449580" indent="-449580">
              <a:buNone/>
            </a:pPr>
            <a:r>
              <a:rPr lang="zh-CN" altLang="en-US" sz="4000" dirty="0">
                <a:solidFill>
                  <a:srgbClr val="010103"/>
                </a:solidFill>
              </a:rPr>
              <a:t>有关记号的约定：</a:t>
            </a:r>
            <a:endParaRPr lang="zh-CN" altLang="en-US" sz="4000" dirty="0">
              <a:solidFill>
                <a:srgbClr val="010103"/>
              </a:solidFill>
            </a:endParaRPr>
          </a:p>
          <a:p>
            <a:pPr marL="449580" indent="-449580">
              <a:lnSpc>
                <a:spcPct val="110000"/>
              </a:lnSpc>
              <a:spcBef>
                <a:spcPct val="20000"/>
              </a:spcBef>
              <a:buSzPct val="70000"/>
            </a:pPr>
            <a:r>
              <a:rPr lang="zh-CN" altLang="en-US" dirty="0">
                <a:solidFill>
                  <a:srgbClr val="010103"/>
                </a:solidFill>
              </a:rPr>
              <a:t>如果声明</a:t>
            </a:r>
            <a:r>
              <a:rPr lang="en-US" altLang="zh-CN" dirty="0">
                <a:solidFill>
                  <a:srgbClr val="010103"/>
                </a:solidFill>
              </a:rPr>
              <a:t>X</a:t>
            </a:r>
            <a:r>
              <a:rPr lang="zh-CN" altLang="en-US" dirty="0">
                <a:solidFill>
                  <a:srgbClr val="010103"/>
                </a:solidFill>
              </a:rPr>
              <a:t>、</a:t>
            </a:r>
            <a:r>
              <a:rPr lang="en-US" altLang="zh-CN" dirty="0">
                <a:solidFill>
                  <a:srgbClr val="010103"/>
                </a:solidFill>
              </a:rPr>
              <a:t>Y</a:t>
            </a:r>
            <a:r>
              <a:rPr lang="zh-CN" altLang="en-US" dirty="0">
                <a:solidFill>
                  <a:srgbClr val="010103"/>
                </a:solidFill>
              </a:rPr>
              <a:t>等是属性子集，则将</a:t>
            </a:r>
            <a:r>
              <a:rPr lang="en-US" altLang="zh-CN" dirty="0">
                <a:solidFill>
                  <a:srgbClr val="010103"/>
                </a:solidFill>
              </a:rPr>
              <a:t>X</a:t>
            </a:r>
            <a:r>
              <a:rPr lang="en-US" altLang="zh-CN" dirty="0">
                <a:solidFill>
                  <a:srgbClr val="010103"/>
                </a:solidFill>
                <a:latin typeface="黑体" panose="02010609060101010101" pitchFamily="2" charset="-122"/>
              </a:rPr>
              <a:t>∪</a:t>
            </a:r>
            <a:r>
              <a:rPr lang="en-US" altLang="zh-CN" dirty="0">
                <a:solidFill>
                  <a:srgbClr val="010103"/>
                </a:solidFill>
              </a:rPr>
              <a:t>Y</a:t>
            </a:r>
            <a:r>
              <a:rPr lang="zh-CN" altLang="en-US" dirty="0">
                <a:solidFill>
                  <a:srgbClr val="010103"/>
                </a:solidFill>
              </a:rPr>
              <a:t>简记为 </a:t>
            </a:r>
            <a:r>
              <a:rPr lang="en-US" altLang="zh-CN" dirty="0">
                <a:solidFill>
                  <a:srgbClr val="010103"/>
                </a:solidFill>
              </a:rPr>
              <a:t>XY</a:t>
            </a:r>
            <a:r>
              <a:rPr lang="zh-CN" altLang="en-US" dirty="0">
                <a:solidFill>
                  <a:srgbClr val="010103"/>
                </a:solidFill>
              </a:rPr>
              <a:t>。</a:t>
            </a:r>
            <a:endParaRPr lang="zh-CN" altLang="en-US" dirty="0">
              <a:solidFill>
                <a:srgbClr val="010103"/>
              </a:solidFill>
            </a:endParaRPr>
          </a:p>
          <a:p>
            <a:pPr marL="449580" indent="-449580">
              <a:lnSpc>
                <a:spcPct val="110000"/>
              </a:lnSpc>
              <a:spcBef>
                <a:spcPct val="20000"/>
              </a:spcBef>
              <a:buSzPct val="70000"/>
            </a:pPr>
            <a:r>
              <a:rPr lang="zh-CN" altLang="en-US" dirty="0">
                <a:solidFill>
                  <a:srgbClr val="010103"/>
                </a:solidFill>
              </a:rPr>
              <a:t>如果声明</a:t>
            </a:r>
            <a:r>
              <a:rPr lang="en-US" altLang="zh-CN" dirty="0">
                <a:solidFill>
                  <a:srgbClr val="010103"/>
                </a:solidFill>
              </a:rPr>
              <a:t>A</a:t>
            </a:r>
            <a:r>
              <a:rPr lang="zh-CN" altLang="en-US" dirty="0">
                <a:solidFill>
                  <a:srgbClr val="010103"/>
                </a:solidFill>
              </a:rPr>
              <a:t>、</a:t>
            </a:r>
            <a:r>
              <a:rPr lang="en-US" altLang="zh-CN" dirty="0">
                <a:solidFill>
                  <a:srgbClr val="010103"/>
                </a:solidFill>
              </a:rPr>
              <a:t>B</a:t>
            </a:r>
            <a:r>
              <a:rPr lang="zh-CN" altLang="en-US" dirty="0">
                <a:solidFill>
                  <a:srgbClr val="010103"/>
                </a:solidFill>
              </a:rPr>
              <a:t>等是属性，则将</a:t>
            </a:r>
            <a:r>
              <a:rPr lang="en-US" altLang="zh-CN" dirty="0">
                <a:solidFill>
                  <a:srgbClr val="010103"/>
                </a:solidFill>
              </a:rPr>
              <a:t>{A, B}</a:t>
            </a:r>
            <a:r>
              <a:rPr lang="zh-CN" altLang="en-US" dirty="0">
                <a:solidFill>
                  <a:srgbClr val="010103"/>
                </a:solidFill>
              </a:rPr>
              <a:t>简记为 </a:t>
            </a:r>
            <a:r>
              <a:rPr lang="en-US" altLang="zh-CN" dirty="0">
                <a:solidFill>
                  <a:srgbClr val="010103"/>
                </a:solidFill>
              </a:rPr>
              <a:t>AB</a:t>
            </a:r>
            <a:r>
              <a:rPr lang="zh-CN" altLang="en-US" dirty="0">
                <a:solidFill>
                  <a:srgbClr val="010103"/>
                </a:solidFill>
              </a:rPr>
              <a:t>。</a:t>
            </a:r>
            <a:endParaRPr lang="zh-CN" altLang="en-US" dirty="0">
              <a:solidFill>
                <a:srgbClr val="010103"/>
              </a:solidFill>
            </a:endParaRPr>
          </a:p>
          <a:p>
            <a:pPr marL="449580" indent="-449580">
              <a:lnSpc>
                <a:spcPct val="110000"/>
              </a:lnSpc>
              <a:spcBef>
                <a:spcPct val="20000"/>
              </a:spcBef>
              <a:buSzPct val="70000"/>
            </a:pPr>
            <a:r>
              <a:rPr lang="zh-CN" altLang="en-US" dirty="0">
                <a:solidFill>
                  <a:srgbClr val="010103"/>
                </a:solidFill>
              </a:rPr>
              <a:t>如果声明</a:t>
            </a:r>
            <a:r>
              <a:rPr lang="en-US" altLang="zh-CN" dirty="0">
                <a:solidFill>
                  <a:srgbClr val="010103"/>
                </a:solidFill>
              </a:rPr>
              <a:t>X</a:t>
            </a:r>
            <a:r>
              <a:rPr lang="zh-CN" altLang="en-US" dirty="0">
                <a:solidFill>
                  <a:srgbClr val="010103"/>
                </a:solidFill>
              </a:rPr>
              <a:t>是属性子集，</a:t>
            </a:r>
            <a:r>
              <a:rPr lang="en-US" altLang="zh-CN" dirty="0">
                <a:solidFill>
                  <a:srgbClr val="010103"/>
                </a:solidFill>
              </a:rPr>
              <a:t>A</a:t>
            </a:r>
            <a:r>
              <a:rPr lang="zh-CN" altLang="en-US" dirty="0">
                <a:solidFill>
                  <a:srgbClr val="010103"/>
                </a:solidFill>
              </a:rPr>
              <a:t>是属性，则将</a:t>
            </a:r>
            <a:r>
              <a:rPr lang="en-US" altLang="zh-CN" dirty="0">
                <a:solidFill>
                  <a:srgbClr val="010103"/>
                </a:solidFill>
              </a:rPr>
              <a:t>X</a:t>
            </a:r>
            <a:r>
              <a:rPr lang="en-US" altLang="zh-CN" dirty="0">
                <a:solidFill>
                  <a:srgbClr val="010103"/>
                </a:solidFill>
                <a:latin typeface="黑体" panose="02010609060101010101" pitchFamily="2" charset="-122"/>
              </a:rPr>
              <a:t>∪</a:t>
            </a:r>
            <a:r>
              <a:rPr lang="en-US" altLang="zh-CN" dirty="0">
                <a:solidFill>
                  <a:srgbClr val="010103"/>
                </a:solidFill>
              </a:rPr>
              <a:t>{A}</a:t>
            </a:r>
            <a:r>
              <a:rPr lang="zh-CN" altLang="en-US" dirty="0">
                <a:solidFill>
                  <a:srgbClr val="010103"/>
                </a:solidFill>
              </a:rPr>
              <a:t>简记为 </a:t>
            </a:r>
            <a:r>
              <a:rPr lang="en-US" altLang="zh-CN" dirty="0">
                <a:solidFill>
                  <a:srgbClr val="010103"/>
                </a:solidFill>
              </a:rPr>
              <a:t>XA </a:t>
            </a:r>
            <a:r>
              <a:rPr lang="zh-CN" altLang="en-US" dirty="0">
                <a:solidFill>
                  <a:srgbClr val="010103"/>
                </a:solidFill>
              </a:rPr>
              <a:t>或 </a:t>
            </a:r>
            <a:r>
              <a:rPr lang="en-US" altLang="zh-CN" dirty="0">
                <a:solidFill>
                  <a:srgbClr val="010103"/>
                </a:solidFill>
              </a:rPr>
              <a:t>AX</a:t>
            </a:r>
            <a:r>
              <a:rPr lang="zh-CN" altLang="en-US" dirty="0">
                <a:solidFill>
                  <a:srgbClr val="010103"/>
                </a:solidFill>
              </a:rPr>
              <a:t>。</a:t>
            </a:r>
            <a:endParaRPr lang="zh-CN" altLang="en-US" dirty="0">
              <a:solidFill>
                <a:srgbClr val="010103"/>
              </a:solidFill>
            </a:endParaRPr>
          </a:p>
        </p:txBody>
      </p:sp>
      <p:sp>
        <p:nvSpPr>
          <p:cNvPr id="27853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7.3 </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数据依赖的公理系统</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idx="1"/>
          </p:nvPr>
        </p:nvSpPr>
        <p:spPr>
          <a:xfrm>
            <a:off x="179388" y="1143000"/>
            <a:ext cx="8785225" cy="5273675"/>
          </a:xfrm>
        </p:spPr>
        <p:txBody>
          <a:bodyPr vert="horz" wrap="square" lIns="91440" tIns="45720" rIns="91440" bIns="45720" anchor="t" anchorCtr="0"/>
          <a:p>
            <a:pPr marL="449580" indent="-449580"/>
            <a:r>
              <a:rPr lang="zh-CN" altLang="en-US" dirty="0">
                <a:solidFill>
                  <a:srgbClr val="010103"/>
                </a:solidFill>
              </a:rPr>
              <a:t>定义</a:t>
            </a:r>
            <a:endParaRPr lang="zh-CN" altLang="en-US" dirty="0">
              <a:solidFill>
                <a:srgbClr val="010103"/>
              </a:solidFill>
            </a:endParaRPr>
          </a:p>
          <a:p>
            <a:pPr marL="449580" indent="-449580">
              <a:lnSpc>
                <a:spcPct val="110000"/>
              </a:lnSpc>
              <a:spcBef>
                <a:spcPct val="20000"/>
              </a:spcBef>
              <a:buNone/>
            </a:pPr>
            <a:r>
              <a:rPr lang="zh-CN" altLang="en-US" dirty="0">
                <a:solidFill>
                  <a:srgbClr val="010103"/>
                </a:solidFill>
              </a:rPr>
              <a:t>         对于满足一组函数依赖 </a:t>
            </a:r>
            <a:r>
              <a:rPr lang="en-US" altLang="zh-CN" dirty="0">
                <a:solidFill>
                  <a:srgbClr val="010103"/>
                </a:solidFill>
              </a:rPr>
              <a:t>F </a:t>
            </a:r>
            <a:r>
              <a:rPr lang="zh-CN" altLang="en-US" dirty="0">
                <a:solidFill>
                  <a:srgbClr val="010103"/>
                </a:solidFill>
              </a:rPr>
              <a:t>的关系模式 </a:t>
            </a:r>
            <a:r>
              <a:rPr lang="en-US" altLang="zh-CN" dirty="0">
                <a:solidFill>
                  <a:srgbClr val="010103"/>
                </a:solidFill>
              </a:rPr>
              <a:t>R &lt;U, F&gt;</a:t>
            </a:r>
            <a:r>
              <a:rPr lang="zh-CN" altLang="en-US" dirty="0">
                <a:solidFill>
                  <a:srgbClr val="010103"/>
                </a:solidFill>
              </a:rPr>
              <a:t>，</a:t>
            </a:r>
            <a:r>
              <a:rPr lang="en-US" altLang="zh-CN" dirty="0">
                <a:solidFill>
                  <a:srgbClr val="010103"/>
                </a:solidFill>
              </a:rPr>
              <a:t>X </a:t>
            </a:r>
            <a:r>
              <a:rPr lang="zh-CN" altLang="en-US" dirty="0">
                <a:solidFill>
                  <a:srgbClr val="010103"/>
                </a:solidFill>
              </a:rPr>
              <a:t>和 </a:t>
            </a:r>
            <a:r>
              <a:rPr lang="en-US" altLang="zh-CN" dirty="0">
                <a:solidFill>
                  <a:srgbClr val="010103"/>
                </a:solidFill>
              </a:rPr>
              <a:t>Y</a:t>
            </a:r>
            <a:r>
              <a:rPr lang="zh-CN" altLang="en-US" dirty="0">
                <a:solidFill>
                  <a:srgbClr val="010103"/>
                </a:solidFill>
              </a:rPr>
              <a:t>是属性集合</a:t>
            </a:r>
            <a:r>
              <a:rPr lang="en-US" altLang="zh-CN" dirty="0">
                <a:solidFill>
                  <a:srgbClr val="010103"/>
                </a:solidFill>
              </a:rPr>
              <a:t>U</a:t>
            </a:r>
            <a:r>
              <a:rPr lang="zh-CN" altLang="en-US" dirty="0">
                <a:solidFill>
                  <a:srgbClr val="010103"/>
                </a:solidFill>
              </a:rPr>
              <a:t>的子集，对于任何一个关系 </a:t>
            </a:r>
            <a:r>
              <a:rPr lang="en-US" altLang="zh-CN" dirty="0">
                <a:solidFill>
                  <a:srgbClr val="010103"/>
                </a:solidFill>
              </a:rPr>
              <a:t>r </a:t>
            </a:r>
            <a:r>
              <a:rPr lang="zh-CN" altLang="en-US" dirty="0">
                <a:solidFill>
                  <a:srgbClr val="010103"/>
                </a:solidFill>
              </a:rPr>
              <a:t>，若函数依赖 </a:t>
            </a:r>
            <a:r>
              <a:rPr lang="en-US" altLang="zh-CN" dirty="0">
                <a:solidFill>
                  <a:srgbClr val="010103"/>
                </a:solidFill>
              </a:rPr>
              <a:t>X</a:t>
            </a:r>
            <a:r>
              <a:rPr lang="en-US" altLang="zh-CN" dirty="0"/>
              <a:t>→</a:t>
            </a:r>
            <a:r>
              <a:rPr lang="en-US" altLang="zh-CN" dirty="0">
                <a:solidFill>
                  <a:srgbClr val="010103"/>
                </a:solidFill>
              </a:rPr>
              <a:t>Y </a:t>
            </a:r>
            <a:r>
              <a:rPr lang="zh-CN" altLang="en-US" dirty="0">
                <a:solidFill>
                  <a:srgbClr val="010103"/>
                </a:solidFill>
              </a:rPr>
              <a:t>都成立，则称 </a:t>
            </a:r>
            <a:r>
              <a:rPr lang="en-US" altLang="zh-CN" dirty="0">
                <a:solidFill>
                  <a:srgbClr val="010103"/>
                </a:solidFill>
              </a:rPr>
              <a:t>F </a:t>
            </a:r>
            <a:r>
              <a:rPr lang="zh-CN" altLang="en-US" dirty="0">
                <a:solidFill>
                  <a:srgbClr val="FF0000"/>
                </a:solidFill>
              </a:rPr>
              <a:t>逻辑蕴涵 </a:t>
            </a:r>
            <a:r>
              <a:rPr lang="en-US" altLang="zh-CN" dirty="0">
                <a:solidFill>
                  <a:srgbClr val="010103"/>
                </a:solidFill>
              </a:rPr>
              <a:t>X</a:t>
            </a:r>
            <a:r>
              <a:rPr lang="en-US" altLang="zh-CN" dirty="0"/>
              <a:t>→</a:t>
            </a:r>
            <a:r>
              <a:rPr lang="en-US" altLang="zh-CN" dirty="0">
                <a:solidFill>
                  <a:srgbClr val="010103"/>
                </a:solidFill>
              </a:rPr>
              <a:t>Y</a:t>
            </a:r>
            <a:r>
              <a:rPr lang="zh-CN" altLang="en-US" dirty="0">
                <a:solidFill>
                  <a:srgbClr val="010103"/>
                </a:solidFill>
              </a:rPr>
              <a:t>。</a:t>
            </a:r>
            <a:endParaRPr lang="zh-CN" altLang="en-US" dirty="0">
              <a:solidFill>
                <a:srgbClr val="010103"/>
              </a:solidFill>
            </a:endParaRPr>
          </a:p>
        </p:txBody>
      </p:sp>
      <p:sp>
        <p:nvSpPr>
          <p:cNvPr id="2764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、函数依赖集的闭包</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idx="1"/>
          </p:nvPr>
        </p:nvSpPr>
        <p:spPr>
          <a:xfrm>
            <a:off x="368300" y="1143000"/>
            <a:ext cx="8451850" cy="5273675"/>
          </a:xfrm>
        </p:spPr>
        <p:txBody>
          <a:bodyPr vert="horz" wrap="square" lIns="91440" tIns="45720" rIns="91440" bIns="45720" anchor="t" anchorCtr="0"/>
          <a:p>
            <a:pPr marL="449580" indent="-449580"/>
            <a:r>
              <a:rPr lang="zh-CN" altLang="en-US" dirty="0">
                <a:solidFill>
                  <a:srgbClr val="010103"/>
                </a:solidFill>
              </a:rPr>
              <a:t>定义</a:t>
            </a:r>
            <a:endParaRPr lang="zh-CN" altLang="en-US" dirty="0">
              <a:solidFill>
                <a:srgbClr val="010103"/>
              </a:solidFill>
            </a:endParaRPr>
          </a:p>
          <a:p>
            <a:pPr marL="449580" indent="-449580">
              <a:lnSpc>
                <a:spcPct val="120000"/>
              </a:lnSpc>
              <a:spcBef>
                <a:spcPct val="15000"/>
              </a:spcBef>
              <a:buNone/>
            </a:pPr>
            <a:r>
              <a:rPr lang="zh-CN" altLang="en-US" dirty="0">
                <a:solidFill>
                  <a:srgbClr val="010103"/>
                </a:solidFill>
              </a:rPr>
              <a:t>        对于关系模式 </a:t>
            </a:r>
            <a:r>
              <a:rPr lang="en-US" altLang="zh-CN" dirty="0">
                <a:solidFill>
                  <a:srgbClr val="010103"/>
                </a:solidFill>
              </a:rPr>
              <a:t>R &lt;U, F&gt;</a:t>
            </a:r>
            <a:r>
              <a:rPr lang="zh-CN" altLang="en-US" dirty="0">
                <a:solidFill>
                  <a:srgbClr val="010103"/>
                </a:solidFill>
              </a:rPr>
              <a:t>，</a:t>
            </a:r>
            <a:r>
              <a:rPr lang="en-US" altLang="zh-CN" dirty="0">
                <a:solidFill>
                  <a:srgbClr val="010103"/>
                </a:solidFill>
              </a:rPr>
              <a:t>F </a:t>
            </a:r>
            <a:r>
              <a:rPr lang="zh-CN" altLang="en-US" dirty="0">
                <a:solidFill>
                  <a:srgbClr val="010103"/>
                </a:solidFill>
              </a:rPr>
              <a:t>的</a:t>
            </a:r>
            <a:r>
              <a:rPr lang="zh-CN" altLang="en-US" dirty="0">
                <a:solidFill>
                  <a:srgbClr val="FF0000"/>
                </a:solidFill>
              </a:rPr>
              <a:t>闭包</a:t>
            </a:r>
            <a:r>
              <a:rPr lang="zh-CN" altLang="en-US" dirty="0">
                <a:solidFill>
                  <a:srgbClr val="010103"/>
                </a:solidFill>
              </a:rPr>
              <a:t>是由 </a:t>
            </a:r>
            <a:r>
              <a:rPr lang="en-US" altLang="zh-CN" dirty="0">
                <a:solidFill>
                  <a:srgbClr val="010103"/>
                </a:solidFill>
              </a:rPr>
              <a:t>F </a:t>
            </a:r>
            <a:r>
              <a:rPr lang="zh-CN" altLang="en-US" dirty="0">
                <a:solidFill>
                  <a:srgbClr val="010103"/>
                </a:solidFill>
              </a:rPr>
              <a:t>所逻辑蕴涵的</a:t>
            </a:r>
            <a:r>
              <a:rPr lang="zh-CN" altLang="en-US" u="sng" dirty="0">
                <a:solidFill>
                  <a:srgbClr val="010103"/>
                </a:solidFill>
              </a:rPr>
              <a:t>所有</a:t>
            </a:r>
            <a:r>
              <a:rPr lang="zh-CN" altLang="en-US" dirty="0">
                <a:solidFill>
                  <a:srgbClr val="010103"/>
                </a:solidFill>
              </a:rPr>
              <a:t>函数依赖的集合，记为 </a:t>
            </a:r>
            <a:r>
              <a:rPr lang="en-US" altLang="zh-CN" dirty="0">
                <a:solidFill>
                  <a:srgbClr val="FF0000"/>
                </a:solidFill>
              </a:rPr>
              <a:t>F</a:t>
            </a:r>
            <a:r>
              <a:rPr lang="en-US" altLang="zh-CN" baseline="30000" dirty="0">
                <a:solidFill>
                  <a:srgbClr val="FF0000"/>
                </a:solidFill>
              </a:rPr>
              <a:t>+</a:t>
            </a:r>
            <a:r>
              <a:rPr lang="zh-CN" altLang="en-US" dirty="0">
                <a:solidFill>
                  <a:srgbClr val="010103"/>
                </a:solidFill>
              </a:rPr>
              <a:t>。</a:t>
            </a:r>
            <a:endParaRPr lang="zh-CN" altLang="en-US" dirty="0">
              <a:solidFill>
                <a:srgbClr val="010103"/>
              </a:solidFill>
            </a:endParaRPr>
          </a:p>
        </p:txBody>
      </p:sp>
      <p:sp>
        <p:nvSpPr>
          <p:cNvPr id="3379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、函数依赖集的闭包</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idx="1"/>
          </p:nvPr>
        </p:nvSpPr>
        <p:spPr>
          <a:xfrm>
            <a:off x="179388" y="1125538"/>
            <a:ext cx="8856662" cy="5472112"/>
          </a:xfrm>
        </p:spPr>
        <p:txBody>
          <a:bodyPr vert="horz" wrap="square" lIns="91440" tIns="45720" rIns="91440" bIns="45720" anchor="t" anchorCtr="0"/>
          <a:p>
            <a:pPr marL="274955" indent="-274955">
              <a:buNone/>
            </a:pPr>
            <a:r>
              <a:rPr lang="en-US" altLang="zh-CN" sz="3200" dirty="0">
                <a:solidFill>
                  <a:srgbClr val="010103"/>
                </a:solidFill>
              </a:rPr>
              <a:t> </a:t>
            </a:r>
            <a:r>
              <a:rPr lang="zh-CN" altLang="en-US" dirty="0"/>
              <a:t>对关系模式</a:t>
            </a:r>
            <a:r>
              <a:rPr lang="en-US" altLang="zh-CN" dirty="0">
                <a:solidFill>
                  <a:srgbClr val="010103"/>
                </a:solidFill>
              </a:rPr>
              <a:t>R&lt;U, F&gt; </a:t>
            </a:r>
            <a:r>
              <a:rPr lang="zh-CN" altLang="en-US" dirty="0"/>
              <a:t>有</a:t>
            </a:r>
            <a:r>
              <a:rPr lang="en-US" altLang="zh-CN" u="sng" dirty="0"/>
              <a:t>3</a:t>
            </a:r>
            <a:r>
              <a:rPr lang="zh-CN" altLang="en-US" u="sng" dirty="0"/>
              <a:t>条基本推理规则</a:t>
            </a:r>
            <a:r>
              <a:rPr lang="zh-CN" altLang="en-US" dirty="0"/>
              <a:t>：</a:t>
            </a:r>
            <a:endParaRPr lang="zh-CN" altLang="en-US" dirty="0">
              <a:solidFill>
                <a:srgbClr val="010103"/>
              </a:solidFill>
            </a:endParaRPr>
          </a:p>
          <a:p>
            <a:pPr marL="274955" indent="-274955">
              <a:spcBef>
                <a:spcPct val="25000"/>
              </a:spcBef>
            </a:pPr>
            <a:r>
              <a:rPr lang="zh-CN" altLang="en-US" dirty="0">
                <a:solidFill>
                  <a:srgbClr val="0000CC"/>
                </a:solidFill>
              </a:rPr>
              <a:t>自反律</a:t>
            </a:r>
            <a:r>
              <a:rPr lang="en-US" altLang="zh-CN" dirty="0">
                <a:solidFill>
                  <a:srgbClr val="010103"/>
                </a:solidFill>
              </a:rPr>
              <a:t>:  </a:t>
            </a:r>
            <a:r>
              <a:rPr lang="zh-CN" altLang="en-US" dirty="0">
                <a:solidFill>
                  <a:srgbClr val="010103"/>
                </a:solidFill>
              </a:rPr>
              <a:t>若</a:t>
            </a:r>
            <a:r>
              <a:rPr lang="en-US" altLang="zh-CN" dirty="0">
                <a:solidFill>
                  <a:srgbClr val="010103"/>
                </a:solidFill>
              </a:rPr>
              <a:t>Y</a:t>
            </a:r>
            <a:r>
              <a:rPr lang="en-US" altLang="zh-CN" dirty="0">
                <a:solidFill>
                  <a:srgbClr val="010103"/>
                </a:solidFill>
                <a:sym typeface="Symbol" panose="05050102010706020507" pitchFamily="18" charset="2"/>
              </a:rPr>
              <a:t></a:t>
            </a:r>
            <a:r>
              <a:rPr lang="en-US" altLang="zh-CN" dirty="0">
                <a:solidFill>
                  <a:srgbClr val="010103"/>
                </a:solidFill>
              </a:rPr>
              <a:t>X</a:t>
            </a:r>
            <a:r>
              <a:rPr lang="en-US" altLang="zh-CN" dirty="0">
                <a:solidFill>
                  <a:srgbClr val="010103"/>
                </a:solidFill>
                <a:sym typeface="Symbol" panose="05050102010706020507" pitchFamily="18" charset="2"/>
              </a:rPr>
              <a:t></a:t>
            </a:r>
            <a:r>
              <a:rPr lang="en-US" altLang="zh-CN" dirty="0">
                <a:solidFill>
                  <a:srgbClr val="010103"/>
                </a:solidFill>
              </a:rPr>
              <a:t>U</a:t>
            </a:r>
            <a:r>
              <a:rPr lang="zh-CN" altLang="en-US" dirty="0">
                <a:solidFill>
                  <a:srgbClr val="010103"/>
                </a:solidFill>
              </a:rPr>
              <a:t>，则</a:t>
            </a:r>
            <a:r>
              <a:rPr lang="en-US" altLang="zh-CN" dirty="0">
                <a:solidFill>
                  <a:srgbClr val="010103"/>
                </a:solidFill>
              </a:rPr>
              <a:t>X</a:t>
            </a:r>
            <a:r>
              <a:rPr lang="en-US" altLang="zh-CN" dirty="0"/>
              <a:t>→</a:t>
            </a:r>
            <a:r>
              <a:rPr lang="en-US" altLang="zh-CN" dirty="0">
                <a:solidFill>
                  <a:srgbClr val="010103"/>
                </a:solidFill>
              </a:rPr>
              <a:t>Y</a:t>
            </a:r>
            <a:r>
              <a:rPr lang="zh-CN" altLang="en-US" dirty="0">
                <a:solidFill>
                  <a:srgbClr val="010103"/>
                </a:solidFill>
              </a:rPr>
              <a:t>为</a:t>
            </a:r>
            <a:r>
              <a:rPr lang="en-US" altLang="zh-CN" dirty="0">
                <a:solidFill>
                  <a:srgbClr val="010103"/>
                </a:solidFill>
              </a:rPr>
              <a:t>F</a:t>
            </a:r>
            <a:r>
              <a:rPr lang="zh-CN" altLang="en-US" dirty="0">
                <a:solidFill>
                  <a:srgbClr val="010103"/>
                </a:solidFill>
              </a:rPr>
              <a:t>所蕴涵。</a:t>
            </a:r>
            <a:endParaRPr lang="zh-CN" altLang="en-US" dirty="0">
              <a:solidFill>
                <a:srgbClr val="010103"/>
              </a:solidFill>
            </a:endParaRPr>
          </a:p>
          <a:p>
            <a:pPr marL="274955" indent="-274955">
              <a:spcBef>
                <a:spcPct val="25000"/>
              </a:spcBef>
            </a:pPr>
            <a:r>
              <a:rPr lang="zh-CN" altLang="en-US" dirty="0">
                <a:solidFill>
                  <a:srgbClr val="0000CC"/>
                </a:solidFill>
              </a:rPr>
              <a:t>增广律</a:t>
            </a:r>
            <a:r>
              <a:rPr lang="en-US" altLang="zh-CN" dirty="0">
                <a:solidFill>
                  <a:srgbClr val="010103"/>
                </a:solidFill>
              </a:rPr>
              <a:t>:  </a:t>
            </a:r>
            <a:r>
              <a:rPr lang="zh-CN" altLang="en-US" dirty="0">
                <a:solidFill>
                  <a:srgbClr val="010103"/>
                </a:solidFill>
              </a:rPr>
              <a:t>若</a:t>
            </a:r>
            <a:r>
              <a:rPr lang="en-US" altLang="zh-CN" dirty="0">
                <a:solidFill>
                  <a:srgbClr val="010103"/>
                </a:solidFill>
              </a:rPr>
              <a:t>X</a:t>
            </a:r>
            <a:r>
              <a:rPr lang="en-US" altLang="zh-CN" dirty="0"/>
              <a:t>→</a:t>
            </a:r>
            <a:r>
              <a:rPr lang="en-US" altLang="zh-CN" dirty="0">
                <a:solidFill>
                  <a:srgbClr val="010103"/>
                </a:solidFill>
              </a:rPr>
              <a:t>Y</a:t>
            </a:r>
            <a:r>
              <a:rPr lang="zh-CN" altLang="en-US" dirty="0">
                <a:solidFill>
                  <a:srgbClr val="010103"/>
                </a:solidFill>
              </a:rPr>
              <a:t>为</a:t>
            </a:r>
            <a:r>
              <a:rPr lang="en-US" altLang="zh-CN" dirty="0">
                <a:solidFill>
                  <a:srgbClr val="010103"/>
                </a:solidFill>
              </a:rPr>
              <a:t>F</a:t>
            </a:r>
            <a:r>
              <a:rPr lang="zh-CN" altLang="en-US" dirty="0">
                <a:solidFill>
                  <a:srgbClr val="010103"/>
                </a:solidFill>
              </a:rPr>
              <a:t>所蕴涵，且</a:t>
            </a:r>
            <a:r>
              <a:rPr lang="en-US" altLang="zh-CN" dirty="0">
                <a:solidFill>
                  <a:srgbClr val="010103"/>
                </a:solidFill>
              </a:rPr>
              <a:t>Z</a:t>
            </a:r>
            <a:r>
              <a:rPr lang="en-US" altLang="zh-CN" dirty="0">
                <a:solidFill>
                  <a:srgbClr val="010103"/>
                </a:solidFill>
                <a:sym typeface="Symbol" panose="05050102010706020507" pitchFamily="18" charset="2"/>
              </a:rPr>
              <a:t></a:t>
            </a:r>
            <a:r>
              <a:rPr lang="en-US" altLang="zh-CN" dirty="0">
                <a:solidFill>
                  <a:srgbClr val="010103"/>
                </a:solidFill>
              </a:rPr>
              <a:t>U</a:t>
            </a:r>
            <a:r>
              <a:rPr lang="zh-CN" altLang="en-US" dirty="0">
                <a:solidFill>
                  <a:srgbClr val="010103"/>
                </a:solidFill>
              </a:rPr>
              <a:t>，则</a:t>
            </a:r>
            <a:r>
              <a:rPr lang="en-US" altLang="zh-CN" dirty="0">
                <a:solidFill>
                  <a:srgbClr val="010103"/>
                </a:solidFill>
              </a:rPr>
              <a:t>XZ</a:t>
            </a:r>
            <a:r>
              <a:rPr lang="en-US" altLang="zh-CN" dirty="0"/>
              <a:t>→</a:t>
            </a:r>
            <a:r>
              <a:rPr lang="en-US" altLang="zh-CN" dirty="0">
                <a:solidFill>
                  <a:srgbClr val="010103"/>
                </a:solidFill>
              </a:rPr>
              <a:t>YZ</a:t>
            </a:r>
            <a:r>
              <a:rPr lang="zh-CN" altLang="en-US" dirty="0">
                <a:solidFill>
                  <a:srgbClr val="010103"/>
                </a:solidFill>
              </a:rPr>
              <a:t>为</a:t>
            </a:r>
            <a:r>
              <a:rPr lang="en-US" altLang="zh-CN" dirty="0">
                <a:solidFill>
                  <a:srgbClr val="010103"/>
                </a:solidFill>
              </a:rPr>
              <a:t>F</a:t>
            </a:r>
            <a:r>
              <a:rPr lang="zh-CN" altLang="en-US" dirty="0">
                <a:solidFill>
                  <a:srgbClr val="010103"/>
                </a:solidFill>
              </a:rPr>
              <a:t>所蕴涵。</a:t>
            </a:r>
            <a:endParaRPr lang="zh-CN" altLang="en-US" dirty="0">
              <a:solidFill>
                <a:srgbClr val="010103"/>
              </a:solidFill>
            </a:endParaRPr>
          </a:p>
          <a:p>
            <a:pPr marL="274955" indent="-274955">
              <a:spcBef>
                <a:spcPct val="25000"/>
              </a:spcBef>
            </a:pPr>
            <a:r>
              <a:rPr lang="zh-CN" altLang="en-US" dirty="0">
                <a:solidFill>
                  <a:srgbClr val="0000CC"/>
                </a:solidFill>
              </a:rPr>
              <a:t>传递律</a:t>
            </a:r>
            <a:r>
              <a:rPr lang="en-US" altLang="zh-CN" dirty="0">
                <a:solidFill>
                  <a:srgbClr val="010103"/>
                </a:solidFill>
              </a:rPr>
              <a:t>:  </a:t>
            </a:r>
            <a:r>
              <a:rPr lang="zh-CN" altLang="en-US" dirty="0">
                <a:solidFill>
                  <a:srgbClr val="010103"/>
                </a:solidFill>
              </a:rPr>
              <a:t>若</a:t>
            </a:r>
            <a:r>
              <a:rPr lang="en-US" altLang="zh-CN" dirty="0">
                <a:solidFill>
                  <a:srgbClr val="010103"/>
                </a:solidFill>
              </a:rPr>
              <a:t>X</a:t>
            </a:r>
            <a:r>
              <a:rPr lang="en-US" altLang="zh-CN" dirty="0"/>
              <a:t>→</a:t>
            </a:r>
            <a:r>
              <a:rPr lang="en-US" altLang="zh-CN" dirty="0">
                <a:solidFill>
                  <a:srgbClr val="010103"/>
                </a:solidFill>
              </a:rPr>
              <a:t>Y</a:t>
            </a:r>
            <a:r>
              <a:rPr lang="zh-CN" altLang="en-US" dirty="0">
                <a:solidFill>
                  <a:srgbClr val="010103"/>
                </a:solidFill>
              </a:rPr>
              <a:t>及</a:t>
            </a:r>
            <a:r>
              <a:rPr lang="en-US" altLang="zh-CN" dirty="0">
                <a:solidFill>
                  <a:srgbClr val="010103"/>
                </a:solidFill>
              </a:rPr>
              <a:t>Y</a:t>
            </a:r>
            <a:r>
              <a:rPr lang="en-US" altLang="zh-CN" dirty="0"/>
              <a:t>→</a:t>
            </a:r>
            <a:r>
              <a:rPr lang="en-US" altLang="zh-CN" dirty="0">
                <a:solidFill>
                  <a:srgbClr val="010103"/>
                </a:solidFill>
              </a:rPr>
              <a:t>Z</a:t>
            </a:r>
            <a:r>
              <a:rPr lang="zh-CN" altLang="en-US" dirty="0">
                <a:solidFill>
                  <a:srgbClr val="010103"/>
                </a:solidFill>
              </a:rPr>
              <a:t>为</a:t>
            </a:r>
            <a:r>
              <a:rPr lang="en-US" altLang="zh-CN" dirty="0">
                <a:solidFill>
                  <a:srgbClr val="010103"/>
                </a:solidFill>
              </a:rPr>
              <a:t>F</a:t>
            </a:r>
            <a:r>
              <a:rPr lang="zh-CN" altLang="en-US" dirty="0">
                <a:solidFill>
                  <a:srgbClr val="010103"/>
                </a:solidFill>
              </a:rPr>
              <a:t>所蕴涵，则</a:t>
            </a:r>
            <a:r>
              <a:rPr lang="en-US" altLang="zh-CN" dirty="0">
                <a:solidFill>
                  <a:srgbClr val="010103"/>
                </a:solidFill>
              </a:rPr>
              <a:t>X</a:t>
            </a:r>
            <a:r>
              <a:rPr lang="en-US" altLang="zh-CN" dirty="0"/>
              <a:t>→</a:t>
            </a:r>
            <a:r>
              <a:rPr lang="en-US" altLang="zh-CN" dirty="0">
                <a:solidFill>
                  <a:srgbClr val="010103"/>
                </a:solidFill>
              </a:rPr>
              <a:t>Z</a:t>
            </a:r>
            <a:r>
              <a:rPr lang="zh-CN" altLang="en-US" dirty="0">
                <a:solidFill>
                  <a:srgbClr val="010103"/>
                </a:solidFill>
              </a:rPr>
              <a:t>为</a:t>
            </a:r>
            <a:r>
              <a:rPr lang="en-US" altLang="zh-CN" dirty="0">
                <a:solidFill>
                  <a:srgbClr val="010103"/>
                </a:solidFill>
              </a:rPr>
              <a:t>F</a:t>
            </a:r>
            <a:r>
              <a:rPr lang="zh-CN" altLang="en-US" dirty="0">
                <a:solidFill>
                  <a:srgbClr val="010103"/>
                </a:solidFill>
              </a:rPr>
              <a:t>所蕴涵。</a:t>
            </a:r>
            <a:endParaRPr lang="zh-CN" altLang="en-US" dirty="0">
              <a:solidFill>
                <a:srgbClr val="010103"/>
              </a:solidFill>
            </a:endParaRPr>
          </a:p>
          <a:p>
            <a:pPr marL="274955" indent="-274955">
              <a:buNone/>
            </a:pPr>
            <a:endParaRPr lang="zh-CN" altLang="en-US" sz="2800" dirty="0"/>
          </a:p>
          <a:p>
            <a:pPr marL="274955" indent="-274955">
              <a:buNone/>
            </a:pPr>
            <a:r>
              <a:rPr lang="zh-CN" altLang="en-US" sz="3200" dirty="0"/>
              <a:t>注意：由自反律所得到的函数依赖均是平凡的函数依赖。</a:t>
            </a:r>
            <a:endParaRPr lang="zh-CN" altLang="en-US" sz="3200" dirty="0"/>
          </a:p>
        </p:txBody>
      </p:sp>
      <p:sp>
        <p:nvSpPr>
          <p:cNvPr id="1925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Armstrong</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公理系统</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idx="1"/>
          </p:nvPr>
        </p:nvSpPr>
        <p:spPr>
          <a:xfrm>
            <a:off x="152400" y="1125538"/>
            <a:ext cx="8740775" cy="5183187"/>
          </a:xfrm>
        </p:spPr>
        <p:txBody>
          <a:bodyPr vert="horz" wrap="square" lIns="91440" tIns="45720" rIns="91440" bIns="45720" anchor="t" anchorCtr="0"/>
          <a:p>
            <a:pPr marL="274955" indent="-274955">
              <a:buNone/>
            </a:pPr>
            <a:r>
              <a:rPr lang="en-US" altLang="zh-CN" dirty="0"/>
              <a:t>          </a:t>
            </a:r>
            <a:r>
              <a:rPr lang="zh-CN" altLang="en-US" dirty="0"/>
              <a:t>根据</a:t>
            </a:r>
            <a:r>
              <a:rPr lang="en-US" altLang="zh-CN" dirty="0"/>
              <a:t>3</a:t>
            </a:r>
            <a:r>
              <a:rPr lang="zh-CN" altLang="en-US" dirty="0"/>
              <a:t>条基本推理规则，可导出另外</a:t>
            </a:r>
            <a:r>
              <a:rPr lang="en-US" altLang="zh-CN" u="sng" dirty="0"/>
              <a:t>3</a:t>
            </a:r>
            <a:r>
              <a:rPr lang="zh-CN" altLang="en-US" u="sng" dirty="0"/>
              <a:t>条推理规则</a:t>
            </a:r>
            <a:r>
              <a:rPr lang="zh-CN" altLang="en-US" dirty="0"/>
              <a:t>：</a:t>
            </a:r>
            <a:endParaRPr lang="zh-CN" altLang="en-US" dirty="0">
              <a:solidFill>
                <a:srgbClr val="010103"/>
              </a:solidFill>
            </a:endParaRPr>
          </a:p>
          <a:p>
            <a:pPr marL="274955" indent="-274955">
              <a:spcBef>
                <a:spcPct val="20000"/>
              </a:spcBef>
            </a:pPr>
            <a:r>
              <a:rPr lang="zh-CN" altLang="en-US" dirty="0">
                <a:solidFill>
                  <a:srgbClr val="0000CC"/>
                </a:solidFill>
              </a:rPr>
              <a:t>合并规则</a:t>
            </a:r>
            <a:r>
              <a:rPr lang="zh-CN" altLang="en-US" dirty="0">
                <a:solidFill>
                  <a:srgbClr val="010103"/>
                </a:solidFill>
              </a:rPr>
              <a:t>：若</a:t>
            </a:r>
            <a:r>
              <a:rPr lang="en-US" altLang="zh-CN" dirty="0">
                <a:solidFill>
                  <a:srgbClr val="010103"/>
                </a:solidFill>
                <a:ea typeface="Arial Unicode MS" pitchFamily="34" charset="-122"/>
              </a:rPr>
              <a:t>X</a:t>
            </a:r>
            <a:r>
              <a:rPr lang="en-US" altLang="zh-CN" dirty="0"/>
              <a:t>→</a:t>
            </a:r>
            <a:r>
              <a:rPr lang="en-US" altLang="zh-CN" dirty="0">
                <a:solidFill>
                  <a:srgbClr val="010103"/>
                </a:solidFill>
                <a:ea typeface="Arial Unicode MS" pitchFamily="34" charset="-122"/>
              </a:rPr>
              <a:t>Y</a:t>
            </a:r>
            <a:r>
              <a:rPr lang="zh-CN" altLang="en-US" dirty="0">
                <a:solidFill>
                  <a:srgbClr val="010103"/>
                </a:solidFill>
              </a:rPr>
              <a:t>，</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Z</a:t>
            </a:r>
            <a:r>
              <a:rPr lang="zh-CN" altLang="en-US" dirty="0">
                <a:solidFill>
                  <a:srgbClr val="010103"/>
                </a:solidFill>
              </a:rPr>
              <a:t>，则 </a:t>
            </a:r>
            <a:r>
              <a:rPr lang="en-US" altLang="zh-CN" dirty="0">
                <a:solidFill>
                  <a:srgbClr val="010103"/>
                </a:solidFill>
                <a:ea typeface="Arial Unicode MS" pitchFamily="34" charset="-122"/>
              </a:rPr>
              <a:t>X</a:t>
            </a:r>
            <a:r>
              <a:rPr lang="en-US" altLang="zh-CN" dirty="0">
                <a:solidFill>
                  <a:srgbClr val="010103"/>
                </a:solidFill>
              </a:rPr>
              <a:t>→Y</a:t>
            </a:r>
            <a:r>
              <a:rPr lang="en-US" altLang="zh-CN" dirty="0">
                <a:solidFill>
                  <a:srgbClr val="010103"/>
                </a:solidFill>
                <a:ea typeface="Arial Unicode MS" pitchFamily="34" charset="-122"/>
              </a:rPr>
              <a:t>Z</a:t>
            </a:r>
            <a:r>
              <a:rPr lang="zh-CN" altLang="en-US" dirty="0">
                <a:solidFill>
                  <a:srgbClr val="010103"/>
                </a:solidFill>
              </a:rPr>
              <a:t>。</a:t>
            </a:r>
            <a:endParaRPr lang="zh-CN" altLang="en-US" dirty="0">
              <a:solidFill>
                <a:srgbClr val="010103"/>
              </a:solidFill>
            </a:endParaRPr>
          </a:p>
          <a:p>
            <a:pPr marL="274955" indent="-274955">
              <a:spcBef>
                <a:spcPct val="45000"/>
              </a:spcBef>
            </a:pPr>
            <a:r>
              <a:rPr lang="zh-CN" altLang="en-US" dirty="0">
                <a:solidFill>
                  <a:srgbClr val="0000CC"/>
                </a:solidFill>
              </a:rPr>
              <a:t>分解规则</a:t>
            </a:r>
            <a:r>
              <a:rPr lang="zh-CN" altLang="en-US" dirty="0">
                <a:solidFill>
                  <a:srgbClr val="010103"/>
                </a:solidFill>
              </a:rPr>
              <a:t>：若</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YZ</a:t>
            </a:r>
            <a:r>
              <a:rPr lang="zh-CN" altLang="en-US" dirty="0">
                <a:solidFill>
                  <a:srgbClr val="010103"/>
                </a:solidFill>
              </a:rPr>
              <a:t>，则 </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Y</a:t>
            </a:r>
            <a:r>
              <a:rPr lang="zh-CN" altLang="en-US" dirty="0">
                <a:solidFill>
                  <a:srgbClr val="010103"/>
                </a:solidFill>
              </a:rPr>
              <a:t>，</a:t>
            </a:r>
            <a:r>
              <a:rPr lang="en-US" altLang="zh-CN" dirty="0">
                <a:solidFill>
                  <a:srgbClr val="010103"/>
                </a:solidFill>
                <a:ea typeface="Arial Unicode MS" pitchFamily="34" charset="-122"/>
              </a:rPr>
              <a:t>X</a:t>
            </a:r>
            <a:r>
              <a:rPr lang="en-US" altLang="zh-CN" dirty="0">
                <a:solidFill>
                  <a:srgbClr val="010103"/>
                </a:solidFill>
              </a:rPr>
              <a:t>→</a:t>
            </a:r>
            <a:r>
              <a:rPr lang="en-US" altLang="zh-CN" dirty="0">
                <a:solidFill>
                  <a:srgbClr val="010103"/>
                </a:solidFill>
                <a:ea typeface="Arial Unicode MS" pitchFamily="34" charset="-122"/>
              </a:rPr>
              <a:t>Z</a:t>
            </a:r>
            <a:r>
              <a:rPr lang="zh-CN" altLang="en-US" dirty="0">
                <a:solidFill>
                  <a:srgbClr val="010103"/>
                </a:solidFill>
              </a:rPr>
              <a:t>。</a:t>
            </a:r>
            <a:endParaRPr lang="zh-CN" altLang="en-US" dirty="0">
              <a:solidFill>
                <a:srgbClr val="FF0000"/>
              </a:solidFill>
            </a:endParaRPr>
          </a:p>
          <a:p>
            <a:pPr marL="274955" indent="-274955">
              <a:spcBef>
                <a:spcPct val="40000"/>
              </a:spcBef>
            </a:pPr>
            <a:r>
              <a:rPr lang="zh-CN" altLang="en-US" dirty="0">
                <a:solidFill>
                  <a:srgbClr val="0000CC"/>
                </a:solidFill>
              </a:rPr>
              <a:t>伪传递规则</a:t>
            </a:r>
            <a:r>
              <a:rPr lang="zh-CN" altLang="en-US" dirty="0">
                <a:solidFill>
                  <a:srgbClr val="010103"/>
                </a:solidFill>
              </a:rPr>
              <a:t>：若</a:t>
            </a:r>
            <a:r>
              <a:rPr lang="en-US" altLang="zh-CN" dirty="0">
                <a:solidFill>
                  <a:srgbClr val="010103"/>
                </a:solidFill>
              </a:rPr>
              <a:t>X→Y</a:t>
            </a:r>
            <a:r>
              <a:rPr lang="zh-CN" altLang="en-US" dirty="0">
                <a:solidFill>
                  <a:srgbClr val="010103"/>
                </a:solidFill>
              </a:rPr>
              <a:t>，</a:t>
            </a:r>
            <a:r>
              <a:rPr lang="en-US" altLang="zh-CN" dirty="0">
                <a:solidFill>
                  <a:srgbClr val="010103"/>
                </a:solidFill>
              </a:rPr>
              <a:t>YW→Z</a:t>
            </a:r>
            <a:r>
              <a:rPr lang="zh-CN" altLang="en-US" dirty="0">
                <a:solidFill>
                  <a:srgbClr val="010103"/>
                </a:solidFill>
              </a:rPr>
              <a:t>，</a:t>
            </a:r>
            <a:endParaRPr lang="zh-CN" altLang="en-US" dirty="0">
              <a:solidFill>
                <a:srgbClr val="010103"/>
              </a:solidFill>
            </a:endParaRPr>
          </a:p>
          <a:p>
            <a:pPr marL="274955" indent="-274955">
              <a:buNone/>
            </a:pPr>
            <a:r>
              <a:rPr lang="zh-CN" altLang="en-US" dirty="0">
                <a:solidFill>
                  <a:srgbClr val="010103"/>
                </a:solidFill>
              </a:rPr>
              <a:t>			          则 </a:t>
            </a:r>
            <a:r>
              <a:rPr lang="en-US" altLang="zh-CN" dirty="0">
                <a:solidFill>
                  <a:srgbClr val="010103"/>
                </a:solidFill>
              </a:rPr>
              <a:t>XW→Z</a:t>
            </a:r>
            <a:r>
              <a:rPr lang="zh-CN" altLang="en-US" dirty="0">
                <a:solidFill>
                  <a:srgbClr val="010103"/>
                </a:solidFill>
              </a:rPr>
              <a:t>。</a:t>
            </a:r>
            <a:endParaRPr lang="zh-CN" altLang="en-US" dirty="0">
              <a:solidFill>
                <a:srgbClr val="010103"/>
              </a:solidFill>
            </a:endParaRPr>
          </a:p>
        </p:txBody>
      </p:sp>
      <p:sp>
        <p:nvSpPr>
          <p:cNvPr id="829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Armstrong</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公理系统</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6">
                                            <p:txEl>
                                              <p:charRg st="34" end="5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946">
                                            <p:txEl>
                                              <p:charRg st="56" end="7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946">
                                            <p:txEl>
                                              <p:charRg st="78" end="9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2946">
                                            <p:txEl>
                                              <p:charRg st="95" end="1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idx="1"/>
          </p:nvPr>
        </p:nvSpPr>
        <p:spPr>
          <a:xfrm>
            <a:off x="225425" y="1143000"/>
            <a:ext cx="8667750" cy="5273675"/>
          </a:xfrm>
        </p:spPr>
        <p:txBody>
          <a:bodyPr vert="horz" wrap="square" lIns="91440" tIns="45720" rIns="91440" bIns="45720" anchor="t" anchorCtr="0"/>
          <a:p>
            <a:pPr marL="0" indent="0"/>
            <a:r>
              <a:rPr lang="en-US" altLang="zh-CN" dirty="0"/>
              <a:t> </a:t>
            </a:r>
            <a:r>
              <a:rPr lang="zh-CN" altLang="en-US" dirty="0"/>
              <a:t>公理的</a:t>
            </a:r>
            <a:r>
              <a:rPr lang="zh-CN" altLang="en-US" dirty="0">
                <a:solidFill>
                  <a:srgbClr val="0000CC"/>
                </a:solidFill>
              </a:rPr>
              <a:t>有效性</a:t>
            </a:r>
            <a:r>
              <a:rPr lang="zh-CN" altLang="en-US" dirty="0"/>
              <a:t>：</a:t>
            </a:r>
            <a:endParaRPr lang="zh-CN" altLang="en-US" dirty="0"/>
          </a:p>
          <a:p>
            <a:pPr marL="0" indent="0">
              <a:spcBef>
                <a:spcPct val="20000"/>
              </a:spcBef>
              <a:buNone/>
            </a:pPr>
            <a:r>
              <a:rPr lang="zh-CN" altLang="en-US" dirty="0"/>
              <a:t>        由 </a:t>
            </a:r>
            <a:r>
              <a:rPr lang="en-US" altLang="zh-CN" dirty="0">
                <a:solidFill>
                  <a:srgbClr val="010103"/>
                </a:solidFill>
              </a:rPr>
              <a:t>F </a:t>
            </a:r>
            <a:r>
              <a:rPr lang="zh-CN" altLang="en-US" dirty="0"/>
              <a:t>出发根据</a:t>
            </a:r>
            <a:r>
              <a:rPr lang="en-US" altLang="zh-CN" dirty="0"/>
              <a:t>Armstrong</a:t>
            </a:r>
            <a:r>
              <a:rPr lang="zh-CN" altLang="en-US" dirty="0"/>
              <a:t>公理推导出的每一个函数依赖</a:t>
            </a:r>
            <a:r>
              <a:rPr lang="zh-CN" altLang="en-US" dirty="0">
                <a:solidFill>
                  <a:srgbClr val="010103"/>
                </a:solidFill>
              </a:rPr>
              <a:t>一定在 </a:t>
            </a:r>
            <a:r>
              <a:rPr lang="en-US" altLang="zh-CN" dirty="0">
                <a:solidFill>
                  <a:srgbClr val="010103"/>
                </a:solidFill>
              </a:rPr>
              <a:t>F</a:t>
            </a:r>
            <a:r>
              <a:rPr lang="en-US" altLang="zh-CN" baseline="30000" dirty="0">
                <a:solidFill>
                  <a:srgbClr val="010103"/>
                </a:solidFill>
              </a:rPr>
              <a:t>+ </a:t>
            </a:r>
            <a:r>
              <a:rPr lang="zh-CN" altLang="en-US" dirty="0">
                <a:solidFill>
                  <a:srgbClr val="010103"/>
                </a:solidFill>
              </a:rPr>
              <a:t>当中。</a:t>
            </a:r>
            <a:endParaRPr lang="zh-CN" altLang="en-US" dirty="0">
              <a:solidFill>
                <a:srgbClr val="010103"/>
              </a:solidFill>
            </a:endParaRPr>
          </a:p>
          <a:p>
            <a:pPr marL="0" indent="0">
              <a:buNone/>
            </a:pPr>
            <a:endParaRPr lang="zh-CN" altLang="en-US" dirty="0"/>
          </a:p>
          <a:p>
            <a:pPr marL="0" indent="0"/>
            <a:r>
              <a:rPr lang="zh-CN" altLang="en-US" dirty="0"/>
              <a:t> 公理的</a:t>
            </a:r>
            <a:r>
              <a:rPr lang="zh-CN" altLang="en-US" dirty="0">
                <a:solidFill>
                  <a:srgbClr val="0000CC"/>
                </a:solidFill>
              </a:rPr>
              <a:t>完备性</a:t>
            </a:r>
            <a:r>
              <a:rPr lang="zh-CN" altLang="en-US" dirty="0"/>
              <a:t>：</a:t>
            </a:r>
            <a:endParaRPr lang="zh-CN" altLang="en-US" dirty="0"/>
          </a:p>
          <a:p>
            <a:pPr marL="0" indent="0">
              <a:spcBef>
                <a:spcPct val="20000"/>
              </a:spcBef>
              <a:buNone/>
            </a:pPr>
            <a:r>
              <a:rPr lang="zh-CN" altLang="en-US" dirty="0"/>
              <a:t>       </a:t>
            </a:r>
            <a:r>
              <a:rPr lang="en-US" altLang="zh-CN" dirty="0">
                <a:solidFill>
                  <a:srgbClr val="010103"/>
                </a:solidFill>
              </a:rPr>
              <a:t>F</a:t>
            </a:r>
            <a:r>
              <a:rPr lang="en-US" altLang="zh-CN" baseline="30000" dirty="0">
                <a:solidFill>
                  <a:srgbClr val="010103"/>
                </a:solidFill>
              </a:rPr>
              <a:t>+ </a:t>
            </a:r>
            <a:r>
              <a:rPr lang="zh-CN" altLang="en-US" dirty="0">
                <a:solidFill>
                  <a:srgbClr val="010103"/>
                </a:solidFill>
              </a:rPr>
              <a:t>中的每一个函数依赖都可以由 </a:t>
            </a:r>
            <a:r>
              <a:rPr lang="en-US" altLang="zh-CN" dirty="0">
                <a:solidFill>
                  <a:srgbClr val="010103"/>
                </a:solidFill>
              </a:rPr>
              <a:t>F </a:t>
            </a:r>
            <a:r>
              <a:rPr lang="zh-CN" altLang="en-US" dirty="0">
                <a:solidFill>
                  <a:srgbClr val="010103"/>
                </a:solidFill>
              </a:rPr>
              <a:t>出发</a:t>
            </a:r>
            <a:r>
              <a:rPr lang="zh-CN" altLang="en-US" dirty="0"/>
              <a:t>根据</a:t>
            </a:r>
            <a:r>
              <a:rPr lang="en-US" altLang="zh-CN" dirty="0"/>
              <a:t>Armstrong</a:t>
            </a:r>
            <a:r>
              <a:rPr lang="zh-CN" altLang="en-US" dirty="0"/>
              <a:t>公理推导出。</a:t>
            </a:r>
            <a:endParaRPr lang="zh-CN" altLang="en-US" dirty="0"/>
          </a:p>
        </p:txBody>
      </p:sp>
      <p:sp>
        <p:nvSpPr>
          <p:cNvPr id="28057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Armstrong</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公理系统</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idx="1"/>
          </p:nvPr>
        </p:nvSpPr>
        <p:spPr>
          <a:xfrm>
            <a:off x="152400" y="1017588"/>
            <a:ext cx="8991600" cy="5364162"/>
          </a:xfrm>
        </p:spPr>
        <p:txBody>
          <a:bodyPr vert="horz" wrap="square" lIns="91440" tIns="45720" rIns="91440" bIns="45720" anchor="t" anchorCtr="0"/>
          <a:p>
            <a:pPr marL="0" indent="0">
              <a:lnSpc>
                <a:spcPct val="90000"/>
              </a:lnSpc>
              <a:buNone/>
            </a:pPr>
            <a:r>
              <a:rPr lang="en-US" altLang="zh-CN" sz="2800" dirty="0">
                <a:solidFill>
                  <a:srgbClr val="010103"/>
                </a:solidFill>
              </a:rPr>
              <a:t> </a:t>
            </a:r>
            <a:r>
              <a:rPr lang="zh-CN" altLang="en-US" sz="3200" dirty="0">
                <a:solidFill>
                  <a:srgbClr val="010103"/>
                </a:solidFill>
              </a:rPr>
              <a:t>假设</a:t>
            </a:r>
            <a:r>
              <a:rPr lang="en-US" altLang="zh-CN" sz="3200" dirty="0">
                <a:solidFill>
                  <a:srgbClr val="010103"/>
                </a:solidFill>
              </a:rPr>
              <a:t>R&lt;U, F&gt;,  U</a:t>
            </a:r>
            <a:r>
              <a:rPr lang="zh-CN" altLang="en-US" sz="3200" dirty="0">
                <a:solidFill>
                  <a:srgbClr val="010103"/>
                </a:solidFill>
              </a:rPr>
              <a:t>＝</a:t>
            </a:r>
            <a:r>
              <a:rPr lang="en-US" altLang="zh-CN" sz="3200" dirty="0">
                <a:solidFill>
                  <a:srgbClr val="010103"/>
                </a:solidFill>
              </a:rPr>
              <a:t>{A,B,C}</a:t>
            </a:r>
            <a:r>
              <a:rPr lang="zh-CN" altLang="en-US" sz="3200" dirty="0">
                <a:solidFill>
                  <a:srgbClr val="010103"/>
                </a:solidFill>
              </a:rPr>
              <a:t>，</a:t>
            </a:r>
            <a:r>
              <a:rPr lang="en-US" altLang="zh-CN" sz="3200" dirty="0">
                <a:solidFill>
                  <a:srgbClr val="010103"/>
                </a:solidFill>
              </a:rPr>
              <a:t>F</a:t>
            </a:r>
            <a:r>
              <a:rPr lang="zh-CN" altLang="en-US" sz="3200" dirty="0">
                <a:solidFill>
                  <a:srgbClr val="010103"/>
                </a:solidFill>
              </a:rPr>
              <a:t>＝</a:t>
            </a:r>
            <a:r>
              <a:rPr lang="en-US" altLang="zh-CN" sz="3200" dirty="0">
                <a:solidFill>
                  <a:srgbClr val="010103"/>
                </a:solidFill>
              </a:rPr>
              <a:t>{A</a:t>
            </a:r>
            <a:r>
              <a:rPr lang="en-US" altLang="zh-CN" sz="3200" dirty="0"/>
              <a:t>→</a:t>
            </a:r>
            <a:r>
              <a:rPr lang="en-US" altLang="zh-CN" sz="3200" dirty="0">
                <a:solidFill>
                  <a:srgbClr val="010103"/>
                </a:solidFill>
              </a:rPr>
              <a:t>B, B</a:t>
            </a:r>
            <a:r>
              <a:rPr lang="en-US" altLang="zh-CN" sz="3200" dirty="0"/>
              <a:t>→</a:t>
            </a:r>
            <a:r>
              <a:rPr lang="en-US" altLang="zh-CN" sz="3200" dirty="0">
                <a:solidFill>
                  <a:srgbClr val="010103"/>
                </a:solidFill>
              </a:rPr>
              <a:t>C}</a:t>
            </a:r>
            <a:endParaRPr lang="en-US" altLang="zh-CN" sz="3200" dirty="0">
              <a:solidFill>
                <a:srgbClr val="010103"/>
              </a:solidFill>
            </a:endParaRPr>
          </a:p>
          <a:p>
            <a:pPr marL="0" indent="0">
              <a:lnSpc>
                <a:spcPct val="90000"/>
              </a:lnSpc>
              <a:spcBef>
                <a:spcPct val="20000"/>
              </a:spcBef>
              <a:buNone/>
            </a:pPr>
            <a:r>
              <a:rPr lang="en-US" altLang="zh-CN" sz="3200" dirty="0">
                <a:solidFill>
                  <a:srgbClr val="FF0000"/>
                </a:solidFill>
              </a:rPr>
              <a:t>F</a:t>
            </a:r>
            <a:r>
              <a:rPr lang="en-US" altLang="zh-CN" sz="3200" baseline="30000" dirty="0">
                <a:solidFill>
                  <a:srgbClr val="FF0000"/>
                </a:solidFill>
              </a:rPr>
              <a:t>+</a:t>
            </a:r>
            <a:r>
              <a:rPr lang="zh-CN" altLang="en-US" sz="3200" dirty="0">
                <a:solidFill>
                  <a:srgbClr val="010103"/>
                </a:solidFill>
              </a:rPr>
              <a:t>＝</a:t>
            </a:r>
            <a:r>
              <a:rPr lang="en-US" altLang="zh-CN" sz="3200" dirty="0">
                <a:solidFill>
                  <a:srgbClr val="010103"/>
                </a:solidFill>
              </a:rPr>
              <a:t>{</a:t>
            </a:r>
            <a:endParaRPr lang="en-US" altLang="zh-CN" sz="3200" dirty="0">
              <a:solidFill>
                <a:srgbClr val="010103"/>
              </a:solidFill>
            </a:endParaRPr>
          </a:p>
          <a:p>
            <a:pPr marL="0" indent="0">
              <a:lnSpc>
                <a:spcPct val="90000"/>
              </a:lnSpc>
              <a:buNone/>
            </a:pPr>
            <a:r>
              <a:rPr lang="en-US" altLang="zh-CN" sz="2800" dirty="0">
                <a:solidFill>
                  <a:srgbClr val="010103"/>
                </a:solidFill>
              </a:rPr>
              <a:t>A→</a:t>
            </a:r>
            <a:r>
              <a:rPr lang="en-US" altLang="zh-CN" sz="2800" dirty="0">
                <a:solidFill>
                  <a:srgbClr val="010103"/>
                </a:solidFill>
                <a:sym typeface="Symbol" panose="05050102010706020507" pitchFamily="18" charset="2"/>
              </a:rPr>
              <a:t></a:t>
            </a:r>
            <a:r>
              <a:rPr lang="en-US" altLang="zh-CN" sz="2800" dirty="0">
                <a:solidFill>
                  <a:srgbClr val="010103"/>
                </a:solidFill>
              </a:rPr>
              <a:t>,      AB→</a:t>
            </a:r>
            <a:r>
              <a:rPr lang="en-US" altLang="zh-CN" sz="2800" dirty="0">
                <a:solidFill>
                  <a:srgbClr val="010103"/>
                </a:solidFill>
                <a:sym typeface="Symbol" panose="05050102010706020507" pitchFamily="18" charset="2"/>
              </a:rPr>
              <a:t></a:t>
            </a:r>
            <a:r>
              <a:rPr lang="en-US" altLang="zh-CN" sz="2800" dirty="0">
                <a:solidFill>
                  <a:srgbClr val="010103"/>
                </a:solidFill>
              </a:rPr>
              <a:t>,   AC→</a:t>
            </a:r>
            <a:r>
              <a:rPr lang="en-US" altLang="zh-CN" sz="2800" dirty="0">
                <a:solidFill>
                  <a:srgbClr val="010103"/>
                </a:solidFill>
                <a:sym typeface="Symbol" panose="05050102010706020507" pitchFamily="18" charset="2"/>
              </a:rPr>
              <a:t></a:t>
            </a:r>
            <a:r>
              <a:rPr lang="en-US" altLang="zh-CN" sz="2800" dirty="0">
                <a:solidFill>
                  <a:srgbClr val="010103"/>
                </a:solidFill>
              </a:rPr>
              <a:t>,      ABC→</a:t>
            </a:r>
            <a:r>
              <a:rPr lang="en-US" altLang="zh-CN" sz="2800" dirty="0">
                <a:solidFill>
                  <a:srgbClr val="010103"/>
                </a:solidFill>
                <a:sym typeface="Symbol" panose="05050102010706020507" pitchFamily="18" charset="2"/>
              </a:rPr>
              <a:t></a:t>
            </a:r>
            <a:r>
              <a:rPr lang="en-US" altLang="zh-CN" sz="2800" dirty="0">
                <a:solidFill>
                  <a:srgbClr val="010103"/>
                </a:solidFill>
              </a:rPr>
              <a:t>      B→</a:t>
            </a:r>
            <a:r>
              <a:rPr lang="en-US" altLang="zh-CN" sz="2800" dirty="0">
                <a:solidFill>
                  <a:srgbClr val="010103"/>
                </a:solidFill>
                <a:sym typeface="Symbol" panose="05050102010706020507" pitchFamily="18" charset="2"/>
              </a:rPr>
              <a:t></a:t>
            </a:r>
            <a:r>
              <a:rPr lang="en-US" altLang="zh-CN" sz="2800" dirty="0">
                <a:solidFill>
                  <a:srgbClr val="010103"/>
                </a:solidFill>
              </a:rPr>
              <a:t>, </a:t>
            </a:r>
            <a:endParaRPr lang="en-US" altLang="zh-CN" sz="2800" dirty="0">
              <a:solidFill>
                <a:srgbClr val="010103"/>
              </a:solidFill>
            </a:endParaRPr>
          </a:p>
          <a:p>
            <a:pPr marL="0" indent="0">
              <a:lnSpc>
                <a:spcPct val="90000"/>
              </a:lnSpc>
              <a:buNone/>
            </a:pPr>
            <a:r>
              <a:rPr lang="en-US" altLang="zh-CN" sz="2800" dirty="0">
                <a:solidFill>
                  <a:srgbClr val="010103"/>
                </a:solidFill>
              </a:rPr>
              <a:t>A→A,      AB→A,    AC→A,      ABC→A,      B→B, </a:t>
            </a:r>
            <a:endParaRPr lang="en-US" altLang="zh-CN" sz="2800" dirty="0">
              <a:solidFill>
                <a:srgbClr val="010103"/>
              </a:solidFill>
            </a:endParaRPr>
          </a:p>
          <a:p>
            <a:pPr marL="0" indent="0">
              <a:lnSpc>
                <a:spcPct val="90000"/>
              </a:lnSpc>
              <a:buNone/>
            </a:pPr>
            <a:r>
              <a:rPr lang="en-US" altLang="zh-CN" sz="2800" dirty="0">
                <a:solidFill>
                  <a:srgbClr val="010103"/>
                </a:solidFill>
              </a:rPr>
              <a:t>A→B,      AB→B,    AC→B,      ABC→B,      B→C,</a:t>
            </a:r>
            <a:endParaRPr lang="en-US" altLang="zh-CN" sz="2800" dirty="0">
              <a:solidFill>
                <a:srgbClr val="010103"/>
              </a:solidFill>
            </a:endParaRPr>
          </a:p>
          <a:p>
            <a:pPr marL="0" indent="0">
              <a:lnSpc>
                <a:spcPct val="90000"/>
              </a:lnSpc>
              <a:buNone/>
            </a:pPr>
            <a:r>
              <a:rPr lang="en-US" altLang="zh-CN" sz="2800" dirty="0">
                <a:solidFill>
                  <a:srgbClr val="010103"/>
                </a:solidFill>
              </a:rPr>
              <a:t>A→C,      AB→C,    AC→C,      ABC→C,      B→BC,</a:t>
            </a:r>
            <a:endParaRPr lang="en-US" altLang="zh-CN" sz="2800" dirty="0">
              <a:solidFill>
                <a:srgbClr val="010103"/>
              </a:solidFill>
            </a:endParaRPr>
          </a:p>
          <a:p>
            <a:pPr marL="0" indent="0">
              <a:lnSpc>
                <a:spcPct val="90000"/>
              </a:lnSpc>
              <a:buNone/>
            </a:pPr>
            <a:r>
              <a:rPr lang="en-US" altLang="zh-CN" sz="2800" dirty="0">
                <a:solidFill>
                  <a:srgbClr val="010103"/>
                </a:solidFill>
              </a:rPr>
              <a:t>A→AB,   AB→AB,  AC→AB,   ABC→AB,   BC→</a:t>
            </a:r>
            <a:r>
              <a:rPr lang="en-US" altLang="zh-CN" sz="2800" dirty="0">
                <a:solidFill>
                  <a:srgbClr val="010103"/>
                </a:solidFill>
                <a:sym typeface="Symbol" panose="05050102010706020507" pitchFamily="18" charset="2"/>
              </a:rPr>
              <a:t></a:t>
            </a:r>
            <a:r>
              <a:rPr lang="en-US" altLang="zh-CN" sz="2800" dirty="0">
                <a:solidFill>
                  <a:srgbClr val="010103"/>
                </a:solidFill>
              </a:rPr>
              <a:t>,</a:t>
            </a:r>
            <a:endParaRPr lang="en-US" altLang="zh-CN" sz="2800" dirty="0">
              <a:solidFill>
                <a:srgbClr val="010103"/>
              </a:solidFill>
            </a:endParaRPr>
          </a:p>
          <a:p>
            <a:pPr marL="0" indent="0">
              <a:lnSpc>
                <a:spcPct val="90000"/>
              </a:lnSpc>
              <a:buNone/>
            </a:pPr>
            <a:r>
              <a:rPr lang="en-US" altLang="zh-CN" sz="2800" dirty="0">
                <a:solidFill>
                  <a:srgbClr val="010103"/>
                </a:solidFill>
              </a:rPr>
              <a:t>A→AC,   AB→AC,  AC→AC,   ABC→AC,   BC→B,</a:t>
            </a:r>
            <a:endParaRPr lang="en-US" altLang="zh-CN" sz="2800" dirty="0">
              <a:solidFill>
                <a:srgbClr val="010103"/>
              </a:solidFill>
            </a:endParaRPr>
          </a:p>
          <a:p>
            <a:pPr marL="0" indent="0">
              <a:lnSpc>
                <a:spcPct val="90000"/>
              </a:lnSpc>
              <a:buNone/>
            </a:pPr>
            <a:r>
              <a:rPr lang="en-US" altLang="zh-CN" sz="2800" dirty="0">
                <a:solidFill>
                  <a:srgbClr val="010103"/>
                </a:solidFill>
              </a:rPr>
              <a:t>A→BC,   AB→BC,  AC→BC,   ABC→BC,   BC→C,</a:t>
            </a:r>
            <a:endParaRPr lang="en-US" altLang="zh-CN" sz="2800" dirty="0">
              <a:solidFill>
                <a:srgbClr val="010103"/>
              </a:solidFill>
            </a:endParaRPr>
          </a:p>
          <a:p>
            <a:pPr marL="0" indent="0">
              <a:lnSpc>
                <a:spcPct val="90000"/>
              </a:lnSpc>
              <a:buNone/>
            </a:pPr>
            <a:r>
              <a:rPr lang="en-US" altLang="zh-CN" sz="2800" dirty="0">
                <a:solidFill>
                  <a:srgbClr val="010103"/>
                </a:solidFill>
              </a:rPr>
              <a:t>A→ABC,AB→ABC,AC→ABC,ABC→ABC, BC→BC,</a:t>
            </a:r>
            <a:endParaRPr lang="en-US" altLang="zh-CN" sz="2800" dirty="0">
              <a:solidFill>
                <a:srgbClr val="010103"/>
              </a:solidFill>
            </a:endParaRPr>
          </a:p>
          <a:p>
            <a:pPr marL="0" indent="0">
              <a:lnSpc>
                <a:spcPct val="90000"/>
              </a:lnSpc>
              <a:buNone/>
            </a:pPr>
            <a:r>
              <a:rPr lang="en-US" altLang="zh-CN" sz="2800" dirty="0">
                <a:solidFill>
                  <a:srgbClr val="010103"/>
                </a:solidFill>
              </a:rPr>
              <a:t>C→</a:t>
            </a:r>
            <a:r>
              <a:rPr lang="en-US" altLang="zh-CN" sz="2800" dirty="0">
                <a:solidFill>
                  <a:srgbClr val="010103"/>
                </a:solidFill>
                <a:sym typeface="Symbol" panose="05050102010706020507" pitchFamily="18" charset="2"/>
              </a:rPr>
              <a:t></a:t>
            </a:r>
            <a:r>
              <a:rPr lang="en-US" altLang="zh-CN" sz="2800" dirty="0">
                <a:solidFill>
                  <a:srgbClr val="010103"/>
                </a:solidFill>
              </a:rPr>
              <a:t>,     C→C</a:t>
            </a:r>
            <a:endParaRPr lang="en-US" altLang="zh-CN" sz="2800" dirty="0">
              <a:solidFill>
                <a:srgbClr val="010103"/>
              </a:solidFill>
              <a:sym typeface="Symbol" panose="05050102010706020507" pitchFamily="18" charset="2"/>
            </a:endParaRPr>
          </a:p>
          <a:p>
            <a:pPr marL="0" indent="0">
              <a:lnSpc>
                <a:spcPct val="90000"/>
              </a:lnSpc>
              <a:buNone/>
            </a:pPr>
            <a:r>
              <a:rPr lang="en-US" altLang="zh-CN" sz="3200" dirty="0">
                <a:solidFill>
                  <a:srgbClr val="010103"/>
                </a:solidFill>
              </a:rPr>
              <a:t>        } </a:t>
            </a:r>
            <a:endParaRPr lang="en-US" altLang="zh-CN" sz="2800" dirty="0">
              <a:solidFill>
                <a:srgbClr val="010103"/>
              </a:solidFill>
            </a:endParaRPr>
          </a:p>
        </p:txBody>
      </p:sp>
      <p:sp>
        <p:nvSpPr>
          <p:cNvPr id="378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F</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的闭包</a:t>
            </a:r>
            <a:r>
              <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1" lang="zh-CN" altLang="en-US" sz="40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3"/>
          <p:cNvSpPr>
            <a:spLocks noGrp="1"/>
          </p:cNvSpPr>
          <p:nvPr>
            <p:ph idx="1"/>
          </p:nvPr>
        </p:nvSpPr>
        <p:spPr/>
        <p:txBody>
          <a:bodyPr vert="horz" wrap="square" lIns="91440" tIns="45720" rIns="91440" bIns="45720" anchor="t" anchorCtr="0"/>
          <a:p>
            <a:pPr marL="360680" indent="-360680"/>
            <a:r>
              <a:rPr lang="zh-CN" altLang="en-US" dirty="0"/>
              <a:t>定义</a:t>
            </a:r>
            <a:endParaRPr lang="zh-CN" altLang="en-US" dirty="0"/>
          </a:p>
          <a:p>
            <a:pPr marL="360680" indent="-360680">
              <a:buNone/>
            </a:pPr>
            <a:r>
              <a:rPr lang="zh-CN" altLang="en-US" dirty="0"/>
              <a:t>         一个关系模式</a:t>
            </a:r>
            <a:r>
              <a:rPr lang="en-US" altLang="zh-CN" dirty="0"/>
              <a:t>R(U)</a:t>
            </a:r>
            <a:r>
              <a:rPr lang="zh-CN" altLang="en-US" dirty="0"/>
              <a:t>上的两个函数依赖集 </a:t>
            </a:r>
            <a:r>
              <a:rPr lang="en-US" altLang="zh-CN" dirty="0"/>
              <a:t>F</a:t>
            </a:r>
            <a:r>
              <a:rPr lang="zh-CN" altLang="en-US" dirty="0"/>
              <a:t>和 </a:t>
            </a:r>
            <a:r>
              <a:rPr lang="en-US" altLang="zh-CN" dirty="0"/>
              <a:t>G</a:t>
            </a:r>
            <a:r>
              <a:rPr lang="zh-CN" altLang="en-US" dirty="0"/>
              <a:t>，如果 </a:t>
            </a:r>
            <a:r>
              <a:rPr lang="en-US" altLang="zh-CN" dirty="0">
                <a:solidFill>
                  <a:srgbClr val="0000CC"/>
                </a:solidFill>
              </a:rPr>
              <a:t>F</a:t>
            </a:r>
            <a:r>
              <a:rPr lang="en-US" altLang="zh-CN" baseline="30000" dirty="0">
                <a:solidFill>
                  <a:srgbClr val="0000CC"/>
                </a:solidFill>
              </a:rPr>
              <a:t>+ </a:t>
            </a:r>
            <a:r>
              <a:rPr lang="en-US" altLang="zh-CN" dirty="0">
                <a:solidFill>
                  <a:srgbClr val="0000CC"/>
                </a:solidFill>
              </a:rPr>
              <a:t>= G</a:t>
            </a:r>
            <a:r>
              <a:rPr lang="en-US" altLang="zh-CN" baseline="30000" dirty="0">
                <a:solidFill>
                  <a:srgbClr val="0000CC"/>
                </a:solidFill>
              </a:rPr>
              <a:t>+</a:t>
            </a:r>
            <a:r>
              <a:rPr lang="zh-CN" altLang="en-US" dirty="0"/>
              <a:t>，则称 </a:t>
            </a:r>
            <a:r>
              <a:rPr lang="en-US" altLang="zh-CN" dirty="0"/>
              <a:t>F</a:t>
            </a:r>
            <a:r>
              <a:rPr lang="zh-CN" altLang="en-US" dirty="0"/>
              <a:t>和 </a:t>
            </a:r>
            <a:r>
              <a:rPr lang="en-US" altLang="zh-CN" dirty="0"/>
              <a:t>G</a:t>
            </a:r>
            <a:r>
              <a:rPr lang="zh-CN" altLang="en-US" dirty="0"/>
              <a:t>是</a:t>
            </a:r>
            <a:r>
              <a:rPr lang="zh-CN" altLang="en-US" dirty="0">
                <a:solidFill>
                  <a:srgbClr val="FF0000"/>
                </a:solidFill>
              </a:rPr>
              <a:t>等价的</a:t>
            </a:r>
            <a:r>
              <a:rPr lang="zh-CN" altLang="en-US" dirty="0"/>
              <a:t>，记做 </a:t>
            </a:r>
            <a:r>
              <a:rPr lang="en-US" altLang="zh-CN" dirty="0"/>
              <a:t>F</a:t>
            </a:r>
            <a:r>
              <a:rPr lang="el-GR" altLang="zh-CN" dirty="0">
                <a:ea typeface="Arial Unicode MS" pitchFamily="34" charset="-122"/>
              </a:rPr>
              <a:t>≡</a:t>
            </a:r>
            <a:r>
              <a:rPr lang="en-US" altLang="zh-CN" dirty="0"/>
              <a:t>G</a:t>
            </a:r>
            <a:r>
              <a:rPr lang="zh-CN" altLang="en-US" dirty="0"/>
              <a:t>。</a:t>
            </a:r>
            <a:endParaRPr lang="zh-CN" altLang="en-US" dirty="0"/>
          </a:p>
          <a:p>
            <a:pPr marL="360680" indent="-360680">
              <a:spcBef>
                <a:spcPct val="25000"/>
              </a:spcBef>
              <a:buNone/>
            </a:pPr>
            <a:r>
              <a:rPr lang="zh-CN" altLang="en-US" dirty="0"/>
              <a:t>          如果函数依赖集</a:t>
            </a:r>
            <a:r>
              <a:rPr lang="en-US" altLang="zh-CN" dirty="0"/>
              <a:t>F</a:t>
            </a:r>
            <a:r>
              <a:rPr lang="el-GR" altLang="zh-CN" dirty="0">
                <a:ea typeface="Arial Unicode MS" pitchFamily="34" charset="-122"/>
              </a:rPr>
              <a:t>≡</a:t>
            </a:r>
            <a:r>
              <a:rPr lang="en-US" altLang="zh-CN" dirty="0"/>
              <a:t>G</a:t>
            </a:r>
            <a:r>
              <a:rPr lang="zh-CN" altLang="en-US" dirty="0"/>
              <a:t>，则称</a:t>
            </a:r>
            <a:r>
              <a:rPr lang="en-US" altLang="zh-CN" dirty="0"/>
              <a:t>G</a:t>
            </a:r>
            <a:r>
              <a:rPr lang="zh-CN" altLang="en-US" dirty="0"/>
              <a:t>是</a:t>
            </a:r>
            <a:r>
              <a:rPr lang="en-US" altLang="zh-CN" dirty="0"/>
              <a:t>F</a:t>
            </a:r>
            <a:r>
              <a:rPr lang="zh-CN" altLang="en-US" dirty="0"/>
              <a:t>的函数覆盖，反之亦然。</a:t>
            </a:r>
            <a:endParaRPr lang="zh-CN" altLang="en-US" dirty="0"/>
          </a:p>
        </p:txBody>
      </p:sp>
      <p:sp>
        <p:nvSpPr>
          <p:cNvPr id="305156" name="Rectangle 4"/>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、最小函数依赖集</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idx="1"/>
          </p:nvPr>
        </p:nvSpPr>
        <p:spPr/>
        <p:txBody>
          <a:bodyPr vert="horz" wrap="square" lIns="91440" tIns="45720" rIns="91440" bIns="45720" anchor="t" anchorCtr="0"/>
          <a:p>
            <a:pPr marL="179705" indent="-179705"/>
            <a:r>
              <a:rPr lang="en-US" altLang="zh-CN" dirty="0"/>
              <a:t> </a:t>
            </a:r>
            <a:r>
              <a:rPr lang="zh-CN" altLang="en-US" dirty="0"/>
              <a:t>定义</a:t>
            </a:r>
            <a:endParaRPr lang="zh-CN" altLang="en-US" dirty="0"/>
          </a:p>
          <a:p>
            <a:pPr marL="179705" indent="-179705">
              <a:buNone/>
            </a:pPr>
            <a:r>
              <a:rPr lang="zh-CN" altLang="en-US" sz="3200" dirty="0"/>
              <a:t>      对于一个函数依赖集</a:t>
            </a:r>
            <a:r>
              <a:rPr lang="en-US" altLang="zh-CN" sz="3200" dirty="0"/>
              <a:t>F</a:t>
            </a:r>
            <a:r>
              <a:rPr lang="zh-CN" altLang="en-US" sz="3200" dirty="0"/>
              <a:t>，称函数依赖集</a:t>
            </a:r>
            <a:r>
              <a:rPr lang="en-US" altLang="zh-CN" sz="3200" dirty="0">
                <a:solidFill>
                  <a:srgbClr val="FF0000"/>
                </a:solidFill>
              </a:rPr>
              <a:t>F</a:t>
            </a:r>
            <a:r>
              <a:rPr lang="en-US" altLang="zh-CN" sz="3200" baseline="-25000" dirty="0">
                <a:solidFill>
                  <a:srgbClr val="FF0000"/>
                </a:solidFill>
              </a:rPr>
              <a:t>min</a:t>
            </a:r>
            <a:r>
              <a:rPr lang="zh-CN" altLang="en-US" sz="3200" dirty="0"/>
              <a:t>为</a:t>
            </a:r>
            <a:r>
              <a:rPr lang="en-US" altLang="zh-CN" sz="3200" dirty="0"/>
              <a:t>F</a:t>
            </a:r>
            <a:r>
              <a:rPr lang="zh-CN" altLang="en-US" sz="3200" dirty="0"/>
              <a:t>的最小函数依赖集，是指</a:t>
            </a:r>
            <a:r>
              <a:rPr lang="en-US" altLang="zh-CN" sz="3200" dirty="0"/>
              <a:t>F</a:t>
            </a:r>
            <a:r>
              <a:rPr lang="en-US" altLang="zh-CN" sz="3200" baseline="-25000" dirty="0"/>
              <a:t>min</a:t>
            </a:r>
            <a:r>
              <a:rPr lang="zh-CN" altLang="en-US" sz="3200" dirty="0"/>
              <a:t>满足下述条件：</a:t>
            </a:r>
            <a:endParaRPr lang="zh-CN" altLang="en-US" sz="3200" dirty="0"/>
          </a:p>
          <a:p>
            <a:pPr marL="179705" indent="-179705">
              <a:lnSpc>
                <a:spcPct val="110000"/>
              </a:lnSpc>
              <a:spcBef>
                <a:spcPct val="25000"/>
              </a:spcBef>
              <a:buNone/>
            </a:pPr>
            <a:r>
              <a:rPr lang="zh-CN" altLang="en-US" sz="3200" dirty="0"/>
              <a:t> </a:t>
            </a:r>
            <a:r>
              <a:rPr lang="en-US" altLang="zh-CN" sz="3200" dirty="0"/>
              <a:t>(1) F</a:t>
            </a:r>
            <a:r>
              <a:rPr lang="en-US" altLang="zh-CN" sz="3200" baseline="-25000" dirty="0"/>
              <a:t>min</a:t>
            </a:r>
            <a:r>
              <a:rPr lang="zh-CN" altLang="en-US" sz="3200" dirty="0"/>
              <a:t>的每个函数依赖的右部都是单个属性。</a:t>
            </a:r>
            <a:endParaRPr lang="zh-CN" altLang="en-US" sz="3200" dirty="0"/>
          </a:p>
          <a:p>
            <a:pPr marL="179705" indent="-179705">
              <a:lnSpc>
                <a:spcPct val="110000"/>
              </a:lnSpc>
              <a:buNone/>
            </a:pPr>
            <a:r>
              <a:rPr lang="zh-CN" altLang="en-US" sz="3200" dirty="0"/>
              <a:t> </a:t>
            </a:r>
            <a:r>
              <a:rPr lang="en-US" altLang="zh-CN" sz="3200" dirty="0"/>
              <a:t>(2) </a:t>
            </a:r>
            <a:r>
              <a:rPr lang="zh-CN" altLang="en-US" sz="3200" dirty="0"/>
              <a:t>对于</a:t>
            </a:r>
            <a:r>
              <a:rPr lang="en-US" altLang="zh-CN" sz="3200" dirty="0"/>
              <a:t>F</a:t>
            </a:r>
            <a:r>
              <a:rPr lang="en-US" altLang="zh-CN" sz="3200" baseline="-25000" dirty="0"/>
              <a:t>min</a:t>
            </a:r>
            <a:r>
              <a:rPr lang="zh-CN" altLang="en-US" sz="3200" dirty="0"/>
              <a:t>中的任何一个函数依赖</a:t>
            </a:r>
            <a:r>
              <a:rPr lang="en-US" altLang="zh-CN" sz="3200" dirty="0"/>
              <a:t>X</a:t>
            </a:r>
            <a:r>
              <a:rPr lang="en-US" altLang="zh-CN" dirty="0">
                <a:solidFill>
                  <a:srgbClr val="010103"/>
                </a:solidFill>
              </a:rPr>
              <a:t>→</a:t>
            </a:r>
            <a:r>
              <a:rPr lang="en-US" altLang="zh-CN" sz="3200" dirty="0"/>
              <a:t>A</a:t>
            </a:r>
            <a:r>
              <a:rPr lang="zh-CN" altLang="en-US" sz="3200" dirty="0"/>
              <a:t>，</a:t>
            </a:r>
            <a:endParaRPr lang="zh-CN" altLang="en-US" sz="3200" dirty="0"/>
          </a:p>
          <a:p>
            <a:pPr marL="179705" indent="-179705">
              <a:lnSpc>
                <a:spcPct val="110000"/>
              </a:lnSpc>
              <a:buNone/>
            </a:pPr>
            <a:r>
              <a:rPr lang="zh-CN" altLang="en-US" sz="3200" dirty="0"/>
              <a:t>       </a:t>
            </a:r>
            <a:r>
              <a:rPr lang="en-US" altLang="zh-CN" sz="3200" dirty="0"/>
              <a:t>F</a:t>
            </a:r>
            <a:r>
              <a:rPr lang="en-US" altLang="zh-CN" sz="3200" baseline="-25000" dirty="0"/>
              <a:t>min</a:t>
            </a:r>
            <a:r>
              <a:rPr lang="en-US" altLang="zh-CN" sz="3200" dirty="0">
                <a:cs typeface="Arial" panose="020B0604020202020204" pitchFamily="34" charset="0"/>
              </a:rPr>
              <a:t>— {</a:t>
            </a:r>
            <a:r>
              <a:rPr lang="en-US" altLang="zh-CN" sz="3200" dirty="0"/>
              <a:t>X</a:t>
            </a:r>
            <a:r>
              <a:rPr lang="en-US" altLang="zh-CN" dirty="0">
                <a:solidFill>
                  <a:srgbClr val="010103"/>
                </a:solidFill>
              </a:rPr>
              <a:t>→</a:t>
            </a:r>
            <a:r>
              <a:rPr lang="en-US" altLang="zh-CN" sz="3200" dirty="0"/>
              <a:t>A</a:t>
            </a:r>
            <a:r>
              <a:rPr lang="en-US" altLang="zh-CN" sz="3200" dirty="0">
                <a:cs typeface="Arial" panose="020B0604020202020204" pitchFamily="34" charset="0"/>
              </a:rPr>
              <a:t>}</a:t>
            </a:r>
            <a:r>
              <a:rPr lang="zh-CN" altLang="en-US" sz="3200" dirty="0">
                <a:cs typeface="Arial" panose="020B0604020202020204" pitchFamily="34" charset="0"/>
              </a:rPr>
              <a:t>与</a:t>
            </a:r>
            <a:r>
              <a:rPr lang="en-US" altLang="zh-CN" sz="3200" dirty="0">
                <a:cs typeface="Arial" panose="020B0604020202020204" pitchFamily="34" charset="0"/>
              </a:rPr>
              <a:t>F</a:t>
            </a:r>
            <a:r>
              <a:rPr lang="en-US" altLang="zh-CN" sz="3200" baseline="-25000" dirty="0"/>
              <a:t>min</a:t>
            </a:r>
            <a:r>
              <a:rPr lang="zh-CN" altLang="en-US" sz="3200" dirty="0"/>
              <a:t>都不等价。</a:t>
            </a:r>
            <a:endParaRPr lang="zh-CN" altLang="en-US" sz="3200" dirty="0"/>
          </a:p>
          <a:p>
            <a:pPr marL="179705" indent="-179705">
              <a:lnSpc>
                <a:spcPct val="110000"/>
              </a:lnSpc>
              <a:buNone/>
            </a:pPr>
            <a:r>
              <a:rPr lang="zh-CN" altLang="en-US" sz="3200" dirty="0"/>
              <a:t> </a:t>
            </a:r>
            <a:r>
              <a:rPr lang="en-US" altLang="zh-CN" sz="3200" dirty="0"/>
              <a:t>(3) </a:t>
            </a:r>
            <a:r>
              <a:rPr lang="zh-CN" altLang="en-US" sz="3200" dirty="0"/>
              <a:t>对于</a:t>
            </a:r>
            <a:r>
              <a:rPr lang="en-US" altLang="zh-CN" sz="3200" dirty="0"/>
              <a:t>F</a:t>
            </a:r>
            <a:r>
              <a:rPr lang="en-US" altLang="zh-CN" sz="3200" baseline="-25000" dirty="0"/>
              <a:t>min</a:t>
            </a:r>
            <a:r>
              <a:rPr lang="zh-CN" altLang="en-US" sz="3200" dirty="0"/>
              <a:t>中的任何一个</a:t>
            </a:r>
            <a:r>
              <a:rPr lang="en-US" altLang="zh-CN" sz="3200" dirty="0"/>
              <a:t>X</a:t>
            </a:r>
            <a:r>
              <a:rPr lang="en-US" altLang="zh-CN" dirty="0">
                <a:solidFill>
                  <a:srgbClr val="010103"/>
                </a:solidFill>
              </a:rPr>
              <a:t>→</a:t>
            </a:r>
            <a:r>
              <a:rPr lang="en-US" altLang="zh-CN" sz="3200" dirty="0"/>
              <a:t>A </a:t>
            </a:r>
            <a:r>
              <a:rPr lang="zh-CN" altLang="en-US" sz="3200" dirty="0"/>
              <a:t>及 </a:t>
            </a:r>
            <a:r>
              <a:rPr lang="en-US" altLang="zh-CN" sz="3200" dirty="0"/>
              <a:t>Z</a:t>
            </a:r>
            <a:r>
              <a:rPr lang="en-US" altLang="zh-CN" sz="3200" dirty="0">
                <a:sym typeface="Symbol" panose="05050102010706020507" pitchFamily="18" charset="2"/>
              </a:rPr>
              <a:t></a:t>
            </a:r>
            <a:r>
              <a:rPr lang="en-US" altLang="zh-CN" sz="3200" dirty="0"/>
              <a:t>X</a:t>
            </a:r>
            <a:r>
              <a:rPr lang="zh-CN" altLang="en-US" sz="3200" dirty="0"/>
              <a:t>，</a:t>
            </a:r>
            <a:endParaRPr lang="zh-CN" altLang="en-US" sz="3200" dirty="0"/>
          </a:p>
          <a:p>
            <a:pPr marL="179705" indent="-179705">
              <a:lnSpc>
                <a:spcPct val="110000"/>
              </a:lnSpc>
              <a:buNone/>
            </a:pPr>
            <a:r>
              <a:rPr lang="zh-CN" altLang="en-US" sz="3200" dirty="0"/>
              <a:t>       </a:t>
            </a:r>
            <a:r>
              <a:rPr lang="en-US" altLang="zh-CN" sz="3200" dirty="0"/>
              <a:t>(F</a:t>
            </a:r>
            <a:r>
              <a:rPr lang="en-US" altLang="zh-CN" sz="3200" baseline="-25000" dirty="0"/>
              <a:t>min</a:t>
            </a:r>
            <a:r>
              <a:rPr lang="en-US" altLang="zh-CN" sz="3200" dirty="0">
                <a:cs typeface="Arial" panose="020B0604020202020204" pitchFamily="34" charset="0"/>
              </a:rPr>
              <a:t>— {</a:t>
            </a:r>
            <a:r>
              <a:rPr lang="en-US" altLang="zh-CN" sz="3200" dirty="0"/>
              <a:t>X</a:t>
            </a:r>
            <a:r>
              <a:rPr lang="en-US" altLang="zh-CN" dirty="0">
                <a:solidFill>
                  <a:srgbClr val="010103"/>
                </a:solidFill>
              </a:rPr>
              <a:t>→</a:t>
            </a:r>
            <a:r>
              <a:rPr lang="en-US" altLang="zh-CN" sz="3200" dirty="0"/>
              <a:t>A}) </a:t>
            </a:r>
            <a:r>
              <a:rPr lang="en-US" altLang="zh-CN" sz="3200" dirty="0">
                <a:latin typeface="幼圆" panose="02010509060101010101" pitchFamily="49" charset="-122"/>
                <a:ea typeface="幼圆" panose="02010509060101010101" pitchFamily="49" charset="-122"/>
                <a:sym typeface="Symbol" panose="05050102010706020507" pitchFamily="18" charset="2"/>
              </a:rPr>
              <a:t>∪</a:t>
            </a:r>
            <a:r>
              <a:rPr lang="en-US" altLang="zh-CN" sz="3200" dirty="0">
                <a:ea typeface="幼圆" panose="02010509060101010101" pitchFamily="49" charset="-122"/>
                <a:sym typeface="Symbol" panose="05050102010706020507" pitchFamily="18" charset="2"/>
              </a:rPr>
              <a:t>{</a:t>
            </a:r>
            <a:r>
              <a:rPr lang="en-US" altLang="zh-CN" sz="3200" dirty="0"/>
              <a:t>Z</a:t>
            </a:r>
            <a:r>
              <a:rPr lang="en-US" altLang="zh-CN" dirty="0">
                <a:solidFill>
                  <a:srgbClr val="010103"/>
                </a:solidFill>
              </a:rPr>
              <a:t>→</a:t>
            </a:r>
            <a:r>
              <a:rPr lang="en-US" altLang="zh-CN" sz="3200" dirty="0"/>
              <a:t>A</a:t>
            </a:r>
            <a:r>
              <a:rPr lang="en-US" altLang="zh-CN" sz="3200" dirty="0">
                <a:ea typeface="幼圆" panose="02010509060101010101" pitchFamily="49" charset="-122"/>
                <a:sym typeface="Symbol" panose="05050102010706020507" pitchFamily="18" charset="2"/>
              </a:rPr>
              <a:t>}</a:t>
            </a:r>
            <a:r>
              <a:rPr lang="zh-CN" altLang="en-US" sz="3200" dirty="0">
                <a:sym typeface="Symbol" panose="05050102010706020507" pitchFamily="18" charset="2"/>
              </a:rPr>
              <a:t>与</a:t>
            </a:r>
            <a:r>
              <a:rPr lang="en-US" altLang="zh-CN" sz="3200" dirty="0">
                <a:cs typeface="Arial" panose="020B0604020202020204" pitchFamily="34" charset="0"/>
              </a:rPr>
              <a:t>F</a:t>
            </a:r>
            <a:r>
              <a:rPr lang="en-US" altLang="zh-CN" sz="3200" baseline="-25000" dirty="0"/>
              <a:t>min</a:t>
            </a:r>
            <a:r>
              <a:rPr lang="zh-CN" altLang="en-US" sz="3200" dirty="0"/>
              <a:t>都不等价。</a:t>
            </a:r>
            <a:endParaRPr lang="en-US" altLang="en-US" sz="3200" dirty="0">
              <a:ea typeface="幼圆" panose="02010509060101010101" pitchFamily="49" charset="-122"/>
              <a:sym typeface="Symbol" panose="05050102010706020507" pitchFamily="18" charset="2"/>
            </a:endParaRPr>
          </a:p>
          <a:p>
            <a:pPr marL="179705" indent="-179705">
              <a:buNone/>
            </a:pPr>
            <a:endParaRPr lang="en-US" altLang="zh-CN" sz="3200" dirty="0"/>
          </a:p>
        </p:txBody>
      </p:sp>
      <p:sp>
        <p:nvSpPr>
          <p:cNvPr id="30617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、最小函数依赖集</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p:cNvSpPr>
          <p:nvPr>
            <p:ph idx="1"/>
          </p:nvPr>
        </p:nvSpPr>
        <p:spPr>
          <a:xfrm>
            <a:off x="152400" y="1195388"/>
            <a:ext cx="8848725" cy="4610100"/>
          </a:xfrm>
        </p:spPr>
        <p:txBody>
          <a:bodyPr vert="horz" wrap="square" lIns="91440" tIns="45720" rIns="91440" bIns="45720" anchor="t" anchorCtr="0"/>
          <a:p>
            <a:pPr marL="179705" indent="-179705"/>
            <a:r>
              <a:rPr lang="en-US" altLang="zh-CN" dirty="0"/>
              <a:t> </a:t>
            </a:r>
            <a:r>
              <a:rPr lang="zh-CN" altLang="en-US" dirty="0"/>
              <a:t>定理</a:t>
            </a:r>
            <a:endParaRPr lang="zh-CN" altLang="en-US" dirty="0"/>
          </a:p>
          <a:p>
            <a:pPr marL="179705" indent="-179705">
              <a:lnSpc>
                <a:spcPct val="115000"/>
              </a:lnSpc>
              <a:spcBef>
                <a:spcPct val="40000"/>
              </a:spcBef>
              <a:buNone/>
            </a:pPr>
            <a:r>
              <a:rPr lang="zh-CN" altLang="en-US" sz="3200" dirty="0"/>
              <a:t>         </a:t>
            </a:r>
            <a:r>
              <a:rPr lang="zh-CN" altLang="en-US" dirty="0"/>
              <a:t>每个函数依赖集 </a:t>
            </a:r>
            <a:r>
              <a:rPr lang="en-US" altLang="zh-CN" dirty="0"/>
              <a:t>F </a:t>
            </a:r>
            <a:r>
              <a:rPr lang="zh-CN" altLang="en-US" dirty="0"/>
              <a:t>都与它的最小函数依赖集</a:t>
            </a:r>
            <a:r>
              <a:rPr lang="en-US" altLang="zh-CN" dirty="0"/>
              <a:t>F</a:t>
            </a:r>
            <a:r>
              <a:rPr lang="en-US" altLang="zh-CN" baseline="-25000" dirty="0"/>
              <a:t>min</a:t>
            </a:r>
            <a:r>
              <a:rPr lang="zh-CN" altLang="en-US" dirty="0"/>
              <a:t>等价。</a:t>
            </a:r>
            <a:endParaRPr lang="zh-CN" altLang="en-US" dirty="0"/>
          </a:p>
          <a:p>
            <a:pPr marL="179705" indent="-179705">
              <a:lnSpc>
                <a:spcPct val="115000"/>
              </a:lnSpc>
              <a:spcBef>
                <a:spcPct val="25000"/>
              </a:spcBef>
              <a:buNone/>
            </a:pPr>
            <a:r>
              <a:rPr lang="zh-CN" altLang="en-US" dirty="0"/>
              <a:t> </a:t>
            </a:r>
            <a:endParaRPr lang="zh-CN" altLang="en-US" dirty="0"/>
          </a:p>
        </p:txBody>
      </p:sp>
      <p:sp>
        <p:nvSpPr>
          <p:cNvPr id="3092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、最小函数依赖集</a:t>
            </a:r>
            <a:endParaRPr kumimoji="1"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tags/tag1.xml><?xml version="1.0" encoding="utf-8"?>
<p:tagLst xmlns:p="http://schemas.openxmlformats.org/presentationml/2006/main">
  <p:tag name="COMMONDATA" val="eyJoZGlkIjoiNjAxYWNjNWM4YjUwYzdkM2Y4ZDNlNzBkZmE0NjZkZTkifQ=="/>
  <p:tag name="KSO_WPP_MARK_KEY" val="ddc05355-3ed3-4f05-a654-d97fccdc9989"/>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幼圆"/>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triangl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38100" cap="flat" cmpd="sng" algn="ctr">
          <a:solidFill>
            <a:srgbClr val="000000"/>
          </a:solidFill>
          <a:prstDash val="solid"/>
          <a:round/>
          <a:headEnd type="none" w="med" len="med"/>
          <a:tailEnd type="triangl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0" lang="zh-CN" altLang="en-US" sz="3600" b="1" i="0" u="none" strike="noStrike" cap="none" normalizeH="0" baseline="0" smtClean="0">
            <a:ln>
              <a:noFill/>
            </a:ln>
            <a:solidFill>
              <a:srgbClr val="000000"/>
            </a:solidFill>
            <a:effectLst/>
            <a:latin typeface="Arial" panose="020B0604020202020204" pitchFamily="34" charset="0"/>
            <a:ea typeface="幼圆" panose="02010509060101010101" pitchFamily="49"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7082</Words>
  <Application>WPS 演示</Application>
  <PresentationFormat>全屏显示(4:3)</PresentationFormat>
  <Paragraphs>1306</Paragraphs>
  <Slides>49</Slides>
  <Notes>32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49</vt:i4>
      </vt:variant>
    </vt:vector>
  </HeadingPairs>
  <TitlesOfParts>
    <vt:vector size="65" baseType="lpstr">
      <vt:lpstr>Arial</vt:lpstr>
      <vt:lpstr>宋体</vt:lpstr>
      <vt:lpstr>Wingdings</vt:lpstr>
      <vt:lpstr>幼圆</vt:lpstr>
      <vt:lpstr>Times New Roman</vt:lpstr>
      <vt:lpstr>楷体_GB2312</vt:lpstr>
      <vt:lpstr>华文新魏</vt:lpstr>
      <vt:lpstr>华文中宋</vt:lpstr>
      <vt:lpstr>Symbol</vt:lpstr>
      <vt:lpstr>黑体</vt:lpstr>
      <vt:lpstr>微软雅黑</vt:lpstr>
      <vt:lpstr>Arial Unicode MS</vt:lpstr>
      <vt:lpstr>Times New Roman</vt:lpstr>
      <vt:lpstr>Arial Unicode MS</vt:lpstr>
      <vt:lpstr>新宋体</vt:lpstr>
      <vt:lpstr>HXH</vt:lpstr>
      <vt:lpstr>PowerPoint 演示文稿</vt:lpstr>
      <vt:lpstr>主要内容</vt:lpstr>
      <vt:lpstr>9.1 问题的提出</vt:lpstr>
      <vt:lpstr>1、概念回顾</vt:lpstr>
      <vt:lpstr>1、概念回顾</vt:lpstr>
      <vt:lpstr>举例：</vt:lpstr>
      <vt:lpstr>举例：Student表</vt:lpstr>
      <vt:lpstr>关系模式Student(U)中存在的问题</vt:lpstr>
      <vt:lpstr>关系模式Student(U)中存在的问题</vt:lpstr>
      <vt:lpstr>对关系模式Student(U)进行改造</vt:lpstr>
      <vt:lpstr>关系模式Student(U)中存在的问题</vt:lpstr>
      <vt:lpstr>2、什么是数据依赖</vt:lpstr>
      <vt:lpstr>2、什么是数据依赖</vt:lpstr>
      <vt:lpstr>举例函数依赖</vt:lpstr>
      <vt:lpstr>3、关系模式的表示</vt:lpstr>
      <vt:lpstr>4、数据依赖对关系模式的影响</vt:lpstr>
      <vt:lpstr>4、数据依赖对关系模式的影响</vt:lpstr>
      <vt:lpstr>4、数据依赖对关系模式的影响</vt:lpstr>
      <vt:lpstr>Student表</vt:lpstr>
      <vt:lpstr>关系模式Student&lt;U, F&gt;中存在的问题</vt:lpstr>
      <vt:lpstr>4、数据依赖对关系模式的影响</vt:lpstr>
      <vt:lpstr>4、数据依赖对关系模式的影响</vt:lpstr>
      <vt:lpstr>4、数据依赖对关系模式的影响</vt:lpstr>
      <vt:lpstr>主要内容</vt:lpstr>
      <vt:lpstr>9.2.1 函数依赖</vt:lpstr>
      <vt:lpstr>1、函数依赖</vt:lpstr>
      <vt:lpstr>1、函数依赖</vt:lpstr>
      <vt:lpstr>函数依赖举例1</vt:lpstr>
      <vt:lpstr>函数依赖举例2</vt:lpstr>
      <vt:lpstr>判断是否函数依赖的算法及举例</vt:lpstr>
      <vt:lpstr>2、平凡函数依赖与非平凡函数依赖</vt:lpstr>
      <vt:lpstr>平凡函数依赖/非平凡函数依赖举例</vt:lpstr>
      <vt:lpstr>3、完全函数依赖与部分函数依赖</vt:lpstr>
      <vt:lpstr>4、传递函数依赖</vt:lpstr>
      <vt:lpstr>7.2.2 码</vt:lpstr>
      <vt:lpstr>7.2.2 码</vt:lpstr>
      <vt:lpstr>7.2.2 码</vt:lpstr>
      <vt:lpstr>举例</vt:lpstr>
      <vt:lpstr>主要内容</vt:lpstr>
      <vt:lpstr>7.3 数据依赖的公理系统</vt:lpstr>
      <vt:lpstr>1、函数依赖集的闭包</vt:lpstr>
      <vt:lpstr>1、函数依赖集的闭包</vt:lpstr>
      <vt:lpstr>2、Armstrong公理系统</vt:lpstr>
      <vt:lpstr>2、Armstrong公理系统</vt:lpstr>
      <vt:lpstr>2、Armstrong公理系统</vt:lpstr>
      <vt:lpstr>F的闭包举例</vt:lpstr>
      <vt:lpstr>3、最小函数依赖集</vt:lpstr>
      <vt:lpstr>3、最小函数依赖集</vt:lpstr>
      <vt:lpstr>3、最小函数依赖集</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868</cp:revision>
  <dcterms:created xsi:type="dcterms:W3CDTF">2007-03-26T07:48:00Z</dcterms:created>
  <dcterms:modified xsi:type="dcterms:W3CDTF">2023-06-26T02:14:02Z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4684B7E76BE7499184240879D80B23E1</vt:lpwstr>
  </property>
  <property fmtid="{D5CDD505-2E9C-101B-9397-08002B2CF9AE}" pid="3" name="KSOProductBuildVer">
    <vt:lpwstr>2052-11.1.0.14309</vt:lpwstr>
  </property>
</Properties>
</file>